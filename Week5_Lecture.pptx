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75" r:id="rId6"/>
    <p:sldId id="261" r:id="rId7"/>
    <p:sldId id="262" r:id="rId8"/>
    <p:sldId id="276" r:id="rId9"/>
    <p:sldId id="264" r:id="rId10"/>
    <p:sldId id="265" r:id="rId11"/>
    <p:sldId id="266" r:id="rId12"/>
    <p:sldId id="267" r:id="rId13"/>
    <p:sldId id="268" r:id="rId14"/>
    <p:sldId id="269" r:id="rId15"/>
    <p:sldId id="270" r:id="rId16"/>
    <p:sldId id="274"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5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0734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explaining that this session is not about labeling people. It is about understanding how personality and values help explain behavior at work, and how quality managers can design roles, teams, and systems that fit people ethically.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clarify why not every topic in Chapter 4 receives equal time. The revised deck prioritizes fit, personality frameworks, values, cultural values, and direct quality applications.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personality as good or bad. Ask students to name quality roles where quiet observation, careful listening, and reflection are advantages.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official terms person–job fit and person–organization fit. Then connect them to the realities of quality roles: auditors, customer service officers, laboratory analysts, improvement-team members.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personality definition exactly. Emphasize that personality can help forecast tendencies, but it should be combined with performance data, interviews, and job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official four pairs. Do not present MBTI as the best selection tool. Contrast its developmental value with Big Five predictive support.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detailed statistical slide. It should convey why the Big Five matters in OB: observable links to performance, attitudes, stress, deviance, leadership, and teamwork.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merges situation strength theory and trait activation theory to save space while preserving essential content. Explain that quality managers can design roles and contexts that activate desirable behavior.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version may have spent too much time on secondary traits. This slide is a focused treatment to preserve the chapter’s important but not central additional attributes.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values and value system using textbook terminology. Link values directly to quality culture, audit honesty, error reporting, and customer focus.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adds depth to values without repeating culture week. Keep focus on individual values and their consequences for behavior.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chapter’s caution: Hofstede helps us think about differences among people, but avoid assuming all individuals from a country have the same values.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course-customization slide. It translates textbook constructs into quality roles and quality risks without inventing new definitions.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avoid diagnosing the person as a whole. They should identify possible trait and value implications, then recommend system and management actions.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reinforcing responsible use of personality and values in management. Emphasize that quality managers should design jobs, teams, and systems that support reliable and ethical behavior.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F7FAFC"/>
            </a:solidFill>
            <a:prstDash val="solid"/>
          </a:ln>
        </p:spPr>
      </p:sp>
      <p:sp>
        <p:nvSpPr>
          <p:cNvPr id="3" name="Shape 1"/>
          <p:cNvSpPr/>
          <p:nvPr/>
        </p:nvSpPr>
        <p:spPr>
          <a:xfrm>
            <a:off x="0" y="0"/>
            <a:ext cx="201168" cy="6858000"/>
          </a:xfrm>
          <a:prstGeom prst="rect">
            <a:avLst/>
          </a:prstGeom>
          <a:solidFill>
            <a:srgbClr val="0F766E"/>
          </a:solidFill>
          <a:ln w="12700">
            <a:solidFill>
              <a:srgbClr val="0F766E"/>
            </a:solidFill>
            <a:prstDash val="solid"/>
          </a:ln>
        </p:spPr>
      </p:sp>
      <p:sp>
        <p:nvSpPr>
          <p:cNvPr id="4" name="Text 2"/>
          <p:cNvSpPr/>
          <p:nvPr/>
        </p:nvSpPr>
        <p:spPr>
          <a:xfrm>
            <a:off x="566928" y="621792"/>
            <a:ext cx="2011680" cy="182880"/>
          </a:xfrm>
          <a:prstGeom prst="rect">
            <a:avLst/>
          </a:prstGeom>
          <a:noFill/>
          <a:ln/>
        </p:spPr>
        <p:txBody>
          <a:bodyPr wrap="square" lIns="0" tIns="0" rIns="0" bIns="0" rtlCol="0" anchor="ctr"/>
          <a:lstStyle/>
          <a:p>
            <a:pPr marL="0" indent="0">
              <a:buNone/>
            </a:pPr>
            <a:r>
              <a:rPr lang="en-US" sz="1000" b="1" dirty="0">
                <a:solidFill>
                  <a:srgbClr val="0F766E"/>
                </a:solidFill>
              </a:rPr>
              <a:t>G TQM 511</a:t>
            </a:r>
            <a:endParaRPr lang="en-US" sz="1000" dirty="0"/>
          </a:p>
        </p:txBody>
      </p:sp>
      <p:sp>
        <p:nvSpPr>
          <p:cNvPr id="5" name="Text 3"/>
          <p:cNvSpPr/>
          <p:nvPr/>
        </p:nvSpPr>
        <p:spPr>
          <a:xfrm>
            <a:off x="566928" y="1051560"/>
            <a:ext cx="7498080" cy="502920"/>
          </a:xfrm>
          <a:prstGeom prst="rect">
            <a:avLst/>
          </a:prstGeom>
          <a:noFill/>
          <a:ln/>
        </p:spPr>
        <p:txBody>
          <a:bodyPr wrap="square" lIns="0" tIns="0" rIns="0" bIns="0" rtlCol="0" anchor="ctr"/>
          <a:lstStyle/>
          <a:p>
            <a:pPr marL="0" indent="0">
              <a:buNone/>
            </a:pPr>
            <a:r>
              <a:rPr lang="en-US" sz="2400" b="1" dirty="0">
                <a:solidFill>
                  <a:srgbClr val="17324D"/>
                </a:solidFill>
              </a:rPr>
              <a:t>Personality and Values</a:t>
            </a:r>
            <a:endParaRPr lang="en-US" sz="2400" dirty="0"/>
          </a:p>
        </p:txBody>
      </p:sp>
      <p:sp>
        <p:nvSpPr>
          <p:cNvPr id="6" name="Text 4"/>
          <p:cNvSpPr/>
          <p:nvPr/>
        </p:nvSpPr>
        <p:spPr>
          <a:xfrm>
            <a:off x="566928" y="1627632"/>
            <a:ext cx="6035040" cy="292608"/>
          </a:xfrm>
          <a:prstGeom prst="rect">
            <a:avLst/>
          </a:prstGeom>
          <a:noFill/>
          <a:ln/>
        </p:spPr>
        <p:txBody>
          <a:bodyPr wrap="square" lIns="0" tIns="0" rIns="0" bIns="0" rtlCol="0" anchor="ctr"/>
          <a:lstStyle/>
          <a:p>
            <a:pPr marL="0" indent="0">
              <a:buNone/>
            </a:pPr>
            <a:r>
              <a:rPr lang="en-US" sz="1400" dirty="0">
                <a:solidFill>
                  <a:srgbClr val="5A6775"/>
                </a:solidFill>
              </a:rPr>
              <a:t>Week 5 | Organizational Behavior and Quality</a:t>
            </a:r>
            <a:endParaRPr lang="en-US" sz="1400" dirty="0"/>
          </a:p>
        </p:txBody>
      </p:sp>
      <p:sp>
        <p:nvSpPr>
          <p:cNvPr id="7" name="Text 5"/>
          <p:cNvSpPr/>
          <p:nvPr/>
        </p:nvSpPr>
        <p:spPr>
          <a:xfrm>
            <a:off x="566928" y="2148840"/>
            <a:ext cx="8046720" cy="411480"/>
          </a:xfrm>
          <a:prstGeom prst="rect">
            <a:avLst/>
          </a:prstGeom>
          <a:noFill/>
          <a:ln/>
        </p:spPr>
        <p:txBody>
          <a:bodyPr wrap="square" lIns="0" tIns="0" rIns="0" bIns="0" rtlCol="0" anchor="ctr"/>
          <a:lstStyle/>
          <a:p>
            <a:pPr marL="0" indent="0">
              <a:buNone/>
            </a:pPr>
            <a:r>
              <a:rPr lang="en-US" sz="1400" dirty="0">
                <a:solidFill>
                  <a:srgbClr val="1F2937"/>
                </a:solidFill>
              </a:rPr>
              <a:t>Official chapter focus: personality, fit, values, cultural values, and the situation–trait relationship.</a:t>
            </a:r>
            <a:endParaRPr lang="en-US" sz="1400" dirty="0"/>
          </a:p>
        </p:txBody>
      </p:sp>
      <p:sp>
        <p:nvSpPr>
          <p:cNvPr id="8" name="Text 6"/>
          <p:cNvSpPr/>
          <p:nvPr/>
        </p:nvSpPr>
        <p:spPr>
          <a:xfrm>
            <a:off x="566928" y="2880360"/>
            <a:ext cx="7223760" cy="502920"/>
          </a:xfrm>
          <a:prstGeom prst="rect">
            <a:avLst/>
          </a:prstGeom>
          <a:solidFill>
            <a:srgbClr val="EAF6EA"/>
          </a:solidFill>
          <a:ln>
            <a:solidFill>
              <a:srgbClr val="2E7D32">
                <a:alpha val="80000"/>
              </a:srgbClr>
            </a:solidFill>
          </a:ln>
        </p:spPr>
        <p:txBody>
          <a:bodyPr wrap="square" lIns="762" tIns="762" rIns="762" bIns="762" rtlCol="0" anchor="ctr">
            <a:normAutofit/>
          </a:bodyPr>
          <a:lstStyle/>
          <a:p>
            <a:pPr marL="0" indent="0" algn="ctr">
              <a:buNone/>
            </a:pPr>
            <a:r>
              <a:rPr lang="en-US" sz="1400" b="1" dirty="0">
                <a:solidFill>
                  <a:srgbClr val="1F2937"/>
                </a:solidFill>
              </a:rPr>
              <a:t>Quality lens: Better person–job / person–organization fit → more reliable quality behavior</a:t>
            </a:r>
            <a:endParaRPr lang="en-US" sz="1400" dirty="0"/>
          </a:p>
        </p:txBody>
      </p:sp>
      <p:sp>
        <p:nvSpPr>
          <p:cNvPr id="9" name="Text 7"/>
          <p:cNvSpPr/>
          <p:nvPr/>
        </p:nvSpPr>
        <p:spPr>
          <a:xfrm>
            <a:off x="566928" y="3566160"/>
            <a:ext cx="7223760" cy="502920"/>
          </a:xfrm>
          <a:prstGeom prst="rect">
            <a:avLst/>
          </a:prstGeom>
          <a:solidFill>
            <a:srgbClr val="EAF3FF"/>
          </a:solidFill>
          <a:ln>
            <a:solidFill>
              <a:srgbClr val="1D4E89">
                <a:alpha val="80000"/>
              </a:srgbClr>
            </a:solidFill>
          </a:ln>
        </p:spPr>
        <p:txBody>
          <a:bodyPr wrap="square" lIns="762" tIns="762" rIns="762" bIns="762" rtlCol="0" anchor="ctr">
            <a:normAutofit/>
          </a:bodyPr>
          <a:lstStyle/>
          <a:p>
            <a:pPr marL="0" indent="0" algn="ctr">
              <a:buNone/>
            </a:pPr>
            <a:r>
              <a:rPr lang="en-US" sz="1400" b="1" dirty="0">
                <a:solidFill>
                  <a:srgbClr val="1F2937"/>
                </a:solidFill>
              </a:rPr>
              <a:t>Core idea: personality sets the stage; values guide choices; situations activate behavior</a:t>
            </a:r>
            <a:endParaRPr lang="en-US" sz="1400" dirty="0"/>
          </a:p>
        </p:txBody>
      </p:sp>
      <p:sp>
        <p:nvSpPr>
          <p:cNvPr id="10" name="Text 8"/>
          <p:cNvSpPr/>
          <p:nvPr/>
        </p:nvSpPr>
        <p:spPr>
          <a:xfrm>
            <a:off x="8869680" y="1325880"/>
            <a:ext cx="1280160" cy="502920"/>
          </a:xfrm>
          <a:prstGeom prst="rect">
            <a:avLst/>
          </a:prstGeom>
          <a:solidFill>
            <a:srgbClr val="EAF3FF"/>
          </a:solidFill>
          <a:ln>
            <a:solidFill>
              <a:srgbClr val="1D4E89">
                <a:alpha val="80000"/>
              </a:srgbClr>
            </a:solidFill>
          </a:ln>
        </p:spPr>
        <p:txBody>
          <a:bodyPr wrap="square" lIns="762" tIns="762" rIns="762" bIns="762" rtlCol="0" anchor="ctr">
            <a:normAutofit/>
          </a:bodyPr>
          <a:lstStyle/>
          <a:p>
            <a:pPr marL="0" indent="0" algn="ctr">
              <a:buNone/>
            </a:pPr>
            <a:r>
              <a:rPr lang="en-US" sz="1400" b="1" dirty="0">
                <a:solidFill>
                  <a:srgbClr val="1F2937"/>
                </a:solidFill>
              </a:rPr>
              <a:t>Personality</a:t>
            </a:r>
            <a:endParaRPr lang="en-US" sz="1400" dirty="0"/>
          </a:p>
        </p:txBody>
      </p:sp>
      <p:sp>
        <p:nvSpPr>
          <p:cNvPr id="11" name="Text 9"/>
          <p:cNvSpPr/>
          <p:nvPr/>
        </p:nvSpPr>
        <p:spPr>
          <a:xfrm>
            <a:off x="10287000" y="1325880"/>
            <a:ext cx="1234440" cy="502920"/>
          </a:xfrm>
          <a:prstGeom prst="rect">
            <a:avLst/>
          </a:prstGeom>
          <a:solidFill>
            <a:srgbClr val="EAF6EA"/>
          </a:solidFill>
          <a:ln>
            <a:solidFill>
              <a:srgbClr val="2E7D32">
                <a:alpha val="80000"/>
              </a:srgbClr>
            </a:solidFill>
          </a:ln>
        </p:spPr>
        <p:txBody>
          <a:bodyPr wrap="square" lIns="762" tIns="762" rIns="762" bIns="762" rtlCol="0" anchor="ctr">
            <a:normAutofit/>
          </a:bodyPr>
          <a:lstStyle/>
          <a:p>
            <a:pPr marL="0" indent="0" algn="ctr">
              <a:buNone/>
            </a:pPr>
            <a:r>
              <a:rPr lang="en-US" sz="1400" b="1" dirty="0">
                <a:solidFill>
                  <a:srgbClr val="1F2937"/>
                </a:solidFill>
              </a:rPr>
              <a:t>Values</a:t>
            </a:r>
            <a:endParaRPr lang="en-US" sz="1400" dirty="0"/>
          </a:p>
        </p:txBody>
      </p:sp>
      <p:sp>
        <p:nvSpPr>
          <p:cNvPr id="12" name="Text 10"/>
          <p:cNvSpPr/>
          <p:nvPr/>
        </p:nvSpPr>
        <p:spPr>
          <a:xfrm>
            <a:off x="9528048" y="2148840"/>
            <a:ext cx="1508760" cy="502920"/>
          </a:xfrm>
          <a:prstGeom prst="rect">
            <a:avLst/>
          </a:prstGeom>
          <a:solidFill>
            <a:srgbClr val="DFF4F1"/>
          </a:solidFill>
          <a:ln>
            <a:solidFill>
              <a:srgbClr val="0F766E">
                <a:alpha val="80000"/>
              </a:srgbClr>
            </a:solidFill>
          </a:ln>
        </p:spPr>
        <p:txBody>
          <a:bodyPr wrap="square" lIns="762" tIns="762" rIns="762" bIns="762" rtlCol="0" anchor="ctr">
            <a:normAutofit/>
          </a:bodyPr>
          <a:lstStyle/>
          <a:p>
            <a:pPr marL="0" indent="0" algn="ctr">
              <a:buNone/>
            </a:pPr>
            <a:r>
              <a:rPr lang="en-US" sz="1400" b="1" dirty="0">
                <a:solidFill>
                  <a:srgbClr val="1F2937"/>
                </a:solidFill>
              </a:rPr>
              <a:t>Fit &amp; context</a:t>
            </a:r>
            <a:endParaRPr lang="en-US" sz="1400" dirty="0"/>
          </a:p>
        </p:txBody>
      </p:sp>
      <p:sp>
        <p:nvSpPr>
          <p:cNvPr id="13" name="Text 11"/>
          <p:cNvSpPr/>
          <p:nvPr/>
        </p:nvSpPr>
        <p:spPr>
          <a:xfrm>
            <a:off x="566928" y="6263640"/>
            <a:ext cx="5029200" cy="182880"/>
          </a:xfrm>
          <a:prstGeom prst="rect">
            <a:avLst/>
          </a:prstGeom>
          <a:noFill/>
          <a:ln/>
        </p:spPr>
        <p:txBody>
          <a:bodyPr wrap="square" lIns="0" tIns="0" rIns="0" bIns="0" rtlCol="0" anchor="ctr"/>
          <a:lstStyle/>
          <a:p>
            <a:pPr marL="0" indent="0">
              <a:buNone/>
            </a:pPr>
            <a:r>
              <a:rPr lang="en-US" sz="800" dirty="0">
                <a:solidFill>
                  <a:srgbClr val="7D8790"/>
                </a:solidFill>
              </a:rPr>
              <a:t>Robbins &amp; Judge, Updated 18th Global Edition, Chapter 4</a:t>
            </a:r>
            <a:endParaRPr lang="en-US" sz="800" dirty="0"/>
          </a:p>
        </p:txBody>
      </p:sp>
      <p:sp>
        <p:nvSpPr>
          <p:cNvPr id="15" name="TextBox 14">
            <a:extLst>
              <a:ext uri="{FF2B5EF4-FFF2-40B4-BE49-F238E27FC236}">
                <a16:creationId xmlns:a16="http://schemas.microsoft.com/office/drawing/2014/main" id="{B033EB2E-5720-F0DD-DAE1-A0E9D33DC1CB}"/>
              </a:ext>
            </a:extLst>
          </p:cNvPr>
          <p:cNvSpPr txBox="1"/>
          <p:nvPr/>
        </p:nvSpPr>
        <p:spPr>
          <a:xfrm>
            <a:off x="429768" y="5715000"/>
            <a:ext cx="7772400" cy="274320"/>
          </a:xfrm>
          <a:prstGeom prst="rect">
            <a:avLst/>
          </a:prstGeom>
          <a:noFill/>
        </p:spPr>
        <p:txBody>
          <a:bodyPr wrap="none" lIns="73152" tIns="73152" rIns="73152" bIns="73152">
            <a:spAutoFit/>
          </a:bodyPr>
          <a:lstStyle/>
          <a:p>
            <a:pPr algn="l">
              <a:defRPr sz="1100" b="0">
                <a:solidFill>
                  <a:srgbClr val="5A5A5A"/>
                </a:solidFill>
                <a:latin typeface="Aptos"/>
              </a:defRPr>
            </a:pPr>
            <a:r>
              <a:rPr dirty="0"/>
              <a:t>Postgraduate Diploma Program in Total Quality Management</a:t>
            </a:r>
          </a:p>
        </p:txBody>
      </p:sp>
      <p:sp>
        <p:nvSpPr>
          <p:cNvPr id="17" name="Text 16">
            <a:extLst>
              <a:ext uri="{FF2B5EF4-FFF2-40B4-BE49-F238E27FC236}">
                <a16:creationId xmlns:a16="http://schemas.microsoft.com/office/drawing/2014/main" id="{E55B44AC-0A0C-75FF-D284-CA2E30A94105}"/>
              </a:ext>
            </a:extLst>
          </p:cNvPr>
          <p:cNvSpPr/>
          <p:nvPr/>
        </p:nvSpPr>
        <p:spPr>
          <a:xfrm>
            <a:off x="566928" y="5230368"/>
            <a:ext cx="4572000" cy="228600"/>
          </a:xfrm>
          <a:prstGeom prst="rect">
            <a:avLst/>
          </a:prstGeom>
          <a:noFill/>
          <a:ln/>
        </p:spPr>
        <p:txBody>
          <a:bodyPr wrap="square" lIns="0" tIns="0" rIns="0" bIns="0" rtlCol="0" anchor="ctr"/>
          <a:lstStyle/>
          <a:p>
            <a:pPr marL="0" indent="0">
              <a:buNone/>
            </a:pPr>
            <a:r>
              <a:rPr lang="en-US" sz="1650" b="1" dirty="0">
                <a:solidFill>
                  <a:srgbClr val="0B1F3A"/>
                </a:solidFill>
              </a:rPr>
              <a:t>Dr. Abdelmutalab Adam</a:t>
            </a:r>
            <a:endParaRPr lang="en-US" sz="1100" dirty="0"/>
          </a:p>
        </p:txBody>
      </p:sp>
      <p:pic>
        <p:nvPicPr>
          <p:cNvPr id="19" name="Picture 18" descr="upi3297_0">
            <a:extLst>
              <a:ext uri="{FF2B5EF4-FFF2-40B4-BE49-F238E27FC236}">
                <a16:creationId xmlns:a16="http://schemas.microsoft.com/office/drawing/2014/main" id="{3864B9FE-54E3-DEA9-3148-772BB832D318}"/>
              </a:ext>
            </a:extLst>
          </p:cNvPr>
          <p:cNvPicPr/>
          <p:nvPr/>
        </p:nvPicPr>
        <p:blipFill>
          <a:blip r:embed="rId3" cstate="print"/>
          <a:srcRect l="10001" r="10001"/>
          <a:stretch>
            <a:fillRect/>
          </a:stretch>
        </p:blipFill>
        <p:spPr bwMode="auto">
          <a:xfrm>
            <a:off x="11180329" y="185166"/>
            <a:ext cx="773662" cy="8001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17324D"/>
          </a:solidFill>
          <a:ln w="12700">
            <a:solidFill>
              <a:srgbClr val="17324D"/>
            </a:solidFill>
            <a:prstDash val="solid"/>
          </a:ln>
        </p:spPr>
      </p:sp>
      <p:sp>
        <p:nvSpPr>
          <p:cNvPr id="3" name="Text 1"/>
          <p:cNvSpPr/>
          <p:nvPr/>
        </p:nvSpPr>
        <p:spPr>
          <a:xfrm>
            <a:off x="384048" y="73152"/>
            <a:ext cx="7863840" cy="310896"/>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Learning Outcomes</a:t>
            </a:r>
            <a:endParaRPr lang="en-US" sz="2400" dirty="0"/>
          </a:p>
        </p:txBody>
      </p:sp>
      <p:sp>
        <p:nvSpPr>
          <p:cNvPr id="4" name="Text 2"/>
          <p:cNvSpPr/>
          <p:nvPr/>
        </p:nvSpPr>
        <p:spPr>
          <a:xfrm>
            <a:off x="9784080" y="137160"/>
            <a:ext cx="2011680" cy="219456"/>
          </a:xfrm>
          <a:prstGeom prst="rect">
            <a:avLst/>
          </a:prstGeom>
          <a:noFill/>
          <a:ln/>
        </p:spPr>
        <p:txBody>
          <a:bodyPr wrap="square" lIns="0" tIns="0" rIns="0" bIns="0" rtlCol="0" anchor="ctr"/>
          <a:lstStyle/>
          <a:p>
            <a:pPr marL="0" indent="0" algn="r">
              <a:buNone/>
            </a:pPr>
            <a:r>
              <a:rPr lang="en-US" sz="1000" b="1" dirty="0">
                <a:solidFill>
                  <a:srgbClr val="FFFFFF"/>
                </a:solidFill>
              </a:rPr>
              <a:t>G TQM 511 | Week 5</a:t>
            </a:r>
            <a:endParaRPr lang="en-US" sz="1000" dirty="0"/>
          </a:p>
        </p:txBody>
      </p:sp>
      <p:sp>
        <p:nvSpPr>
          <p:cNvPr id="5" name="Text 3"/>
          <p:cNvSpPr/>
          <p:nvPr/>
        </p:nvSpPr>
        <p:spPr>
          <a:xfrm>
            <a:off x="502920" y="612648"/>
            <a:ext cx="11201400" cy="292608"/>
          </a:xfrm>
          <a:prstGeom prst="rect">
            <a:avLst/>
          </a:prstGeom>
          <a:noFill/>
          <a:ln/>
        </p:spPr>
        <p:txBody>
          <a:bodyPr wrap="square" lIns="0" tIns="0" rIns="0" bIns="0" rtlCol="0" anchor="ctr"/>
          <a:lstStyle/>
          <a:p>
            <a:pPr marL="0" indent="0">
              <a:buNone/>
            </a:pPr>
            <a:r>
              <a:rPr lang="en-US" sz="1400" i="1" dirty="0">
                <a:solidFill>
                  <a:srgbClr val="5A6775"/>
                </a:solidFill>
              </a:rPr>
              <a:t>Keep the session focused on concepts with direct OB and quality-management value.</a:t>
            </a:r>
            <a:endParaRPr lang="en-US" sz="1400" dirty="0"/>
          </a:p>
        </p:txBody>
      </p:sp>
      <p:sp>
        <p:nvSpPr>
          <p:cNvPr id="6" name="Text 4"/>
          <p:cNvSpPr/>
          <p:nvPr/>
        </p:nvSpPr>
        <p:spPr>
          <a:xfrm>
            <a:off x="502920" y="6528816"/>
            <a:ext cx="7132320" cy="164592"/>
          </a:xfrm>
          <a:prstGeom prst="rect">
            <a:avLst/>
          </a:prstGeom>
          <a:noFill/>
          <a:ln/>
        </p:spPr>
        <p:txBody>
          <a:bodyPr wrap="square" lIns="0" tIns="0" rIns="0" bIns="0" rtlCol="0" anchor="ctr"/>
          <a:lstStyle/>
          <a:p>
            <a:pPr marL="0" indent="0">
              <a:buNone/>
            </a:pPr>
            <a:r>
              <a:rPr lang="en-US" sz="680" dirty="0">
                <a:solidFill>
                  <a:srgbClr val="7D8790"/>
                </a:solidFill>
              </a:rPr>
              <a:t>Based on Robbins &amp; Judge, Organizational Behavior, Updated 18th Global Edition, Chapter 4</a:t>
            </a:r>
            <a:endParaRPr lang="en-US" sz="680" dirty="0"/>
          </a:p>
        </p:txBody>
      </p:sp>
      <p:sp>
        <p:nvSpPr>
          <p:cNvPr id="7" name="Text 5"/>
          <p:cNvSpPr/>
          <p:nvPr/>
        </p:nvSpPr>
        <p:spPr>
          <a:xfrm>
            <a:off x="9738360" y="6528816"/>
            <a:ext cx="1965960" cy="164592"/>
          </a:xfrm>
          <a:prstGeom prst="rect">
            <a:avLst/>
          </a:prstGeom>
          <a:noFill/>
          <a:ln/>
        </p:spPr>
        <p:txBody>
          <a:bodyPr wrap="square" lIns="0" tIns="0" rIns="0" bIns="0" rtlCol="0" anchor="ctr"/>
          <a:lstStyle/>
          <a:p>
            <a:pPr marL="0" indent="0" algn="r">
              <a:buNone/>
            </a:pPr>
            <a:r>
              <a:rPr lang="en-US" sz="680" dirty="0">
                <a:solidFill>
                  <a:srgbClr val="7D8790"/>
                </a:solidFill>
              </a:rPr>
              <a:t>Personality and Values</a:t>
            </a:r>
            <a:endParaRPr lang="en-US" sz="680" dirty="0"/>
          </a:p>
        </p:txBody>
      </p:sp>
      <p:sp>
        <p:nvSpPr>
          <p:cNvPr id="8" name="Text 6"/>
          <p:cNvSpPr/>
          <p:nvPr/>
        </p:nvSpPr>
        <p:spPr>
          <a:xfrm>
            <a:off x="594360" y="1143000"/>
            <a:ext cx="5303520" cy="320040"/>
          </a:xfrm>
          <a:prstGeom prst="rect">
            <a:avLst/>
          </a:prstGeom>
          <a:noFill/>
          <a:ln/>
        </p:spPr>
        <p:txBody>
          <a:bodyPr wrap="square" lIns="1016" tIns="1016" rIns="1016" bIns="1016" rtlCol="0" anchor="ctr">
            <a:normAutofit/>
          </a:bodyPr>
          <a:lstStyle/>
          <a:p>
            <a:pPr marL="0" indent="0" algn="l">
              <a:buNone/>
            </a:pPr>
            <a:r>
              <a:rPr lang="en-US" sz="2000" b="1" dirty="0">
                <a:solidFill>
                  <a:srgbClr val="1D4E89"/>
                </a:solidFill>
                <a:latin typeface="Aptos" pitchFamily="34" charset="0"/>
                <a:ea typeface="Aptos" pitchFamily="34" charset="-122"/>
                <a:cs typeface="Aptos" pitchFamily="34" charset="-120"/>
              </a:rPr>
              <a:t>By the end of this session, students can:</a:t>
            </a:r>
            <a:endParaRPr lang="en-US" sz="2000" dirty="0"/>
          </a:p>
        </p:txBody>
      </p:sp>
      <p:sp>
        <p:nvSpPr>
          <p:cNvPr id="9" name="Text 7"/>
          <p:cNvSpPr/>
          <p:nvPr/>
        </p:nvSpPr>
        <p:spPr>
          <a:xfrm>
            <a:off x="594360" y="1581912"/>
            <a:ext cx="5303520" cy="3355848"/>
          </a:xfrm>
          <a:prstGeom prst="rect">
            <a:avLst/>
          </a:prstGeom>
          <a:solidFill>
            <a:srgbClr val="EAF3FF"/>
          </a:solidFill>
          <a:ln>
            <a:solidFill>
              <a:srgbClr val="1D4E89">
                <a:alpha val="75000"/>
              </a:srgbClr>
            </a:solidFill>
          </a:ln>
        </p:spPr>
        <p:txBody>
          <a:bodyPr wrap="square" lIns="1524" tIns="1524" rIns="1524" bIns="1524" rtlCol="0" anchor="ctr">
            <a:normAutofit/>
          </a:bodyPr>
          <a:lstStyle/>
          <a:p>
            <a:pPr marL="0" indent="0">
              <a:buNone/>
            </a:pPr>
            <a:r>
              <a:rPr lang="en-US" sz="1400" dirty="0">
                <a:solidFill>
                  <a:srgbClr val="1F2937"/>
                </a:solidFill>
              </a:rPr>
              <a:t>1. Distinguish person–job fit and person–organization fit.</a:t>
            </a:r>
            <a:endParaRPr lang="en-US" sz="1400" dirty="0"/>
          </a:p>
          <a:p>
            <a:pPr marL="0" indent="0">
              <a:buNone/>
            </a:pPr>
            <a:r>
              <a:rPr lang="en-US" sz="1400" dirty="0">
                <a:solidFill>
                  <a:srgbClr val="1F2937"/>
                </a:solidFill>
              </a:rPr>
              <a:t>2. Define personality and explain how it is measured.</a:t>
            </a:r>
            <a:endParaRPr lang="en-US" sz="1400" dirty="0"/>
          </a:p>
          <a:p>
            <a:pPr marL="0" indent="0">
              <a:buNone/>
            </a:pPr>
            <a:r>
              <a:rPr lang="en-US" sz="1400" dirty="0">
                <a:solidFill>
                  <a:srgbClr val="1F2937"/>
                </a:solidFill>
              </a:rPr>
              <a:t>3. Compare MBTI and the Big Five.</a:t>
            </a:r>
            <a:endParaRPr lang="en-US" sz="1400" dirty="0"/>
          </a:p>
          <a:p>
            <a:pPr marL="0" indent="0">
              <a:buNone/>
            </a:pPr>
            <a:r>
              <a:rPr lang="en-US" sz="1400" dirty="0">
                <a:solidFill>
                  <a:srgbClr val="1F2937"/>
                </a:solidFill>
              </a:rPr>
              <a:t>4. Explain how situations activate traits.</a:t>
            </a:r>
            <a:endParaRPr lang="en-US" sz="1400" dirty="0"/>
          </a:p>
          <a:p>
            <a:pPr marL="0" indent="0">
              <a:buNone/>
            </a:pPr>
            <a:r>
              <a:rPr lang="en-US" sz="1400" dirty="0">
                <a:solidFill>
                  <a:srgbClr val="1F2937"/>
                </a:solidFill>
              </a:rPr>
              <a:t>5. Explain values and cultural values.</a:t>
            </a:r>
            <a:endParaRPr lang="en-US" sz="1400" dirty="0"/>
          </a:p>
          <a:p>
            <a:pPr marL="0" indent="0">
              <a:buNone/>
            </a:pPr>
            <a:r>
              <a:rPr lang="en-US" sz="1400" dirty="0">
                <a:solidFill>
                  <a:srgbClr val="1F2937"/>
                </a:solidFill>
              </a:rPr>
              <a:t>6. Apply personality and values to quality-oriented behavior.</a:t>
            </a:r>
            <a:endParaRPr lang="en-US" sz="1400" dirty="0"/>
          </a:p>
        </p:txBody>
      </p:sp>
      <p:sp>
        <p:nvSpPr>
          <p:cNvPr id="10" name="Text 8"/>
          <p:cNvSpPr/>
          <p:nvPr/>
        </p:nvSpPr>
        <p:spPr>
          <a:xfrm>
            <a:off x="6263640" y="1417320"/>
            <a:ext cx="713232" cy="502920"/>
          </a:xfrm>
          <a:prstGeom prst="rect">
            <a:avLst/>
          </a:prstGeom>
          <a:solidFill>
            <a:srgbClr val="DFF4F1"/>
          </a:solidFill>
          <a:ln>
            <a:solidFill>
              <a:srgbClr val="0F766E">
                <a:alpha val="80000"/>
              </a:srgbClr>
            </a:solidFill>
          </a:ln>
        </p:spPr>
        <p:txBody>
          <a:bodyPr wrap="square" lIns="762" tIns="762" rIns="762" bIns="762" rtlCol="0" anchor="ctr">
            <a:normAutofit/>
          </a:bodyPr>
          <a:lstStyle/>
          <a:p>
            <a:pPr marL="0" indent="0" algn="ctr">
              <a:buNone/>
            </a:pPr>
            <a:r>
              <a:rPr lang="en-US" sz="1400" b="1" dirty="0">
                <a:solidFill>
                  <a:srgbClr val="1F2937"/>
                </a:solidFill>
              </a:rPr>
              <a:t>Fit</a:t>
            </a:r>
            <a:endParaRPr lang="en-US" sz="1400" dirty="0"/>
          </a:p>
        </p:txBody>
      </p:sp>
      <p:sp>
        <p:nvSpPr>
          <p:cNvPr id="11" name="Text 9"/>
          <p:cNvSpPr/>
          <p:nvPr/>
        </p:nvSpPr>
        <p:spPr>
          <a:xfrm>
            <a:off x="7068312" y="1417320"/>
            <a:ext cx="713232" cy="502920"/>
          </a:xfrm>
          <a:prstGeom prst="rect">
            <a:avLst/>
          </a:prstGeom>
          <a:solidFill>
            <a:srgbClr val="DFF4F1"/>
          </a:solidFill>
          <a:ln>
            <a:solidFill>
              <a:srgbClr val="0F766E">
                <a:alpha val="80000"/>
              </a:srgbClr>
            </a:solidFill>
          </a:ln>
        </p:spPr>
        <p:txBody>
          <a:bodyPr wrap="square" lIns="762" tIns="762" rIns="762" bIns="762" rtlCol="0" anchor="ctr">
            <a:normAutofit/>
          </a:bodyPr>
          <a:lstStyle/>
          <a:p>
            <a:pPr marL="0" indent="0" algn="ctr">
              <a:buNone/>
            </a:pPr>
            <a:r>
              <a:rPr lang="en-US" sz="1050" b="1" dirty="0">
                <a:solidFill>
                  <a:srgbClr val="1F2937"/>
                </a:solidFill>
              </a:rPr>
              <a:t>Personality</a:t>
            </a:r>
            <a:endParaRPr lang="en-US" sz="1050" dirty="0"/>
          </a:p>
        </p:txBody>
      </p:sp>
      <p:sp>
        <p:nvSpPr>
          <p:cNvPr id="12" name="Text 10"/>
          <p:cNvSpPr/>
          <p:nvPr/>
        </p:nvSpPr>
        <p:spPr>
          <a:xfrm>
            <a:off x="7872984" y="1417320"/>
            <a:ext cx="713232" cy="502920"/>
          </a:xfrm>
          <a:prstGeom prst="rect">
            <a:avLst/>
          </a:prstGeom>
          <a:solidFill>
            <a:srgbClr val="EAF3FF"/>
          </a:solidFill>
          <a:ln>
            <a:solidFill>
              <a:srgbClr val="1D4E89">
                <a:alpha val="80000"/>
              </a:srgbClr>
            </a:solidFill>
          </a:ln>
        </p:spPr>
        <p:txBody>
          <a:bodyPr wrap="square" lIns="762" tIns="762" rIns="762" bIns="762" rtlCol="0" anchor="ctr">
            <a:normAutofit/>
          </a:bodyPr>
          <a:lstStyle/>
          <a:p>
            <a:pPr marL="0" indent="0" algn="ctr">
              <a:buNone/>
            </a:pPr>
            <a:r>
              <a:rPr lang="en-US" sz="1400" b="1" dirty="0">
                <a:solidFill>
                  <a:srgbClr val="1F2937"/>
                </a:solidFill>
              </a:rPr>
              <a:t>MBTI</a:t>
            </a:r>
            <a:endParaRPr lang="en-US" sz="1400" dirty="0"/>
          </a:p>
        </p:txBody>
      </p:sp>
      <p:sp>
        <p:nvSpPr>
          <p:cNvPr id="13" name="Text 11"/>
          <p:cNvSpPr/>
          <p:nvPr/>
        </p:nvSpPr>
        <p:spPr>
          <a:xfrm>
            <a:off x="8677656" y="1417320"/>
            <a:ext cx="713232" cy="502920"/>
          </a:xfrm>
          <a:prstGeom prst="rect">
            <a:avLst/>
          </a:prstGeom>
          <a:solidFill>
            <a:srgbClr val="EAF3FF"/>
          </a:solidFill>
          <a:ln>
            <a:solidFill>
              <a:srgbClr val="1D4E89">
                <a:alpha val="80000"/>
              </a:srgbClr>
            </a:solidFill>
          </a:ln>
        </p:spPr>
        <p:txBody>
          <a:bodyPr wrap="square" lIns="762" tIns="762" rIns="762" bIns="762" rtlCol="0" anchor="ctr">
            <a:normAutofit/>
          </a:bodyPr>
          <a:lstStyle/>
          <a:p>
            <a:pPr marL="0" indent="0" algn="ctr">
              <a:buNone/>
            </a:pPr>
            <a:r>
              <a:rPr lang="en-US" sz="1400" b="1" dirty="0">
                <a:solidFill>
                  <a:srgbClr val="1F2937"/>
                </a:solidFill>
              </a:rPr>
              <a:t>Big Five</a:t>
            </a:r>
            <a:endParaRPr lang="en-US" sz="1400" dirty="0"/>
          </a:p>
        </p:txBody>
      </p:sp>
      <p:sp>
        <p:nvSpPr>
          <p:cNvPr id="14" name="Text 12"/>
          <p:cNvSpPr/>
          <p:nvPr/>
        </p:nvSpPr>
        <p:spPr>
          <a:xfrm>
            <a:off x="9482328" y="1417320"/>
            <a:ext cx="713232" cy="502920"/>
          </a:xfrm>
          <a:prstGeom prst="rect">
            <a:avLst/>
          </a:prstGeom>
          <a:solidFill>
            <a:srgbClr val="FFF4E6"/>
          </a:solidFill>
          <a:ln>
            <a:solidFill>
              <a:srgbClr val="B45309">
                <a:alpha val="80000"/>
              </a:srgbClr>
            </a:solidFill>
          </a:ln>
        </p:spPr>
        <p:txBody>
          <a:bodyPr wrap="square" lIns="762" tIns="762" rIns="762" bIns="762" rtlCol="0" anchor="ctr">
            <a:normAutofit/>
          </a:bodyPr>
          <a:lstStyle/>
          <a:p>
            <a:pPr marL="0" indent="0" algn="ctr">
              <a:buNone/>
            </a:pPr>
            <a:r>
              <a:rPr lang="en-US" sz="1200" b="1" dirty="0">
                <a:solidFill>
                  <a:srgbClr val="1F2937"/>
                </a:solidFill>
              </a:rPr>
              <a:t>Situations</a:t>
            </a:r>
            <a:endParaRPr lang="en-US" sz="1200" dirty="0"/>
          </a:p>
        </p:txBody>
      </p:sp>
      <p:sp>
        <p:nvSpPr>
          <p:cNvPr id="15" name="Text 13"/>
          <p:cNvSpPr/>
          <p:nvPr/>
        </p:nvSpPr>
        <p:spPr>
          <a:xfrm>
            <a:off x="10287000" y="1417320"/>
            <a:ext cx="713232" cy="502920"/>
          </a:xfrm>
          <a:prstGeom prst="rect">
            <a:avLst/>
          </a:prstGeom>
          <a:solidFill>
            <a:srgbClr val="FFF4E6"/>
          </a:solidFill>
          <a:ln>
            <a:solidFill>
              <a:srgbClr val="B45309">
                <a:alpha val="80000"/>
              </a:srgbClr>
            </a:solidFill>
          </a:ln>
        </p:spPr>
        <p:txBody>
          <a:bodyPr wrap="square" lIns="762" tIns="762" rIns="762" bIns="762" rtlCol="0" anchor="ctr">
            <a:normAutofit/>
          </a:bodyPr>
          <a:lstStyle/>
          <a:p>
            <a:pPr marL="0" indent="0" algn="ctr">
              <a:buNone/>
            </a:pPr>
            <a:r>
              <a:rPr lang="en-US" sz="1400" b="1" dirty="0">
                <a:solidFill>
                  <a:srgbClr val="1F2937"/>
                </a:solidFill>
              </a:rPr>
              <a:t>Values</a:t>
            </a:r>
            <a:endParaRPr lang="en-US" sz="1400" dirty="0"/>
          </a:p>
        </p:txBody>
      </p:sp>
      <p:sp>
        <p:nvSpPr>
          <p:cNvPr id="16" name="Text 14"/>
          <p:cNvSpPr/>
          <p:nvPr/>
        </p:nvSpPr>
        <p:spPr>
          <a:xfrm>
            <a:off x="11091672" y="1417320"/>
            <a:ext cx="713232" cy="502920"/>
          </a:xfrm>
          <a:prstGeom prst="rect">
            <a:avLst/>
          </a:prstGeom>
          <a:solidFill>
            <a:srgbClr val="EAF6EA"/>
          </a:solidFill>
          <a:ln>
            <a:solidFill>
              <a:srgbClr val="2E7D32">
                <a:alpha val="80000"/>
              </a:srgbClr>
            </a:solidFill>
          </a:ln>
        </p:spPr>
        <p:txBody>
          <a:bodyPr wrap="square" lIns="762" tIns="762" rIns="762" bIns="762" rtlCol="0" anchor="ctr">
            <a:normAutofit/>
          </a:bodyPr>
          <a:lstStyle/>
          <a:p>
            <a:pPr marL="0" indent="0" algn="ctr">
              <a:buNone/>
            </a:pPr>
            <a:r>
              <a:rPr lang="en-US" sz="1400" b="1" dirty="0">
                <a:solidFill>
                  <a:srgbClr val="1F2937"/>
                </a:solidFill>
              </a:rPr>
              <a:t>Quality behavior</a:t>
            </a:r>
            <a:endParaRPr lang="en-US" sz="1400" dirty="0"/>
          </a:p>
        </p:txBody>
      </p:sp>
      <p:sp>
        <p:nvSpPr>
          <p:cNvPr id="17" name="Text 15"/>
          <p:cNvSpPr/>
          <p:nvPr/>
        </p:nvSpPr>
        <p:spPr>
          <a:xfrm>
            <a:off x="6309360" y="2331720"/>
            <a:ext cx="3657600" cy="320040"/>
          </a:xfrm>
          <a:prstGeom prst="rect">
            <a:avLst/>
          </a:prstGeom>
          <a:noFill/>
          <a:ln/>
        </p:spPr>
        <p:txBody>
          <a:bodyPr wrap="square" lIns="1016" tIns="1016" rIns="1016" bIns="1016" rtlCol="0" anchor="ctr">
            <a:normAutofit/>
          </a:bodyPr>
          <a:lstStyle/>
          <a:p>
            <a:pPr marL="0" indent="0" algn="l">
              <a:buNone/>
            </a:pPr>
            <a:r>
              <a:rPr lang="en-US" sz="2000" b="1" dirty="0">
                <a:solidFill>
                  <a:srgbClr val="17324D"/>
                </a:solidFill>
                <a:latin typeface="Aptos" pitchFamily="34" charset="0"/>
                <a:ea typeface="Aptos" pitchFamily="34" charset="-122"/>
                <a:cs typeface="Aptos" pitchFamily="34" charset="-120"/>
              </a:rPr>
              <a:t>Session logic</a:t>
            </a:r>
            <a:endParaRPr lang="en-US" sz="2000" dirty="0"/>
          </a:p>
        </p:txBody>
      </p:sp>
      <p:sp>
        <p:nvSpPr>
          <p:cNvPr id="18" name="Text 16"/>
          <p:cNvSpPr/>
          <p:nvPr/>
        </p:nvSpPr>
        <p:spPr>
          <a:xfrm>
            <a:off x="6309360" y="2743200"/>
            <a:ext cx="5120640" cy="1417320"/>
          </a:xfrm>
          <a:prstGeom prst="rect">
            <a:avLst/>
          </a:prstGeom>
          <a:noFill/>
          <a:ln/>
        </p:spPr>
        <p:txBody>
          <a:bodyPr wrap="square" lIns="1016" tIns="1016" rIns="1016" bIns="1016" rtlCol="0" anchor="ctr">
            <a:normAutofit/>
          </a:bodyPr>
          <a:lstStyle/>
          <a:p>
            <a:pPr marL="139700" indent="-139700">
              <a:buSzPct val="100000"/>
              <a:buChar char="•"/>
            </a:pPr>
            <a:r>
              <a:rPr lang="en-US" sz="1400" dirty="0">
                <a:solidFill>
                  <a:srgbClr val="1F2937"/>
                </a:solidFill>
              </a:rPr>
              <a:t>Who is the person?</a:t>
            </a:r>
            <a:endParaRPr lang="en-US" sz="1400" dirty="0"/>
          </a:p>
          <a:p>
            <a:pPr marL="139700" indent="-139700">
              <a:buSzPct val="100000"/>
              <a:buChar char="•"/>
            </a:pPr>
            <a:r>
              <a:rPr lang="en-US" sz="1400" dirty="0">
                <a:solidFill>
                  <a:srgbClr val="1F2937"/>
                </a:solidFill>
              </a:rPr>
              <a:t>What role and organization fit that person?</a:t>
            </a:r>
            <a:endParaRPr lang="en-US" sz="1400" dirty="0"/>
          </a:p>
          <a:p>
            <a:pPr marL="139700" indent="-139700">
              <a:buSzPct val="100000"/>
              <a:buChar char="•"/>
            </a:pPr>
            <a:r>
              <a:rPr lang="en-US" sz="1400" dirty="0">
                <a:solidFill>
                  <a:srgbClr val="1F2937"/>
                </a:solidFill>
              </a:rPr>
              <a:t>Which situation will activate which behavior?</a:t>
            </a:r>
            <a:endParaRPr lang="en-US" sz="1400" dirty="0"/>
          </a:p>
          <a:p>
            <a:pPr marL="139700" indent="-139700">
              <a:buSzPct val="100000"/>
              <a:buChar char="•"/>
            </a:pPr>
            <a:r>
              <a:rPr lang="en-US" sz="1400" dirty="0">
                <a:solidFill>
                  <a:srgbClr val="1F2937"/>
                </a:solidFill>
              </a:rPr>
              <a:t>What quality outcome may follow?</a:t>
            </a:r>
            <a:endParaRPr lang="en-US" sz="1400" dirty="0"/>
          </a:p>
        </p:txBody>
      </p:sp>
      <p:sp>
        <p:nvSpPr>
          <p:cNvPr id="19" name="Text 17"/>
          <p:cNvSpPr/>
          <p:nvPr/>
        </p:nvSpPr>
        <p:spPr>
          <a:xfrm>
            <a:off x="6309360" y="4617720"/>
            <a:ext cx="5029200" cy="320040"/>
          </a:xfrm>
          <a:prstGeom prst="rect">
            <a:avLst/>
          </a:prstGeom>
          <a:noFill/>
          <a:ln/>
        </p:spPr>
        <p:txBody>
          <a:bodyPr wrap="square" lIns="1016" tIns="1016" rIns="1016" bIns="1016" rtlCol="0" anchor="ctr">
            <a:normAutofit/>
          </a:bodyPr>
          <a:lstStyle/>
          <a:p>
            <a:pPr marL="0" indent="0" algn="l">
              <a:buNone/>
            </a:pPr>
            <a:r>
              <a:rPr lang="en-US" sz="2000" b="1" dirty="0">
                <a:solidFill>
                  <a:srgbClr val="2E7D32"/>
                </a:solidFill>
                <a:latin typeface="Aptos" pitchFamily="34" charset="0"/>
                <a:ea typeface="Aptos" pitchFamily="34" charset="-122"/>
                <a:cs typeface="Aptos" pitchFamily="34" charset="-120"/>
              </a:rPr>
              <a:t>Practical focus</a:t>
            </a:r>
            <a:endParaRPr lang="en-US" sz="2000" dirty="0"/>
          </a:p>
        </p:txBody>
      </p:sp>
      <p:sp>
        <p:nvSpPr>
          <p:cNvPr id="20" name="Text 18"/>
          <p:cNvSpPr/>
          <p:nvPr/>
        </p:nvSpPr>
        <p:spPr>
          <a:xfrm>
            <a:off x="6309360" y="5056632"/>
            <a:ext cx="5029200" cy="475488"/>
          </a:xfrm>
          <a:prstGeom prst="rect">
            <a:avLst/>
          </a:prstGeom>
          <a:solidFill>
            <a:srgbClr val="EAF6EA"/>
          </a:solidFill>
          <a:ln>
            <a:solidFill>
              <a:srgbClr val="2E7D32">
                <a:alpha val="75000"/>
              </a:srgbClr>
            </a:solidFill>
          </a:ln>
        </p:spPr>
        <p:txBody>
          <a:bodyPr wrap="square" lIns="1524" tIns="1524" rIns="1524" bIns="1524" rtlCol="0" anchor="ctr">
            <a:normAutofit/>
          </a:bodyPr>
          <a:lstStyle/>
          <a:p>
            <a:pPr marL="0" indent="0">
              <a:buNone/>
            </a:pPr>
            <a:r>
              <a:rPr lang="en-US" sz="1400" dirty="0">
                <a:solidFill>
                  <a:srgbClr val="1F2937"/>
                </a:solidFill>
              </a:rPr>
              <a:t>role design, staffing, team composition, ethical use of assessments, and quality culture alignment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17324D"/>
          </a:solidFill>
          <a:ln w="12700">
            <a:solidFill>
              <a:srgbClr val="17324D"/>
            </a:solidFill>
            <a:prstDash val="solid"/>
          </a:ln>
        </p:spPr>
      </p:sp>
      <p:sp>
        <p:nvSpPr>
          <p:cNvPr id="3" name="Text 1"/>
          <p:cNvSpPr/>
          <p:nvPr/>
        </p:nvSpPr>
        <p:spPr>
          <a:xfrm>
            <a:off x="384048" y="73152"/>
            <a:ext cx="7863840" cy="310896"/>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Opening Case: Leading the “Quiet Revolution”</a:t>
            </a:r>
            <a:endParaRPr lang="en-US" sz="2400" dirty="0"/>
          </a:p>
        </p:txBody>
      </p:sp>
      <p:sp>
        <p:nvSpPr>
          <p:cNvPr id="4" name="Text 2"/>
          <p:cNvSpPr/>
          <p:nvPr/>
        </p:nvSpPr>
        <p:spPr>
          <a:xfrm>
            <a:off x="9784080" y="137160"/>
            <a:ext cx="2011680" cy="219456"/>
          </a:xfrm>
          <a:prstGeom prst="rect">
            <a:avLst/>
          </a:prstGeom>
          <a:noFill/>
          <a:ln/>
        </p:spPr>
        <p:txBody>
          <a:bodyPr wrap="square" lIns="0" tIns="0" rIns="0" bIns="0" rtlCol="0" anchor="ctr"/>
          <a:lstStyle/>
          <a:p>
            <a:pPr marL="0" indent="0" algn="r">
              <a:buNone/>
            </a:pPr>
            <a:r>
              <a:rPr lang="en-US" sz="1000" b="1" dirty="0">
                <a:solidFill>
                  <a:srgbClr val="FFFFFF"/>
                </a:solidFill>
              </a:rPr>
              <a:t>G TQM 511 | Week 5</a:t>
            </a:r>
            <a:endParaRPr lang="en-US" sz="1000" dirty="0"/>
          </a:p>
        </p:txBody>
      </p:sp>
      <p:sp>
        <p:nvSpPr>
          <p:cNvPr id="5" name="Text 3"/>
          <p:cNvSpPr/>
          <p:nvPr/>
        </p:nvSpPr>
        <p:spPr>
          <a:xfrm>
            <a:off x="502920" y="612648"/>
            <a:ext cx="11201400" cy="292608"/>
          </a:xfrm>
          <a:prstGeom prst="rect">
            <a:avLst/>
          </a:prstGeom>
          <a:noFill/>
          <a:ln/>
        </p:spPr>
        <p:txBody>
          <a:bodyPr wrap="square" lIns="0" tIns="0" rIns="0" bIns="0" rtlCol="0" anchor="ctr"/>
          <a:lstStyle/>
          <a:p>
            <a:pPr marL="0" indent="0">
              <a:buNone/>
            </a:pPr>
            <a:r>
              <a:rPr lang="en-US" sz="1400" i="1" dirty="0">
                <a:solidFill>
                  <a:srgbClr val="5A6775"/>
                </a:solidFill>
              </a:rPr>
              <a:t>Chapter 4 opens with Beth Comstock and the value of situational adaptation.</a:t>
            </a:r>
            <a:endParaRPr lang="en-US" sz="1400" dirty="0"/>
          </a:p>
        </p:txBody>
      </p:sp>
      <p:sp>
        <p:nvSpPr>
          <p:cNvPr id="6" name="Text 4"/>
          <p:cNvSpPr/>
          <p:nvPr/>
        </p:nvSpPr>
        <p:spPr>
          <a:xfrm>
            <a:off x="502920" y="6528816"/>
            <a:ext cx="7132320" cy="164592"/>
          </a:xfrm>
          <a:prstGeom prst="rect">
            <a:avLst/>
          </a:prstGeom>
          <a:noFill/>
          <a:ln/>
        </p:spPr>
        <p:txBody>
          <a:bodyPr wrap="square" lIns="0" tIns="0" rIns="0" bIns="0" rtlCol="0" anchor="ctr"/>
          <a:lstStyle/>
          <a:p>
            <a:pPr marL="0" indent="0">
              <a:buNone/>
            </a:pPr>
            <a:r>
              <a:rPr lang="en-US" sz="680" dirty="0">
                <a:solidFill>
                  <a:srgbClr val="7D8790"/>
                </a:solidFill>
              </a:rPr>
              <a:t>Based on Robbins &amp; Judge, Organizational Behavior, Updated 18th Global Edition, Chapter 4</a:t>
            </a:r>
            <a:endParaRPr lang="en-US" sz="680" dirty="0"/>
          </a:p>
        </p:txBody>
      </p:sp>
      <p:sp>
        <p:nvSpPr>
          <p:cNvPr id="7" name="Text 5"/>
          <p:cNvSpPr/>
          <p:nvPr/>
        </p:nvSpPr>
        <p:spPr>
          <a:xfrm>
            <a:off x="9738360" y="6528816"/>
            <a:ext cx="1965960" cy="164592"/>
          </a:xfrm>
          <a:prstGeom prst="rect">
            <a:avLst/>
          </a:prstGeom>
          <a:noFill/>
          <a:ln/>
        </p:spPr>
        <p:txBody>
          <a:bodyPr wrap="square" lIns="0" tIns="0" rIns="0" bIns="0" rtlCol="0" anchor="ctr"/>
          <a:lstStyle/>
          <a:p>
            <a:pPr marL="0" indent="0" algn="r">
              <a:buNone/>
            </a:pPr>
            <a:r>
              <a:rPr lang="en-US" sz="680" dirty="0">
                <a:solidFill>
                  <a:srgbClr val="7D8790"/>
                </a:solidFill>
              </a:rPr>
              <a:t>Personality and Values</a:t>
            </a:r>
            <a:endParaRPr lang="en-US" sz="680" dirty="0"/>
          </a:p>
        </p:txBody>
      </p:sp>
      <p:sp>
        <p:nvSpPr>
          <p:cNvPr id="8" name="Text 6"/>
          <p:cNvSpPr/>
          <p:nvPr/>
        </p:nvSpPr>
        <p:spPr>
          <a:xfrm>
            <a:off x="594360" y="1097280"/>
            <a:ext cx="5212080" cy="320040"/>
          </a:xfrm>
          <a:prstGeom prst="rect">
            <a:avLst/>
          </a:prstGeom>
          <a:noFill/>
          <a:ln/>
        </p:spPr>
        <p:txBody>
          <a:bodyPr wrap="square" lIns="1016" tIns="1016" rIns="1016" bIns="1016" rtlCol="0" anchor="ctr">
            <a:normAutofit/>
          </a:bodyPr>
          <a:lstStyle/>
          <a:p>
            <a:pPr marL="0" indent="0" algn="l">
              <a:buNone/>
            </a:pPr>
            <a:r>
              <a:rPr lang="en-US" sz="2000" b="1" dirty="0">
                <a:solidFill>
                  <a:srgbClr val="1D4E89"/>
                </a:solidFill>
                <a:latin typeface="Aptos" pitchFamily="34" charset="0"/>
                <a:ea typeface="Aptos" pitchFamily="34" charset="-122"/>
                <a:cs typeface="Aptos" pitchFamily="34" charset="-120"/>
              </a:rPr>
              <a:t>Case idea</a:t>
            </a:r>
            <a:endParaRPr lang="en-US" sz="2000" dirty="0"/>
          </a:p>
        </p:txBody>
      </p:sp>
      <p:sp>
        <p:nvSpPr>
          <p:cNvPr id="9" name="Text 7"/>
          <p:cNvSpPr/>
          <p:nvPr/>
        </p:nvSpPr>
        <p:spPr>
          <a:xfrm>
            <a:off x="594360" y="1536192"/>
            <a:ext cx="5212080" cy="1415730"/>
          </a:xfrm>
          <a:prstGeom prst="rect">
            <a:avLst/>
          </a:prstGeom>
          <a:solidFill>
            <a:srgbClr val="EAF3FF"/>
          </a:solidFill>
          <a:ln>
            <a:solidFill>
              <a:srgbClr val="1D4E89">
                <a:alpha val="75000"/>
              </a:srgbClr>
            </a:solidFill>
          </a:ln>
        </p:spPr>
        <p:txBody>
          <a:bodyPr wrap="square" lIns="1524" tIns="1524" rIns="1524" bIns="1524" rtlCol="0" anchor="ctr">
            <a:normAutofit/>
          </a:bodyPr>
          <a:lstStyle/>
          <a:p>
            <a:pPr marL="0" indent="0">
              <a:buNone/>
            </a:pPr>
            <a:r>
              <a:rPr lang="en-US" sz="1600" dirty="0">
                <a:solidFill>
                  <a:srgbClr val="1F2937"/>
                </a:solidFill>
              </a:rPr>
              <a:t>Beth Comstock was a senior innovation leader at GE. Although business is often treated as an extroverted activity, she identifies as more introverted and emphasizes observation, balance, and adapting to the situation.</a:t>
            </a:r>
            <a:endParaRPr lang="en-US" sz="1600" dirty="0"/>
          </a:p>
        </p:txBody>
      </p:sp>
      <p:sp>
        <p:nvSpPr>
          <p:cNvPr id="10" name="Text 8"/>
          <p:cNvSpPr/>
          <p:nvPr/>
        </p:nvSpPr>
        <p:spPr>
          <a:xfrm>
            <a:off x="6126480" y="1097280"/>
            <a:ext cx="5303520" cy="320040"/>
          </a:xfrm>
          <a:prstGeom prst="rect">
            <a:avLst/>
          </a:prstGeom>
          <a:noFill/>
          <a:ln/>
        </p:spPr>
        <p:txBody>
          <a:bodyPr wrap="square" lIns="1016" tIns="1016" rIns="1016" bIns="1016" rtlCol="0" anchor="ctr">
            <a:normAutofit/>
          </a:bodyPr>
          <a:lstStyle/>
          <a:p>
            <a:pPr marL="0" indent="0" algn="l">
              <a:buNone/>
            </a:pPr>
            <a:r>
              <a:rPr lang="en-US" sz="2000" b="1" dirty="0">
                <a:solidFill>
                  <a:srgbClr val="2E7D32"/>
                </a:solidFill>
                <a:latin typeface="Aptos" pitchFamily="34" charset="0"/>
                <a:ea typeface="Aptos" pitchFamily="34" charset="-122"/>
                <a:cs typeface="Aptos" pitchFamily="34" charset="-120"/>
              </a:rPr>
              <a:t>Discussion</a:t>
            </a:r>
            <a:endParaRPr lang="en-US" sz="2000" dirty="0"/>
          </a:p>
        </p:txBody>
      </p:sp>
      <p:sp>
        <p:nvSpPr>
          <p:cNvPr id="11" name="Text 9"/>
          <p:cNvSpPr/>
          <p:nvPr/>
        </p:nvSpPr>
        <p:spPr>
          <a:xfrm>
            <a:off x="6126480" y="1536192"/>
            <a:ext cx="5303520" cy="1415730"/>
          </a:xfrm>
          <a:prstGeom prst="rect">
            <a:avLst/>
          </a:prstGeom>
          <a:solidFill>
            <a:srgbClr val="EAF6EA"/>
          </a:solidFill>
          <a:ln>
            <a:solidFill>
              <a:srgbClr val="2E7D32">
                <a:alpha val="75000"/>
              </a:srgbClr>
            </a:solidFill>
          </a:ln>
        </p:spPr>
        <p:txBody>
          <a:bodyPr wrap="square" lIns="1524" tIns="1524" rIns="1524" bIns="1524" rtlCol="0" anchor="ctr">
            <a:normAutofit/>
          </a:bodyPr>
          <a:lstStyle/>
          <a:p>
            <a:pPr marL="0" indent="0">
              <a:buNone/>
            </a:pPr>
            <a:r>
              <a:rPr lang="en-US" sz="1600" dirty="0">
                <a:solidFill>
                  <a:srgbClr val="1F2937"/>
                </a:solidFill>
              </a:rPr>
              <a:t>• Does leadership always require extraversion?</a:t>
            </a:r>
            <a:endParaRPr lang="en-US" sz="1600" dirty="0"/>
          </a:p>
          <a:p>
            <a:pPr marL="0" indent="0">
              <a:buNone/>
            </a:pPr>
            <a:r>
              <a:rPr lang="en-US" sz="1600" dirty="0">
                <a:solidFill>
                  <a:srgbClr val="1F2937"/>
                </a:solidFill>
              </a:rPr>
              <a:t>• How can introversion support quality leadership?</a:t>
            </a:r>
            <a:endParaRPr lang="en-US" sz="1600" dirty="0"/>
          </a:p>
          <a:p>
            <a:pPr marL="0" indent="0">
              <a:buNone/>
            </a:pPr>
            <a:r>
              <a:rPr lang="en-US" sz="1600" dirty="0">
                <a:solidFill>
                  <a:srgbClr val="1F2937"/>
                </a:solidFill>
              </a:rPr>
              <a:t>• When should a person adapt behavior to fit the situation?</a:t>
            </a:r>
            <a:endParaRPr lang="en-US" sz="1600" dirty="0"/>
          </a:p>
          <a:p>
            <a:pPr marL="0" indent="0">
              <a:buNone/>
            </a:pPr>
            <a:r>
              <a:rPr lang="en-US" sz="1600" dirty="0">
                <a:solidFill>
                  <a:srgbClr val="1F2937"/>
                </a:solidFill>
              </a:rPr>
              <a:t>• What risks emerge when managers stereotype personality?</a:t>
            </a:r>
            <a:endParaRPr lang="en-US" sz="1600" dirty="0"/>
          </a:p>
        </p:txBody>
      </p:sp>
      <p:sp>
        <p:nvSpPr>
          <p:cNvPr id="12" name="Text 10"/>
          <p:cNvSpPr/>
          <p:nvPr/>
        </p:nvSpPr>
        <p:spPr>
          <a:xfrm>
            <a:off x="685800" y="4617720"/>
            <a:ext cx="1920240" cy="256032"/>
          </a:xfrm>
          <a:prstGeom prst="rect">
            <a:avLst/>
          </a:prstGeom>
          <a:noFill/>
          <a:ln/>
        </p:spPr>
        <p:txBody>
          <a:bodyPr wrap="square" lIns="1016" tIns="1016" rIns="1016" bIns="1016" rtlCol="0" anchor="ctr">
            <a:normAutofit fontScale="92500" lnSpcReduction="20000"/>
          </a:bodyPr>
          <a:lstStyle/>
          <a:p>
            <a:pPr marL="0" indent="0" algn="l">
              <a:buNone/>
            </a:pPr>
            <a:r>
              <a:rPr lang="en-US" sz="2000" b="1" dirty="0">
                <a:solidFill>
                  <a:srgbClr val="17324D"/>
                </a:solidFill>
                <a:latin typeface="Aptos" pitchFamily="34" charset="0"/>
                <a:ea typeface="Aptos" pitchFamily="34" charset="-122"/>
                <a:cs typeface="Aptos" pitchFamily="34" charset="-120"/>
              </a:rPr>
              <a:t>Key message</a:t>
            </a:r>
            <a:endParaRPr lang="en-US" sz="2000" dirty="0"/>
          </a:p>
        </p:txBody>
      </p:sp>
      <p:sp>
        <p:nvSpPr>
          <p:cNvPr id="13" name="Text 11"/>
          <p:cNvSpPr/>
          <p:nvPr/>
        </p:nvSpPr>
        <p:spPr>
          <a:xfrm>
            <a:off x="2880360" y="4498848"/>
            <a:ext cx="6766560" cy="566928"/>
          </a:xfrm>
          <a:prstGeom prst="rect">
            <a:avLst/>
          </a:prstGeom>
          <a:solidFill>
            <a:srgbClr val="FFF4E6"/>
          </a:solidFill>
          <a:ln>
            <a:solidFill>
              <a:srgbClr val="B45309">
                <a:alpha val="80000"/>
              </a:srgbClr>
            </a:solidFill>
          </a:ln>
        </p:spPr>
        <p:txBody>
          <a:bodyPr wrap="square" lIns="762" tIns="762" rIns="762" bIns="762" rtlCol="0" anchor="ctr">
            <a:normAutofit/>
          </a:bodyPr>
          <a:lstStyle/>
          <a:p>
            <a:pPr marL="0" indent="0" algn="ctr">
              <a:buNone/>
            </a:pPr>
            <a:r>
              <a:rPr lang="en-US" sz="1400" b="1" dirty="0">
                <a:solidFill>
                  <a:srgbClr val="1F2937"/>
                </a:solidFill>
              </a:rPr>
              <a:t>Personality traits matter, but behavior depends on fit and context.</a:t>
            </a:r>
            <a:endParaRPr lang="en-US" sz="1400" dirty="0"/>
          </a:p>
        </p:txBody>
      </p:sp>
      <p:sp>
        <p:nvSpPr>
          <p:cNvPr id="14" name="Text 12"/>
          <p:cNvSpPr/>
          <p:nvPr/>
        </p:nvSpPr>
        <p:spPr>
          <a:xfrm>
            <a:off x="685800" y="5504688"/>
            <a:ext cx="10698480" cy="411480"/>
          </a:xfrm>
          <a:prstGeom prst="rect">
            <a:avLst/>
          </a:prstGeom>
          <a:noFill/>
          <a:ln/>
        </p:spPr>
        <p:txBody>
          <a:bodyPr wrap="square" lIns="1016" tIns="1016" rIns="1016" bIns="1016" rtlCol="0" anchor="ctr">
            <a:normAutofit/>
          </a:bodyPr>
          <a:lstStyle/>
          <a:p>
            <a:pPr marL="0" indent="0" algn="l">
              <a:buNone/>
            </a:pPr>
            <a:r>
              <a:rPr lang="en-US" sz="1400" dirty="0">
                <a:solidFill>
                  <a:srgbClr val="1F2937"/>
                </a:solidFill>
                <a:latin typeface="Aptos" pitchFamily="34" charset="0"/>
                <a:ea typeface="Aptos" pitchFamily="34" charset="-122"/>
                <a:cs typeface="Aptos" pitchFamily="34" charset="-120"/>
              </a:rPr>
              <a:t>Quality connection: introversion may support careful listening, observation, reflection, and learning from quality problems.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17324D"/>
          </a:solidFill>
          <a:ln w="12700">
            <a:solidFill>
              <a:srgbClr val="17324D"/>
            </a:solidFill>
            <a:prstDash val="solid"/>
          </a:ln>
        </p:spPr>
      </p:sp>
      <p:sp>
        <p:nvSpPr>
          <p:cNvPr id="3" name="Text 1"/>
          <p:cNvSpPr/>
          <p:nvPr/>
        </p:nvSpPr>
        <p:spPr>
          <a:xfrm>
            <a:off x="384048" y="73152"/>
            <a:ext cx="7863840" cy="310896"/>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Linking Personality and Values to the Workplace</a:t>
            </a:r>
            <a:endParaRPr lang="en-US" sz="2400" dirty="0"/>
          </a:p>
        </p:txBody>
      </p:sp>
      <p:sp>
        <p:nvSpPr>
          <p:cNvPr id="4" name="Text 2"/>
          <p:cNvSpPr/>
          <p:nvPr/>
        </p:nvSpPr>
        <p:spPr>
          <a:xfrm>
            <a:off x="9784080" y="137160"/>
            <a:ext cx="2011680" cy="219456"/>
          </a:xfrm>
          <a:prstGeom prst="rect">
            <a:avLst/>
          </a:prstGeom>
          <a:noFill/>
          <a:ln/>
        </p:spPr>
        <p:txBody>
          <a:bodyPr wrap="square" lIns="0" tIns="0" rIns="0" bIns="0" rtlCol="0" anchor="ctr"/>
          <a:lstStyle/>
          <a:p>
            <a:pPr marL="0" indent="0" algn="r">
              <a:buNone/>
            </a:pPr>
            <a:r>
              <a:rPr lang="en-US" sz="1000" b="1" dirty="0">
                <a:solidFill>
                  <a:srgbClr val="FFFFFF"/>
                </a:solidFill>
              </a:rPr>
              <a:t>G TQM 511 | Week 5</a:t>
            </a:r>
            <a:endParaRPr lang="en-US" sz="1000" dirty="0"/>
          </a:p>
        </p:txBody>
      </p:sp>
      <p:sp>
        <p:nvSpPr>
          <p:cNvPr id="5" name="Text 3"/>
          <p:cNvSpPr/>
          <p:nvPr/>
        </p:nvSpPr>
        <p:spPr>
          <a:xfrm>
            <a:off x="502920" y="612648"/>
            <a:ext cx="11201400" cy="292608"/>
          </a:xfrm>
          <a:prstGeom prst="rect">
            <a:avLst/>
          </a:prstGeom>
          <a:noFill/>
          <a:ln/>
        </p:spPr>
        <p:txBody>
          <a:bodyPr wrap="square" lIns="0" tIns="0" rIns="0" bIns="0" rtlCol="0" anchor="ctr"/>
          <a:lstStyle/>
          <a:p>
            <a:pPr marL="0" indent="0">
              <a:buNone/>
            </a:pPr>
            <a:r>
              <a:rPr lang="en-US" sz="1400" i="1" dirty="0">
                <a:solidFill>
                  <a:srgbClr val="5A6775"/>
                </a:solidFill>
              </a:rPr>
              <a:t>The chapter begins with fit: person–job fit and person–organization fit.</a:t>
            </a:r>
            <a:endParaRPr lang="en-US" sz="1400" dirty="0"/>
          </a:p>
        </p:txBody>
      </p:sp>
      <p:sp>
        <p:nvSpPr>
          <p:cNvPr id="6" name="Text 4"/>
          <p:cNvSpPr/>
          <p:nvPr/>
        </p:nvSpPr>
        <p:spPr>
          <a:xfrm>
            <a:off x="502920" y="6528816"/>
            <a:ext cx="7132320" cy="164592"/>
          </a:xfrm>
          <a:prstGeom prst="rect">
            <a:avLst/>
          </a:prstGeom>
          <a:noFill/>
          <a:ln/>
        </p:spPr>
        <p:txBody>
          <a:bodyPr wrap="square" lIns="0" tIns="0" rIns="0" bIns="0" rtlCol="0" anchor="ctr"/>
          <a:lstStyle/>
          <a:p>
            <a:pPr marL="0" indent="0">
              <a:buNone/>
            </a:pPr>
            <a:r>
              <a:rPr lang="en-US" sz="680" dirty="0">
                <a:solidFill>
                  <a:srgbClr val="7D8790"/>
                </a:solidFill>
              </a:rPr>
              <a:t>Based on Robbins &amp; Judge, Organizational Behavior, Updated 18th Global Edition, Chapter 4</a:t>
            </a:r>
            <a:endParaRPr lang="en-US" sz="680" dirty="0"/>
          </a:p>
        </p:txBody>
      </p:sp>
      <p:sp>
        <p:nvSpPr>
          <p:cNvPr id="7" name="Text 5"/>
          <p:cNvSpPr/>
          <p:nvPr/>
        </p:nvSpPr>
        <p:spPr>
          <a:xfrm>
            <a:off x="9738360" y="6528816"/>
            <a:ext cx="1965960" cy="164592"/>
          </a:xfrm>
          <a:prstGeom prst="rect">
            <a:avLst/>
          </a:prstGeom>
          <a:noFill/>
          <a:ln/>
        </p:spPr>
        <p:txBody>
          <a:bodyPr wrap="square" lIns="0" tIns="0" rIns="0" bIns="0" rtlCol="0" anchor="ctr"/>
          <a:lstStyle/>
          <a:p>
            <a:pPr marL="0" indent="0" algn="r">
              <a:buNone/>
            </a:pPr>
            <a:r>
              <a:rPr lang="en-US" sz="680" dirty="0">
                <a:solidFill>
                  <a:srgbClr val="7D8790"/>
                </a:solidFill>
              </a:rPr>
              <a:t>Personality and Values</a:t>
            </a:r>
            <a:endParaRPr lang="en-US" sz="680" dirty="0"/>
          </a:p>
        </p:txBody>
      </p:sp>
      <p:sp>
        <p:nvSpPr>
          <p:cNvPr id="8" name="Text 6"/>
          <p:cNvSpPr/>
          <p:nvPr/>
        </p:nvSpPr>
        <p:spPr>
          <a:xfrm>
            <a:off x="594360" y="1143000"/>
            <a:ext cx="5212080" cy="320040"/>
          </a:xfrm>
          <a:prstGeom prst="rect">
            <a:avLst/>
          </a:prstGeom>
          <a:noFill/>
          <a:ln/>
        </p:spPr>
        <p:txBody>
          <a:bodyPr wrap="square" lIns="1016" tIns="1016" rIns="1016" bIns="1016" rtlCol="0" anchor="ctr">
            <a:normAutofit/>
          </a:bodyPr>
          <a:lstStyle/>
          <a:p>
            <a:pPr marL="0" indent="0" algn="l">
              <a:buNone/>
            </a:pPr>
            <a:r>
              <a:rPr lang="en-US" sz="2000" b="1" dirty="0">
                <a:solidFill>
                  <a:srgbClr val="0F766E"/>
                </a:solidFill>
                <a:latin typeface="Aptos" pitchFamily="34" charset="0"/>
                <a:ea typeface="Aptos" pitchFamily="34" charset="-122"/>
                <a:cs typeface="Aptos" pitchFamily="34" charset="-120"/>
              </a:rPr>
              <a:t>Person–Job Fit</a:t>
            </a:r>
            <a:endParaRPr lang="en-US" sz="2000" dirty="0"/>
          </a:p>
        </p:txBody>
      </p:sp>
      <p:sp>
        <p:nvSpPr>
          <p:cNvPr id="9" name="Text 7"/>
          <p:cNvSpPr/>
          <p:nvPr/>
        </p:nvSpPr>
        <p:spPr>
          <a:xfrm>
            <a:off x="594360" y="1581912"/>
            <a:ext cx="5212080" cy="1618488"/>
          </a:xfrm>
          <a:prstGeom prst="rect">
            <a:avLst/>
          </a:prstGeom>
          <a:solidFill>
            <a:srgbClr val="DFF4F1"/>
          </a:solidFill>
          <a:ln>
            <a:solidFill>
              <a:srgbClr val="0F766E">
                <a:alpha val="75000"/>
              </a:srgbClr>
            </a:solidFill>
          </a:ln>
        </p:spPr>
        <p:txBody>
          <a:bodyPr wrap="square" lIns="1524" tIns="1524" rIns="1524" bIns="1524" rtlCol="0" anchor="ctr">
            <a:normAutofit/>
          </a:bodyPr>
          <a:lstStyle/>
          <a:p>
            <a:pPr marL="0" indent="0">
              <a:buNone/>
            </a:pPr>
            <a:r>
              <a:rPr lang="en-US" sz="1600" dirty="0">
                <a:solidFill>
                  <a:srgbClr val="1F2937"/>
                </a:solidFill>
              </a:rPr>
              <a:t>The effort to match job requirements with personality characteristics.</a:t>
            </a:r>
            <a:endParaRPr lang="en-US" sz="1600" dirty="0"/>
          </a:p>
          <a:p>
            <a:pPr marL="0" indent="0">
              <a:buNone/>
            </a:pPr>
            <a:endParaRPr lang="en-US" sz="1600" dirty="0"/>
          </a:p>
          <a:p>
            <a:pPr marL="0" indent="0">
              <a:buNone/>
            </a:pPr>
            <a:r>
              <a:rPr lang="en-US" sz="1600" dirty="0">
                <a:solidFill>
                  <a:srgbClr val="1F2937"/>
                </a:solidFill>
              </a:rPr>
              <a:t>Quality question: Does the person fit the behavioral demands of the role?</a:t>
            </a:r>
            <a:endParaRPr lang="en-US" sz="1600" dirty="0"/>
          </a:p>
        </p:txBody>
      </p:sp>
      <p:sp>
        <p:nvSpPr>
          <p:cNvPr id="10" name="Text 8"/>
          <p:cNvSpPr/>
          <p:nvPr/>
        </p:nvSpPr>
        <p:spPr>
          <a:xfrm>
            <a:off x="6126480" y="1143000"/>
            <a:ext cx="5349240" cy="320040"/>
          </a:xfrm>
          <a:prstGeom prst="rect">
            <a:avLst/>
          </a:prstGeom>
          <a:noFill/>
          <a:ln/>
        </p:spPr>
        <p:txBody>
          <a:bodyPr wrap="square" lIns="1016" tIns="1016" rIns="1016" bIns="1016" rtlCol="0" anchor="ctr">
            <a:normAutofit/>
          </a:bodyPr>
          <a:lstStyle/>
          <a:p>
            <a:pPr marL="0" indent="0" algn="l">
              <a:buNone/>
            </a:pPr>
            <a:r>
              <a:rPr lang="en-US" sz="2000" b="1" dirty="0">
                <a:solidFill>
                  <a:srgbClr val="1D4E89"/>
                </a:solidFill>
                <a:latin typeface="Aptos" pitchFamily="34" charset="0"/>
                <a:ea typeface="Aptos" pitchFamily="34" charset="-122"/>
                <a:cs typeface="Aptos" pitchFamily="34" charset="-120"/>
              </a:rPr>
              <a:t>Person–Organization Fit</a:t>
            </a:r>
            <a:endParaRPr lang="en-US" sz="2000" dirty="0"/>
          </a:p>
        </p:txBody>
      </p:sp>
      <p:sp>
        <p:nvSpPr>
          <p:cNvPr id="11" name="Text 9"/>
          <p:cNvSpPr/>
          <p:nvPr/>
        </p:nvSpPr>
        <p:spPr>
          <a:xfrm>
            <a:off x="6126480" y="1581912"/>
            <a:ext cx="5349240" cy="1618488"/>
          </a:xfrm>
          <a:prstGeom prst="rect">
            <a:avLst/>
          </a:prstGeom>
          <a:solidFill>
            <a:srgbClr val="EAF3FF"/>
          </a:solidFill>
          <a:ln>
            <a:solidFill>
              <a:srgbClr val="1D4E89">
                <a:alpha val="75000"/>
              </a:srgbClr>
            </a:solidFill>
          </a:ln>
        </p:spPr>
        <p:txBody>
          <a:bodyPr wrap="square" lIns="1524" tIns="1524" rIns="1524" bIns="1524" rtlCol="0" anchor="ctr">
            <a:normAutofit/>
          </a:bodyPr>
          <a:lstStyle/>
          <a:p>
            <a:pPr marL="0" indent="0">
              <a:buNone/>
            </a:pPr>
            <a:r>
              <a:rPr lang="en-US" sz="1600" dirty="0">
                <a:solidFill>
                  <a:srgbClr val="1F2937"/>
                </a:solidFill>
              </a:rPr>
              <a:t>People are attracted to and selected by organizations that match their values, and they leave organizations that are not compatible with their personalities.</a:t>
            </a:r>
            <a:endParaRPr lang="en-US" sz="1600" dirty="0"/>
          </a:p>
          <a:p>
            <a:pPr marL="0" indent="0">
              <a:buNone/>
            </a:pPr>
            <a:endParaRPr lang="en-US" sz="1600" dirty="0"/>
          </a:p>
          <a:p>
            <a:pPr marL="0" indent="0">
              <a:buNone/>
            </a:pPr>
            <a:r>
              <a:rPr lang="en-US" sz="1600" dirty="0">
                <a:solidFill>
                  <a:srgbClr val="1F2937"/>
                </a:solidFill>
              </a:rPr>
              <a:t>Quality question: Do the person’s values fit the quality culture?</a:t>
            </a:r>
            <a:endParaRPr lang="en-US" sz="1600" dirty="0"/>
          </a:p>
        </p:txBody>
      </p:sp>
      <p:sp>
        <p:nvSpPr>
          <p:cNvPr id="12" name="Text 10"/>
          <p:cNvSpPr/>
          <p:nvPr/>
        </p:nvSpPr>
        <p:spPr>
          <a:xfrm>
            <a:off x="685800" y="4160520"/>
            <a:ext cx="3108960" cy="274320"/>
          </a:xfrm>
          <a:prstGeom prst="rect">
            <a:avLst/>
          </a:prstGeom>
          <a:noFill/>
          <a:ln/>
        </p:spPr>
        <p:txBody>
          <a:bodyPr wrap="square" lIns="1016" tIns="1016" rIns="1016" bIns="1016" rtlCol="0" anchor="ctr">
            <a:normAutofit fontScale="92500" lnSpcReduction="10000"/>
          </a:bodyPr>
          <a:lstStyle/>
          <a:p>
            <a:pPr marL="0" indent="0" algn="l">
              <a:buNone/>
            </a:pPr>
            <a:r>
              <a:rPr lang="en-US" sz="2000" b="1" dirty="0">
                <a:solidFill>
                  <a:srgbClr val="17324D"/>
                </a:solidFill>
                <a:latin typeface="Aptos" pitchFamily="34" charset="0"/>
                <a:ea typeface="Aptos" pitchFamily="34" charset="-122"/>
                <a:cs typeface="Aptos" pitchFamily="34" charset="-120"/>
              </a:rPr>
              <a:t>Why fit matters for quality</a:t>
            </a:r>
            <a:endParaRPr lang="en-US" sz="2000" dirty="0"/>
          </a:p>
        </p:txBody>
      </p:sp>
      <p:sp>
        <p:nvSpPr>
          <p:cNvPr id="13" name="Text 11"/>
          <p:cNvSpPr/>
          <p:nvPr/>
        </p:nvSpPr>
        <p:spPr>
          <a:xfrm>
            <a:off x="822960" y="4572000"/>
            <a:ext cx="10241280" cy="1188720"/>
          </a:xfrm>
          <a:prstGeom prst="rect">
            <a:avLst/>
          </a:prstGeom>
          <a:noFill/>
          <a:ln/>
        </p:spPr>
        <p:txBody>
          <a:bodyPr wrap="square" lIns="1016" tIns="1016" rIns="1016" bIns="1016" rtlCol="0" anchor="ctr">
            <a:normAutofit/>
          </a:bodyPr>
          <a:lstStyle/>
          <a:p>
            <a:pPr marL="139700" indent="-139700">
              <a:buSzPct val="100000"/>
              <a:buChar char="•"/>
            </a:pPr>
            <a:r>
              <a:rPr lang="en-US" sz="1400" dirty="0">
                <a:solidFill>
                  <a:srgbClr val="1F2937"/>
                </a:solidFill>
              </a:rPr>
              <a:t>Better fit supports satisfaction, commitment, task performance, and lower turnover.</a:t>
            </a:r>
            <a:endParaRPr lang="en-US" sz="1400" dirty="0"/>
          </a:p>
          <a:p>
            <a:pPr marL="139700" indent="-139700">
              <a:buSzPct val="100000"/>
              <a:buChar char="•"/>
            </a:pPr>
            <a:r>
              <a:rPr lang="en-US" sz="1400" dirty="0">
                <a:solidFill>
                  <a:srgbClr val="1F2937"/>
                </a:solidFill>
              </a:rPr>
              <a:t>Poor fit may create defensiveness, low cooperation, resistance to feedback, and documentation errors.</a:t>
            </a:r>
            <a:endParaRPr lang="en-US" sz="1400" dirty="0"/>
          </a:p>
          <a:p>
            <a:pPr marL="139700" indent="-139700">
              <a:buSzPct val="100000"/>
              <a:buChar char="•"/>
            </a:pPr>
            <a:r>
              <a:rPr lang="en-US" sz="1400" dirty="0">
                <a:solidFill>
                  <a:srgbClr val="1F2937"/>
                </a:solidFill>
              </a:rPr>
              <a:t>Fit is not only about technical qualifications; it includes behavioral and value alignment.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1F3B57"/>
          </a:solidFill>
          <a:ln w="12700">
            <a:solidFill>
              <a:srgbClr val="1F3B57"/>
            </a:solidFill>
            <a:prstDash val="solid"/>
          </a:ln>
        </p:spPr>
      </p:sp>
      <p:sp>
        <p:nvSpPr>
          <p:cNvPr id="3" name="Shape 1"/>
          <p:cNvSpPr/>
          <p:nvPr/>
        </p:nvSpPr>
        <p:spPr>
          <a:xfrm>
            <a:off x="0" y="6565392"/>
            <a:ext cx="12191695" cy="292608"/>
          </a:xfrm>
          <a:prstGeom prst="rect">
            <a:avLst/>
          </a:prstGeom>
          <a:solidFill>
            <a:srgbClr val="1F3B57"/>
          </a:solidFill>
          <a:ln w="12700">
            <a:solidFill>
              <a:srgbClr val="1F3B57"/>
            </a:solidFill>
            <a:prstDash val="solid"/>
          </a:ln>
        </p:spPr>
      </p:sp>
      <p:sp>
        <p:nvSpPr>
          <p:cNvPr id="4" name="Text 2"/>
          <p:cNvSpPr/>
          <p:nvPr/>
        </p:nvSpPr>
        <p:spPr>
          <a:xfrm>
            <a:off x="365760" y="6601968"/>
            <a:ext cx="8412480" cy="164592"/>
          </a:xfrm>
          <a:prstGeom prst="rect">
            <a:avLst/>
          </a:prstGeom>
          <a:noFill/>
          <a:ln/>
        </p:spPr>
        <p:txBody>
          <a:bodyPr wrap="square" lIns="0" tIns="0" rIns="0" bIns="0" rtlCol="0" anchor="ctr"/>
          <a:lstStyle/>
          <a:p>
            <a:pPr marL="0" indent="0">
              <a:buNone/>
            </a:pPr>
            <a:r>
              <a:rPr lang="en-US" sz="750" dirty="0">
                <a:solidFill>
                  <a:srgbClr val="FFFFFF"/>
                </a:solidFill>
                <a:latin typeface="Aptos" pitchFamily="34" charset="0"/>
                <a:ea typeface="Aptos" pitchFamily="34" charset="-122"/>
                <a:cs typeface="Aptos" pitchFamily="34" charset="-120"/>
              </a:rPr>
              <a:t>G TQM 511 | Organizational Behavior and Quality | Robbins &amp; Judge, Updated 18e GE, Chapter 4</a:t>
            </a:r>
            <a:endParaRPr lang="en-US" sz="750" dirty="0"/>
          </a:p>
        </p:txBody>
      </p:sp>
      <p:sp>
        <p:nvSpPr>
          <p:cNvPr id="5" name="Text 3"/>
          <p:cNvSpPr/>
          <p:nvPr/>
        </p:nvSpPr>
        <p:spPr>
          <a:xfrm>
            <a:off x="10607040" y="6601968"/>
            <a:ext cx="1188720" cy="164592"/>
          </a:xfrm>
          <a:prstGeom prst="rect">
            <a:avLst/>
          </a:prstGeom>
          <a:noFill/>
          <a:ln/>
        </p:spPr>
        <p:txBody>
          <a:bodyPr wrap="square" lIns="0" tIns="0" rIns="0" bIns="0" rtlCol="0" anchor="ctr"/>
          <a:lstStyle/>
          <a:p>
            <a:pPr marL="0" indent="0" algn="r">
              <a:buNone/>
            </a:pPr>
            <a:r>
              <a:rPr lang="en-US" sz="750" dirty="0">
                <a:solidFill>
                  <a:srgbClr val="FFFFFF"/>
                </a:solidFill>
              </a:rPr>
              <a:t>Week 5</a:t>
            </a:r>
            <a:endParaRPr lang="en-US" sz="750" dirty="0"/>
          </a:p>
        </p:txBody>
      </p:sp>
      <p:sp>
        <p:nvSpPr>
          <p:cNvPr id="6" name="Text 4"/>
          <p:cNvSpPr/>
          <p:nvPr/>
        </p:nvSpPr>
        <p:spPr>
          <a:xfrm>
            <a:off x="502920" y="502920"/>
            <a:ext cx="11064240" cy="384048"/>
          </a:xfrm>
          <a:prstGeom prst="rect">
            <a:avLst/>
          </a:prstGeom>
          <a:noFill/>
          <a:ln/>
        </p:spPr>
        <p:txBody>
          <a:bodyPr wrap="square" lIns="0" tIns="0" rIns="0" bIns="0" rtlCol="0" anchor="ctr"/>
          <a:lstStyle/>
          <a:p>
            <a:pPr marL="0" indent="0">
              <a:buNone/>
            </a:pPr>
            <a:r>
              <a:rPr lang="en-US" sz="2400" b="1" dirty="0">
                <a:solidFill>
                  <a:srgbClr val="1F3B57"/>
                </a:solidFill>
                <a:latin typeface="Aptos Display" pitchFamily="34" charset="0"/>
                <a:ea typeface="Aptos Display" pitchFamily="34" charset="-122"/>
                <a:cs typeface="Aptos Display" pitchFamily="34" charset="-120"/>
              </a:rPr>
              <a:t>Holland’s Typology of Personality and Congruent Occupations</a:t>
            </a:r>
            <a:endParaRPr lang="en-US" sz="2400" dirty="0"/>
          </a:p>
        </p:txBody>
      </p:sp>
      <p:sp>
        <p:nvSpPr>
          <p:cNvPr id="7" name="Text 5"/>
          <p:cNvSpPr/>
          <p:nvPr/>
        </p:nvSpPr>
        <p:spPr>
          <a:xfrm>
            <a:off x="521208" y="932688"/>
            <a:ext cx="10789920" cy="256032"/>
          </a:xfrm>
          <a:prstGeom prst="rect">
            <a:avLst/>
          </a:prstGeom>
          <a:noFill/>
          <a:ln/>
        </p:spPr>
        <p:txBody>
          <a:bodyPr wrap="square" lIns="0" tIns="0" rIns="0" bIns="0" rtlCol="0" anchor="ctr"/>
          <a:lstStyle/>
          <a:p>
            <a:pPr marL="0" indent="0">
              <a:buNone/>
            </a:pPr>
            <a:r>
              <a:rPr lang="en-US" sz="1400" dirty="0">
                <a:solidFill>
                  <a:srgbClr val="0F7C80"/>
                </a:solidFill>
                <a:latin typeface="Aptos" pitchFamily="34" charset="0"/>
                <a:ea typeface="Aptos" pitchFamily="34" charset="-122"/>
                <a:cs typeface="Aptos" pitchFamily="34" charset="-120"/>
              </a:rPr>
              <a:t>Personality–job fit theory: match the person to the occupational environment</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251998017"/>
              </p:ext>
            </p:extLst>
          </p:nvPr>
        </p:nvGraphicFramePr>
        <p:xfrm>
          <a:off x="502920" y="1610139"/>
          <a:ext cx="11228832" cy="3637721"/>
        </p:xfrm>
        <a:graphic>
          <a:graphicData uri="http://schemas.openxmlformats.org/drawingml/2006/table">
            <a:tbl>
              <a:tblPr/>
              <a:tblGrid>
                <a:gridCol w="1818434">
                  <a:extLst>
                    <a:ext uri="{9D8B030D-6E8A-4147-A177-3AD203B41FA5}">
                      <a16:colId xmlns:a16="http://schemas.microsoft.com/office/drawing/2014/main" val="20000"/>
                    </a:ext>
                  </a:extLst>
                </a:gridCol>
                <a:gridCol w="4955234">
                  <a:extLst>
                    <a:ext uri="{9D8B030D-6E8A-4147-A177-3AD203B41FA5}">
                      <a16:colId xmlns:a16="http://schemas.microsoft.com/office/drawing/2014/main" val="20001"/>
                    </a:ext>
                  </a:extLst>
                </a:gridCol>
                <a:gridCol w="4455164">
                  <a:extLst>
                    <a:ext uri="{9D8B030D-6E8A-4147-A177-3AD203B41FA5}">
                      <a16:colId xmlns:a16="http://schemas.microsoft.com/office/drawing/2014/main" val="20002"/>
                    </a:ext>
                  </a:extLst>
                </a:gridCol>
              </a:tblGrid>
              <a:tr h="559739">
                <a:tc>
                  <a:txBody>
                    <a:bodyPr/>
                    <a:lstStyle/>
                    <a:p>
                      <a:pPr marL="0" indent="0">
                        <a:buNone/>
                      </a:pPr>
                      <a:r>
                        <a:rPr lang="en-US" sz="1600" b="1" dirty="0">
                          <a:solidFill>
                            <a:srgbClr val="2D3748"/>
                          </a:solidFill>
                          <a:latin typeface="Aptos" pitchFamily="34" charset="0"/>
                          <a:ea typeface="Aptos" pitchFamily="34" charset="-122"/>
                          <a:cs typeface="Aptos" pitchFamily="34" charset="-120"/>
                        </a:rPr>
                        <a:t>Type</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D9EAF7"/>
                    </a:solidFill>
                  </a:tcPr>
                </a:tc>
                <a:tc>
                  <a:txBody>
                    <a:bodyPr/>
                    <a:lstStyle/>
                    <a:p>
                      <a:pPr marL="0" indent="0">
                        <a:buNone/>
                      </a:pPr>
                      <a:r>
                        <a:rPr lang="en-US" sz="1600" b="1" dirty="0">
                          <a:solidFill>
                            <a:srgbClr val="2D3748"/>
                          </a:solidFill>
                          <a:latin typeface="Aptos" pitchFamily="34" charset="0"/>
                          <a:ea typeface="Aptos" pitchFamily="34" charset="-122"/>
                          <a:cs typeface="Aptos" pitchFamily="34" charset="-120"/>
                        </a:rPr>
                        <a:t>Personality characteristics</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D9EAF7"/>
                    </a:solidFill>
                  </a:tcPr>
                </a:tc>
                <a:tc>
                  <a:txBody>
                    <a:bodyPr/>
                    <a:lstStyle/>
                    <a:p>
                      <a:pPr marL="0" indent="0">
                        <a:buNone/>
                      </a:pPr>
                      <a:r>
                        <a:rPr lang="en-US" sz="1600" b="1" dirty="0">
                          <a:solidFill>
                            <a:srgbClr val="2D3748"/>
                          </a:solidFill>
                          <a:latin typeface="Aptos" pitchFamily="34" charset="0"/>
                          <a:ea typeface="Aptos" pitchFamily="34" charset="-122"/>
                          <a:cs typeface="Aptos" pitchFamily="34" charset="-120"/>
                        </a:rPr>
                        <a:t>Congruent occupations</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D9EAF7"/>
                    </a:solidFill>
                  </a:tcPr>
                </a:tc>
                <a:extLst>
                  <a:ext uri="{0D108BD9-81ED-4DB2-BD59-A6C34878D82A}">
                    <a16:rowId xmlns:a16="http://schemas.microsoft.com/office/drawing/2014/main" val="10000"/>
                  </a:ext>
                </a:extLst>
              </a:tr>
              <a:tr h="512997">
                <a:tc>
                  <a:txBody>
                    <a:bodyPr/>
                    <a:lstStyle/>
                    <a:p>
                      <a:pPr marL="0" indent="0">
                        <a:buNone/>
                      </a:pPr>
                      <a:r>
                        <a:rPr lang="en-US" sz="1600" dirty="0">
                          <a:solidFill>
                            <a:srgbClr val="0F7C80"/>
                          </a:solidFill>
                          <a:latin typeface="Aptos" pitchFamily="34" charset="0"/>
                          <a:ea typeface="Aptos" pitchFamily="34" charset="-122"/>
                          <a:cs typeface="Aptos" pitchFamily="34" charset="-120"/>
                        </a:rPr>
                        <a:t>Realistic</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600" dirty="0">
                          <a:solidFill>
                            <a:srgbClr val="2D3748"/>
                          </a:solidFill>
                          <a:latin typeface="Aptos" pitchFamily="34" charset="0"/>
                          <a:ea typeface="Aptos" pitchFamily="34" charset="-122"/>
                          <a:cs typeface="Aptos" pitchFamily="34" charset="-120"/>
                        </a:rPr>
                        <a:t>Shy, genuine, persistent, stable, conforming, practical</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ptos" pitchFamily="34" charset="0"/>
                          <a:ea typeface="Aptos" pitchFamily="34" charset="-122"/>
                          <a:cs typeface="Aptos" pitchFamily="34" charset="-120"/>
                        </a:rPr>
                        <a:t>Mechanic; operator; farmer</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997">
                <a:tc>
                  <a:txBody>
                    <a:bodyPr/>
                    <a:lstStyle/>
                    <a:p>
                      <a:pPr marL="0" indent="0">
                        <a:buNone/>
                      </a:pPr>
                      <a:r>
                        <a:rPr lang="en-US" sz="1600" dirty="0">
                          <a:solidFill>
                            <a:srgbClr val="0F7C80"/>
                          </a:solidFill>
                          <a:latin typeface="Aptos" pitchFamily="34" charset="0"/>
                          <a:ea typeface="Aptos" pitchFamily="34" charset="-122"/>
                          <a:cs typeface="Aptos" pitchFamily="34" charset="-120"/>
                        </a:rPr>
                        <a:t>Investigative</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600" dirty="0">
                          <a:solidFill>
                            <a:srgbClr val="2D3748"/>
                          </a:solidFill>
                          <a:latin typeface="Aptos" pitchFamily="34" charset="0"/>
                          <a:ea typeface="Aptos" pitchFamily="34" charset="-122"/>
                          <a:cs typeface="Aptos" pitchFamily="34" charset="-120"/>
                        </a:rPr>
                        <a:t>Analytical, original, curious, independent</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ptos" pitchFamily="34" charset="0"/>
                          <a:ea typeface="Aptos" pitchFamily="34" charset="-122"/>
                          <a:cs typeface="Aptos" pitchFamily="34" charset="-120"/>
                        </a:rPr>
                        <a:t>Biologist; economist; mathematician</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997">
                <a:tc>
                  <a:txBody>
                    <a:bodyPr/>
                    <a:lstStyle/>
                    <a:p>
                      <a:pPr marL="0" indent="0">
                        <a:buNone/>
                      </a:pPr>
                      <a:r>
                        <a:rPr lang="en-US" sz="1600" dirty="0">
                          <a:solidFill>
                            <a:srgbClr val="0F7C80"/>
                          </a:solidFill>
                          <a:latin typeface="Aptos" pitchFamily="34" charset="0"/>
                          <a:ea typeface="Aptos" pitchFamily="34" charset="-122"/>
                          <a:cs typeface="Aptos" pitchFamily="34" charset="-120"/>
                        </a:rPr>
                        <a:t>Social</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600" dirty="0">
                          <a:solidFill>
                            <a:srgbClr val="2D3748"/>
                          </a:solidFill>
                          <a:latin typeface="Aptos" pitchFamily="34" charset="0"/>
                          <a:ea typeface="Aptos" pitchFamily="34" charset="-122"/>
                          <a:cs typeface="Aptos" pitchFamily="34" charset="-120"/>
                        </a:rPr>
                        <a:t>Sociable, friendly, cooperative, understanding</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ptos" pitchFamily="34" charset="0"/>
                          <a:ea typeface="Aptos" pitchFamily="34" charset="-122"/>
                          <a:cs typeface="Aptos" pitchFamily="34" charset="-120"/>
                        </a:rPr>
                        <a:t>Social worker; teacher; counselor</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997">
                <a:tc>
                  <a:txBody>
                    <a:bodyPr/>
                    <a:lstStyle/>
                    <a:p>
                      <a:pPr marL="0" indent="0">
                        <a:buNone/>
                      </a:pPr>
                      <a:r>
                        <a:rPr lang="en-US" sz="1600" dirty="0">
                          <a:solidFill>
                            <a:srgbClr val="0F7C80"/>
                          </a:solidFill>
                          <a:latin typeface="Aptos" pitchFamily="34" charset="0"/>
                          <a:ea typeface="Aptos" pitchFamily="34" charset="-122"/>
                          <a:cs typeface="Aptos" pitchFamily="34" charset="-120"/>
                        </a:rPr>
                        <a:t>Conventional</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600" dirty="0">
                          <a:solidFill>
                            <a:srgbClr val="2D3748"/>
                          </a:solidFill>
                          <a:latin typeface="Aptos" pitchFamily="34" charset="0"/>
                          <a:ea typeface="Aptos" pitchFamily="34" charset="-122"/>
                          <a:cs typeface="Aptos" pitchFamily="34" charset="-120"/>
                        </a:rPr>
                        <a:t>Conforming, efficient, practical, orderly</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ptos" pitchFamily="34" charset="0"/>
                          <a:ea typeface="Aptos" pitchFamily="34" charset="-122"/>
                          <a:cs typeface="Aptos" pitchFamily="34" charset="-120"/>
                        </a:rPr>
                        <a:t>Accountant; corporate manager; bank teller</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997">
                <a:tc>
                  <a:txBody>
                    <a:bodyPr/>
                    <a:lstStyle/>
                    <a:p>
                      <a:pPr marL="0" indent="0">
                        <a:buNone/>
                      </a:pPr>
                      <a:r>
                        <a:rPr lang="en-US" sz="1600" dirty="0">
                          <a:solidFill>
                            <a:srgbClr val="0F7C80"/>
                          </a:solidFill>
                          <a:latin typeface="Aptos" pitchFamily="34" charset="0"/>
                          <a:ea typeface="Aptos" pitchFamily="34" charset="-122"/>
                          <a:cs typeface="Aptos" pitchFamily="34" charset="-120"/>
                        </a:rPr>
                        <a:t>Enterprising</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600" dirty="0">
                          <a:solidFill>
                            <a:srgbClr val="2D3748"/>
                          </a:solidFill>
                          <a:latin typeface="Aptos" pitchFamily="34" charset="0"/>
                          <a:ea typeface="Aptos" pitchFamily="34" charset="-122"/>
                          <a:cs typeface="Aptos" pitchFamily="34" charset="-120"/>
                        </a:rPr>
                        <a:t>Self-confident, ambitious, energetic, domineering</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ptos" pitchFamily="34" charset="0"/>
                          <a:ea typeface="Aptos" pitchFamily="34" charset="-122"/>
                          <a:cs typeface="Aptos" pitchFamily="34" charset="-120"/>
                        </a:rPr>
                        <a:t>Lawyer; real estate agent; public relations</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997">
                <a:tc>
                  <a:txBody>
                    <a:bodyPr/>
                    <a:lstStyle/>
                    <a:p>
                      <a:pPr marL="0" indent="0">
                        <a:buNone/>
                      </a:pPr>
                      <a:r>
                        <a:rPr lang="en-US" sz="1600" dirty="0">
                          <a:solidFill>
                            <a:srgbClr val="0F7C80"/>
                          </a:solidFill>
                          <a:latin typeface="Aptos" pitchFamily="34" charset="0"/>
                          <a:ea typeface="Aptos" pitchFamily="34" charset="-122"/>
                          <a:cs typeface="Aptos" pitchFamily="34" charset="-120"/>
                        </a:rPr>
                        <a:t>Artistic</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600" dirty="0">
                          <a:solidFill>
                            <a:srgbClr val="2D3748"/>
                          </a:solidFill>
                          <a:latin typeface="Aptos" pitchFamily="34" charset="0"/>
                          <a:ea typeface="Aptos" pitchFamily="34" charset="-122"/>
                          <a:cs typeface="Aptos" pitchFamily="34" charset="-120"/>
                        </a:rPr>
                        <a:t>Imaginative, disorderly, idealistic, emotional</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ptos" pitchFamily="34" charset="0"/>
                          <a:ea typeface="Aptos" pitchFamily="34" charset="-122"/>
                          <a:cs typeface="Aptos" pitchFamily="34" charset="-120"/>
                        </a:rPr>
                        <a:t>Painter; musician; writer; interior decorator</a:t>
                      </a:r>
                      <a:endParaRPr lang="en-US" sz="16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Text 6"/>
          <p:cNvSpPr/>
          <p:nvPr/>
        </p:nvSpPr>
        <p:spPr>
          <a:xfrm>
            <a:off x="685800" y="6281928"/>
            <a:ext cx="10789920" cy="228600"/>
          </a:xfrm>
          <a:prstGeom prst="rect">
            <a:avLst/>
          </a:prstGeom>
          <a:noFill/>
          <a:ln/>
        </p:spPr>
        <p:txBody>
          <a:bodyPr wrap="square" lIns="635" tIns="635" rIns="635" bIns="635" rtlCol="0" anchor="ctr">
            <a:normAutofit/>
          </a:bodyPr>
          <a:lstStyle/>
          <a:p>
            <a:pPr marL="0" indent="0" algn="l">
              <a:buNone/>
            </a:pPr>
            <a:r>
              <a:rPr lang="en-US" sz="1400" b="1" dirty="0">
                <a:solidFill>
                  <a:srgbClr val="1F3B57"/>
                </a:solidFill>
                <a:latin typeface="Aptos" pitchFamily="34" charset="0"/>
                <a:ea typeface="Aptos" pitchFamily="34" charset="-122"/>
                <a:cs typeface="Aptos" pitchFamily="34" charset="-120"/>
              </a:rPr>
              <a:t>Quality use: assign people to quality tasks where fit supports accuracy, analysis, service, compliance, initiative, or creativity.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17324D"/>
          </a:solidFill>
          <a:ln w="12700">
            <a:solidFill>
              <a:srgbClr val="17324D"/>
            </a:solidFill>
            <a:prstDash val="solid"/>
          </a:ln>
        </p:spPr>
      </p:sp>
      <p:sp>
        <p:nvSpPr>
          <p:cNvPr id="3" name="Text 1"/>
          <p:cNvSpPr/>
          <p:nvPr/>
        </p:nvSpPr>
        <p:spPr>
          <a:xfrm>
            <a:off x="384048" y="73152"/>
            <a:ext cx="7863840" cy="310896"/>
          </a:xfrm>
          <a:prstGeom prst="rect">
            <a:avLst/>
          </a:prstGeom>
          <a:noFill/>
          <a:ln/>
        </p:spPr>
        <p:txBody>
          <a:bodyPr wrap="square" lIns="0" tIns="0" rIns="0" bIns="0" rtlCol="0" anchor="ctr"/>
          <a:lstStyle/>
          <a:p>
            <a:pPr marL="0" indent="0">
              <a:buNone/>
            </a:pPr>
            <a:r>
              <a:rPr lang="en-US" sz="3600" b="1" dirty="0">
                <a:solidFill>
                  <a:srgbClr val="FFFFFF"/>
                </a:solidFill>
                <a:latin typeface="Aptos Display" pitchFamily="34" charset="0"/>
                <a:ea typeface="Aptos Display" pitchFamily="34" charset="-122"/>
                <a:cs typeface="Aptos Display" pitchFamily="34" charset="-120"/>
              </a:rPr>
              <a:t>What Is Personality?</a:t>
            </a:r>
            <a:endParaRPr lang="en-US" sz="3600" dirty="0"/>
          </a:p>
        </p:txBody>
      </p:sp>
      <p:sp>
        <p:nvSpPr>
          <p:cNvPr id="4" name="Text 2"/>
          <p:cNvSpPr/>
          <p:nvPr/>
        </p:nvSpPr>
        <p:spPr>
          <a:xfrm>
            <a:off x="9784080" y="137160"/>
            <a:ext cx="2011680" cy="219456"/>
          </a:xfrm>
          <a:prstGeom prst="rect">
            <a:avLst/>
          </a:prstGeom>
          <a:noFill/>
          <a:ln/>
        </p:spPr>
        <p:txBody>
          <a:bodyPr wrap="square" lIns="0" tIns="0" rIns="0" bIns="0" rtlCol="0" anchor="ctr"/>
          <a:lstStyle/>
          <a:p>
            <a:pPr marL="0" indent="0" algn="r">
              <a:buNone/>
            </a:pPr>
            <a:r>
              <a:rPr lang="en-US" sz="1200" b="1" dirty="0">
                <a:solidFill>
                  <a:srgbClr val="FFFFFF"/>
                </a:solidFill>
              </a:rPr>
              <a:t>G TQM 511 | Week 5</a:t>
            </a:r>
            <a:endParaRPr lang="en-US" sz="1200" dirty="0"/>
          </a:p>
        </p:txBody>
      </p:sp>
      <p:sp>
        <p:nvSpPr>
          <p:cNvPr id="5" name="Text 3"/>
          <p:cNvSpPr/>
          <p:nvPr/>
        </p:nvSpPr>
        <p:spPr>
          <a:xfrm>
            <a:off x="502920" y="612648"/>
            <a:ext cx="11201400" cy="292608"/>
          </a:xfrm>
          <a:prstGeom prst="rect">
            <a:avLst/>
          </a:prstGeom>
          <a:noFill/>
          <a:ln/>
        </p:spPr>
        <p:txBody>
          <a:bodyPr wrap="square" lIns="0" tIns="0" rIns="0" bIns="0" rtlCol="0" anchor="ctr"/>
          <a:lstStyle/>
          <a:p>
            <a:pPr marL="0" indent="0">
              <a:buNone/>
            </a:pPr>
            <a:r>
              <a:rPr lang="en-US" sz="1600" i="1" dirty="0">
                <a:solidFill>
                  <a:srgbClr val="5A6775"/>
                </a:solidFill>
              </a:rPr>
              <a:t>Use the official definition and measurement cautions.</a:t>
            </a:r>
            <a:endParaRPr lang="en-US" sz="1600" dirty="0"/>
          </a:p>
        </p:txBody>
      </p:sp>
      <p:sp>
        <p:nvSpPr>
          <p:cNvPr id="6" name="Text 4"/>
          <p:cNvSpPr/>
          <p:nvPr/>
        </p:nvSpPr>
        <p:spPr>
          <a:xfrm>
            <a:off x="502920" y="6528816"/>
            <a:ext cx="7132320" cy="164592"/>
          </a:xfrm>
          <a:prstGeom prst="rect">
            <a:avLst/>
          </a:prstGeom>
          <a:noFill/>
          <a:ln/>
        </p:spPr>
        <p:txBody>
          <a:bodyPr wrap="square" lIns="0" tIns="0" rIns="0" bIns="0" rtlCol="0" anchor="ctr"/>
          <a:lstStyle/>
          <a:p>
            <a:pPr marL="0" indent="0">
              <a:buNone/>
            </a:pPr>
            <a:r>
              <a:rPr lang="en-US" sz="1000" dirty="0">
                <a:solidFill>
                  <a:srgbClr val="7D8790"/>
                </a:solidFill>
              </a:rPr>
              <a:t>Based on Robbins &amp; Judge, Organizational Behavior, Updated 18th Global Edition, Chapter 4</a:t>
            </a:r>
            <a:endParaRPr lang="en-US" sz="1000" dirty="0"/>
          </a:p>
        </p:txBody>
      </p:sp>
      <p:sp>
        <p:nvSpPr>
          <p:cNvPr id="7" name="Text 5"/>
          <p:cNvSpPr/>
          <p:nvPr/>
        </p:nvSpPr>
        <p:spPr>
          <a:xfrm>
            <a:off x="9738360" y="6528816"/>
            <a:ext cx="1965960" cy="164592"/>
          </a:xfrm>
          <a:prstGeom prst="rect">
            <a:avLst/>
          </a:prstGeom>
          <a:noFill/>
          <a:ln/>
        </p:spPr>
        <p:txBody>
          <a:bodyPr wrap="square" lIns="0" tIns="0" rIns="0" bIns="0" rtlCol="0" anchor="ctr"/>
          <a:lstStyle/>
          <a:p>
            <a:pPr marL="0" indent="0" algn="r">
              <a:buNone/>
            </a:pPr>
            <a:r>
              <a:rPr lang="en-US" sz="1000" dirty="0">
                <a:solidFill>
                  <a:srgbClr val="7D8790"/>
                </a:solidFill>
              </a:rPr>
              <a:t>Personality and Values</a:t>
            </a:r>
            <a:endParaRPr lang="en-US" sz="1000" dirty="0"/>
          </a:p>
        </p:txBody>
      </p:sp>
      <p:sp>
        <p:nvSpPr>
          <p:cNvPr id="8" name="Text 6"/>
          <p:cNvSpPr/>
          <p:nvPr/>
        </p:nvSpPr>
        <p:spPr>
          <a:xfrm>
            <a:off x="594360" y="1143000"/>
            <a:ext cx="5029200" cy="320040"/>
          </a:xfrm>
          <a:prstGeom prst="rect">
            <a:avLst/>
          </a:prstGeom>
          <a:noFill/>
          <a:ln/>
        </p:spPr>
        <p:txBody>
          <a:bodyPr wrap="square" lIns="1016" tIns="1016" rIns="1016" bIns="1016" rtlCol="0" anchor="ctr">
            <a:noAutofit/>
          </a:bodyPr>
          <a:lstStyle/>
          <a:p>
            <a:pPr marL="0" indent="0" algn="l">
              <a:buNone/>
            </a:pPr>
            <a:r>
              <a:rPr lang="en-US" sz="2000" b="1" dirty="0">
                <a:solidFill>
                  <a:srgbClr val="1D4E89"/>
                </a:solidFill>
                <a:latin typeface="Aptos" pitchFamily="34" charset="0"/>
                <a:ea typeface="Aptos" pitchFamily="34" charset="-122"/>
                <a:cs typeface="Aptos" pitchFamily="34" charset="-120"/>
              </a:rPr>
              <a:t>Personality</a:t>
            </a:r>
            <a:endParaRPr lang="en-US" sz="2000" dirty="0"/>
          </a:p>
        </p:txBody>
      </p:sp>
      <p:sp>
        <p:nvSpPr>
          <p:cNvPr id="9" name="Text 7"/>
          <p:cNvSpPr/>
          <p:nvPr/>
        </p:nvSpPr>
        <p:spPr>
          <a:xfrm>
            <a:off x="594360" y="1581912"/>
            <a:ext cx="5029200" cy="978408"/>
          </a:xfrm>
          <a:prstGeom prst="rect">
            <a:avLst/>
          </a:prstGeom>
          <a:solidFill>
            <a:srgbClr val="EAF3FF"/>
          </a:solidFill>
          <a:ln>
            <a:solidFill>
              <a:srgbClr val="1D4E89">
                <a:alpha val="75000"/>
              </a:srgbClr>
            </a:solidFill>
          </a:ln>
        </p:spPr>
        <p:txBody>
          <a:bodyPr wrap="square" lIns="1524" tIns="1524" rIns="1524" bIns="1524" rtlCol="0" anchor="ctr">
            <a:normAutofit/>
          </a:bodyPr>
          <a:lstStyle/>
          <a:p>
            <a:pPr marL="0" indent="0">
              <a:buNone/>
            </a:pPr>
            <a:r>
              <a:rPr lang="en-US" sz="1600" dirty="0">
                <a:solidFill>
                  <a:srgbClr val="1F2937"/>
                </a:solidFill>
              </a:rPr>
              <a:t>The sum of ways in which an individual reacts to and interacts with others.</a:t>
            </a:r>
            <a:endParaRPr lang="en-US" sz="1600" dirty="0"/>
          </a:p>
        </p:txBody>
      </p:sp>
      <p:sp>
        <p:nvSpPr>
          <p:cNvPr id="10" name="Text 8"/>
          <p:cNvSpPr/>
          <p:nvPr/>
        </p:nvSpPr>
        <p:spPr>
          <a:xfrm>
            <a:off x="5989320" y="1143000"/>
            <a:ext cx="5303520" cy="320040"/>
          </a:xfrm>
          <a:prstGeom prst="rect">
            <a:avLst/>
          </a:prstGeom>
          <a:noFill/>
          <a:ln/>
        </p:spPr>
        <p:txBody>
          <a:bodyPr wrap="square" lIns="1016" tIns="1016" rIns="1016" bIns="1016" rtlCol="0" anchor="ctr">
            <a:noAutofit/>
          </a:bodyPr>
          <a:lstStyle/>
          <a:p>
            <a:pPr marL="0" indent="0" algn="l">
              <a:buNone/>
            </a:pPr>
            <a:r>
              <a:rPr lang="en-US" sz="2000" b="1" dirty="0">
                <a:solidFill>
                  <a:srgbClr val="2E7D32"/>
                </a:solidFill>
                <a:latin typeface="Aptos" pitchFamily="34" charset="0"/>
                <a:ea typeface="Aptos" pitchFamily="34" charset="-122"/>
                <a:cs typeface="Aptos" pitchFamily="34" charset="-120"/>
              </a:rPr>
              <a:t>Personality traits</a:t>
            </a:r>
            <a:endParaRPr lang="en-US" sz="2000" dirty="0"/>
          </a:p>
        </p:txBody>
      </p:sp>
      <p:sp>
        <p:nvSpPr>
          <p:cNvPr id="11" name="Text 9"/>
          <p:cNvSpPr/>
          <p:nvPr/>
        </p:nvSpPr>
        <p:spPr>
          <a:xfrm>
            <a:off x="5989320" y="1581912"/>
            <a:ext cx="5303520" cy="978408"/>
          </a:xfrm>
          <a:prstGeom prst="rect">
            <a:avLst/>
          </a:prstGeom>
          <a:solidFill>
            <a:srgbClr val="EAF6EA"/>
          </a:solidFill>
          <a:ln>
            <a:solidFill>
              <a:srgbClr val="2E7D32">
                <a:alpha val="75000"/>
              </a:srgbClr>
            </a:solidFill>
          </a:ln>
        </p:spPr>
        <p:txBody>
          <a:bodyPr wrap="square" lIns="1524" tIns="1524" rIns="1524" bIns="1524" rtlCol="0" anchor="ctr">
            <a:normAutofit/>
          </a:bodyPr>
          <a:lstStyle/>
          <a:p>
            <a:pPr marL="0" indent="0">
              <a:buNone/>
            </a:pPr>
            <a:r>
              <a:rPr lang="en-US" sz="1600" dirty="0">
                <a:solidFill>
                  <a:srgbClr val="1F2937"/>
                </a:solidFill>
              </a:rPr>
              <a:t>Enduring characteristics that describe an individual’s behavior.</a:t>
            </a:r>
            <a:endParaRPr lang="en-US" sz="1600" dirty="0"/>
          </a:p>
        </p:txBody>
      </p:sp>
      <p:sp>
        <p:nvSpPr>
          <p:cNvPr id="12" name="Text 10"/>
          <p:cNvSpPr/>
          <p:nvPr/>
        </p:nvSpPr>
        <p:spPr>
          <a:xfrm>
            <a:off x="685800" y="3127248"/>
            <a:ext cx="4023360" cy="256032"/>
          </a:xfrm>
          <a:prstGeom prst="rect">
            <a:avLst/>
          </a:prstGeom>
          <a:noFill/>
          <a:ln/>
        </p:spPr>
        <p:txBody>
          <a:bodyPr wrap="square" lIns="1016" tIns="1016" rIns="1016" bIns="1016" rtlCol="0" anchor="ctr">
            <a:noAutofit/>
          </a:bodyPr>
          <a:lstStyle/>
          <a:p>
            <a:pPr marL="0" indent="0" algn="l">
              <a:buNone/>
            </a:pPr>
            <a:r>
              <a:rPr lang="en-US" sz="2000" b="1" dirty="0">
                <a:solidFill>
                  <a:srgbClr val="17324D"/>
                </a:solidFill>
                <a:latin typeface="Aptos" pitchFamily="34" charset="0"/>
                <a:ea typeface="Aptos" pitchFamily="34" charset="-122"/>
                <a:cs typeface="Aptos" pitchFamily="34" charset="-120"/>
              </a:rPr>
              <a:t>Measurement and caution</a:t>
            </a:r>
            <a:endParaRPr lang="en-US" sz="2000" dirty="0"/>
          </a:p>
        </p:txBody>
      </p:sp>
      <p:sp>
        <p:nvSpPr>
          <p:cNvPr id="13" name="Text 11"/>
          <p:cNvSpPr/>
          <p:nvPr/>
        </p:nvSpPr>
        <p:spPr>
          <a:xfrm>
            <a:off x="685800" y="3566160"/>
            <a:ext cx="2834640" cy="393192"/>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200" b="1" dirty="0">
                <a:solidFill>
                  <a:srgbClr val="1F2937"/>
                </a:solidFill>
              </a:rPr>
              <a:t>Issue</a:t>
            </a:r>
            <a:endParaRPr lang="en-US" sz="1200" dirty="0"/>
          </a:p>
        </p:txBody>
      </p:sp>
      <p:sp>
        <p:nvSpPr>
          <p:cNvPr id="14" name="Text 12"/>
          <p:cNvSpPr/>
          <p:nvPr/>
        </p:nvSpPr>
        <p:spPr>
          <a:xfrm>
            <a:off x="3520440" y="3566160"/>
            <a:ext cx="7909560" cy="393192"/>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200" b="1" dirty="0">
                <a:solidFill>
                  <a:srgbClr val="1F2937"/>
                </a:solidFill>
              </a:rPr>
              <a:t>Implication for managers</a:t>
            </a:r>
            <a:endParaRPr lang="en-US" sz="1200" dirty="0"/>
          </a:p>
        </p:txBody>
      </p:sp>
      <p:sp>
        <p:nvSpPr>
          <p:cNvPr id="15" name="Text 13"/>
          <p:cNvSpPr/>
          <p:nvPr/>
        </p:nvSpPr>
        <p:spPr>
          <a:xfrm>
            <a:off x="685800" y="3959352"/>
            <a:ext cx="2834640" cy="393192"/>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200" dirty="0">
                <a:solidFill>
                  <a:srgbClr val="1F2937"/>
                </a:solidFill>
              </a:rPr>
              <a:t>Self-report surveys</a:t>
            </a:r>
            <a:endParaRPr lang="en-US" sz="1200" dirty="0"/>
          </a:p>
        </p:txBody>
      </p:sp>
      <p:sp>
        <p:nvSpPr>
          <p:cNvPr id="16" name="Text 14"/>
          <p:cNvSpPr/>
          <p:nvPr/>
        </p:nvSpPr>
        <p:spPr>
          <a:xfrm>
            <a:off x="3520440" y="3959352"/>
            <a:ext cx="7909560" cy="393192"/>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200" dirty="0">
                <a:solidFill>
                  <a:srgbClr val="1F2937"/>
                </a:solidFill>
              </a:rPr>
              <a:t>Useful, but scores may be affected by faking, pressure, mood, and self-presentation.</a:t>
            </a:r>
            <a:endParaRPr lang="en-US" sz="1200" dirty="0"/>
          </a:p>
        </p:txBody>
      </p:sp>
      <p:sp>
        <p:nvSpPr>
          <p:cNvPr id="17" name="Text 15"/>
          <p:cNvSpPr/>
          <p:nvPr/>
        </p:nvSpPr>
        <p:spPr>
          <a:xfrm>
            <a:off x="685800" y="4352544"/>
            <a:ext cx="2834640" cy="393192"/>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200" dirty="0">
                <a:solidFill>
                  <a:srgbClr val="1F2937"/>
                </a:solidFill>
              </a:rPr>
              <a:t>Observer-ratings surveys</a:t>
            </a:r>
            <a:endParaRPr lang="en-US" sz="1200" dirty="0"/>
          </a:p>
        </p:txBody>
      </p:sp>
      <p:sp>
        <p:nvSpPr>
          <p:cNvPr id="18" name="Text 16"/>
          <p:cNvSpPr/>
          <p:nvPr/>
        </p:nvSpPr>
        <p:spPr>
          <a:xfrm>
            <a:off x="3520440" y="4352544"/>
            <a:ext cx="7909560" cy="393192"/>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200" dirty="0">
                <a:solidFill>
                  <a:srgbClr val="1F2937"/>
                </a:solidFill>
              </a:rPr>
              <a:t>May predict job success more than self-ratings alone.</a:t>
            </a:r>
            <a:endParaRPr lang="en-US" sz="1200" dirty="0"/>
          </a:p>
        </p:txBody>
      </p:sp>
      <p:sp>
        <p:nvSpPr>
          <p:cNvPr id="19" name="Text 17"/>
          <p:cNvSpPr/>
          <p:nvPr/>
        </p:nvSpPr>
        <p:spPr>
          <a:xfrm>
            <a:off x="685800" y="4745736"/>
            <a:ext cx="2834640" cy="393192"/>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200" dirty="0">
                <a:solidFill>
                  <a:srgbClr val="1F2937"/>
                </a:solidFill>
              </a:rPr>
              <a:t>Best practice</a:t>
            </a:r>
            <a:endParaRPr lang="en-US" sz="1200" dirty="0"/>
          </a:p>
        </p:txBody>
      </p:sp>
      <p:sp>
        <p:nvSpPr>
          <p:cNvPr id="20" name="Text 18"/>
          <p:cNvSpPr/>
          <p:nvPr/>
        </p:nvSpPr>
        <p:spPr>
          <a:xfrm>
            <a:off x="3520440" y="4745736"/>
            <a:ext cx="7909560" cy="393192"/>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200" dirty="0">
                <a:solidFill>
                  <a:srgbClr val="1F2937"/>
                </a:solidFill>
              </a:rPr>
              <a:t>Combine evidence; do not use personality as the only employment decision criterion.</a:t>
            </a:r>
            <a:endParaRPr lang="en-US" sz="1200" dirty="0"/>
          </a:p>
        </p:txBody>
      </p:sp>
      <p:sp>
        <p:nvSpPr>
          <p:cNvPr id="21" name="Text 19"/>
          <p:cNvSpPr/>
          <p:nvPr/>
        </p:nvSpPr>
        <p:spPr>
          <a:xfrm>
            <a:off x="685800" y="5138928"/>
            <a:ext cx="2834640" cy="393192"/>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200" dirty="0">
                <a:solidFill>
                  <a:srgbClr val="1F2937"/>
                </a:solidFill>
              </a:rPr>
              <a:t>Quality caution</a:t>
            </a:r>
            <a:endParaRPr lang="en-US" sz="1200" dirty="0"/>
          </a:p>
        </p:txBody>
      </p:sp>
      <p:sp>
        <p:nvSpPr>
          <p:cNvPr id="22" name="Text 20"/>
          <p:cNvSpPr/>
          <p:nvPr/>
        </p:nvSpPr>
        <p:spPr>
          <a:xfrm>
            <a:off x="3520440" y="5138928"/>
            <a:ext cx="7909560" cy="393192"/>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200" dirty="0">
                <a:solidFill>
                  <a:srgbClr val="1F2937"/>
                </a:solidFill>
              </a:rPr>
              <a:t>Use personality insights ethically for fit, coaching, and team design—not stereotyping.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17324D"/>
          </a:solidFill>
          <a:ln w="12700">
            <a:solidFill>
              <a:srgbClr val="17324D"/>
            </a:solidFill>
            <a:prstDash val="solid"/>
          </a:ln>
        </p:spPr>
      </p:sp>
      <p:sp>
        <p:nvSpPr>
          <p:cNvPr id="3" name="Text 1"/>
          <p:cNvSpPr/>
          <p:nvPr/>
        </p:nvSpPr>
        <p:spPr>
          <a:xfrm>
            <a:off x="384048" y="73152"/>
            <a:ext cx="7863840" cy="310896"/>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The Myers-Briggs Type Indicator (MBTI)</a:t>
            </a:r>
            <a:endParaRPr lang="en-US" sz="2400" dirty="0"/>
          </a:p>
        </p:txBody>
      </p:sp>
      <p:sp>
        <p:nvSpPr>
          <p:cNvPr id="4" name="Text 2"/>
          <p:cNvSpPr/>
          <p:nvPr/>
        </p:nvSpPr>
        <p:spPr>
          <a:xfrm>
            <a:off x="9784080" y="137160"/>
            <a:ext cx="2011680" cy="219456"/>
          </a:xfrm>
          <a:prstGeom prst="rect">
            <a:avLst/>
          </a:prstGeom>
          <a:noFill/>
          <a:ln/>
        </p:spPr>
        <p:txBody>
          <a:bodyPr wrap="square" lIns="0" tIns="0" rIns="0" bIns="0" rtlCol="0" anchor="ctr"/>
          <a:lstStyle/>
          <a:p>
            <a:pPr marL="0" indent="0" algn="r">
              <a:buNone/>
            </a:pPr>
            <a:r>
              <a:rPr lang="en-US" sz="1400" b="1" dirty="0">
                <a:solidFill>
                  <a:srgbClr val="FFFFFF"/>
                </a:solidFill>
              </a:rPr>
              <a:t>G TQM 511 | Week 5</a:t>
            </a:r>
            <a:endParaRPr lang="en-US" sz="1400" dirty="0"/>
          </a:p>
        </p:txBody>
      </p:sp>
      <p:sp>
        <p:nvSpPr>
          <p:cNvPr id="5" name="Text 3"/>
          <p:cNvSpPr/>
          <p:nvPr/>
        </p:nvSpPr>
        <p:spPr>
          <a:xfrm>
            <a:off x="502920" y="612648"/>
            <a:ext cx="11201400" cy="292608"/>
          </a:xfrm>
          <a:prstGeom prst="rect">
            <a:avLst/>
          </a:prstGeom>
          <a:noFill/>
          <a:ln/>
        </p:spPr>
        <p:txBody>
          <a:bodyPr wrap="square" lIns="0" tIns="0" rIns="0" bIns="0" rtlCol="0" anchor="ctr"/>
          <a:lstStyle/>
          <a:p>
            <a:pPr marL="0" indent="0">
              <a:buNone/>
            </a:pPr>
            <a:r>
              <a:rPr lang="en-US" i="1" dirty="0">
                <a:solidFill>
                  <a:srgbClr val="5A6775"/>
                </a:solidFill>
              </a:rPr>
              <a:t>A widely used framework, but less supported by evidence than the Big Five.</a:t>
            </a:r>
            <a:endParaRPr lang="en-US" dirty="0"/>
          </a:p>
        </p:txBody>
      </p:sp>
      <p:sp>
        <p:nvSpPr>
          <p:cNvPr id="6" name="Text 4"/>
          <p:cNvSpPr/>
          <p:nvPr/>
        </p:nvSpPr>
        <p:spPr>
          <a:xfrm>
            <a:off x="502920" y="6528816"/>
            <a:ext cx="7132320" cy="164592"/>
          </a:xfrm>
          <a:prstGeom prst="rect">
            <a:avLst/>
          </a:prstGeom>
          <a:noFill/>
          <a:ln/>
        </p:spPr>
        <p:txBody>
          <a:bodyPr wrap="square" lIns="0" tIns="0" rIns="0" bIns="0" rtlCol="0" anchor="ctr"/>
          <a:lstStyle/>
          <a:p>
            <a:pPr marL="0" indent="0">
              <a:buNone/>
            </a:pPr>
            <a:r>
              <a:rPr lang="en-US" sz="1050" dirty="0">
                <a:solidFill>
                  <a:srgbClr val="7D8790"/>
                </a:solidFill>
              </a:rPr>
              <a:t>Based on Robbins &amp; Judge, Organizational Behavior, Updated 18th Global Edition, Chapter 4</a:t>
            </a:r>
            <a:endParaRPr lang="en-US" sz="1050" dirty="0"/>
          </a:p>
        </p:txBody>
      </p:sp>
      <p:sp>
        <p:nvSpPr>
          <p:cNvPr id="7" name="Text 5"/>
          <p:cNvSpPr/>
          <p:nvPr/>
        </p:nvSpPr>
        <p:spPr>
          <a:xfrm>
            <a:off x="9738360" y="6528816"/>
            <a:ext cx="1965960" cy="164592"/>
          </a:xfrm>
          <a:prstGeom prst="rect">
            <a:avLst/>
          </a:prstGeom>
          <a:noFill/>
          <a:ln/>
        </p:spPr>
        <p:txBody>
          <a:bodyPr wrap="square" lIns="0" tIns="0" rIns="0" bIns="0" rtlCol="0" anchor="ctr"/>
          <a:lstStyle/>
          <a:p>
            <a:pPr marL="0" indent="0" algn="r">
              <a:buNone/>
            </a:pPr>
            <a:r>
              <a:rPr lang="en-US" sz="1050" dirty="0">
                <a:solidFill>
                  <a:srgbClr val="7D8790"/>
                </a:solidFill>
              </a:rPr>
              <a:t>Personality and Values</a:t>
            </a:r>
            <a:endParaRPr lang="en-US" sz="1050" dirty="0"/>
          </a:p>
        </p:txBody>
      </p:sp>
      <p:sp>
        <p:nvSpPr>
          <p:cNvPr id="8" name="Text 6"/>
          <p:cNvSpPr/>
          <p:nvPr/>
        </p:nvSpPr>
        <p:spPr>
          <a:xfrm>
            <a:off x="594360" y="1097280"/>
            <a:ext cx="2286000" cy="594360"/>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Pair</a:t>
            </a:r>
            <a:endParaRPr lang="en-US" sz="1400" dirty="0"/>
          </a:p>
        </p:txBody>
      </p:sp>
      <p:sp>
        <p:nvSpPr>
          <p:cNvPr id="9" name="Text 7"/>
          <p:cNvSpPr/>
          <p:nvPr/>
        </p:nvSpPr>
        <p:spPr>
          <a:xfrm>
            <a:off x="2880360" y="1097280"/>
            <a:ext cx="4754880" cy="594360"/>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Textbook descriptors</a:t>
            </a:r>
            <a:endParaRPr lang="en-US" sz="1400" dirty="0"/>
          </a:p>
        </p:txBody>
      </p:sp>
      <p:sp>
        <p:nvSpPr>
          <p:cNvPr id="10" name="Text 8"/>
          <p:cNvSpPr/>
          <p:nvPr/>
        </p:nvSpPr>
        <p:spPr>
          <a:xfrm>
            <a:off x="594360" y="1691640"/>
            <a:ext cx="2286000" cy="5943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300" dirty="0">
                <a:solidFill>
                  <a:srgbClr val="1F2937"/>
                </a:solidFill>
              </a:rPr>
              <a:t>Extraverted (E) vs Introverted (I)</a:t>
            </a:r>
            <a:endParaRPr lang="en-US" sz="1300" dirty="0"/>
          </a:p>
        </p:txBody>
      </p:sp>
      <p:sp>
        <p:nvSpPr>
          <p:cNvPr id="11" name="Text 9"/>
          <p:cNvSpPr/>
          <p:nvPr/>
        </p:nvSpPr>
        <p:spPr>
          <a:xfrm>
            <a:off x="2880360" y="1691640"/>
            <a:ext cx="4754880" cy="5943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Outgoing, sociable, assertive vs quiet and shy</a:t>
            </a:r>
            <a:endParaRPr lang="en-US" sz="1400" dirty="0"/>
          </a:p>
        </p:txBody>
      </p:sp>
      <p:sp>
        <p:nvSpPr>
          <p:cNvPr id="12" name="Text 10"/>
          <p:cNvSpPr/>
          <p:nvPr/>
        </p:nvSpPr>
        <p:spPr>
          <a:xfrm>
            <a:off x="594360" y="2286000"/>
            <a:ext cx="2286000" cy="5943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Sensing (S) vs Intuitive (N)</a:t>
            </a:r>
            <a:endParaRPr lang="en-US" sz="1400" dirty="0"/>
          </a:p>
        </p:txBody>
      </p:sp>
      <p:sp>
        <p:nvSpPr>
          <p:cNvPr id="13" name="Text 11"/>
          <p:cNvSpPr/>
          <p:nvPr/>
        </p:nvSpPr>
        <p:spPr>
          <a:xfrm>
            <a:off x="2880360" y="2286000"/>
            <a:ext cx="4754880" cy="5943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Practical, routine, details vs unconscious processes and big picture</a:t>
            </a:r>
            <a:endParaRPr lang="en-US" sz="1400" dirty="0"/>
          </a:p>
        </p:txBody>
      </p:sp>
      <p:sp>
        <p:nvSpPr>
          <p:cNvPr id="14" name="Text 12"/>
          <p:cNvSpPr/>
          <p:nvPr/>
        </p:nvSpPr>
        <p:spPr>
          <a:xfrm>
            <a:off x="594360" y="2880360"/>
            <a:ext cx="2286000" cy="5943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Thinking (T) vs Feeling (F)</a:t>
            </a:r>
            <a:endParaRPr lang="en-US" sz="1400" dirty="0"/>
          </a:p>
        </p:txBody>
      </p:sp>
      <p:sp>
        <p:nvSpPr>
          <p:cNvPr id="15" name="Text 13"/>
          <p:cNvSpPr/>
          <p:nvPr/>
        </p:nvSpPr>
        <p:spPr>
          <a:xfrm>
            <a:off x="2880360" y="2880360"/>
            <a:ext cx="4754880" cy="5943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Reason and logic vs personal values and emotions</a:t>
            </a:r>
            <a:endParaRPr lang="en-US" sz="1400" dirty="0"/>
          </a:p>
        </p:txBody>
      </p:sp>
      <p:sp>
        <p:nvSpPr>
          <p:cNvPr id="16" name="Text 14"/>
          <p:cNvSpPr/>
          <p:nvPr/>
        </p:nvSpPr>
        <p:spPr>
          <a:xfrm>
            <a:off x="594360" y="3474720"/>
            <a:ext cx="2286000" cy="5943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Judging (J) vs Perceiving (P)</a:t>
            </a:r>
            <a:endParaRPr lang="en-US" sz="1400" dirty="0"/>
          </a:p>
        </p:txBody>
      </p:sp>
      <p:sp>
        <p:nvSpPr>
          <p:cNvPr id="17" name="Text 15"/>
          <p:cNvSpPr/>
          <p:nvPr/>
        </p:nvSpPr>
        <p:spPr>
          <a:xfrm>
            <a:off x="2880360" y="3474720"/>
            <a:ext cx="4754880" cy="5943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Control, order, structure vs flexible and spontaneous</a:t>
            </a:r>
            <a:endParaRPr lang="en-US" sz="1400" dirty="0"/>
          </a:p>
        </p:txBody>
      </p:sp>
      <p:sp>
        <p:nvSpPr>
          <p:cNvPr id="18" name="Text 16"/>
          <p:cNvSpPr/>
          <p:nvPr/>
        </p:nvSpPr>
        <p:spPr>
          <a:xfrm>
            <a:off x="7955280" y="1143000"/>
            <a:ext cx="3429000" cy="320040"/>
          </a:xfrm>
          <a:prstGeom prst="rect">
            <a:avLst/>
          </a:prstGeom>
          <a:noFill/>
          <a:ln/>
        </p:spPr>
        <p:txBody>
          <a:bodyPr wrap="square" lIns="1016" tIns="1016" rIns="1016" bIns="1016" rtlCol="0" anchor="ctr">
            <a:noAutofit/>
          </a:bodyPr>
          <a:lstStyle/>
          <a:p>
            <a:pPr marL="0" indent="0" algn="l">
              <a:buNone/>
            </a:pPr>
            <a:r>
              <a:rPr lang="en-US" sz="2000" b="1" dirty="0">
                <a:solidFill>
                  <a:srgbClr val="2E7D32"/>
                </a:solidFill>
                <a:latin typeface="Aptos" pitchFamily="34" charset="0"/>
                <a:ea typeface="Aptos" pitchFamily="34" charset="-122"/>
                <a:cs typeface="Aptos" pitchFamily="34" charset="-120"/>
              </a:rPr>
              <a:t>Appropriate use</a:t>
            </a:r>
            <a:endParaRPr lang="en-US" sz="2000" dirty="0"/>
          </a:p>
        </p:txBody>
      </p:sp>
      <p:sp>
        <p:nvSpPr>
          <p:cNvPr id="19" name="Text 17"/>
          <p:cNvSpPr/>
          <p:nvPr/>
        </p:nvSpPr>
        <p:spPr>
          <a:xfrm>
            <a:off x="7955280" y="1581912"/>
            <a:ext cx="3429000" cy="1069848"/>
          </a:xfrm>
          <a:prstGeom prst="rect">
            <a:avLst/>
          </a:prstGeom>
          <a:solidFill>
            <a:srgbClr val="EAF6EA"/>
          </a:solidFill>
          <a:ln>
            <a:solidFill>
              <a:srgbClr val="2E7D32">
                <a:alpha val="75000"/>
              </a:srgbClr>
            </a:solidFill>
          </a:ln>
        </p:spPr>
        <p:txBody>
          <a:bodyPr wrap="square" lIns="1524" tIns="1524" rIns="1524" bIns="1524" rtlCol="0" anchor="ctr">
            <a:noAutofit/>
          </a:bodyPr>
          <a:lstStyle/>
          <a:p>
            <a:pPr marL="0" indent="0">
              <a:buNone/>
            </a:pPr>
            <a:r>
              <a:rPr lang="en-US" sz="1600" dirty="0">
                <a:solidFill>
                  <a:srgbClr val="1F2937"/>
                </a:solidFill>
              </a:rPr>
              <a:t>Training and development; helping employees understand each other; opening communication; reducing conflict.</a:t>
            </a:r>
            <a:endParaRPr lang="en-US" sz="1600" dirty="0"/>
          </a:p>
        </p:txBody>
      </p:sp>
      <p:sp>
        <p:nvSpPr>
          <p:cNvPr id="20" name="Text 18"/>
          <p:cNvSpPr/>
          <p:nvPr/>
        </p:nvSpPr>
        <p:spPr>
          <a:xfrm>
            <a:off x="7955280" y="3063240"/>
            <a:ext cx="3429000" cy="320040"/>
          </a:xfrm>
          <a:prstGeom prst="rect">
            <a:avLst/>
          </a:prstGeom>
          <a:noFill/>
          <a:ln/>
        </p:spPr>
        <p:txBody>
          <a:bodyPr wrap="square" lIns="1016" tIns="1016" rIns="1016" bIns="1016" rtlCol="0" anchor="ctr">
            <a:noAutofit/>
          </a:bodyPr>
          <a:lstStyle/>
          <a:p>
            <a:pPr marL="0" indent="0" algn="l">
              <a:buNone/>
            </a:pPr>
            <a:r>
              <a:rPr lang="en-US" sz="2000" b="1" dirty="0">
                <a:solidFill>
                  <a:srgbClr val="B91C1C"/>
                </a:solidFill>
                <a:latin typeface="Aptos" pitchFamily="34" charset="0"/>
                <a:ea typeface="Aptos" pitchFamily="34" charset="-122"/>
                <a:cs typeface="Aptos" pitchFamily="34" charset="-120"/>
              </a:rPr>
              <a:t>Limitation</a:t>
            </a:r>
            <a:endParaRPr lang="en-US" sz="2000" dirty="0"/>
          </a:p>
        </p:txBody>
      </p:sp>
      <p:sp>
        <p:nvSpPr>
          <p:cNvPr id="21" name="Text 19"/>
          <p:cNvSpPr/>
          <p:nvPr/>
        </p:nvSpPr>
        <p:spPr>
          <a:xfrm>
            <a:off x="7955280" y="3502152"/>
            <a:ext cx="3429000" cy="886968"/>
          </a:xfrm>
          <a:prstGeom prst="rect">
            <a:avLst/>
          </a:prstGeom>
          <a:solidFill>
            <a:srgbClr val="FDECEC"/>
          </a:solidFill>
          <a:ln>
            <a:solidFill>
              <a:srgbClr val="B91C1C">
                <a:alpha val="75000"/>
              </a:srgbClr>
            </a:solidFill>
          </a:ln>
        </p:spPr>
        <p:txBody>
          <a:bodyPr wrap="square" lIns="1524" tIns="1524" rIns="1524" bIns="1524" rtlCol="0" anchor="ctr">
            <a:noAutofit/>
          </a:bodyPr>
          <a:lstStyle/>
          <a:p>
            <a:pPr marL="0" indent="0">
              <a:buNone/>
            </a:pPr>
            <a:r>
              <a:rPr lang="en-US" sz="1600" dirty="0">
                <a:solidFill>
                  <a:srgbClr val="1F2937"/>
                </a:solidFill>
              </a:rPr>
              <a:t>Evidence is mixed and results should not be overused to predict job performance.</a:t>
            </a:r>
            <a:endParaRPr lang="en-US" sz="1600" dirty="0"/>
          </a:p>
        </p:txBody>
      </p:sp>
      <p:sp>
        <p:nvSpPr>
          <p:cNvPr id="22" name="Text 20"/>
          <p:cNvSpPr/>
          <p:nvPr/>
        </p:nvSpPr>
        <p:spPr>
          <a:xfrm>
            <a:off x="685800" y="5074920"/>
            <a:ext cx="10607040" cy="502920"/>
          </a:xfrm>
          <a:prstGeom prst="rect">
            <a:avLst/>
          </a:prstGeom>
          <a:noFill/>
          <a:ln/>
        </p:spPr>
        <p:txBody>
          <a:bodyPr wrap="square" lIns="1016" tIns="1016" rIns="1016" bIns="1016" rtlCol="0" anchor="ctr">
            <a:normAutofit/>
          </a:bodyPr>
          <a:lstStyle/>
          <a:p>
            <a:pPr marL="0" indent="0" algn="ctr">
              <a:buNone/>
            </a:pPr>
            <a:r>
              <a:rPr lang="en-US" sz="1400" b="1" dirty="0">
                <a:solidFill>
                  <a:srgbClr val="17324D"/>
                </a:solidFill>
                <a:latin typeface="Aptos" pitchFamily="34" charset="0"/>
                <a:ea typeface="Aptos" pitchFamily="34" charset="-122"/>
                <a:cs typeface="Aptos" pitchFamily="34" charset="-120"/>
              </a:rPr>
              <a:t>Teaching point: MBTI is useful for reflection and communication, but the Big Five is stronger for predicting OB criteria.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1F3B57"/>
          </a:solidFill>
          <a:ln w="12700">
            <a:solidFill>
              <a:srgbClr val="1F3B57"/>
            </a:solidFill>
            <a:prstDash val="solid"/>
          </a:ln>
        </p:spPr>
      </p:sp>
      <p:sp>
        <p:nvSpPr>
          <p:cNvPr id="3" name="Shape 1"/>
          <p:cNvSpPr/>
          <p:nvPr/>
        </p:nvSpPr>
        <p:spPr>
          <a:xfrm>
            <a:off x="0" y="6565392"/>
            <a:ext cx="12191695" cy="292608"/>
          </a:xfrm>
          <a:prstGeom prst="rect">
            <a:avLst/>
          </a:prstGeom>
          <a:solidFill>
            <a:srgbClr val="1F3B57"/>
          </a:solidFill>
          <a:ln w="12700">
            <a:solidFill>
              <a:srgbClr val="1F3B57"/>
            </a:solidFill>
            <a:prstDash val="solid"/>
          </a:ln>
        </p:spPr>
      </p:sp>
      <p:sp>
        <p:nvSpPr>
          <p:cNvPr id="4" name="Text 2"/>
          <p:cNvSpPr/>
          <p:nvPr/>
        </p:nvSpPr>
        <p:spPr>
          <a:xfrm>
            <a:off x="365760" y="6601968"/>
            <a:ext cx="8412480" cy="164592"/>
          </a:xfrm>
          <a:prstGeom prst="rect">
            <a:avLst/>
          </a:prstGeom>
          <a:noFill/>
          <a:ln/>
        </p:spPr>
        <p:txBody>
          <a:bodyPr wrap="square" lIns="0" tIns="0" rIns="0" bIns="0" rtlCol="0" anchor="ctr"/>
          <a:lstStyle/>
          <a:p>
            <a:pPr marL="0" indent="0">
              <a:buNone/>
            </a:pPr>
            <a:r>
              <a:rPr lang="en-US" sz="750" dirty="0">
                <a:solidFill>
                  <a:srgbClr val="FFFFFF"/>
                </a:solidFill>
                <a:latin typeface="Aptos" pitchFamily="34" charset="0"/>
                <a:ea typeface="Aptos" pitchFamily="34" charset="-122"/>
                <a:cs typeface="Aptos" pitchFamily="34" charset="-120"/>
              </a:rPr>
              <a:t>G TQM 511 | Organizational Behavior and Quality | Robbins &amp; Judge, Updated 18e GE, Chapter 4</a:t>
            </a:r>
            <a:endParaRPr lang="en-US" sz="750" dirty="0"/>
          </a:p>
        </p:txBody>
      </p:sp>
      <p:sp>
        <p:nvSpPr>
          <p:cNvPr id="5" name="Text 3"/>
          <p:cNvSpPr/>
          <p:nvPr/>
        </p:nvSpPr>
        <p:spPr>
          <a:xfrm>
            <a:off x="10607040" y="6601968"/>
            <a:ext cx="1188720" cy="164592"/>
          </a:xfrm>
          <a:prstGeom prst="rect">
            <a:avLst/>
          </a:prstGeom>
          <a:noFill/>
          <a:ln/>
        </p:spPr>
        <p:txBody>
          <a:bodyPr wrap="square" lIns="0" tIns="0" rIns="0" bIns="0" rtlCol="0" anchor="ctr"/>
          <a:lstStyle/>
          <a:p>
            <a:pPr marL="0" indent="0" algn="r">
              <a:buNone/>
            </a:pPr>
            <a:r>
              <a:rPr lang="en-US" sz="750" dirty="0">
                <a:solidFill>
                  <a:srgbClr val="FFFFFF"/>
                </a:solidFill>
              </a:rPr>
              <a:t>Week 5</a:t>
            </a:r>
            <a:endParaRPr lang="en-US" sz="750" dirty="0"/>
          </a:p>
        </p:txBody>
      </p:sp>
      <p:sp>
        <p:nvSpPr>
          <p:cNvPr id="6" name="Text 4"/>
          <p:cNvSpPr/>
          <p:nvPr/>
        </p:nvSpPr>
        <p:spPr>
          <a:xfrm>
            <a:off x="521208" y="470718"/>
            <a:ext cx="11064240" cy="384048"/>
          </a:xfrm>
          <a:prstGeom prst="rect">
            <a:avLst/>
          </a:prstGeom>
          <a:noFill/>
          <a:ln/>
        </p:spPr>
        <p:txBody>
          <a:bodyPr wrap="square" lIns="0" tIns="0" rIns="0" bIns="0" rtlCol="0" anchor="ctr"/>
          <a:lstStyle/>
          <a:p>
            <a:pPr marL="0" indent="0">
              <a:buNone/>
            </a:pPr>
            <a:r>
              <a:rPr lang="en-US" sz="2400" b="1" dirty="0">
                <a:solidFill>
                  <a:srgbClr val="1F3B57"/>
                </a:solidFill>
                <a:latin typeface="Aptos Display" pitchFamily="34" charset="0"/>
                <a:ea typeface="Aptos Display" pitchFamily="34" charset="-122"/>
                <a:cs typeface="Aptos Display" pitchFamily="34" charset="-120"/>
              </a:rPr>
              <a:t>The Big Five Personality Model</a:t>
            </a:r>
            <a:endParaRPr lang="en-US" sz="2400" dirty="0"/>
          </a:p>
        </p:txBody>
      </p:sp>
      <p:sp>
        <p:nvSpPr>
          <p:cNvPr id="7" name="Text 5"/>
          <p:cNvSpPr/>
          <p:nvPr/>
        </p:nvSpPr>
        <p:spPr>
          <a:xfrm>
            <a:off x="521208" y="932688"/>
            <a:ext cx="10789920" cy="256032"/>
          </a:xfrm>
          <a:prstGeom prst="rect">
            <a:avLst/>
          </a:prstGeom>
          <a:noFill/>
          <a:ln/>
        </p:spPr>
        <p:txBody>
          <a:bodyPr wrap="square" lIns="0" tIns="0" rIns="0" bIns="0" rtlCol="0" anchor="ctr"/>
          <a:lstStyle/>
          <a:p>
            <a:pPr marL="0" indent="0">
              <a:buNone/>
            </a:pPr>
            <a:r>
              <a:rPr lang="en-US" sz="1400" dirty="0">
                <a:solidFill>
                  <a:srgbClr val="0F7C80"/>
                </a:solidFill>
                <a:latin typeface="Aptos" pitchFamily="34" charset="0"/>
                <a:ea typeface="Aptos" pitchFamily="34" charset="-122"/>
                <a:cs typeface="Aptos" pitchFamily="34" charset="-120"/>
              </a:rPr>
              <a:t>A stronger evidence base for predicting important OB outcomes</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900738871"/>
              </p:ext>
            </p:extLst>
          </p:nvPr>
        </p:nvGraphicFramePr>
        <p:xfrm>
          <a:off x="411480" y="1380744"/>
          <a:ext cx="11384280" cy="4165290"/>
        </p:xfrm>
        <a:graphic>
          <a:graphicData uri="http://schemas.openxmlformats.org/drawingml/2006/table">
            <a:tbl>
              <a:tblPr/>
              <a:tblGrid>
                <a:gridCol w="237744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694215">
                <a:tc>
                  <a:txBody>
                    <a:bodyPr/>
                    <a:lstStyle/>
                    <a:p>
                      <a:pPr marL="0" indent="0">
                        <a:buNone/>
                      </a:pPr>
                      <a:r>
                        <a:rPr lang="en-US" sz="1400" b="1" dirty="0">
                          <a:solidFill>
                            <a:srgbClr val="2D3748"/>
                          </a:solidFill>
                          <a:latin typeface="Aptos" pitchFamily="34" charset="0"/>
                          <a:ea typeface="Aptos" pitchFamily="34" charset="-122"/>
                          <a:cs typeface="Aptos" pitchFamily="34" charset="-120"/>
                        </a:rPr>
                        <a:t>Dimension</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D9EAF7"/>
                    </a:solidFill>
                  </a:tcPr>
                </a:tc>
                <a:tc>
                  <a:txBody>
                    <a:bodyPr/>
                    <a:lstStyle/>
                    <a:p>
                      <a:pPr marL="0" indent="0">
                        <a:buNone/>
                      </a:pPr>
                      <a:r>
                        <a:rPr lang="en-US" sz="1400" b="1" dirty="0">
                          <a:solidFill>
                            <a:srgbClr val="2D3748"/>
                          </a:solidFill>
                          <a:latin typeface="Aptos" pitchFamily="34" charset="0"/>
                          <a:ea typeface="Aptos" pitchFamily="34" charset="-122"/>
                          <a:cs typeface="Aptos" pitchFamily="34" charset="-120"/>
                        </a:rPr>
                        <a:t>Official descriptor</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D9EAF7"/>
                    </a:solidFill>
                  </a:tcPr>
                </a:tc>
                <a:tc>
                  <a:txBody>
                    <a:bodyPr/>
                    <a:lstStyle/>
                    <a:p>
                      <a:pPr marL="0" indent="0">
                        <a:buNone/>
                      </a:pPr>
                      <a:r>
                        <a:rPr lang="en-US" sz="1400" b="1" dirty="0">
                          <a:solidFill>
                            <a:srgbClr val="2D3748"/>
                          </a:solidFill>
                          <a:latin typeface="Aptos" pitchFamily="34" charset="0"/>
                          <a:ea typeface="Aptos" pitchFamily="34" charset="-122"/>
                          <a:cs typeface="Aptos" pitchFamily="34" charset="-120"/>
                        </a:rPr>
                        <a:t>Quality relevance</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D9EAF7"/>
                    </a:solidFill>
                  </a:tcPr>
                </a:tc>
                <a:extLst>
                  <a:ext uri="{0D108BD9-81ED-4DB2-BD59-A6C34878D82A}">
                    <a16:rowId xmlns:a16="http://schemas.microsoft.com/office/drawing/2014/main" val="10000"/>
                  </a:ext>
                </a:extLst>
              </a:tr>
              <a:tr h="694215">
                <a:tc>
                  <a:txBody>
                    <a:bodyPr/>
                    <a:lstStyle/>
                    <a:p>
                      <a:pPr marL="0" indent="0">
                        <a:buNone/>
                      </a:pPr>
                      <a:r>
                        <a:rPr lang="en-US" sz="1400" b="1" dirty="0">
                          <a:solidFill>
                            <a:srgbClr val="0F7C80"/>
                          </a:solidFill>
                          <a:latin typeface="Aptos" pitchFamily="34" charset="0"/>
                          <a:ea typeface="Aptos" pitchFamily="34" charset="-122"/>
                          <a:cs typeface="Aptos" pitchFamily="34" charset="-120"/>
                        </a:rPr>
                        <a:t>Conscientiousness</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400" dirty="0">
                          <a:solidFill>
                            <a:srgbClr val="2D3748"/>
                          </a:solidFill>
                          <a:latin typeface="Aptos" pitchFamily="34" charset="0"/>
                          <a:ea typeface="Aptos" pitchFamily="34" charset="-122"/>
                          <a:cs typeface="Aptos" pitchFamily="34" charset="-120"/>
                        </a:rPr>
                        <a:t>Responsible, dependable, persistent, and organized</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tc>
                  <a:txBody>
                    <a:bodyPr/>
                    <a:lstStyle/>
                    <a:p>
                      <a:pPr marL="0" indent="0">
                        <a:buNone/>
                      </a:pPr>
                      <a:r>
                        <a:rPr lang="en-US" sz="1400" dirty="0">
                          <a:solidFill>
                            <a:srgbClr val="2D3748"/>
                          </a:solidFill>
                          <a:latin typeface="Aptos" pitchFamily="34" charset="0"/>
                          <a:ea typeface="Aptos" pitchFamily="34" charset="-122"/>
                          <a:cs typeface="Aptos" pitchFamily="34" charset="-120"/>
                        </a:rPr>
                        <a:t>Compliance, follow-up, documentation, reliability</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94215">
                <a:tc>
                  <a:txBody>
                    <a:bodyPr/>
                    <a:lstStyle/>
                    <a:p>
                      <a:pPr marL="0" indent="0">
                        <a:buNone/>
                      </a:pPr>
                      <a:r>
                        <a:rPr lang="en-US" sz="1400" b="1" dirty="0">
                          <a:solidFill>
                            <a:srgbClr val="0F7C80"/>
                          </a:solidFill>
                          <a:latin typeface="Aptos" pitchFamily="34" charset="0"/>
                          <a:ea typeface="Aptos" pitchFamily="34" charset="-122"/>
                          <a:cs typeface="Aptos" pitchFamily="34" charset="-120"/>
                        </a:rPr>
                        <a:t>Emotional stability</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400" dirty="0">
                          <a:solidFill>
                            <a:srgbClr val="2D3748"/>
                          </a:solidFill>
                          <a:latin typeface="Aptos" pitchFamily="34" charset="0"/>
                          <a:ea typeface="Aptos" pitchFamily="34" charset="-122"/>
                          <a:cs typeface="Aptos" pitchFamily="34" charset="-120"/>
                        </a:rPr>
                        <a:t>Calm, self-confident, and secure versus nervous, depressed, and insecure</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tc>
                  <a:txBody>
                    <a:bodyPr/>
                    <a:lstStyle/>
                    <a:p>
                      <a:pPr marL="0" indent="0">
                        <a:buNone/>
                      </a:pPr>
                      <a:r>
                        <a:rPr lang="en-US" sz="1400" dirty="0">
                          <a:solidFill>
                            <a:srgbClr val="2D3748"/>
                          </a:solidFill>
                          <a:latin typeface="Aptos" pitchFamily="34" charset="0"/>
                          <a:ea typeface="Aptos" pitchFamily="34" charset="-122"/>
                          <a:cs typeface="Aptos" pitchFamily="34" charset="-120"/>
                        </a:rPr>
                        <a:t>Stable judgment under stress and safer decisions</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94215">
                <a:tc>
                  <a:txBody>
                    <a:bodyPr/>
                    <a:lstStyle/>
                    <a:p>
                      <a:pPr marL="0" indent="0">
                        <a:buNone/>
                      </a:pPr>
                      <a:r>
                        <a:rPr lang="en-US" sz="1400" b="1" dirty="0">
                          <a:solidFill>
                            <a:srgbClr val="0F7C80"/>
                          </a:solidFill>
                          <a:latin typeface="Aptos" pitchFamily="34" charset="0"/>
                          <a:ea typeface="Aptos" pitchFamily="34" charset="-122"/>
                          <a:cs typeface="Aptos" pitchFamily="34" charset="-120"/>
                        </a:rPr>
                        <a:t>Extraversion</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400" dirty="0">
                          <a:solidFill>
                            <a:srgbClr val="2D3748"/>
                          </a:solidFill>
                          <a:latin typeface="Aptos" pitchFamily="34" charset="0"/>
                          <a:ea typeface="Aptos" pitchFamily="34" charset="-122"/>
                          <a:cs typeface="Aptos" pitchFamily="34" charset="-120"/>
                        </a:rPr>
                        <a:t>Sociable, gregarious, and assertive</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tc>
                  <a:txBody>
                    <a:bodyPr/>
                    <a:lstStyle/>
                    <a:p>
                      <a:pPr marL="0" indent="0">
                        <a:buNone/>
                      </a:pPr>
                      <a:r>
                        <a:rPr lang="en-US" sz="1400" dirty="0">
                          <a:solidFill>
                            <a:srgbClr val="2D3748"/>
                          </a:solidFill>
                          <a:latin typeface="Aptos" pitchFamily="34" charset="0"/>
                          <a:ea typeface="Aptos" pitchFamily="34" charset="-122"/>
                          <a:cs typeface="Aptos" pitchFamily="34" charset="-120"/>
                        </a:rPr>
                        <a:t>Communication, leadership emergence, customer interaction</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94215">
                <a:tc>
                  <a:txBody>
                    <a:bodyPr/>
                    <a:lstStyle/>
                    <a:p>
                      <a:pPr marL="0" indent="0">
                        <a:buNone/>
                      </a:pPr>
                      <a:r>
                        <a:rPr lang="en-US" sz="1400" b="1" dirty="0">
                          <a:solidFill>
                            <a:srgbClr val="0F7C80"/>
                          </a:solidFill>
                          <a:latin typeface="Aptos" pitchFamily="34" charset="0"/>
                          <a:ea typeface="Aptos" pitchFamily="34" charset="-122"/>
                          <a:cs typeface="Aptos" pitchFamily="34" charset="-120"/>
                        </a:rPr>
                        <a:t>Openness to experience</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400" dirty="0">
                          <a:solidFill>
                            <a:srgbClr val="2D3748"/>
                          </a:solidFill>
                          <a:latin typeface="Aptos" pitchFamily="34" charset="0"/>
                          <a:ea typeface="Aptos" pitchFamily="34" charset="-122"/>
                          <a:cs typeface="Aptos" pitchFamily="34" charset="-120"/>
                        </a:rPr>
                        <a:t>Imagination, sensitivity, and curiosity</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tc>
                  <a:txBody>
                    <a:bodyPr/>
                    <a:lstStyle/>
                    <a:p>
                      <a:pPr marL="0" indent="0">
                        <a:buNone/>
                      </a:pPr>
                      <a:r>
                        <a:rPr lang="en-US" sz="1400" dirty="0">
                          <a:solidFill>
                            <a:srgbClr val="2D3748"/>
                          </a:solidFill>
                          <a:latin typeface="Aptos" pitchFamily="34" charset="0"/>
                          <a:ea typeface="Aptos" pitchFamily="34" charset="-122"/>
                          <a:cs typeface="Aptos" pitchFamily="34" charset="-120"/>
                        </a:rPr>
                        <a:t>Innovation, learning, adaptability to change</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94215">
                <a:tc>
                  <a:txBody>
                    <a:bodyPr/>
                    <a:lstStyle/>
                    <a:p>
                      <a:pPr marL="0" indent="0">
                        <a:buNone/>
                      </a:pPr>
                      <a:r>
                        <a:rPr lang="en-US" sz="1400" b="1" dirty="0">
                          <a:solidFill>
                            <a:srgbClr val="0F7C80"/>
                          </a:solidFill>
                          <a:latin typeface="Aptos" pitchFamily="34" charset="0"/>
                          <a:ea typeface="Aptos" pitchFamily="34" charset="-122"/>
                          <a:cs typeface="Aptos" pitchFamily="34" charset="-120"/>
                        </a:rPr>
                        <a:t>Agreeableness</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400" dirty="0">
                          <a:solidFill>
                            <a:srgbClr val="2D3748"/>
                          </a:solidFill>
                          <a:latin typeface="Aptos" pitchFamily="34" charset="0"/>
                          <a:ea typeface="Aptos" pitchFamily="34" charset="-122"/>
                          <a:cs typeface="Aptos" pitchFamily="34" charset="-120"/>
                        </a:rPr>
                        <a:t>Good-natured, cooperative, and trusting</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tc>
                  <a:txBody>
                    <a:bodyPr/>
                    <a:lstStyle/>
                    <a:p>
                      <a:pPr marL="0" indent="0">
                        <a:buNone/>
                      </a:pPr>
                      <a:r>
                        <a:rPr lang="en-US" sz="1400" dirty="0">
                          <a:solidFill>
                            <a:srgbClr val="2D3748"/>
                          </a:solidFill>
                          <a:latin typeface="Aptos" pitchFamily="34" charset="0"/>
                          <a:ea typeface="Aptos" pitchFamily="34" charset="-122"/>
                          <a:cs typeface="Aptos" pitchFamily="34" charset="-120"/>
                        </a:rPr>
                        <a:t>Teamwork, service behavior, reduced conflict</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 6"/>
          <p:cNvSpPr/>
          <p:nvPr/>
        </p:nvSpPr>
        <p:spPr>
          <a:xfrm>
            <a:off x="685800" y="6080760"/>
            <a:ext cx="10607040" cy="292608"/>
          </a:xfrm>
          <a:prstGeom prst="rect">
            <a:avLst/>
          </a:prstGeom>
          <a:noFill/>
          <a:ln/>
        </p:spPr>
        <p:txBody>
          <a:bodyPr wrap="square" lIns="635" tIns="635" rIns="635" bIns="635" rtlCol="0" anchor="ctr">
            <a:normAutofit/>
          </a:bodyPr>
          <a:lstStyle/>
          <a:p>
            <a:pPr marL="0" indent="0" algn="l">
              <a:buNone/>
            </a:pPr>
            <a:r>
              <a:rPr lang="en-US" sz="1600" b="1" dirty="0">
                <a:solidFill>
                  <a:srgbClr val="1F3B57"/>
                </a:solidFill>
                <a:latin typeface="Aptos" pitchFamily="34" charset="0"/>
                <a:ea typeface="Aptos" pitchFamily="34" charset="-122"/>
                <a:cs typeface="Aptos" pitchFamily="34" charset="-120"/>
              </a:rPr>
              <a:t>Quality caution: no single trait guarantees quality behavior; use job analysis and fair evidence.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17324D"/>
          </a:solidFill>
          <a:ln w="12700">
            <a:solidFill>
              <a:srgbClr val="17324D"/>
            </a:solidFill>
            <a:prstDash val="solid"/>
          </a:ln>
        </p:spPr>
      </p:sp>
      <p:sp>
        <p:nvSpPr>
          <p:cNvPr id="3" name="Text 1"/>
          <p:cNvSpPr/>
          <p:nvPr/>
        </p:nvSpPr>
        <p:spPr>
          <a:xfrm>
            <a:off x="384048" y="73152"/>
            <a:ext cx="7863840" cy="310896"/>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Exhibit 4-3: Big Five and OB Criteria</a:t>
            </a:r>
            <a:endParaRPr lang="en-US" sz="2400" dirty="0"/>
          </a:p>
        </p:txBody>
      </p:sp>
      <p:sp>
        <p:nvSpPr>
          <p:cNvPr id="4" name="Text 2"/>
          <p:cNvSpPr/>
          <p:nvPr/>
        </p:nvSpPr>
        <p:spPr>
          <a:xfrm>
            <a:off x="9784080" y="137160"/>
            <a:ext cx="2011680" cy="219456"/>
          </a:xfrm>
          <a:prstGeom prst="rect">
            <a:avLst/>
          </a:prstGeom>
          <a:noFill/>
          <a:ln/>
        </p:spPr>
        <p:txBody>
          <a:bodyPr wrap="square" lIns="0" tIns="0" rIns="0" bIns="0" rtlCol="0" anchor="ctr"/>
          <a:lstStyle/>
          <a:p>
            <a:pPr marL="0" indent="0" algn="r">
              <a:buNone/>
            </a:pPr>
            <a:r>
              <a:rPr lang="en-US" sz="1600" b="1" dirty="0">
                <a:solidFill>
                  <a:srgbClr val="FFFFFF"/>
                </a:solidFill>
              </a:rPr>
              <a:t>G TQM 511 | Week 5</a:t>
            </a:r>
            <a:endParaRPr lang="en-US" sz="1600" dirty="0"/>
          </a:p>
        </p:txBody>
      </p:sp>
      <p:sp>
        <p:nvSpPr>
          <p:cNvPr id="5" name="Text 3"/>
          <p:cNvSpPr/>
          <p:nvPr/>
        </p:nvSpPr>
        <p:spPr>
          <a:xfrm>
            <a:off x="502920" y="612648"/>
            <a:ext cx="11201400" cy="292608"/>
          </a:xfrm>
          <a:prstGeom prst="rect">
            <a:avLst/>
          </a:prstGeom>
          <a:noFill/>
          <a:ln/>
        </p:spPr>
        <p:txBody>
          <a:bodyPr wrap="square" lIns="0" tIns="0" rIns="0" bIns="0" rtlCol="0" anchor="ctr"/>
          <a:lstStyle/>
          <a:p>
            <a:pPr marL="0" indent="0">
              <a:buNone/>
            </a:pPr>
            <a:r>
              <a:rPr lang="en-US" sz="1400" i="1" dirty="0">
                <a:solidFill>
                  <a:srgbClr val="5A6775"/>
                </a:solidFill>
              </a:rPr>
              <a:t>From the chapter exhibit: Big Five traits influence job performance, satisfaction, and other OB outcomes.</a:t>
            </a:r>
            <a:endParaRPr lang="en-US" sz="1400" dirty="0"/>
          </a:p>
        </p:txBody>
      </p:sp>
      <p:sp>
        <p:nvSpPr>
          <p:cNvPr id="6" name="Text 4"/>
          <p:cNvSpPr/>
          <p:nvPr/>
        </p:nvSpPr>
        <p:spPr>
          <a:xfrm>
            <a:off x="502920" y="6528816"/>
            <a:ext cx="7132320" cy="164592"/>
          </a:xfrm>
          <a:prstGeom prst="rect">
            <a:avLst/>
          </a:prstGeom>
          <a:noFill/>
          <a:ln/>
        </p:spPr>
        <p:txBody>
          <a:bodyPr wrap="square" lIns="0" tIns="0" rIns="0" bIns="0" rtlCol="0" anchor="ctr"/>
          <a:lstStyle/>
          <a:p>
            <a:pPr marL="0" indent="0">
              <a:buNone/>
            </a:pPr>
            <a:r>
              <a:rPr lang="en-US" sz="1100" dirty="0">
                <a:solidFill>
                  <a:srgbClr val="7D8790"/>
                </a:solidFill>
              </a:rPr>
              <a:t>Based on Robbins &amp; Judge, Organizational Behavior, Updated 18th Global Edition, Chapter 4</a:t>
            </a:r>
            <a:endParaRPr lang="en-US" sz="1100" dirty="0"/>
          </a:p>
        </p:txBody>
      </p:sp>
      <p:sp>
        <p:nvSpPr>
          <p:cNvPr id="7" name="Text 5"/>
          <p:cNvSpPr/>
          <p:nvPr/>
        </p:nvSpPr>
        <p:spPr>
          <a:xfrm>
            <a:off x="9738360" y="6528816"/>
            <a:ext cx="1965960" cy="164592"/>
          </a:xfrm>
          <a:prstGeom prst="rect">
            <a:avLst/>
          </a:prstGeom>
          <a:noFill/>
          <a:ln/>
        </p:spPr>
        <p:txBody>
          <a:bodyPr wrap="square" lIns="0" tIns="0" rIns="0" bIns="0" rtlCol="0" anchor="ctr"/>
          <a:lstStyle/>
          <a:p>
            <a:pPr marL="0" indent="0" algn="r">
              <a:buNone/>
            </a:pPr>
            <a:r>
              <a:rPr lang="en-US" sz="1100" dirty="0">
                <a:solidFill>
                  <a:srgbClr val="7D8790"/>
                </a:solidFill>
              </a:rPr>
              <a:t>Personality and Values</a:t>
            </a:r>
            <a:endParaRPr lang="en-US" sz="1100" dirty="0"/>
          </a:p>
        </p:txBody>
      </p:sp>
      <p:sp>
        <p:nvSpPr>
          <p:cNvPr id="8" name="Text 6"/>
          <p:cNvSpPr/>
          <p:nvPr/>
        </p:nvSpPr>
        <p:spPr>
          <a:xfrm>
            <a:off x="594360" y="1097280"/>
            <a:ext cx="2377440" cy="685800"/>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Trait</a:t>
            </a:r>
            <a:endParaRPr lang="en-US" sz="1400" dirty="0"/>
          </a:p>
        </p:txBody>
      </p:sp>
      <p:sp>
        <p:nvSpPr>
          <p:cNvPr id="9" name="Text 7"/>
          <p:cNvSpPr/>
          <p:nvPr/>
        </p:nvSpPr>
        <p:spPr>
          <a:xfrm>
            <a:off x="2971800" y="1097280"/>
            <a:ext cx="4800600" cy="685800"/>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Illustrative OB criteria influenced</a:t>
            </a:r>
            <a:endParaRPr lang="en-US" sz="1400" dirty="0"/>
          </a:p>
        </p:txBody>
      </p:sp>
      <p:sp>
        <p:nvSpPr>
          <p:cNvPr id="10" name="Text 8"/>
          <p:cNvSpPr/>
          <p:nvPr/>
        </p:nvSpPr>
        <p:spPr>
          <a:xfrm>
            <a:off x="7772400" y="1097280"/>
            <a:ext cx="3840480" cy="685800"/>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Quality implication</a:t>
            </a:r>
            <a:endParaRPr lang="en-US" sz="1400" dirty="0"/>
          </a:p>
        </p:txBody>
      </p:sp>
      <p:sp>
        <p:nvSpPr>
          <p:cNvPr id="11" name="Text 9"/>
          <p:cNvSpPr/>
          <p:nvPr/>
        </p:nvSpPr>
        <p:spPr>
          <a:xfrm>
            <a:off x="594360" y="1783080"/>
            <a:ext cx="2377440" cy="68580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Conscientiousness</a:t>
            </a:r>
            <a:endParaRPr lang="en-US" sz="1400" dirty="0"/>
          </a:p>
        </p:txBody>
      </p:sp>
      <p:sp>
        <p:nvSpPr>
          <p:cNvPr id="12" name="Text 10"/>
          <p:cNvSpPr/>
          <p:nvPr/>
        </p:nvSpPr>
        <p:spPr>
          <a:xfrm>
            <a:off x="2971800" y="1783080"/>
            <a:ext cx="4800600" cy="68580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Higher performance; leadership; longevity</a:t>
            </a:r>
            <a:endParaRPr lang="en-US" sz="1400" dirty="0"/>
          </a:p>
        </p:txBody>
      </p:sp>
      <p:sp>
        <p:nvSpPr>
          <p:cNvPr id="13" name="Text 11"/>
          <p:cNvSpPr/>
          <p:nvPr/>
        </p:nvSpPr>
        <p:spPr>
          <a:xfrm>
            <a:off x="7772400" y="1783080"/>
            <a:ext cx="3840480" cy="68580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Reliable task performance and follow-through</a:t>
            </a:r>
            <a:endParaRPr lang="en-US" sz="1400" dirty="0"/>
          </a:p>
        </p:txBody>
      </p:sp>
      <p:sp>
        <p:nvSpPr>
          <p:cNvPr id="14" name="Text 12"/>
          <p:cNvSpPr/>
          <p:nvPr/>
        </p:nvSpPr>
        <p:spPr>
          <a:xfrm>
            <a:off x="594360" y="2468880"/>
            <a:ext cx="2377440" cy="68580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Emotional stability</a:t>
            </a:r>
            <a:endParaRPr lang="en-US" sz="1400" dirty="0"/>
          </a:p>
        </p:txBody>
      </p:sp>
      <p:sp>
        <p:nvSpPr>
          <p:cNvPr id="15" name="Text 13"/>
          <p:cNvSpPr/>
          <p:nvPr/>
        </p:nvSpPr>
        <p:spPr>
          <a:xfrm>
            <a:off x="2971800" y="2468880"/>
            <a:ext cx="4800600" cy="68580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Life/job satisfaction; lower stress and deviance</a:t>
            </a:r>
            <a:endParaRPr lang="en-US" sz="1400" dirty="0"/>
          </a:p>
        </p:txBody>
      </p:sp>
      <p:sp>
        <p:nvSpPr>
          <p:cNvPr id="16" name="Text 14"/>
          <p:cNvSpPr/>
          <p:nvPr/>
        </p:nvSpPr>
        <p:spPr>
          <a:xfrm>
            <a:off x="7772400" y="2468880"/>
            <a:ext cx="3840480" cy="68580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Fewer unsafe reactions under pressure</a:t>
            </a:r>
            <a:endParaRPr lang="en-US" sz="1400" dirty="0"/>
          </a:p>
        </p:txBody>
      </p:sp>
      <p:sp>
        <p:nvSpPr>
          <p:cNvPr id="17" name="Text 15"/>
          <p:cNvSpPr/>
          <p:nvPr/>
        </p:nvSpPr>
        <p:spPr>
          <a:xfrm>
            <a:off x="594360" y="3154680"/>
            <a:ext cx="2377440" cy="68580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Extraversion</a:t>
            </a:r>
            <a:endParaRPr lang="en-US" sz="1400" dirty="0"/>
          </a:p>
        </p:txBody>
      </p:sp>
      <p:sp>
        <p:nvSpPr>
          <p:cNvPr id="18" name="Text 16"/>
          <p:cNvSpPr/>
          <p:nvPr/>
        </p:nvSpPr>
        <p:spPr>
          <a:xfrm>
            <a:off x="2971800" y="3154680"/>
            <a:ext cx="4800600" cy="68580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Leadership emergence; performance in social jobs</a:t>
            </a:r>
            <a:endParaRPr lang="en-US" sz="1400" dirty="0"/>
          </a:p>
        </p:txBody>
      </p:sp>
      <p:sp>
        <p:nvSpPr>
          <p:cNvPr id="19" name="Text 17"/>
          <p:cNvSpPr/>
          <p:nvPr/>
        </p:nvSpPr>
        <p:spPr>
          <a:xfrm>
            <a:off x="7772400" y="3154680"/>
            <a:ext cx="3840480" cy="68580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Stronger influence and service interaction</a:t>
            </a:r>
            <a:endParaRPr lang="en-US" sz="1400" dirty="0"/>
          </a:p>
        </p:txBody>
      </p:sp>
      <p:sp>
        <p:nvSpPr>
          <p:cNvPr id="20" name="Text 18"/>
          <p:cNvSpPr/>
          <p:nvPr/>
        </p:nvSpPr>
        <p:spPr>
          <a:xfrm>
            <a:off x="594360" y="3840480"/>
            <a:ext cx="2377440" cy="68580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Openness</a:t>
            </a:r>
            <a:endParaRPr lang="en-US" sz="1400" dirty="0"/>
          </a:p>
        </p:txBody>
      </p:sp>
      <p:sp>
        <p:nvSpPr>
          <p:cNvPr id="21" name="Text 19"/>
          <p:cNvSpPr/>
          <p:nvPr/>
        </p:nvSpPr>
        <p:spPr>
          <a:xfrm>
            <a:off x="2971800" y="3840480"/>
            <a:ext cx="4800600" cy="68580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Training performance; creativity; adaptability</a:t>
            </a:r>
            <a:endParaRPr lang="en-US" sz="1400" dirty="0"/>
          </a:p>
        </p:txBody>
      </p:sp>
      <p:sp>
        <p:nvSpPr>
          <p:cNvPr id="22" name="Text 20"/>
          <p:cNvSpPr/>
          <p:nvPr/>
        </p:nvSpPr>
        <p:spPr>
          <a:xfrm>
            <a:off x="7772400" y="3840480"/>
            <a:ext cx="3840480" cy="68580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Improvement, learning, innovation</a:t>
            </a:r>
            <a:endParaRPr lang="en-US" sz="1400" dirty="0"/>
          </a:p>
        </p:txBody>
      </p:sp>
      <p:sp>
        <p:nvSpPr>
          <p:cNvPr id="23" name="Text 21"/>
          <p:cNvSpPr/>
          <p:nvPr/>
        </p:nvSpPr>
        <p:spPr>
          <a:xfrm>
            <a:off x="594360" y="4526280"/>
            <a:ext cx="2377440" cy="68580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Agreeableness</a:t>
            </a:r>
            <a:endParaRPr lang="en-US" sz="1400" dirty="0"/>
          </a:p>
        </p:txBody>
      </p:sp>
      <p:sp>
        <p:nvSpPr>
          <p:cNvPr id="24" name="Text 22"/>
          <p:cNvSpPr/>
          <p:nvPr/>
        </p:nvSpPr>
        <p:spPr>
          <a:xfrm>
            <a:off x="2971800" y="4526280"/>
            <a:ext cx="4800600" cy="68580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Better teamwork; helping; lower deviance</a:t>
            </a:r>
            <a:endParaRPr lang="en-US" sz="1400" dirty="0"/>
          </a:p>
        </p:txBody>
      </p:sp>
      <p:sp>
        <p:nvSpPr>
          <p:cNvPr id="25" name="Text 23"/>
          <p:cNvSpPr/>
          <p:nvPr/>
        </p:nvSpPr>
        <p:spPr>
          <a:xfrm>
            <a:off x="7772400" y="4526280"/>
            <a:ext cx="3840480" cy="68580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Cooperation and customer care</a:t>
            </a:r>
            <a:endParaRPr lang="en-US" sz="1400" dirty="0"/>
          </a:p>
        </p:txBody>
      </p:sp>
      <p:sp>
        <p:nvSpPr>
          <p:cNvPr id="26" name="Text 24"/>
          <p:cNvSpPr/>
          <p:nvPr/>
        </p:nvSpPr>
        <p:spPr>
          <a:xfrm>
            <a:off x="777240" y="5486400"/>
            <a:ext cx="10469880" cy="502920"/>
          </a:xfrm>
          <a:prstGeom prst="rect">
            <a:avLst/>
          </a:prstGeom>
          <a:noFill/>
          <a:ln/>
        </p:spPr>
        <p:txBody>
          <a:bodyPr wrap="square" lIns="1016" tIns="1016" rIns="1016" bIns="1016" rtlCol="0" anchor="ctr">
            <a:normAutofit/>
          </a:bodyPr>
          <a:lstStyle/>
          <a:p>
            <a:pPr marL="0" indent="0" algn="ctr">
              <a:buNone/>
            </a:pPr>
            <a:r>
              <a:rPr lang="en-US" sz="1600" b="1" dirty="0">
                <a:solidFill>
                  <a:srgbClr val="17324D"/>
                </a:solidFill>
                <a:latin typeface="Aptos" pitchFamily="34" charset="0"/>
                <a:ea typeface="Aptos" pitchFamily="34" charset="-122"/>
                <a:cs typeface="Aptos" pitchFamily="34" charset="-120"/>
              </a:rPr>
              <a:t>Quality implication: Big Five traits help managers think about fit, team composition, coaching, and risk—not labels.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17324D"/>
          </a:solidFill>
          <a:ln w="12700">
            <a:solidFill>
              <a:srgbClr val="17324D"/>
            </a:solidFill>
            <a:prstDash val="solid"/>
          </a:ln>
        </p:spPr>
      </p:sp>
      <p:sp>
        <p:nvSpPr>
          <p:cNvPr id="3" name="Text 1"/>
          <p:cNvSpPr/>
          <p:nvPr/>
        </p:nvSpPr>
        <p:spPr>
          <a:xfrm>
            <a:off x="384048" y="73152"/>
            <a:ext cx="7863840" cy="310896"/>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Situation Strength and Trait Activation</a:t>
            </a:r>
            <a:endParaRPr lang="en-US" sz="2400" dirty="0"/>
          </a:p>
        </p:txBody>
      </p:sp>
      <p:sp>
        <p:nvSpPr>
          <p:cNvPr id="4" name="Text 2"/>
          <p:cNvSpPr/>
          <p:nvPr/>
        </p:nvSpPr>
        <p:spPr>
          <a:xfrm>
            <a:off x="9784080" y="137160"/>
            <a:ext cx="2011680" cy="219456"/>
          </a:xfrm>
          <a:prstGeom prst="rect">
            <a:avLst/>
          </a:prstGeom>
          <a:noFill/>
          <a:ln/>
        </p:spPr>
        <p:txBody>
          <a:bodyPr wrap="square" lIns="0" tIns="0" rIns="0" bIns="0" rtlCol="0" anchor="ctr"/>
          <a:lstStyle/>
          <a:p>
            <a:pPr marL="0" indent="0" algn="r">
              <a:buNone/>
            </a:pPr>
            <a:r>
              <a:rPr lang="en-US" sz="1600" b="1" dirty="0">
                <a:solidFill>
                  <a:srgbClr val="FFFFFF"/>
                </a:solidFill>
              </a:rPr>
              <a:t>G TQM 511 | Week 5</a:t>
            </a:r>
            <a:endParaRPr lang="en-US" sz="1600" dirty="0"/>
          </a:p>
        </p:txBody>
      </p:sp>
      <p:sp>
        <p:nvSpPr>
          <p:cNvPr id="5" name="Text 3"/>
          <p:cNvSpPr/>
          <p:nvPr/>
        </p:nvSpPr>
        <p:spPr>
          <a:xfrm>
            <a:off x="502920" y="612648"/>
            <a:ext cx="11201400" cy="292608"/>
          </a:xfrm>
          <a:prstGeom prst="rect">
            <a:avLst/>
          </a:prstGeom>
          <a:noFill/>
          <a:ln/>
        </p:spPr>
        <p:txBody>
          <a:bodyPr wrap="square" lIns="0" tIns="0" rIns="0" bIns="0" rtlCol="0" anchor="ctr"/>
          <a:lstStyle/>
          <a:p>
            <a:pPr marL="0" indent="0">
              <a:buNone/>
            </a:pPr>
            <a:r>
              <a:rPr lang="en-US" sz="1600" i="1" dirty="0">
                <a:solidFill>
                  <a:srgbClr val="5A6775"/>
                </a:solidFill>
              </a:rPr>
              <a:t>The situation can strengthen, weaken, or activate the expression of personality.</a:t>
            </a:r>
            <a:endParaRPr lang="en-US" sz="1600" dirty="0"/>
          </a:p>
        </p:txBody>
      </p:sp>
      <p:sp>
        <p:nvSpPr>
          <p:cNvPr id="6" name="Text 4"/>
          <p:cNvSpPr/>
          <p:nvPr/>
        </p:nvSpPr>
        <p:spPr>
          <a:xfrm>
            <a:off x="502920" y="6528816"/>
            <a:ext cx="7132320" cy="164592"/>
          </a:xfrm>
          <a:prstGeom prst="rect">
            <a:avLst/>
          </a:prstGeom>
          <a:noFill/>
          <a:ln/>
        </p:spPr>
        <p:txBody>
          <a:bodyPr wrap="square" lIns="0" tIns="0" rIns="0" bIns="0" rtlCol="0" anchor="ctr"/>
          <a:lstStyle/>
          <a:p>
            <a:pPr marL="0" indent="0">
              <a:buNone/>
            </a:pPr>
            <a:r>
              <a:rPr lang="en-US" sz="1100" dirty="0">
                <a:solidFill>
                  <a:srgbClr val="7D8790"/>
                </a:solidFill>
              </a:rPr>
              <a:t>Based on Robbins &amp; Judge, Organizational Behavior, Updated 18th Global Edition, Chapter 4</a:t>
            </a:r>
            <a:endParaRPr lang="en-US" sz="1100" dirty="0"/>
          </a:p>
        </p:txBody>
      </p:sp>
      <p:sp>
        <p:nvSpPr>
          <p:cNvPr id="7" name="Text 5"/>
          <p:cNvSpPr/>
          <p:nvPr/>
        </p:nvSpPr>
        <p:spPr>
          <a:xfrm>
            <a:off x="9738360" y="6528816"/>
            <a:ext cx="1965960" cy="164592"/>
          </a:xfrm>
          <a:prstGeom prst="rect">
            <a:avLst/>
          </a:prstGeom>
          <a:noFill/>
          <a:ln/>
        </p:spPr>
        <p:txBody>
          <a:bodyPr wrap="square" lIns="0" tIns="0" rIns="0" bIns="0" rtlCol="0" anchor="ctr"/>
          <a:lstStyle/>
          <a:p>
            <a:pPr marL="0" indent="0" algn="r">
              <a:buNone/>
            </a:pPr>
            <a:r>
              <a:rPr lang="en-US" sz="1100" dirty="0">
                <a:solidFill>
                  <a:srgbClr val="7D8790"/>
                </a:solidFill>
              </a:rPr>
              <a:t>Personality and Values</a:t>
            </a:r>
            <a:endParaRPr lang="en-US" sz="1100" dirty="0"/>
          </a:p>
        </p:txBody>
      </p:sp>
      <p:sp>
        <p:nvSpPr>
          <p:cNvPr id="8" name="Text 6"/>
          <p:cNvSpPr/>
          <p:nvPr/>
        </p:nvSpPr>
        <p:spPr>
          <a:xfrm>
            <a:off x="594360" y="1051560"/>
            <a:ext cx="5166360" cy="320040"/>
          </a:xfrm>
          <a:prstGeom prst="rect">
            <a:avLst/>
          </a:prstGeom>
          <a:noFill/>
          <a:ln/>
        </p:spPr>
        <p:txBody>
          <a:bodyPr wrap="square" lIns="1016" tIns="1016" rIns="1016" bIns="1016" rtlCol="0" anchor="ctr">
            <a:noAutofit/>
          </a:bodyPr>
          <a:lstStyle/>
          <a:p>
            <a:pPr marL="0" indent="0" algn="l">
              <a:buNone/>
            </a:pPr>
            <a:r>
              <a:rPr lang="en-US" sz="2000" b="1" dirty="0">
                <a:solidFill>
                  <a:srgbClr val="1D4E89"/>
                </a:solidFill>
                <a:latin typeface="Aptos" pitchFamily="34" charset="0"/>
                <a:ea typeface="Aptos" pitchFamily="34" charset="-122"/>
                <a:cs typeface="Aptos" pitchFamily="34" charset="-120"/>
              </a:rPr>
              <a:t>Situation Strength Theory</a:t>
            </a:r>
            <a:endParaRPr lang="en-US" sz="2000" dirty="0"/>
          </a:p>
        </p:txBody>
      </p:sp>
      <p:sp>
        <p:nvSpPr>
          <p:cNvPr id="9" name="Text 7"/>
          <p:cNvSpPr/>
          <p:nvPr/>
        </p:nvSpPr>
        <p:spPr>
          <a:xfrm>
            <a:off x="594360" y="1490472"/>
            <a:ext cx="5166360" cy="1389888"/>
          </a:xfrm>
          <a:prstGeom prst="rect">
            <a:avLst/>
          </a:prstGeom>
          <a:solidFill>
            <a:srgbClr val="EAF3FF"/>
          </a:solidFill>
          <a:ln>
            <a:solidFill>
              <a:srgbClr val="1D4E89">
                <a:alpha val="75000"/>
              </a:srgbClr>
            </a:solidFill>
          </a:ln>
        </p:spPr>
        <p:txBody>
          <a:bodyPr wrap="square" lIns="1524" tIns="1524" rIns="1524" bIns="1524" rtlCol="0" anchor="ctr">
            <a:noAutofit/>
          </a:bodyPr>
          <a:lstStyle/>
          <a:p>
            <a:pPr marL="0" indent="0">
              <a:buNone/>
            </a:pPr>
            <a:r>
              <a:rPr lang="en-US" sz="1600" dirty="0">
                <a:solidFill>
                  <a:srgbClr val="1F2937"/>
                </a:solidFill>
              </a:rPr>
              <a:t>Some situations pressure individuals to behave in similar ways; strong situations reduce the expression of personality differences.</a:t>
            </a:r>
            <a:endParaRPr lang="en-US" sz="1600" dirty="0"/>
          </a:p>
        </p:txBody>
      </p:sp>
      <p:sp>
        <p:nvSpPr>
          <p:cNvPr id="10" name="Text 8"/>
          <p:cNvSpPr/>
          <p:nvPr/>
        </p:nvSpPr>
        <p:spPr>
          <a:xfrm>
            <a:off x="6080760" y="1051560"/>
            <a:ext cx="5257800" cy="320040"/>
          </a:xfrm>
          <a:prstGeom prst="rect">
            <a:avLst/>
          </a:prstGeom>
          <a:noFill/>
          <a:ln/>
        </p:spPr>
        <p:txBody>
          <a:bodyPr wrap="square" lIns="1016" tIns="1016" rIns="1016" bIns="1016" rtlCol="0" anchor="ctr">
            <a:noAutofit/>
          </a:bodyPr>
          <a:lstStyle/>
          <a:p>
            <a:pPr marL="0" indent="0" algn="l">
              <a:buNone/>
            </a:pPr>
            <a:r>
              <a:rPr lang="en-US" sz="2000" b="1" dirty="0">
                <a:solidFill>
                  <a:srgbClr val="2E7D32"/>
                </a:solidFill>
                <a:latin typeface="Aptos" pitchFamily="34" charset="0"/>
                <a:ea typeface="Aptos" pitchFamily="34" charset="-122"/>
                <a:cs typeface="Aptos" pitchFamily="34" charset="-120"/>
              </a:rPr>
              <a:t>Trait Activation Theory (TAT)</a:t>
            </a:r>
            <a:endParaRPr lang="en-US" sz="2000" dirty="0"/>
          </a:p>
        </p:txBody>
      </p:sp>
      <p:sp>
        <p:nvSpPr>
          <p:cNvPr id="11" name="Text 9"/>
          <p:cNvSpPr/>
          <p:nvPr/>
        </p:nvSpPr>
        <p:spPr>
          <a:xfrm>
            <a:off x="6080760" y="1490472"/>
            <a:ext cx="5257800" cy="1389888"/>
          </a:xfrm>
          <a:prstGeom prst="rect">
            <a:avLst/>
          </a:prstGeom>
          <a:solidFill>
            <a:srgbClr val="EAF6EA"/>
          </a:solidFill>
          <a:ln>
            <a:solidFill>
              <a:srgbClr val="2E7D32">
                <a:alpha val="75000"/>
              </a:srgbClr>
            </a:solidFill>
          </a:ln>
        </p:spPr>
        <p:txBody>
          <a:bodyPr wrap="square" lIns="1524" tIns="1524" rIns="1524" bIns="1524" rtlCol="0" anchor="ctr">
            <a:noAutofit/>
          </a:bodyPr>
          <a:lstStyle/>
          <a:p>
            <a:pPr marL="0" indent="0">
              <a:buNone/>
            </a:pPr>
            <a:r>
              <a:rPr lang="en-US" sz="1600" dirty="0">
                <a:solidFill>
                  <a:srgbClr val="1F2937"/>
                </a:solidFill>
              </a:rPr>
              <a:t>Some jobs or situations provide cues that activate particular traits and make them more relevant to behavior.</a:t>
            </a:r>
            <a:endParaRPr lang="en-US" sz="1600" dirty="0"/>
          </a:p>
        </p:txBody>
      </p:sp>
      <p:sp>
        <p:nvSpPr>
          <p:cNvPr id="12" name="Text 10"/>
          <p:cNvSpPr/>
          <p:nvPr/>
        </p:nvSpPr>
        <p:spPr>
          <a:xfrm>
            <a:off x="685800" y="3337560"/>
            <a:ext cx="3931920" cy="429768"/>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TAT example from Exhibit 4-4</a:t>
            </a:r>
            <a:endParaRPr lang="en-US" sz="1400" dirty="0"/>
          </a:p>
        </p:txBody>
      </p:sp>
      <p:sp>
        <p:nvSpPr>
          <p:cNvPr id="13" name="Text 11"/>
          <p:cNvSpPr/>
          <p:nvPr/>
        </p:nvSpPr>
        <p:spPr>
          <a:xfrm>
            <a:off x="4617720" y="3337560"/>
            <a:ext cx="3017520" cy="429768"/>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Trait more relevant</a:t>
            </a:r>
            <a:endParaRPr lang="en-US" sz="1400" dirty="0"/>
          </a:p>
        </p:txBody>
      </p:sp>
      <p:sp>
        <p:nvSpPr>
          <p:cNvPr id="14" name="Text 12"/>
          <p:cNvSpPr/>
          <p:nvPr/>
        </p:nvSpPr>
        <p:spPr>
          <a:xfrm>
            <a:off x="7635240" y="3337560"/>
            <a:ext cx="3794760" cy="429768"/>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Quality implication</a:t>
            </a:r>
            <a:endParaRPr lang="en-US" sz="1400" dirty="0"/>
          </a:p>
        </p:txBody>
      </p:sp>
      <p:sp>
        <p:nvSpPr>
          <p:cNvPr id="15" name="Text 13"/>
          <p:cNvSpPr/>
          <p:nvPr/>
        </p:nvSpPr>
        <p:spPr>
          <a:xfrm>
            <a:off x="685800" y="3767328"/>
            <a:ext cx="3931920" cy="429768"/>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Detail and precision work</a:t>
            </a:r>
            <a:endParaRPr lang="en-US" sz="1400" dirty="0"/>
          </a:p>
        </p:txBody>
      </p:sp>
      <p:sp>
        <p:nvSpPr>
          <p:cNvPr id="16" name="Text 14"/>
          <p:cNvSpPr/>
          <p:nvPr/>
        </p:nvSpPr>
        <p:spPr>
          <a:xfrm>
            <a:off x="4617720" y="3767328"/>
            <a:ext cx="3017520" cy="429768"/>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Conscientiousness</a:t>
            </a:r>
            <a:endParaRPr lang="en-US" sz="1400" dirty="0"/>
          </a:p>
        </p:txBody>
      </p:sp>
      <p:sp>
        <p:nvSpPr>
          <p:cNvPr id="17" name="Text 15"/>
          <p:cNvSpPr/>
          <p:nvPr/>
        </p:nvSpPr>
        <p:spPr>
          <a:xfrm>
            <a:off x="7635240" y="3767328"/>
            <a:ext cx="3794760" cy="429768"/>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Fewer errors; stronger documentation</a:t>
            </a:r>
            <a:endParaRPr lang="en-US" sz="1400" dirty="0"/>
          </a:p>
        </p:txBody>
      </p:sp>
      <p:sp>
        <p:nvSpPr>
          <p:cNvPr id="18" name="Text 16"/>
          <p:cNvSpPr/>
          <p:nvPr/>
        </p:nvSpPr>
        <p:spPr>
          <a:xfrm>
            <a:off x="685800" y="4197096"/>
            <a:ext cx="3931920" cy="429768"/>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Social influence / service interaction</a:t>
            </a:r>
            <a:endParaRPr lang="en-US" sz="1400" dirty="0"/>
          </a:p>
        </p:txBody>
      </p:sp>
      <p:sp>
        <p:nvSpPr>
          <p:cNvPr id="19" name="Text 17"/>
          <p:cNvSpPr/>
          <p:nvPr/>
        </p:nvSpPr>
        <p:spPr>
          <a:xfrm>
            <a:off x="4617720" y="4197096"/>
            <a:ext cx="3017520" cy="429768"/>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Extraversion / Agreeableness</a:t>
            </a:r>
            <a:endParaRPr lang="en-US" sz="1400" dirty="0"/>
          </a:p>
        </p:txBody>
      </p:sp>
      <p:sp>
        <p:nvSpPr>
          <p:cNvPr id="20" name="Text 18"/>
          <p:cNvSpPr/>
          <p:nvPr/>
        </p:nvSpPr>
        <p:spPr>
          <a:xfrm>
            <a:off x="7635240" y="4197096"/>
            <a:ext cx="3794760" cy="429768"/>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Better customer contact and cooperation</a:t>
            </a:r>
            <a:endParaRPr lang="en-US" sz="1400" dirty="0"/>
          </a:p>
        </p:txBody>
      </p:sp>
      <p:sp>
        <p:nvSpPr>
          <p:cNvPr id="21" name="Text 19"/>
          <p:cNvSpPr/>
          <p:nvPr/>
        </p:nvSpPr>
        <p:spPr>
          <a:xfrm>
            <a:off x="685800" y="4626864"/>
            <a:ext cx="3931920" cy="429768"/>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Innovation / improvement projects</a:t>
            </a:r>
            <a:endParaRPr lang="en-US" sz="1400" dirty="0"/>
          </a:p>
        </p:txBody>
      </p:sp>
      <p:sp>
        <p:nvSpPr>
          <p:cNvPr id="22" name="Text 20"/>
          <p:cNvSpPr/>
          <p:nvPr/>
        </p:nvSpPr>
        <p:spPr>
          <a:xfrm>
            <a:off x="4617720" y="4626864"/>
            <a:ext cx="3017520" cy="429768"/>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Openness</a:t>
            </a:r>
            <a:endParaRPr lang="en-US" sz="1400" dirty="0"/>
          </a:p>
        </p:txBody>
      </p:sp>
      <p:sp>
        <p:nvSpPr>
          <p:cNvPr id="23" name="Text 21"/>
          <p:cNvSpPr/>
          <p:nvPr/>
        </p:nvSpPr>
        <p:spPr>
          <a:xfrm>
            <a:off x="7635240" y="4626864"/>
            <a:ext cx="3794760" cy="429768"/>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New ideas and learning</a:t>
            </a:r>
            <a:endParaRPr lang="en-US" sz="1400" dirty="0"/>
          </a:p>
        </p:txBody>
      </p:sp>
      <p:sp>
        <p:nvSpPr>
          <p:cNvPr id="24" name="Text 22"/>
          <p:cNvSpPr/>
          <p:nvPr/>
        </p:nvSpPr>
        <p:spPr>
          <a:xfrm>
            <a:off x="685800" y="5056632"/>
            <a:ext cx="3931920" cy="429768"/>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High-pressure or crisis work</a:t>
            </a:r>
            <a:endParaRPr lang="en-US" sz="1400" dirty="0"/>
          </a:p>
        </p:txBody>
      </p:sp>
      <p:sp>
        <p:nvSpPr>
          <p:cNvPr id="25" name="Text 23"/>
          <p:cNvSpPr/>
          <p:nvPr/>
        </p:nvSpPr>
        <p:spPr>
          <a:xfrm>
            <a:off x="4617720" y="5056632"/>
            <a:ext cx="3017520" cy="429768"/>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Emotional stability</a:t>
            </a:r>
            <a:endParaRPr lang="en-US" sz="1400" dirty="0"/>
          </a:p>
        </p:txBody>
      </p:sp>
      <p:sp>
        <p:nvSpPr>
          <p:cNvPr id="26" name="Text 24"/>
          <p:cNvSpPr/>
          <p:nvPr/>
        </p:nvSpPr>
        <p:spPr>
          <a:xfrm>
            <a:off x="7635240" y="5056632"/>
            <a:ext cx="3794760" cy="429768"/>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Calm judgment and safe decisions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17324D"/>
          </a:solidFill>
          <a:ln w="12700">
            <a:solidFill>
              <a:srgbClr val="17324D"/>
            </a:solidFill>
            <a:prstDash val="solid"/>
          </a:ln>
        </p:spPr>
      </p:sp>
      <p:sp>
        <p:nvSpPr>
          <p:cNvPr id="3" name="Text 1"/>
          <p:cNvSpPr/>
          <p:nvPr/>
        </p:nvSpPr>
        <p:spPr>
          <a:xfrm>
            <a:off x="384048" y="73152"/>
            <a:ext cx="7863840" cy="310896"/>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Other Personality Attributes Relevant to OB</a:t>
            </a:r>
            <a:endParaRPr lang="en-US" sz="2400" dirty="0"/>
          </a:p>
        </p:txBody>
      </p:sp>
      <p:sp>
        <p:nvSpPr>
          <p:cNvPr id="4" name="Text 2"/>
          <p:cNvSpPr/>
          <p:nvPr/>
        </p:nvSpPr>
        <p:spPr>
          <a:xfrm>
            <a:off x="9784080" y="137160"/>
            <a:ext cx="2011680" cy="219456"/>
          </a:xfrm>
          <a:prstGeom prst="rect">
            <a:avLst/>
          </a:prstGeom>
          <a:noFill/>
          <a:ln/>
        </p:spPr>
        <p:txBody>
          <a:bodyPr wrap="square" lIns="0" tIns="0" rIns="0" bIns="0" rtlCol="0" anchor="ctr"/>
          <a:lstStyle/>
          <a:p>
            <a:pPr marL="0" indent="0" algn="r">
              <a:buNone/>
            </a:pPr>
            <a:r>
              <a:rPr lang="en-US" sz="1400" b="1" dirty="0">
                <a:solidFill>
                  <a:srgbClr val="FFFFFF"/>
                </a:solidFill>
              </a:rPr>
              <a:t>G TQM 511 | Week 5</a:t>
            </a:r>
            <a:endParaRPr lang="en-US" sz="1400" dirty="0"/>
          </a:p>
        </p:txBody>
      </p:sp>
      <p:sp>
        <p:nvSpPr>
          <p:cNvPr id="5" name="Text 3"/>
          <p:cNvSpPr/>
          <p:nvPr/>
        </p:nvSpPr>
        <p:spPr>
          <a:xfrm>
            <a:off x="502920" y="612648"/>
            <a:ext cx="11201400" cy="292608"/>
          </a:xfrm>
          <a:prstGeom prst="rect">
            <a:avLst/>
          </a:prstGeom>
          <a:noFill/>
          <a:ln/>
        </p:spPr>
        <p:txBody>
          <a:bodyPr wrap="square" lIns="0" tIns="0" rIns="0" bIns="0" rtlCol="0" anchor="ctr"/>
          <a:lstStyle/>
          <a:p>
            <a:pPr marL="0" indent="0">
              <a:buNone/>
            </a:pPr>
            <a:r>
              <a:rPr lang="en-US" sz="1600" i="1" dirty="0">
                <a:solidFill>
                  <a:srgbClr val="5A6775"/>
                </a:solidFill>
              </a:rPr>
              <a:t>Chapter 4 highlights CSE, self-monitoring, and proactive personality as powerful behavior predictors.</a:t>
            </a:r>
            <a:endParaRPr lang="en-US" sz="1600" dirty="0"/>
          </a:p>
        </p:txBody>
      </p:sp>
      <p:sp>
        <p:nvSpPr>
          <p:cNvPr id="6" name="Text 4"/>
          <p:cNvSpPr/>
          <p:nvPr/>
        </p:nvSpPr>
        <p:spPr>
          <a:xfrm>
            <a:off x="502920" y="6528816"/>
            <a:ext cx="7132320" cy="164592"/>
          </a:xfrm>
          <a:prstGeom prst="rect">
            <a:avLst/>
          </a:prstGeom>
          <a:noFill/>
          <a:ln/>
        </p:spPr>
        <p:txBody>
          <a:bodyPr wrap="square" lIns="0" tIns="0" rIns="0" bIns="0" rtlCol="0" anchor="ctr"/>
          <a:lstStyle/>
          <a:p>
            <a:pPr marL="0" indent="0">
              <a:buNone/>
            </a:pPr>
            <a:r>
              <a:rPr lang="en-US" sz="1050" dirty="0">
                <a:solidFill>
                  <a:srgbClr val="7D8790"/>
                </a:solidFill>
              </a:rPr>
              <a:t>Based on Robbins &amp; Judge, Organizational Behavior, Updated 18th Global Edition, Chapter 4</a:t>
            </a:r>
            <a:endParaRPr lang="en-US" sz="1050" dirty="0"/>
          </a:p>
        </p:txBody>
      </p:sp>
      <p:sp>
        <p:nvSpPr>
          <p:cNvPr id="7" name="Text 5"/>
          <p:cNvSpPr/>
          <p:nvPr/>
        </p:nvSpPr>
        <p:spPr>
          <a:xfrm>
            <a:off x="9738360" y="6528816"/>
            <a:ext cx="1965960" cy="164592"/>
          </a:xfrm>
          <a:prstGeom prst="rect">
            <a:avLst/>
          </a:prstGeom>
          <a:noFill/>
          <a:ln/>
        </p:spPr>
        <p:txBody>
          <a:bodyPr wrap="square" lIns="0" tIns="0" rIns="0" bIns="0" rtlCol="0" anchor="ctr"/>
          <a:lstStyle/>
          <a:p>
            <a:pPr marL="0" indent="0" algn="r">
              <a:buNone/>
            </a:pPr>
            <a:r>
              <a:rPr lang="en-US" sz="1050" dirty="0">
                <a:solidFill>
                  <a:srgbClr val="7D8790"/>
                </a:solidFill>
              </a:rPr>
              <a:t>Personality and Values</a:t>
            </a:r>
            <a:endParaRPr lang="en-US" sz="1050" dirty="0"/>
          </a:p>
        </p:txBody>
      </p:sp>
      <p:sp>
        <p:nvSpPr>
          <p:cNvPr id="8" name="Text 6"/>
          <p:cNvSpPr/>
          <p:nvPr/>
        </p:nvSpPr>
        <p:spPr>
          <a:xfrm>
            <a:off x="594360" y="1143000"/>
            <a:ext cx="2926080" cy="754380"/>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Attribute</a:t>
            </a:r>
            <a:endParaRPr lang="en-US" sz="1400" dirty="0"/>
          </a:p>
        </p:txBody>
      </p:sp>
      <p:sp>
        <p:nvSpPr>
          <p:cNvPr id="9" name="Text 7"/>
          <p:cNvSpPr/>
          <p:nvPr/>
        </p:nvSpPr>
        <p:spPr>
          <a:xfrm>
            <a:off x="3520440" y="1143000"/>
            <a:ext cx="4389120" cy="754380"/>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Meaning in OB</a:t>
            </a:r>
            <a:endParaRPr lang="en-US" sz="1400" dirty="0"/>
          </a:p>
        </p:txBody>
      </p:sp>
      <p:sp>
        <p:nvSpPr>
          <p:cNvPr id="10" name="Text 8"/>
          <p:cNvSpPr/>
          <p:nvPr/>
        </p:nvSpPr>
        <p:spPr>
          <a:xfrm>
            <a:off x="7909560" y="1143000"/>
            <a:ext cx="3703320" cy="754380"/>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Quality relevance</a:t>
            </a:r>
            <a:endParaRPr lang="en-US" sz="1400" dirty="0"/>
          </a:p>
        </p:txBody>
      </p:sp>
      <p:sp>
        <p:nvSpPr>
          <p:cNvPr id="11" name="Text 9"/>
          <p:cNvSpPr/>
          <p:nvPr/>
        </p:nvSpPr>
        <p:spPr>
          <a:xfrm>
            <a:off x="594360" y="1897380"/>
            <a:ext cx="2926080" cy="75438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Core self-evaluations (CSEs)</a:t>
            </a:r>
            <a:endParaRPr lang="en-US" sz="1400" dirty="0"/>
          </a:p>
        </p:txBody>
      </p:sp>
      <p:sp>
        <p:nvSpPr>
          <p:cNvPr id="12" name="Text 10"/>
          <p:cNvSpPr/>
          <p:nvPr/>
        </p:nvSpPr>
        <p:spPr>
          <a:xfrm>
            <a:off x="3520440" y="1897380"/>
            <a:ext cx="4389120" cy="75438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People’s bottom-line conclusions about their capabilities, competence, and worth</a:t>
            </a:r>
            <a:endParaRPr lang="en-US" sz="1400" dirty="0"/>
          </a:p>
        </p:txBody>
      </p:sp>
      <p:sp>
        <p:nvSpPr>
          <p:cNvPr id="13" name="Text 11"/>
          <p:cNvSpPr/>
          <p:nvPr/>
        </p:nvSpPr>
        <p:spPr>
          <a:xfrm>
            <a:off x="7909560" y="1897380"/>
            <a:ext cx="3703320" cy="75438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Confidence in improvement, resilience, ownership</a:t>
            </a:r>
            <a:endParaRPr lang="en-US" sz="1400" dirty="0"/>
          </a:p>
        </p:txBody>
      </p:sp>
      <p:sp>
        <p:nvSpPr>
          <p:cNvPr id="14" name="Text 12"/>
          <p:cNvSpPr/>
          <p:nvPr/>
        </p:nvSpPr>
        <p:spPr>
          <a:xfrm>
            <a:off x="594360" y="2651760"/>
            <a:ext cx="2926080" cy="75438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Self-monitoring</a:t>
            </a:r>
            <a:endParaRPr lang="en-US" sz="1400" dirty="0"/>
          </a:p>
        </p:txBody>
      </p:sp>
      <p:sp>
        <p:nvSpPr>
          <p:cNvPr id="15" name="Text 13"/>
          <p:cNvSpPr/>
          <p:nvPr/>
        </p:nvSpPr>
        <p:spPr>
          <a:xfrm>
            <a:off x="3520440" y="2651760"/>
            <a:ext cx="4389120" cy="75438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Ability to adjust behavior to external, situational factors</a:t>
            </a:r>
            <a:endParaRPr lang="en-US" sz="1400" dirty="0"/>
          </a:p>
        </p:txBody>
      </p:sp>
      <p:sp>
        <p:nvSpPr>
          <p:cNvPr id="16" name="Text 14"/>
          <p:cNvSpPr/>
          <p:nvPr/>
        </p:nvSpPr>
        <p:spPr>
          <a:xfrm>
            <a:off x="7909560" y="2651760"/>
            <a:ext cx="3703320" cy="75438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Adapting communication with customers, auditors, and teams</a:t>
            </a:r>
            <a:endParaRPr lang="en-US" sz="1400" dirty="0"/>
          </a:p>
        </p:txBody>
      </p:sp>
      <p:sp>
        <p:nvSpPr>
          <p:cNvPr id="17" name="Text 15"/>
          <p:cNvSpPr/>
          <p:nvPr/>
        </p:nvSpPr>
        <p:spPr>
          <a:xfrm>
            <a:off x="594360" y="3406140"/>
            <a:ext cx="2926080" cy="75438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Proactive personality</a:t>
            </a:r>
            <a:endParaRPr lang="en-US" sz="1400" dirty="0"/>
          </a:p>
        </p:txBody>
      </p:sp>
      <p:sp>
        <p:nvSpPr>
          <p:cNvPr id="18" name="Text 16"/>
          <p:cNvSpPr/>
          <p:nvPr/>
        </p:nvSpPr>
        <p:spPr>
          <a:xfrm>
            <a:off x="3520440" y="3406140"/>
            <a:ext cx="4389120" cy="75438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Identifies opportunities, shows initiative, takes action, and perseveres until meaningful change occurs</a:t>
            </a:r>
            <a:endParaRPr lang="en-US" sz="1400" dirty="0"/>
          </a:p>
        </p:txBody>
      </p:sp>
      <p:sp>
        <p:nvSpPr>
          <p:cNvPr id="19" name="Text 17"/>
          <p:cNvSpPr/>
          <p:nvPr/>
        </p:nvSpPr>
        <p:spPr>
          <a:xfrm>
            <a:off x="7909560" y="3406140"/>
            <a:ext cx="3703320" cy="75438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Problem prevention and continuous improvement</a:t>
            </a:r>
            <a:endParaRPr lang="en-US" sz="1400" dirty="0"/>
          </a:p>
        </p:txBody>
      </p:sp>
      <p:sp>
        <p:nvSpPr>
          <p:cNvPr id="20" name="Text 18"/>
          <p:cNvSpPr/>
          <p:nvPr/>
        </p:nvSpPr>
        <p:spPr>
          <a:xfrm>
            <a:off x="685800" y="4800600"/>
            <a:ext cx="10744200" cy="502920"/>
          </a:xfrm>
          <a:prstGeom prst="rect">
            <a:avLst/>
          </a:prstGeom>
          <a:solidFill>
            <a:srgbClr val="FFF4E6"/>
          </a:solidFill>
          <a:ln>
            <a:solidFill>
              <a:srgbClr val="B45309">
                <a:alpha val="80000"/>
              </a:srgbClr>
            </a:solidFill>
          </a:ln>
        </p:spPr>
        <p:txBody>
          <a:bodyPr wrap="square" lIns="762" tIns="762" rIns="762" bIns="762" rtlCol="0" anchor="ctr">
            <a:noAutofit/>
          </a:bodyPr>
          <a:lstStyle/>
          <a:p>
            <a:pPr marL="0" indent="0" algn="ctr">
              <a:buNone/>
            </a:pPr>
            <a:r>
              <a:rPr lang="en-US" b="1" dirty="0">
                <a:solidFill>
                  <a:srgbClr val="1F2937"/>
                </a:solidFill>
              </a:rPr>
              <a:t>Management implication: use these attributes for coaching, role design, and team composition—not for unfair labeling.</a:t>
            </a:r>
            <a:endParaRPr lang="en-US" dirty="0"/>
          </a:p>
        </p:txBody>
      </p:sp>
      <p:sp>
        <p:nvSpPr>
          <p:cNvPr id="21" name="Text 19"/>
          <p:cNvSpPr/>
          <p:nvPr/>
        </p:nvSpPr>
        <p:spPr>
          <a:xfrm>
            <a:off x="1005840" y="5623560"/>
            <a:ext cx="10058400" cy="365760"/>
          </a:xfrm>
          <a:prstGeom prst="rect">
            <a:avLst/>
          </a:prstGeom>
          <a:noFill/>
          <a:ln/>
        </p:spPr>
        <p:txBody>
          <a:bodyPr wrap="square" lIns="1016" tIns="1016" rIns="1016" bIns="1016" rtlCol="0" anchor="ctr">
            <a:normAutofit fontScale="92500"/>
          </a:bodyPr>
          <a:lstStyle/>
          <a:p>
            <a:pPr marL="0" indent="0" algn="ctr">
              <a:buNone/>
            </a:pPr>
            <a:r>
              <a:rPr lang="en-US" sz="1600" i="1" dirty="0">
                <a:solidFill>
                  <a:srgbClr val="5A6775"/>
                </a:solidFill>
                <a:latin typeface="Aptos" pitchFamily="34" charset="0"/>
                <a:ea typeface="Aptos" pitchFamily="34" charset="-122"/>
                <a:cs typeface="Aptos" pitchFamily="34" charset="-120"/>
              </a:rPr>
              <a:t>Kept concise: these concepts support the main theme but should not crowd out personality frameworks and values.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17324D"/>
          </a:solidFill>
          <a:ln w="12700">
            <a:solidFill>
              <a:srgbClr val="17324D"/>
            </a:solidFill>
            <a:prstDash val="solid"/>
          </a:ln>
        </p:spPr>
      </p:sp>
      <p:sp>
        <p:nvSpPr>
          <p:cNvPr id="3" name="Text 1"/>
          <p:cNvSpPr/>
          <p:nvPr/>
        </p:nvSpPr>
        <p:spPr>
          <a:xfrm>
            <a:off x="384048" y="73152"/>
            <a:ext cx="7863840" cy="310896"/>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Values: What People Believe Matters</a:t>
            </a:r>
            <a:endParaRPr lang="en-US" sz="2400" dirty="0"/>
          </a:p>
        </p:txBody>
      </p:sp>
      <p:sp>
        <p:nvSpPr>
          <p:cNvPr id="4" name="Text 2"/>
          <p:cNvSpPr/>
          <p:nvPr/>
        </p:nvSpPr>
        <p:spPr>
          <a:xfrm>
            <a:off x="9784080" y="137160"/>
            <a:ext cx="2011680" cy="219456"/>
          </a:xfrm>
          <a:prstGeom prst="rect">
            <a:avLst/>
          </a:prstGeom>
          <a:noFill/>
          <a:ln/>
        </p:spPr>
        <p:txBody>
          <a:bodyPr wrap="square" lIns="0" tIns="0" rIns="0" bIns="0" rtlCol="0" anchor="ctr"/>
          <a:lstStyle/>
          <a:p>
            <a:pPr marL="0" indent="0" algn="r">
              <a:buNone/>
            </a:pPr>
            <a:r>
              <a:rPr lang="en-US" sz="1000" b="1" dirty="0">
                <a:solidFill>
                  <a:srgbClr val="FFFFFF"/>
                </a:solidFill>
              </a:rPr>
              <a:t>G TQM 511 | Week 5</a:t>
            </a:r>
            <a:endParaRPr lang="en-US" sz="1000" dirty="0"/>
          </a:p>
        </p:txBody>
      </p:sp>
      <p:sp>
        <p:nvSpPr>
          <p:cNvPr id="5" name="Text 3"/>
          <p:cNvSpPr/>
          <p:nvPr/>
        </p:nvSpPr>
        <p:spPr>
          <a:xfrm>
            <a:off x="502920" y="612648"/>
            <a:ext cx="11201400" cy="292608"/>
          </a:xfrm>
          <a:prstGeom prst="rect">
            <a:avLst/>
          </a:prstGeom>
          <a:noFill/>
          <a:ln/>
        </p:spPr>
        <p:txBody>
          <a:bodyPr wrap="square" lIns="0" tIns="0" rIns="0" bIns="0" rtlCol="0" anchor="ctr"/>
          <a:lstStyle/>
          <a:p>
            <a:pPr marL="0" indent="0">
              <a:buNone/>
            </a:pPr>
            <a:r>
              <a:rPr lang="en-US" sz="1400" i="1" dirty="0">
                <a:solidFill>
                  <a:srgbClr val="5A6775"/>
                </a:solidFill>
              </a:rPr>
              <a:t>Values underlie and explain attitudes, behaviors, and perceptions.</a:t>
            </a:r>
            <a:endParaRPr lang="en-US" sz="1400" dirty="0"/>
          </a:p>
        </p:txBody>
      </p:sp>
      <p:sp>
        <p:nvSpPr>
          <p:cNvPr id="6" name="Text 4"/>
          <p:cNvSpPr/>
          <p:nvPr/>
        </p:nvSpPr>
        <p:spPr>
          <a:xfrm>
            <a:off x="502920" y="6528816"/>
            <a:ext cx="7132320" cy="164592"/>
          </a:xfrm>
          <a:prstGeom prst="rect">
            <a:avLst/>
          </a:prstGeom>
          <a:noFill/>
          <a:ln/>
        </p:spPr>
        <p:txBody>
          <a:bodyPr wrap="square" lIns="0" tIns="0" rIns="0" bIns="0" rtlCol="0" anchor="ctr"/>
          <a:lstStyle/>
          <a:p>
            <a:pPr marL="0" indent="0">
              <a:buNone/>
            </a:pPr>
            <a:r>
              <a:rPr lang="en-US" sz="680" dirty="0">
                <a:solidFill>
                  <a:srgbClr val="7D8790"/>
                </a:solidFill>
              </a:rPr>
              <a:t>Based on Robbins &amp; Judge, Organizational Behavior, Updated 18th Global Edition, Chapter 4</a:t>
            </a:r>
            <a:endParaRPr lang="en-US" sz="680" dirty="0"/>
          </a:p>
        </p:txBody>
      </p:sp>
      <p:sp>
        <p:nvSpPr>
          <p:cNvPr id="7" name="Text 5"/>
          <p:cNvSpPr/>
          <p:nvPr/>
        </p:nvSpPr>
        <p:spPr>
          <a:xfrm>
            <a:off x="9738360" y="6528816"/>
            <a:ext cx="1965960" cy="164592"/>
          </a:xfrm>
          <a:prstGeom prst="rect">
            <a:avLst/>
          </a:prstGeom>
          <a:noFill/>
          <a:ln/>
        </p:spPr>
        <p:txBody>
          <a:bodyPr wrap="square" lIns="0" tIns="0" rIns="0" bIns="0" rtlCol="0" anchor="ctr"/>
          <a:lstStyle/>
          <a:p>
            <a:pPr marL="0" indent="0" algn="r">
              <a:buNone/>
            </a:pPr>
            <a:r>
              <a:rPr lang="en-US" sz="680" dirty="0">
                <a:solidFill>
                  <a:srgbClr val="7D8790"/>
                </a:solidFill>
              </a:rPr>
              <a:t>Personality and Values</a:t>
            </a:r>
            <a:endParaRPr lang="en-US" sz="680" dirty="0"/>
          </a:p>
        </p:txBody>
      </p:sp>
      <p:sp>
        <p:nvSpPr>
          <p:cNvPr id="8" name="Text 6"/>
          <p:cNvSpPr/>
          <p:nvPr/>
        </p:nvSpPr>
        <p:spPr>
          <a:xfrm>
            <a:off x="594360" y="1143000"/>
            <a:ext cx="5303520" cy="320040"/>
          </a:xfrm>
          <a:prstGeom prst="rect">
            <a:avLst/>
          </a:prstGeom>
          <a:noFill/>
          <a:ln/>
        </p:spPr>
        <p:txBody>
          <a:bodyPr wrap="square" lIns="1016" tIns="1016" rIns="1016" bIns="1016" rtlCol="0" anchor="ctr">
            <a:normAutofit/>
          </a:bodyPr>
          <a:lstStyle/>
          <a:p>
            <a:pPr marL="0" indent="0" algn="l">
              <a:buNone/>
            </a:pPr>
            <a:r>
              <a:rPr lang="en-US" sz="2000" b="1" dirty="0">
                <a:solidFill>
                  <a:srgbClr val="1D4E89"/>
                </a:solidFill>
                <a:latin typeface="Aptos" pitchFamily="34" charset="0"/>
                <a:ea typeface="Aptos" pitchFamily="34" charset="-122"/>
                <a:cs typeface="Aptos" pitchFamily="34" charset="-120"/>
              </a:rPr>
              <a:t>Values</a:t>
            </a:r>
            <a:endParaRPr lang="en-US" sz="2000" dirty="0"/>
          </a:p>
        </p:txBody>
      </p:sp>
      <p:sp>
        <p:nvSpPr>
          <p:cNvPr id="9" name="Text 7"/>
          <p:cNvSpPr/>
          <p:nvPr/>
        </p:nvSpPr>
        <p:spPr>
          <a:xfrm>
            <a:off x="594360" y="1581912"/>
            <a:ext cx="5303520" cy="1527048"/>
          </a:xfrm>
          <a:prstGeom prst="rect">
            <a:avLst/>
          </a:prstGeom>
          <a:solidFill>
            <a:srgbClr val="EAF3FF"/>
          </a:solidFill>
          <a:ln>
            <a:solidFill>
              <a:srgbClr val="1D4E89">
                <a:alpha val="75000"/>
              </a:srgbClr>
            </a:solidFill>
          </a:ln>
        </p:spPr>
        <p:txBody>
          <a:bodyPr wrap="square" lIns="1524" tIns="1524" rIns="1524" bIns="1524" rtlCol="0" anchor="ctr">
            <a:normAutofit/>
          </a:bodyPr>
          <a:lstStyle/>
          <a:p>
            <a:pPr marL="0" indent="0">
              <a:buNone/>
            </a:pPr>
            <a:r>
              <a:rPr lang="en-US" sz="1400" dirty="0">
                <a:solidFill>
                  <a:srgbClr val="1F2937"/>
                </a:solidFill>
              </a:rPr>
              <a:t>Basic convictions that a specific mode of conduct or end-state of existence is personally or socially preferable to an opposite or converse mode.</a:t>
            </a:r>
            <a:endParaRPr lang="en-US" sz="1400" dirty="0"/>
          </a:p>
        </p:txBody>
      </p:sp>
      <p:sp>
        <p:nvSpPr>
          <p:cNvPr id="10" name="Text 8"/>
          <p:cNvSpPr/>
          <p:nvPr/>
        </p:nvSpPr>
        <p:spPr>
          <a:xfrm>
            <a:off x="6172200" y="1143000"/>
            <a:ext cx="5166360" cy="320040"/>
          </a:xfrm>
          <a:prstGeom prst="rect">
            <a:avLst/>
          </a:prstGeom>
          <a:noFill/>
          <a:ln/>
        </p:spPr>
        <p:txBody>
          <a:bodyPr wrap="square" lIns="1016" tIns="1016" rIns="1016" bIns="1016" rtlCol="0" anchor="ctr">
            <a:normAutofit/>
          </a:bodyPr>
          <a:lstStyle/>
          <a:p>
            <a:pPr marL="0" indent="0" algn="l">
              <a:buNone/>
            </a:pPr>
            <a:r>
              <a:rPr lang="en-US" sz="2000" b="1" dirty="0">
                <a:solidFill>
                  <a:srgbClr val="2E7D32"/>
                </a:solidFill>
                <a:latin typeface="Aptos" pitchFamily="34" charset="0"/>
                <a:ea typeface="Aptos" pitchFamily="34" charset="-122"/>
                <a:cs typeface="Aptos" pitchFamily="34" charset="-120"/>
              </a:rPr>
              <a:t>Value system</a:t>
            </a:r>
            <a:endParaRPr lang="en-US" sz="2000" dirty="0"/>
          </a:p>
        </p:txBody>
      </p:sp>
      <p:sp>
        <p:nvSpPr>
          <p:cNvPr id="11" name="Text 9"/>
          <p:cNvSpPr/>
          <p:nvPr/>
        </p:nvSpPr>
        <p:spPr>
          <a:xfrm>
            <a:off x="6172200" y="1581912"/>
            <a:ext cx="5166360" cy="1527048"/>
          </a:xfrm>
          <a:prstGeom prst="rect">
            <a:avLst/>
          </a:prstGeom>
          <a:solidFill>
            <a:srgbClr val="EAF6EA"/>
          </a:solidFill>
          <a:ln>
            <a:solidFill>
              <a:srgbClr val="2E7D32">
                <a:alpha val="75000"/>
              </a:srgbClr>
            </a:solidFill>
          </a:ln>
        </p:spPr>
        <p:txBody>
          <a:bodyPr wrap="square" lIns="1524" tIns="1524" rIns="1524" bIns="1524" rtlCol="0" anchor="ctr">
            <a:normAutofit/>
          </a:bodyPr>
          <a:lstStyle/>
          <a:p>
            <a:pPr marL="0" indent="0">
              <a:buNone/>
            </a:pPr>
            <a:r>
              <a:rPr lang="en-US" sz="1400" dirty="0">
                <a:solidFill>
                  <a:srgbClr val="1F2937"/>
                </a:solidFill>
              </a:rPr>
              <a:t>A hierarchy based on a ranking of an individual’s values in terms of their intensity.</a:t>
            </a:r>
            <a:endParaRPr lang="en-US" sz="1400" dirty="0"/>
          </a:p>
        </p:txBody>
      </p:sp>
      <p:sp>
        <p:nvSpPr>
          <p:cNvPr id="12" name="Text 10"/>
          <p:cNvSpPr/>
          <p:nvPr/>
        </p:nvSpPr>
        <p:spPr>
          <a:xfrm>
            <a:off x="685800" y="3657600"/>
            <a:ext cx="3657600" cy="256032"/>
          </a:xfrm>
          <a:prstGeom prst="rect">
            <a:avLst/>
          </a:prstGeom>
          <a:noFill/>
          <a:ln/>
        </p:spPr>
        <p:txBody>
          <a:bodyPr wrap="square" lIns="1016" tIns="1016" rIns="1016" bIns="1016" rtlCol="0" anchor="ctr">
            <a:normAutofit fontScale="92500" lnSpcReduction="20000"/>
          </a:bodyPr>
          <a:lstStyle/>
          <a:p>
            <a:pPr marL="0" indent="0" algn="l">
              <a:buNone/>
            </a:pPr>
            <a:r>
              <a:rPr lang="en-US" sz="2000" b="1" dirty="0">
                <a:solidFill>
                  <a:srgbClr val="17324D"/>
                </a:solidFill>
                <a:latin typeface="Aptos" pitchFamily="34" charset="0"/>
                <a:ea typeface="Aptos" pitchFamily="34" charset="-122"/>
                <a:cs typeface="Aptos" pitchFamily="34" charset="-120"/>
              </a:rPr>
              <a:t>Why values matter for quality</a:t>
            </a:r>
            <a:endParaRPr lang="en-US" sz="2000" dirty="0"/>
          </a:p>
        </p:txBody>
      </p:sp>
      <p:sp>
        <p:nvSpPr>
          <p:cNvPr id="13" name="Text 11"/>
          <p:cNvSpPr/>
          <p:nvPr/>
        </p:nvSpPr>
        <p:spPr>
          <a:xfrm>
            <a:off x="868680" y="4069080"/>
            <a:ext cx="10241280" cy="1325880"/>
          </a:xfrm>
          <a:prstGeom prst="rect">
            <a:avLst/>
          </a:prstGeom>
          <a:noFill/>
          <a:ln/>
        </p:spPr>
        <p:txBody>
          <a:bodyPr wrap="square" lIns="1016" tIns="1016" rIns="1016" bIns="1016" rtlCol="0" anchor="ctr">
            <a:normAutofit/>
          </a:bodyPr>
          <a:lstStyle/>
          <a:p>
            <a:pPr marL="139700" indent="-139700">
              <a:buSzPct val="100000"/>
              <a:buChar char="•"/>
            </a:pPr>
            <a:r>
              <a:rPr lang="en-US" sz="1400" dirty="0">
                <a:solidFill>
                  <a:srgbClr val="1F2937"/>
                </a:solidFill>
              </a:rPr>
              <a:t>Values influence ethical choices when procedures do not specify every action.</a:t>
            </a:r>
            <a:endParaRPr lang="en-US" sz="1400" dirty="0"/>
          </a:p>
          <a:p>
            <a:pPr marL="139700" indent="-139700">
              <a:buSzPct val="100000"/>
              <a:buChar char="•"/>
            </a:pPr>
            <a:r>
              <a:rPr lang="en-US" sz="1400" dirty="0">
                <a:solidFill>
                  <a:srgbClr val="1F2937"/>
                </a:solidFill>
              </a:rPr>
              <a:t>Values shape whether people prioritize speed, accuracy, customer focus, learning, compliance, or fairness.</a:t>
            </a:r>
            <a:endParaRPr lang="en-US" sz="1400" dirty="0"/>
          </a:p>
          <a:p>
            <a:pPr marL="139700" indent="-139700">
              <a:buSzPct val="100000"/>
              <a:buChar char="•"/>
            </a:pPr>
            <a:r>
              <a:rPr lang="en-US" sz="1400" dirty="0">
                <a:solidFill>
                  <a:srgbClr val="1F2937"/>
                </a:solidFill>
              </a:rPr>
              <a:t>Misaligned values can produce hidden defects, distorted data, weak cooperation, or resistance to corrective action.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17324D"/>
          </a:solidFill>
          <a:ln w="12700">
            <a:solidFill>
              <a:srgbClr val="17324D"/>
            </a:solidFill>
            <a:prstDash val="solid"/>
          </a:ln>
        </p:spPr>
      </p:sp>
      <p:sp>
        <p:nvSpPr>
          <p:cNvPr id="3" name="Text 1"/>
          <p:cNvSpPr/>
          <p:nvPr/>
        </p:nvSpPr>
        <p:spPr>
          <a:xfrm>
            <a:off x="384048" y="73152"/>
            <a:ext cx="7863840" cy="310896"/>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Terminal versus Instrumental Values</a:t>
            </a:r>
            <a:endParaRPr lang="en-US" sz="2400" dirty="0"/>
          </a:p>
        </p:txBody>
      </p:sp>
      <p:sp>
        <p:nvSpPr>
          <p:cNvPr id="4" name="Text 2"/>
          <p:cNvSpPr/>
          <p:nvPr/>
        </p:nvSpPr>
        <p:spPr>
          <a:xfrm>
            <a:off x="9784080" y="137160"/>
            <a:ext cx="2011680" cy="219456"/>
          </a:xfrm>
          <a:prstGeom prst="rect">
            <a:avLst/>
          </a:prstGeom>
          <a:noFill/>
          <a:ln/>
        </p:spPr>
        <p:txBody>
          <a:bodyPr wrap="square" lIns="0" tIns="0" rIns="0" bIns="0" rtlCol="0" anchor="ctr"/>
          <a:lstStyle/>
          <a:p>
            <a:pPr marL="0" indent="0" algn="r">
              <a:buNone/>
            </a:pPr>
            <a:r>
              <a:rPr lang="en-US" sz="1600" b="1" dirty="0">
                <a:solidFill>
                  <a:srgbClr val="FFFFFF"/>
                </a:solidFill>
              </a:rPr>
              <a:t>G TQM 511 | Week 5</a:t>
            </a:r>
            <a:endParaRPr lang="en-US" sz="1600" dirty="0"/>
          </a:p>
        </p:txBody>
      </p:sp>
      <p:sp>
        <p:nvSpPr>
          <p:cNvPr id="5" name="Text 3"/>
          <p:cNvSpPr/>
          <p:nvPr/>
        </p:nvSpPr>
        <p:spPr>
          <a:xfrm>
            <a:off x="502920" y="612648"/>
            <a:ext cx="11201400" cy="292608"/>
          </a:xfrm>
          <a:prstGeom prst="rect">
            <a:avLst/>
          </a:prstGeom>
          <a:noFill/>
          <a:ln/>
        </p:spPr>
        <p:txBody>
          <a:bodyPr wrap="square" lIns="0" tIns="0" rIns="0" bIns="0" rtlCol="0" anchor="ctr"/>
          <a:lstStyle/>
          <a:p>
            <a:pPr marL="0" indent="0">
              <a:buNone/>
            </a:pPr>
            <a:r>
              <a:rPr lang="en-US" sz="1600" i="1" dirty="0">
                <a:solidFill>
                  <a:srgbClr val="5A6775"/>
                </a:solidFill>
              </a:rPr>
              <a:t>Milton Rokeach separates values into ends and means.</a:t>
            </a:r>
            <a:endParaRPr lang="en-US" sz="1600" dirty="0"/>
          </a:p>
        </p:txBody>
      </p:sp>
      <p:sp>
        <p:nvSpPr>
          <p:cNvPr id="6" name="Text 4"/>
          <p:cNvSpPr/>
          <p:nvPr/>
        </p:nvSpPr>
        <p:spPr>
          <a:xfrm>
            <a:off x="502920" y="6528816"/>
            <a:ext cx="7132320" cy="164592"/>
          </a:xfrm>
          <a:prstGeom prst="rect">
            <a:avLst/>
          </a:prstGeom>
          <a:noFill/>
          <a:ln/>
        </p:spPr>
        <p:txBody>
          <a:bodyPr wrap="square" lIns="0" tIns="0" rIns="0" bIns="0" rtlCol="0" anchor="ctr"/>
          <a:lstStyle/>
          <a:p>
            <a:pPr marL="0" indent="0">
              <a:buNone/>
            </a:pPr>
            <a:r>
              <a:rPr lang="en-US" sz="1100" dirty="0">
                <a:solidFill>
                  <a:srgbClr val="7D8790"/>
                </a:solidFill>
              </a:rPr>
              <a:t>Based on Robbins &amp; Judge, Organizational Behavior, Updated 18th Global Edition, Chapter 4</a:t>
            </a:r>
            <a:endParaRPr lang="en-US" sz="1100" dirty="0"/>
          </a:p>
        </p:txBody>
      </p:sp>
      <p:sp>
        <p:nvSpPr>
          <p:cNvPr id="7" name="Text 5"/>
          <p:cNvSpPr/>
          <p:nvPr/>
        </p:nvSpPr>
        <p:spPr>
          <a:xfrm>
            <a:off x="9738360" y="6528816"/>
            <a:ext cx="1965960" cy="164592"/>
          </a:xfrm>
          <a:prstGeom prst="rect">
            <a:avLst/>
          </a:prstGeom>
          <a:noFill/>
          <a:ln/>
        </p:spPr>
        <p:txBody>
          <a:bodyPr wrap="square" lIns="0" tIns="0" rIns="0" bIns="0" rtlCol="0" anchor="ctr"/>
          <a:lstStyle/>
          <a:p>
            <a:pPr marL="0" indent="0" algn="r">
              <a:buNone/>
            </a:pPr>
            <a:r>
              <a:rPr lang="en-US" sz="1100" dirty="0">
                <a:solidFill>
                  <a:srgbClr val="7D8790"/>
                </a:solidFill>
              </a:rPr>
              <a:t>Personality and Values</a:t>
            </a:r>
            <a:endParaRPr lang="en-US" sz="1100" dirty="0"/>
          </a:p>
        </p:txBody>
      </p:sp>
      <p:sp>
        <p:nvSpPr>
          <p:cNvPr id="8" name="Text 6"/>
          <p:cNvSpPr/>
          <p:nvPr/>
        </p:nvSpPr>
        <p:spPr>
          <a:xfrm>
            <a:off x="594360" y="1143000"/>
            <a:ext cx="1920240" cy="822960"/>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Type</a:t>
            </a:r>
            <a:endParaRPr lang="en-US" sz="1400" dirty="0"/>
          </a:p>
        </p:txBody>
      </p:sp>
      <p:sp>
        <p:nvSpPr>
          <p:cNvPr id="9" name="Text 7"/>
          <p:cNvSpPr/>
          <p:nvPr/>
        </p:nvSpPr>
        <p:spPr>
          <a:xfrm>
            <a:off x="2514600" y="1143000"/>
            <a:ext cx="3840480" cy="822960"/>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Textbook meaning</a:t>
            </a:r>
            <a:endParaRPr lang="en-US" sz="1400" dirty="0"/>
          </a:p>
        </p:txBody>
      </p:sp>
      <p:sp>
        <p:nvSpPr>
          <p:cNvPr id="10" name="Text 8"/>
          <p:cNvSpPr/>
          <p:nvPr/>
        </p:nvSpPr>
        <p:spPr>
          <a:xfrm>
            <a:off x="6355080" y="1143000"/>
            <a:ext cx="2926080" cy="822960"/>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Examples</a:t>
            </a:r>
            <a:endParaRPr lang="en-US" sz="1400" dirty="0"/>
          </a:p>
        </p:txBody>
      </p:sp>
      <p:sp>
        <p:nvSpPr>
          <p:cNvPr id="11" name="Text 9"/>
          <p:cNvSpPr/>
          <p:nvPr/>
        </p:nvSpPr>
        <p:spPr>
          <a:xfrm>
            <a:off x="9281160" y="1143000"/>
            <a:ext cx="2331720" cy="822960"/>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Quality link</a:t>
            </a:r>
            <a:endParaRPr lang="en-US" sz="1400" dirty="0"/>
          </a:p>
        </p:txBody>
      </p:sp>
      <p:sp>
        <p:nvSpPr>
          <p:cNvPr id="12" name="Text 10"/>
          <p:cNvSpPr/>
          <p:nvPr/>
        </p:nvSpPr>
        <p:spPr>
          <a:xfrm>
            <a:off x="594360" y="1965960"/>
            <a:ext cx="1920240" cy="8229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Terminal values</a:t>
            </a:r>
            <a:endParaRPr lang="en-US" sz="1400" dirty="0"/>
          </a:p>
        </p:txBody>
      </p:sp>
      <p:sp>
        <p:nvSpPr>
          <p:cNvPr id="13" name="Text 11"/>
          <p:cNvSpPr/>
          <p:nvPr/>
        </p:nvSpPr>
        <p:spPr>
          <a:xfrm>
            <a:off x="2514600" y="1965960"/>
            <a:ext cx="3840480" cy="8229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Desirable end-states of existence; goals a person would like to achieve</a:t>
            </a:r>
            <a:endParaRPr lang="en-US" sz="1400" dirty="0"/>
          </a:p>
        </p:txBody>
      </p:sp>
      <p:sp>
        <p:nvSpPr>
          <p:cNvPr id="14" name="Text 12"/>
          <p:cNvSpPr/>
          <p:nvPr/>
        </p:nvSpPr>
        <p:spPr>
          <a:xfrm>
            <a:off x="6355080" y="1965960"/>
            <a:ext cx="2926080" cy="8229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Prosperity, freedom, health and well-being, meaning in life</a:t>
            </a:r>
            <a:endParaRPr lang="en-US" sz="1400" dirty="0"/>
          </a:p>
        </p:txBody>
      </p:sp>
      <p:sp>
        <p:nvSpPr>
          <p:cNvPr id="15" name="Text 13"/>
          <p:cNvSpPr/>
          <p:nvPr/>
        </p:nvSpPr>
        <p:spPr>
          <a:xfrm>
            <a:off x="9281160" y="1965960"/>
            <a:ext cx="2331720" cy="8229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What outcomes the organization and employee value</a:t>
            </a:r>
            <a:endParaRPr lang="en-US" sz="1400" dirty="0"/>
          </a:p>
        </p:txBody>
      </p:sp>
      <p:sp>
        <p:nvSpPr>
          <p:cNvPr id="16" name="Text 14"/>
          <p:cNvSpPr/>
          <p:nvPr/>
        </p:nvSpPr>
        <p:spPr>
          <a:xfrm>
            <a:off x="594360" y="2788920"/>
            <a:ext cx="1920240" cy="8229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Instrumental values</a:t>
            </a:r>
            <a:endParaRPr lang="en-US" sz="1400" dirty="0"/>
          </a:p>
        </p:txBody>
      </p:sp>
      <p:sp>
        <p:nvSpPr>
          <p:cNvPr id="17" name="Text 15"/>
          <p:cNvSpPr/>
          <p:nvPr/>
        </p:nvSpPr>
        <p:spPr>
          <a:xfrm>
            <a:off x="2514600" y="2788920"/>
            <a:ext cx="3840480" cy="8229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Preferable modes of behavior or means of achieving terminal values</a:t>
            </a:r>
            <a:endParaRPr lang="en-US" sz="1400" dirty="0"/>
          </a:p>
        </p:txBody>
      </p:sp>
      <p:sp>
        <p:nvSpPr>
          <p:cNvPr id="18" name="Text 16"/>
          <p:cNvSpPr/>
          <p:nvPr/>
        </p:nvSpPr>
        <p:spPr>
          <a:xfrm>
            <a:off x="6355080" y="2788920"/>
            <a:ext cx="2926080" cy="8229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Autonomy, self-reliance, personal discipline, kindness, goal-orientation</a:t>
            </a:r>
            <a:endParaRPr lang="en-US" sz="1400" dirty="0"/>
          </a:p>
        </p:txBody>
      </p:sp>
      <p:sp>
        <p:nvSpPr>
          <p:cNvPr id="19" name="Text 17"/>
          <p:cNvSpPr/>
          <p:nvPr/>
        </p:nvSpPr>
        <p:spPr>
          <a:xfrm>
            <a:off x="9281160" y="2788920"/>
            <a:ext cx="2331720" cy="82296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How people behave while pursuing quality results</a:t>
            </a:r>
            <a:endParaRPr lang="en-US" sz="1400" dirty="0"/>
          </a:p>
        </p:txBody>
      </p:sp>
      <p:sp>
        <p:nvSpPr>
          <p:cNvPr id="20" name="Text 18"/>
          <p:cNvSpPr/>
          <p:nvPr/>
        </p:nvSpPr>
        <p:spPr>
          <a:xfrm>
            <a:off x="777240" y="4069080"/>
            <a:ext cx="10607040" cy="320040"/>
          </a:xfrm>
          <a:prstGeom prst="rect">
            <a:avLst/>
          </a:prstGeom>
          <a:noFill/>
          <a:ln/>
        </p:spPr>
        <p:txBody>
          <a:bodyPr wrap="square" lIns="1016" tIns="1016" rIns="1016" bIns="1016" rtlCol="0" anchor="ctr">
            <a:noAutofit/>
          </a:bodyPr>
          <a:lstStyle/>
          <a:p>
            <a:pPr marL="0" indent="0" algn="l">
              <a:buNone/>
            </a:pPr>
            <a:r>
              <a:rPr lang="en-US" sz="2000" b="1" dirty="0">
                <a:solidFill>
                  <a:srgbClr val="B45309"/>
                </a:solidFill>
                <a:latin typeface="Aptos" pitchFamily="34" charset="0"/>
                <a:ea typeface="Aptos" pitchFamily="34" charset="-122"/>
                <a:cs typeface="Aptos" pitchFamily="34" charset="-120"/>
              </a:rPr>
              <a:t>Quality dilemma</a:t>
            </a:r>
            <a:endParaRPr lang="en-US" sz="2000" dirty="0"/>
          </a:p>
        </p:txBody>
      </p:sp>
      <p:sp>
        <p:nvSpPr>
          <p:cNvPr id="21" name="Text 19"/>
          <p:cNvSpPr/>
          <p:nvPr/>
        </p:nvSpPr>
        <p:spPr>
          <a:xfrm>
            <a:off x="777240" y="4507992"/>
            <a:ext cx="10607040" cy="704088"/>
          </a:xfrm>
          <a:prstGeom prst="rect">
            <a:avLst/>
          </a:prstGeom>
          <a:solidFill>
            <a:srgbClr val="FFF4E6"/>
          </a:solidFill>
          <a:ln>
            <a:solidFill>
              <a:srgbClr val="B45309">
                <a:alpha val="75000"/>
              </a:srgbClr>
            </a:solidFill>
          </a:ln>
        </p:spPr>
        <p:txBody>
          <a:bodyPr wrap="square" lIns="1524" tIns="1524" rIns="1524" bIns="1524" rtlCol="0" anchor="ctr">
            <a:noAutofit/>
          </a:bodyPr>
          <a:lstStyle/>
          <a:p>
            <a:pPr marL="0" indent="0">
              <a:buNone/>
            </a:pPr>
            <a:r>
              <a:rPr lang="en-US" sz="1600" dirty="0">
                <a:solidFill>
                  <a:srgbClr val="1F2937"/>
                </a:solidFill>
              </a:rPr>
              <a:t>A team may value “customer satisfaction” as an end-state but disagree about the means: flexibility, strict compliance, speed, fairness, or documentation discipline.</a:t>
            </a:r>
            <a:endParaRPr lang="en-US" sz="1600" dirty="0"/>
          </a:p>
        </p:txBody>
      </p:sp>
      <p:sp>
        <p:nvSpPr>
          <p:cNvPr id="22" name="Text 20"/>
          <p:cNvSpPr/>
          <p:nvPr/>
        </p:nvSpPr>
        <p:spPr>
          <a:xfrm>
            <a:off x="914400" y="5715000"/>
            <a:ext cx="10332720" cy="347472"/>
          </a:xfrm>
          <a:prstGeom prst="rect">
            <a:avLst/>
          </a:prstGeom>
          <a:noFill/>
          <a:ln/>
        </p:spPr>
        <p:txBody>
          <a:bodyPr wrap="square" lIns="1016" tIns="1016" rIns="1016" bIns="1016" rtlCol="0" anchor="ctr">
            <a:normAutofit fontScale="85000" lnSpcReduction="10000"/>
          </a:bodyPr>
          <a:lstStyle/>
          <a:p>
            <a:pPr marL="0" indent="0" algn="ctr">
              <a:buNone/>
            </a:pPr>
            <a:r>
              <a:rPr lang="en-US" sz="2400" b="1" dirty="0">
                <a:solidFill>
                  <a:srgbClr val="17324D"/>
                </a:solidFill>
                <a:latin typeface="Aptos" pitchFamily="34" charset="0"/>
                <a:ea typeface="Aptos" pitchFamily="34" charset="-122"/>
                <a:cs typeface="Aptos" pitchFamily="34" charset="-120"/>
              </a:rPr>
              <a:t>Teaching point: quality values must define both outcomes and acceptable behavior.</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17324D"/>
          </a:solidFill>
          <a:ln w="12700">
            <a:solidFill>
              <a:srgbClr val="17324D"/>
            </a:solidFill>
            <a:prstDash val="solid"/>
          </a:ln>
        </p:spPr>
      </p:sp>
      <p:sp>
        <p:nvSpPr>
          <p:cNvPr id="3" name="Text 1"/>
          <p:cNvSpPr/>
          <p:nvPr/>
        </p:nvSpPr>
        <p:spPr>
          <a:xfrm>
            <a:off x="384048" y="73152"/>
            <a:ext cx="7863840" cy="310896"/>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Hofstede’s Framework</a:t>
            </a:r>
            <a:endParaRPr lang="en-US" sz="2400" dirty="0"/>
          </a:p>
        </p:txBody>
      </p:sp>
      <p:sp>
        <p:nvSpPr>
          <p:cNvPr id="4" name="Text 2"/>
          <p:cNvSpPr/>
          <p:nvPr/>
        </p:nvSpPr>
        <p:spPr>
          <a:xfrm>
            <a:off x="9784080" y="137160"/>
            <a:ext cx="2011680" cy="219456"/>
          </a:xfrm>
          <a:prstGeom prst="rect">
            <a:avLst/>
          </a:prstGeom>
          <a:noFill/>
          <a:ln/>
        </p:spPr>
        <p:txBody>
          <a:bodyPr wrap="square" lIns="0" tIns="0" rIns="0" bIns="0" rtlCol="0" anchor="ctr"/>
          <a:lstStyle/>
          <a:p>
            <a:pPr marL="0" indent="0" algn="r">
              <a:buNone/>
            </a:pPr>
            <a:r>
              <a:rPr lang="en-US" sz="1600" b="1" dirty="0">
                <a:solidFill>
                  <a:srgbClr val="FFFFFF"/>
                </a:solidFill>
              </a:rPr>
              <a:t>G TQM 511 | Week 5</a:t>
            </a:r>
            <a:endParaRPr lang="en-US" sz="1600" dirty="0"/>
          </a:p>
        </p:txBody>
      </p:sp>
      <p:sp>
        <p:nvSpPr>
          <p:cNvPr id="5" name="Text 3"/>
          <p:cNvSpPr/>
          <p:nvPr/>
        </p:nvSpPr>
        <p:spPr>
          <a:xfrm>
            <a:off x="502920" y="612648"/>
            <a:ext cx="11201400" cy="292608"/>
          </a:xfrm>
          <a:prstGeom prst="rect">
            <a:avLst/>
          </a:prstGeom>
          <a:noFill/>
          <a:ln/>
        </p:spPr>
        <p:txBody>
          <a:bodyPr wrap="square" lIns="0" tIns="0" rIns="0" bIns="0" rtlCol="0" anchor="ctr"/>
          <a:lstStyle/>
          <a:p>
            <a:pPr marL="0" indent="0">
              <a:buNone/>
            </a:pPr>
            <a:r>
              <a:rPr lang="en-US" sz="1600" i="1" dirty="0">
                <a:solidFill>
                  <a:srgbClr val="5A6775"/>
                </a:solidFill>
              </a:rPr>
              <a:t>Cultural values shape work-related expectations and behavior.</a:t>
            </a:r>
            <a:endParaRPr lang="en-US" sz="1600" dirty="0"/>
          </a:p>
        </p:txBody>
      </p:sp>
      <p:sp>
        <p:nvSpPr>
          <p:cNvPr id="6" name="Text 4"/>
          <p:cNvSpPr/>
          <p:nvPr/>
        </p:nvSpPr>
        <p:spPr>
          <a:xfrm>
            <a:off x="502920" y="6528816"/>
            <a:ext cx="7132320" cy="164592"/>
          </a:xfrm>
          <a:prstGeom prst="rect">
            <a:avLst/>
          </a:prstGeom>
          <a:noFill/>
          <a:ln/>
        </p:spPr>
        <p:txBody>
          <a:bodyPr wrap="square" lIns="0" tIns="0" rIns="0" bIns="0" rtlCol="0" anchor="ctr"/>
          <a:lstStyle/>
          <a:p>
            <a:pPr marL="0" indent="0">
              <a:buNone/>
            </a:pPr>
            <a:r>
              <a:rPr lang="en-US" sz="1100" dirty="0">
                <a:solidFill>
                  <a:srgbClr val="7D8790"/>
                </a:solidFill>
              </a:rPr>
              <a:t>Based on Robbins &amp; Judge, Organizational Behavior, Updated 18th Global Edition, Chapter 4</a:t>
            </a:r>
            <a:endParaRPr lang="en-US" sz="1100" dirty="0"/>
          </a:p>
        </p:txBody>
      </p:sp>
      <p:sp>
        <p:nvSpPr>
          <p:cNvPr id="7" name="Text 5"/>
          <p:cNvSpPr/>
          <p:nvPr/>
        </p:nvSpPr>
        <p:spPr>
          <a:xfrm>
            <a:off x="9738360" y="6528816"/>
            <a:ext cx="1965960" cy="164592"/>
          </a:xfrm>
          <a:prstGeom prst="rect">
            <a:avLst/>
          </a:prstGeom>
          <a:noFill/>
          <a:ln/>
        </p:spPr>
        <p:txBody>
          <a:bodyPr wrap="square" lIns="0" tIns="0" rIns="0" bIns="0" rtlCol="0" anchor="ctr"/>
          <a:lstStyle/>
          <a:p>
            <a:pPr marL="0" indent="0" algn="r">
              <a:buNone/>
            </a:pPr>
            <a:r>
              <a:rPr lang="en-US" sz="1100" dirty="0">
                <a:solidFill>
                  <a:srgbClr val="7D8790"/>
                </a:solidFill>
              </a:rPr>
              <a:t>Personality and Values</a:t>
            </a:r>
            <a:endParaRPr lang="en-US" sz="1100" dirty="0"/>
          </a:p>
        </p:txBody>
      </p:sp>
      <p:sp>
        <p:nvSpPr>
          <p:cNvPr id="8" name="Text 6"/>
          <p:cNvSpPr/>
          <p:nvPr/>
        </p:nvSpPr>
        <p:spPr>
          <a:xfrm>
            <a:off x="594360" y="960120"/>
            <a:ext cx="3063240" cy="620486"/>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Dimension</a:t>
            </a:r>
            <a:endParaRPr lang="en-US" sz="1400" dirty="0"/>
          </a:p>
        </p:txBody>
      </p:sp>
      <p:sp>
        <p:nvSpPr>
          <p:cNvPr id="9" name="Text 7"/>
          <p:cNvSpPr/>
          <p:nvPr/>
        </p:nvSpPr>
        <p:spPr>
          <a:xfrm>
            <a:off x="3657600" y="960120"/>
            <a:ext cx="7955280" cy="620486"/>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Meaning for managers</a:t>
            </a:r>
            <a:endParaRPr lang="en-US" sz="1400" dirty="0"/>
          </a:p>
        </p:txBody>
      </p:sp>
      <p:sp>
        <p:nvSpPr>
          <p:cNvPr id="10" name="Text 8"/>
          <p:cNvSpPr/>
          <p:nvPr/>
        </p:nvSpPr>
        <p:spPr>
          <a:xfrm>
            <a:off x="594360" y="1580606"/>
            <a:ext cx="3063240" cy="620486"/>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Power distance</a:t>
            </a:r>
            <a:endParaRPr lang="en-US" sz="1400" dirty="0"/>
          </a:p>
        </p:txBody>
      </p:sp>
      <p:sp>
        <p:nvSpPr>
          <p:cNvPr id="11" name="Text 9"/>
          <p:cNvSpPr/>
          <p:nvPr/>
        </p:nvSpPr>
        <p:spPr>
          <a:xfrm>
            <a:off x="3657600" y="1580606"/>
            <a:ext cx="7955280" cy="620486"/>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Degree to which people accept unequal distribution of power.</a:t>
            </a:r>
            <a:endParaRPr lang="en-US" sz="1400" dirty="0"/>
          </a:p>
        </p:txBody>
      </p:sp>
      <p:sp>
        <p:nvSpPr>
          <p:cNvPr id="12" name="Text 10"/>
          <p:cNvSpPr/>
          <p:nvPr/>
        </p:nvSpPr>
        <p:spPr>
          <a:xfrm>
            <a:off x="594360" y="2201091"/>
            <a:ext cx="3063240" cy="620486"/>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Individualism vs collectivism</a:t>
            </a:r>
            <a:endParaRPr lang="en-US" sz="1400" dirty="0"/>
          </a:p>
        </p:txBody>
      </p:sp>
      <p:sp>
        <p:nvSpPr>
          <p:cNvPr id="13" name="Text 11"/>
          <p:cNvSpPr/>
          <p:nvPr/>
        </p:nvSpPr>
        <p:spPr>
          <a:xfrm>
            <a:off x="3657600" y="2201091"/>
            <a:ext cx="7955280" cy="620486"/>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Preference for acting as individuals versus members of groups.</a:t>
            </a:r>
            <a:endParaRPr lang="en-US" sz="1400" dirty="0"/>
          </a:p>
        </p:txBody>
      </p:sp>
      <p:sp>
        <p:nvSpPr>
          <p:cNvPr id="14" name="Text 12"/>
          <p:cNvSpPr/>
          <p:nvPr/>
        </p:nvSpPr>
        <p:spPr>
          <a:xfrm>
            <a:off x="594360" y="2821577"/>
            <a:ext cx="3063240" cy="620486"/>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Masculinity vs femininity</a:t>
            </a:r>
            <a:endParaRPr lang="en-US" sz="1400" dirty="0"/>
          </a:p>
        </p:txBody>
      </p:sp>
      <p:sp>
        <p:nvSpPr>
          <p:cNvPr id="15" name="Text 13"/>
          <p:cNvSpPr/>
          <p:nvPr/>
        </p:nvSpPr>
        <p:spPr>
          <a:xfrm>
            <a:off x="3657600" y="2821577"/>
            <a:ext cx="7955280" cy="620486"/>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Degree to which culture favors achievement, power, and control versus equality.</a:t>
            </a:r>
            <a:endParaRPr lang="en-US" sz="1400" dirty="0"/>
          </a:p>
        </p:txBody>
      </p:sp>
      <p:sp>
        <p:nvSpPr>
          <p:cNvPr id="16" name="Text 14"/>
          <p:cNvSpPr/>
          <p:nvPr/>
        </p:nvSpPr>
        <p:spPr>
          <a:xfrm>
            <a:off x="594360" y="3442063"/>
            <a:ext cx="3063240" cy="620486"/>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Uncertainty avoidance</a:t>
            </a:r>
            <a:endParaRPr lang="en-US" sz="1400" dirty="0"/>
          </a:p>
        </p:txBody>
      </p:sp>
      <p:sp>
        <p:nvSpPr>
          <p:cNvPr id="17" name="Text 15"/>
          <p:cNvSpPr/>
          <p:nvPr/>
        </p:nvSpPr>
        <p:spPr>
          <a:xfrm>
            <a:off x="3657600" y="3442063"/>
            <a:ext cx="7955280" cy="620486"/>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Degree to which people feel threatened by uncertainty and prefer structure.</a:t>
            </a:r>
            <a:endParaRPr lang="en-US" sz="1400" dirty="0"/>
          </a:p>
        </p:txBody>
      </p:sp>
      <p:sp>
        <p:nvSpPr>
          <p:cNvPr id="18" name="Text 16"/>
          <p:cNvSpPr/>
          <p:nvPr/>
        </p:nvSpPr>
        <p:spPr>
          <a:xfrm>
            <a:off x="594360" y="4062549"/>
            <a:ext cx="3063240" cy="620486"/>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Long-term vs short-term orientation</a:t>
            </a:r>
            <a:endParaRPr lang="en-US" sz="1400" dirty="0"/>
          </a:p>
        </p:txBody>
      </p:sp>
      <p:sp>
        <p:nvSpPr>
          <p:cNvPr id="19" name="Text 17"/>
          <p:cNvSpPr/>
          <p:nvPr/>
        </p:nvSpPr>
        <p:spPr>
          <a:xfrm>
            <a:off x="3657600" y="4062549"/>
            <a:ext cx="7955280" cy="620486"/>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Future, thrift, persistence, and tradition versus present focus and readiness for change.</a:t>
            </a:r>
            <a:endParaRPr lang="en-US" sz="1400" dirty="0"/>
          </a:p>
        </p:txBody>
      </p:sp>
      <p:sp>
        <p:nvSpPr>
          <p:cNvPr id="20" name="Text 18"/>
          <p:cNvSpPr/>
          <p:nvPr/>
        </p:nvSpPr>
        <p:spPr>
          <a:xfrm>
            <a:off x="594360" y="4683034"/>
            <a:ext cx="3063240" cy="620486"/>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Indulgence vs restraint</a:t>
            </a:r>
            <a:endParaRPr lang="en-US" sz="1400" dirty="0"/>
          </a:p>
        </p:txBody>
      </p:sp>
      <p:sp>
        <p:nvSpPr>
          <p:cNvPr id="21" name="Text 19"/>
          <p:cNvSpPr/>
          <p:nvPr/>
        </p:nvSpPr>
        <p:spPr>
          <a:xfrm>
            <a:off x="3657600" y="4683034"/>
            <a:ext cx="7955280" cy="620486"/>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Enjoying life and fun versus regulating conduct through strict social norms.</a:t>
            </a:r>
            <a:endParaRPr lang="en-US" sz="1400" dirty="0"/>
          </a:p>
        </p:txBody>
      </p:sp>
      <p:sp>
        <p:nvSpPr>
          <p:cNvPr id="22" name="Text 20"/>
          <p:cNvSpPr/>
          <p:nvPr/>
        </p:nvSpPr>
        <p:spPr>
          <a:xfrm>
            <a:off x="731520" y="5577840"/>
            <a:ext cx="10698480" cy="457200"/>
          </a:xfrm>
          <a:prstGeom prst="rect">
            <a:avLst/>
          </a:prstGeom>
          <a:solidFill>
            <a:srgbClr val="EAF6EA"/>
          </a:solidFill>
          <a:ln>
            <a:solidFill>
              <a:srgbClr val="2E7D32">
                <a:alpha val="80000"/>
              </a:srgbClr>
            </a:solidFill>
          </a:ln>
        </p:spPr>
        <p:txBody>
          <a:bodyPr wrap="square" lIns="762" tIns="762" rIns="762" bIns="762" rtlCol="0" anchor="ctr">
            <a:normAutofit/>
          </a:bodyPr>
          <a:lstStyle/>
          <a:p>
            <a:pPr marL="0" indent="0" algn="ctr">
              <a:buNone/>
            </a:pPr>
            <a:r>
              <a:rPr lang="en-US" sz="1400" b="1" dirty="0">
                <a:solidFill>
                  <a:srgbClr val="1F2937"/>
                </a:solidFill>
              </a:rPr>
              <a:t>Quality application: cultural values affect feedback, error reporting, participation, authority, standardization, and change readiness.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17324D"/>
          </a:solidFill>
          <a:ln w="12700">
            <a:solidFill>
              <a:srgbClr val="17324D"/>
            </a:solidFill>
            <a:prstDash val="solid"/>
          </a:ln>
        </p:spPr>
      </p:sp>
      <p:sp>
        <p:nvSpPr>
          <p:cNvPr id="3" name="Text 1"/>
          <p:cNvSpPr/>
          <p:nvPr/>
        </p:nvSpPr>
        <p:spPr>
          <a:xfrm>
            <a:off x="384048" y="73152"/>
            <a:ext cx="7863840" cy="310896"/>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Week 5 Integration: Quality-Oriented Behavior</a:t>
            </a:r>
            <a:endParaRPr lang="en-US" sz="2400" dirty="0"/>
          </a:p>
        </p:txBody>
      </p:sp>
      <p:sp>
        <p:nvSpPr>
          <p:cNvPr id="4" name="Text 2"/>
          <p:cNvSpPr/>
          <p:nvPr/>
        </p:nvSpPr>
        <p:spPr>
          <a:xfrm>
            <a:off x="9784080" y="137160"/>
            <a:ext cx="2011680" cy="219456"/>
          </a:xfrm>
          <a:prstGeom prst="rect">
            <a:avLst/>
          </a:prstGeom>
          <a:noFill/>
          <a:ln/>
        </p:spPr>
        <p:txBody>
          <a:bodyPr wrap="square" lIns="0" tIns="0" rIns="0" bIns="0" rtlCol="0" anchor="ctr"/>
          <a:lstStyle/>
          <a:p>
            <a:pPr marL="0" indent="0" algn="r">
              <a:buNone/>
            </a:pPr>
            <a:r>
              <a:rPr lang="en-US" sz="1600" b="1" dirty="0">
                <a:solidFill>
                  <a:srgbClr val="FFFFFF"/>
                </a:solidFill>
              </a:rPr>
              <a:t>G TQM 511 | Week 5</a:t>
            </a:r>
            <a:endParaRPr lang="en-US" sz="1600" dirty="0"/>
          </a:p>
        </p:txBody>
      </p:sp>
      <p:sp>
        <p:nvSpPr>
          <p:cNvPr id="5" name="Text 3"/>
          <p:cNvSpPr/>
          <p:nvPr/>
        </p:nvSpPr>
        <p:spPr>
          <a:xfrm>
            <a:off x="502920" y="612648"/>
            <a:ext cx="11201400" cy="292608"/>
          </a:xfrm>
          <a:prstGeom prst="rect">
            <a:avLst/>
          </a:prstGeom>
          <a:noFill/>
          <a:ln/>
        </p:spPr>
        <p:txBody>
          <a:bodyPr wrap="square" lIns="0" tIns="0" rIns="0" bIns="0" rtlCol="0" anchor="ctr"/>
          <a:lstStyle/>
          <a:p>
            <a:pPr marL="0" indent="0">
              <a:buNone/>
            </a:pPr>
            <a:r>
              <a:rPr lang="en-US" sz="1600" i="1" dirty="0">
                <a:solidFill>
                  <a:srgbClr val="5A6775"/>
                </a:solidFill>
              </a:rPr>
              <a:t>Bring personality and values back to the purpose of Organizational Behavior and Quality.</a:t>
            </a:r>
            <a:endParaRPr lang="en-US" sz="1600" dirty="0"/>
          </a:p>
        </p:txBody>
      </p:sp>
      <p:sp>
        <p:nvSpPr>
          <p:cNvPr id="6" name="Text 4"/>
          <p:cNvSpPr/>
          <p:nvPr/>
        </p:nvSpPr>
        <p:spPr>
          <a:xfrm>
            <a:off x="502920" y="6528816"/>
            <a:ext cx="7132320" cy="164592"/>
          </a:xfrm>
          <a:prstGeom prst="rect">
            <a:avLst/>
          </a:prstGeom>
          <a:noFill/>
          <a:ln/>
        </p:spPr>
        <p:txBody>
          <a:bodyPr wrap="square" lIns="0" tIns="0" rIns="0" bIns="0" rtlCol="0" anchor="ctr"/>
          <a:lstStyle/>
          <a:p>
            <a:pPr marL="0" indent="0">
              <a:buNone/>
            </a:pPr>
            <a:r>
              <a:rPr lang="en-US" sz="1100" dirty="0">
                <a:solidFill>
                  <a:srgbClr val="7D8790"/>
                </a:solidFill>
              </a:rPr>
              <a:t>Based on Robbins &amp; Judge, Organizational Behavior, Updated 18th Global Edition, Chapter 4</a:t>
            </a:r>
            <a:endParaRPr lang="en-US" sz="1100" dirty="0"/>
          </a:p>
        </p:txBody>
      </p:sp>
      <p:sp>
        <p:nvSpPr>
          <p:cNvPr id="7" name="Text 5"/>
          <p:cNvSpPr/>
          <p:nvPr/>
        </p:nvSpPr>
        <p:spPr>
          <a:xfrm>
            <a:off x="9738360" y="6528816"/>
            <a:ext cx="1965960" cy="164592"/>
          </a:xfrm>
          <a:prstGeom prst="rect">
            <a:avLst/>
          </a:prstGeom>
          <a:noFill/>
          <a:ln/>
        </p:spPr>
        <p:txBody>
          <a:bodyPr wrap="square" lIns="0" tIns="0" rIns="0" bIns="0" rtlCol="0" anchor="ctr"/>
          <a:lstStyle/>
          <a:p>
            <a:pPr marL="0" indent="0" algn="r">
              <a:buNone/>
            </a:pPr>
            <a:r>
              <a:rPr lang="en-US" sz="1100" dirty="0">
                <a:solidFill>
                  <a:srgbClr val="7D8790"/>
                </a:solidFill>
              </a:rPr>
              <a:t>Personality and Values</a:t>
            </a:r>
            <a:endParaRPr lang="en-US" sz="1100" dirty="0"/>
          </a:p>
        </p:txBody>
      </p:sp>
      <p:sp>
        <p:nvSpPr>
          <p:cNvPr id="8" name="Text 6"/>
          <p:cNvSpPr/>
          <p:nvPr/>
        </p:nvSpPr>
        <p:spPr>
          <a:xfrm>
            <a:off x="594360" y="1325880"/>
            <a:ext cx="1508760" cy="502920"/>
          </a:xfrm>
          <a:prstGeom prst="rect">
            <a:avLst/>
          </a:prstGeom>
          <a:solidFill>
            <a:srgbClr val="EAF3FF"/>
          </a:solidFill>
          <a:ln>
            <a:solidFill>
              <a:srgbClr val="1D4E89">
                <a:alpha val="80000"/>
              </a:srgbClr>
            </a:solidFill>
          </a:ln>
        </p:spPr>
        <p:txBody>
          <a:bodyPr wrap="square" lIns="762" tIns="762" rIns="762" bIns="762" rtlCol="0" anchor="ctr">
            <a:noAutofit/>
          </a:bodyPr>
          <a:lstStyle/>
          <a:p>
            <a:pPr marL="0" indent="0" algn="ctr">
              <a:buNone/>
            </a:pPr>
            <a:r>
              <a:rPr lang="en-US" b="1" dirty="0">
                <a:solidFill>
                  <a:srgbClr val="1F2937"/>
                </a:solidFill>
              </a:rPr>
              <a:t>Personality</a:t>
            </a:r>
            <a:endParaRPr lang="en-US" dirty="0"/>
          </a:p>
        </p:txBody>
      </p:sp>
      <p:sp>
        <p:nvSpPr>
          <p:cNvPr id="9" name="Shape 7"/>
          <p:cNvSpPr/>
          <p:nvPr/>
        </p:nvSpPr>
        <p:spPr>
          <a:xfrm>
            <a:off x="2130552" y="1371600"/>
            <a:ext cx="320040" cy="402336"/>
          </a:xfrm>
          <a:prstGeom prst="chevron">
            <a:avLst/>
          </a:prstGeom>
          <a:solidFill>
            <a:srgbClr val="CBD5E1"/>
          </a:solidFill>
          <a:ln w="12700">
            <a:solidFill>
              <a:srgbClr val="CBD5E1"/>
            </a:solidFill>
            <a:prstDash val="solid"/>
          </a:ln>
        </p:spPr>
      </p:sp>
      <p:sp>
        <p:nvSpPr>
          <p:cNvPr id="10" name="Text 8"/>
          <p:cNvSpPr/>
          <p:nvPr/>
        </p:nvSpPr>
        <p:spPr>
          <a:xfrm>
            <a:off x="2468880" y="1325880"/>
            <a:ext cx="1508760" cy="502920"/>
          </a:xfrm>
          <a:prstGeom prst="rect">
            <a:avLst/>
          </a:prstGeom>
          <a:solidFill>
            <a:srgbClr val="EAF3FF"/>
          </a:solidFill>
          <a:ln>
            <a:solidFill>
              <a:srgbClr val="1D4E89">
                <a:alpha val="80000"/>
              </a:srgbClr>
            </a:solidFill>
          </a:ln>
        </p:spPr>
        <p:txBody>
          <a:bodyPr wrap="square" lIns="762" tIns="762" rIns="762" bIns="762" rtlCol="0" anchor="ctr">
            <a:normAutofit/>
          </a:bodyPr>
          <a:lstStyle/>
          <a:p>
            <a:pPr marL="0" indent="0" algn="ctr">
              <a:buNone/>
            </a:pPr>
            <a:r>
              <a:rPr lang="en-US" b="1" dirty="0">
                <a:solidFill>
                  <a:srgbClr val="1F2937"/>
                </a:solidFill>
              </a:rPr>
              <a:t>Values</a:t>
            </a:r>
            <a:endParaRPr lang="en-US" dirty="0"/>
          </a:p>
        </p:txBody>
      </p:sp>
      <p:sp>
        <p:nvSpPr>
          <p:cNvPr id="11" name="Shape 9"/>
          <p:cNvSpPr/>
          <p:nvPr/>
        </p:nvSpPr>
        <p:spPr>
          <a:xfrm>
            <a:off x="4005072" y="1371600"/>
            <a:ext cx="320040" cy="402336"/>
          </a:xfrm>
          <a:prstGeom prst="chevron">
            <a:avLst/>
          </a:prstGeom>
          <a:solidFill>
            <a:srgbClr val="CBD5E1"/>
          </a:solidFill>
          <a:ln w="12700">
            <a:solidFill>
              <a:srgbClr val="CBD5E1"/>
            </a:solidFill>
            <a:prstDash val="solid"/>
          </a:ln>
        </p:spPr>
      </p:sp>
      <p:sp>
        <p:nvSpPr>
          <p:cNvPr id="12" name="Text 10"/>
          <p:cNvSpPr/>
          <p:nvPr/>
        </p:nvSpPr>
        <p:spPr>
          <a:xfrm>
            <a:off x="4343400" y="1325880"/>
            <a:ext cx="1508760" cy="502920"/>
          </a:xfrm>
          <a:prstGeom prst="rect">
            <a:avLst/>
          </a:prstGeom>
          <a:solidFill>
            <a:srgbClr val="DFF4F1"/>
          </a:solidFill>
          <a:ln>
            <a:solidFill>
              <a:srgbClr val="0F766E">
                <a:alpha val="80000"/>
              </a:srgbClr>
            </a:solidFill>
          </a:ln>
        </p:spPr>
        <p:txBody>
          <a:bodyPr wrap="square" lIns="762" tIns="762" rIns="762" bIns="762" rtlCol="0" anchor="ctr">
            <a:normAutofit/>
          </a:bodyPr>
          <a:lstStyle/>
          <a:p>
            <a:pPr marL="0" indent="0" algn="ctr">
              <a:buNone/>
            </a:pPr>
            <a:r>
              <a:rPr lang="en-US" b="1" dirty="0">
                <a:solidFill>
                  <a:srgbClr val="1F2937"/>
                </a:solidFill>
              </a:rPr>
              <a:t>Fit</a:t>
            </a:r>
            <a:endParaRPr lang="en-US" dirty="0"/>
          </a:p>
        </p:txBody>
      </p:sp>
      <p:sp>
        <p:nvSpPr>
          <p:cNvPr id="13" name="Shape 11"/>
          <p:cNvSpPr/>
          <p:nvPr/>
        </p:nvSpPr>
        <p:spPr>
          <a:xfrm>
            <a:off x="5879592" y="1371600"/>
            <a:ext cx="320040" cy="402336"/>
          </a:xfrm>
          <a:prstGeom prst="chevron">
            <a:avLst/>
          </a:prstGeom>
          <a:solidFill>
            <a:srgbClr val="CBD5E1"/>
          </a:solidFill>
          <a:ln w="12700">
            <a:solidFill>
              <a:srgbClr val="CBD5E1"/>
            </a:solidFill>
            <a:prstDash val="solid"/>
          </a:ln>
        </p:spPr>
      </p:sp>
      <p:sp>
        <p:nvSpPr>
          <p:cNvPr id="14" name="Text 12"/>
          <p:cNvSpPr/>
          <p:nvPr/>
        </p:nvSpPr>
        <p:spPr>
          <a:xfrm>
            <a:off x="6217920" y="1325880"/>
            <a:ext cx="1508760" cy="502920"/>
          </a:xfrm>
          <a:prstGeom prst="rect">
            <a:avLst/>
          </a:prstGeom>
          <a:solidFill>
            <a:srgbClr val="DFF4F1"/>
          </a:solidFill>
          <a:ln>
            <a:solidFill>
              <a:srgbClr val="0F766E">
                <a:alpha val="80000"/>
              </a:srgbClr>
            </a:solidFill>
          </a:ln>
        </p:spPr>
        <p:txBody>
          <a:bodyPr wrap="square" lIns="762" tIns="762" rIns="762" bIns="762" rtlCol="0" anchor="ctr">
            <a:normAutofit/>
          </a:bodyPr>
          <a:lstStyle/>
          <a:p>
            <a:pPr marL="0" indent="0" algn="ctr">
              <a:buNone/>
            </a:pPr>
            <a:r>
              <a:rPr lang="en-US" b="1" dirty="0">
                <a:solidFill>
                  <a:srgbClr val="1F2937"/>
                </a:solidFill>
              </a:rPr>
              <a:t>Situation</a:t>
            </a:r>
            <a:endParaRPr lang="en-US" dirty="0"/>
          </a:p>
        </p:txBody>
      </p:sp>
      <p:sp>
        <p:nvSpPr>
          <p:cNvPr id="15" name="Shape 13"/>
          <p:cNvSpPr/>
          <p:nvPr/>
        </p:nvSpPr>
        <p:spPr>
          <a:xfrm>
            <a:off x="7754112" y="1371600"/>
            <a:ext cx="320040" cy="402336"/>
          </a:xfrm>
          <a:prstGeom prst="chevron">
            <a:avLst/>
          </a:prstGeom>
          <a:solidFill>
            <a:srgbClr val="CBD5E1"/>
          </a:solidFill>
          <a:ln w="12700">
            <a:solidFill>
              <a:srgbClr val="CBD5E1"/>
            </a:solidFill>
            <a:prstDash val="solid"/>
          </a:ln>
        </p:spPr>
      </p:sp>
      <p:sp>
        <p:nvSpPr>
          <p:cNvPr id="16" name="Text 14"/>
          <p:cNvSpPr/>
          <p:nvPr/>
        </p:nvSpPr>
        <p:spPr>
          <a:xfrm>
            <a:off x="8092440" y="1325880"/>
            <a:ext cx="1508760" cy="502920"/>
          </a:xfrm>
          <a:prstGeom prst="rect">
            <a:avLst/>
          </a:prstGeom>
          <a:solidFill>
            <a:srgbClr val="EAF6EA"/>
          </a:solidFill>
          <a:ln>
            <a:solidFill>
              <a:srgbClr val="2E7D32">
                <a:alpha val="80000"/>
              </a:srgbClr>
            </a:solidFill>
          </a:ln>
        </p:spPr>
        <p:txBody>
          <a:bodyPr wrap="square" lIns="762" tIns="762" rIns="762" bIns="762" rtlCol="0" anchor="ctr">
            <a:normAutofit/>
          </a:bodyPr>
          <a:lstStyle/>
          <a:p>
            <a:pPr marL="0" indent="0" algn="ctr">
              <a:buNone/>
            </a:pPr>
            <a:r>
              <a:rPr lang="en-US" b="1" dirty="0">
                <a:solidFill>
                  <a:srgbClr val="1F2937"/>
                </a:solidFill>
              </a:rPr>
              <a:t>Behavior</a:t>
            </a:r>
            <a:endParaRPr lang="en-US" dirty="0"/>
          </a:p>
        </p:txBody>
      </p:sp>
      <p:sp>
        <p:nvSpPr>
          <p:cNvPr id="17" name="Shape 15"/>
          <p:cNvSpPr/>
          <p:nvPr/>
        </p:nvSpPr>
        <p:spPr>
          <a:xfrm>
            <a:off x="9628632" y="1371600"/>
            <a:ext cx="320040" cy="402336"/>
          </a:xfrm>
          <a:prstGeom prst="chevron">
            <a:avLst/>
          </a:prstGeom>
          <a:solidFill>
            <a:srgbClr val="CBD5E1"/>
          </a:solidFill>
          <a:ln w="12700">
            <a:solidFill>
              <a:srgbClr val="CBD5E1"/>
            </a:solidFill>
            <a:prstDash val="solid"/>
          </a:ln>
        </p:spPr>
      </p:sp>
      <p:sp>
        <p:nvSpPr>
          <p:cNvPr id="18" name="Text 16"/>
          <p:cNvSpPr/>
          <p:nvPr/>
        </p:nvSpPr>
        <p:spPr>
          <a:xfrm>
            <a:off x="9966960" y="1325880"/>
            <a:ext cx="1508760" cy="502920"/>
          </a:xfrm>
          <a:prstGeom prst="rect">
            <a:avLst/>
          </a:prstGeom>
          <a:solidFill>
            <a:srgbClr val="EAF6EA"/>
          </a:solidFill>
          <a:ln>
            <a:solidFill>
              <a:srgbClr val="2E7D32">
                <a:alpha val="80000"/>
              </a:srgbClr>
            </a:solidFill>
          </a:ln>
        </p:spPr>
        <p:txBody>
          <a:bodyPr wrap="square" lIns="762" tIns="762" rIns="762" bIns="762" rtlCol="0" anchor="ctr">
            <a:noAutofit/>
          </a:bodyPr>
          <a:lstStyle/>
          <a:p>
            <a:pPr marL="0" indent="0" algn="ctr">
              <a:buNone/>
            </a:pPr>
            <a:r>
              <a:rPr lang="en-US" b="1" dirty="0">
                <a:solidFill>
                  <a:srgbClr val="1F2937"/>
                </a:solidFill>
              </a:rPr>
              <a:t>Quality Outcomes</a:t>
            </a:r>
            <a:endParaRPr lang="en-US" dirty="0"/>
          </a:p>
        </p:txBody>
      </p:sp>
      <p:sp>
        <p:nvSpPr>
          <p:cNvPr id="19" name="Text 17"/>
          <p:cNvSpPr/>
          <p:nvPr/>
        </p:nvSpPr>
        <p:spPr>
          <a:xfrm>
            <a:off x="685800" y="2788920"/>
            <a:ext cx="2743200" cy="502920"/>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Quality role</a:t>
            </a:r>
            <a:endParaRPr lang="en-US" sz="1400" dirty="0"/>
          </a:p>
        </p:txBody>
      </p:sp>
      <p:sp>
        <p:nvSpPr>
          <p:cNvPr id="20" name="Text 18"/>
          <p:cNvSpPr/>
          <p:nvPr/>
        </p:nvSpPr>
        <p:spPr>
          <a:xfrm>
            <a:off x="3429000" y="2788920"/>
            <a:ext cx="4389120" cy="502920"/>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Relevant fit issue</a:t>
            </a:r>
            <a:endParaRPr lang="en-US" sz="1400" dirty="0"/>
          </a:p>
        </p:txBody>
      </p:sp>
      <p:sp>
        <p:nvSpPr>
          <p:cNvPr id="21" name="Text 19"/>
          <p:cNvSpPr/>
          <p:nvPr/>
        </p:nvSpPr>
        <p:spPr>
          <a:xfrm>
            <a:off x="7818120" y="2788920"/>
            <a:ext cx="3657600" cy="502920"/>
          </a:xfrm>
          <a:prstGeom prst="rect">
            <a:avLst/>
          </a:prstGeom>
          <a:solidFill>
            <a:srgbClr val="D9EAF7"/>
          </a:solidFill>
          <a:ln>
            <a:solidFill>
              <a:srgbClr val="B7C2CC"/>
            </a:solidFill>
          </a:ln>
        </p:spPr>
        <p:txBody>
          <a:bodyPr wrap="square" lIns="635" tIns="635" rIns="635" bIns="635" rtlCol="0" anchor="ctr">
            <a:normAutofit/>
          </a:bodyPr>
          <a:lstStyle/>
          <a:p>
            <a:pPr marL="0" indent="0">
              <a:buNone/>
            </a:pPr>
            <a:r>
              <a:rPr lang="en-US" sz="1400" b="1" dirty="0">
                <a:solidFill>
                  <a:srgbClr val="1F2937"/>
                </a:solidFill>
              </a:rPr>
              <a:t>Possible risk if misaligned</a:t>
            </a:r>
            <a:endParaRPr lang="en-US" sz="1400" dirty="0"/>
          </a:p>
        </p:txBody>
      </p:sp>
      <p:sp>
        <p:nvSpPr>
          <p:cNvPr id="22" name="Text 20"/>
          <p:cNvSpPr/>
          <p:nvPr/>
        </p:nvSpPr>
        <p:spPr>
          <a:xfrm>
            <a:off x="685800" y="3291840"/>
            <a:ext cx="2743200" cy="50292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Documentation / audit</a:t>
            </a:r>
            <a:endParaRPr lang="en-US" sz="1400" dirty="0"/>
          </a:p>
        </p:txBody>
      </p:sp>
      <p:sp>
        <p:nvSpPr>
          <p:cNvPr id="23" name="Text 21"/>
          <p:cNvSpPr/>
          <p:nvPr/>
        </p:nvSpPr>
        <p:spPr>
          <a:xfrm>
            <a:off x="3429000" y="3291840"/>
            <a:ext cx="4389120" cy="50292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Conscientiousness + rule-regulated work</a:t>
            </a:r>
            <a:endParaRPr lang="en-US" sz="1400" dirty="0"/>
          </a:p>
        </p:txBody>
      </p:sp>
      <p:sp>
        <p:nvSpPr>
          <p:cNvPr id="24" name="Text 22"/>
          <p:cNvSpPr/>
          <p:nvPr/>
        </p:nvSpPr>
        <p:spPr>
          <a:xfrm>
            <a:off x="7818120" y="3291840"/>
            <a:ext cx="3657600" cy="50292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Errors, weak follow-up, incomplete records</a:t>
            </a:r>
            <a:endParaRPr lang="en-US" sz="1400" dirty="0"/>
          </a:p>
        </p:txBody>
      </p:sp>
      <p:sp>
        <p:nvSpPr>
          <p:cNvPr id="25" name="Text 23"/>
          <p:cNvSpPr/>
          <p:nvPr/>
        </p:nvSpPr>
        <p:spPr>
          <a:xfrm>
            <a:off x="685800" y="3794760"/>
            <a:ext cx="2743200" cy="50292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Customer complaint handling</a:t>
            </a:r>
            <a:endParaRPr lang="en-US" sz="1400" dirty="0"/>
          </a:p>
        </p:txBody>
      </p:sp>
      <p:sp>
        <p:nvSpPr>
          <p:cNvPr id="26" name="Text 24"/>
          <p:cNvSpPr/>
          <p:nvPr/>
        </p:nvSpPr>
        <p:spPr>
          <a:xfrm>
            <a:off x="3429000" y="3794760"/>
            <a:ext cx="4389120" cy="50292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Agreeableness + emotional stability + service values</a:t>
            </a:r>
            <a:endParaRPr lang="en-US" sz="1400" dirty="0"/>
          </a:p>
        </p:txBody>
      </p:sp>
      <p:sp>
        <p:nvSpPr>
          <p:cNvPr id="27" name="Text 25"/>
          <p:cNvSpPr/>
          <p:nvPr/>
        </p:nvSpPr>
        <p:spPr>
          <a:xfrm>
            <a:off x="7818120" y="3794760"/>
            <a:ext cx="3657600" cy="50292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Defensiveness, poor listening, escalation</a:t>
            </a:r>
            <a:endParaRPr lang="en-US" sz="1400" dirty="0"/>
          </a:p>
        </p:txBody>
      </p:sp>
      <p:sp>
        <p:nvSpPr>
          <p:cNvPr id="28" name="Text 26"/>
          <p:cNvSpPr/>
          <p:nvPr/>
        </p:nvSpPr>
        <p:spPr>
          <a:xfrm>
            <a:off x="685800" y="4297680"/>
            <a:ext cx="2743200" cy="50292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Improvement team</a:t>
            </a:r>
            <a:endParaRPr lang="en-US" sz="1400" dirty="0"/>
          </a:p>
        </p:txBody>
      </p:sp>
      <p:sp>
        <p:nvSpPr>
          <p:cNvPr id="29" name="Text 27"/>
          <p:cNvSpPr/>
          <p:nvPr/>
        </p:nvSpPr>
        <p:spPr>
          <a:xfrm>
            <a:off x="3429000" y="4297680"/>
            <a:ext cx="4389120" cy="50292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Openness + cooperation + learning values</a:t>
            </a:r>
            <a:endParaRPr lang="en-US" sz="1400" dirty="0"/>
          </a:p>
        </p:txBody>
      </p:sp>
      <p:sp>
        <p:nvSpPr>
          <p:cNvPr id="30" name="Text 28"/>
          <p:cNvSpPr/>
          <p:nvPr/>
        </p:nvSpPr>
        <p:spPr>
          <a:xfrm>
            <a:off x="7818120" y="4297680"/>
            <a:ext cx="3657600" cy="50292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Routine fixes; limited innovation</a:t>
            </a:r>
            <a:endParaRPr lang="en-US" sz="1400" dirty="0"/>
          </a:p>
        </p:txBody>
      </p:sp>
      <p:sp>
        <p:nvSpPr>
          <p:cNvPr id="31" name="Text 29"/>
          <p:cNvSpPr/>
          <p:nvPr/>
        </p:nvSpPr>
        <p:spPr>
          <a:xfrm>
            <a:off x="685800" y="4800600"/>
            <a:ext cx="2743200" cy="50292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Corrective action owner</a:t>
            </a:r>
            <a:endParaRPr lang="en-US" sz="1400" dirty="0"/>
          </a:p>
        </p:txBody>
      </p:sp>
      <p:sp>
        <p:nvSpPr>
          <p:cNvPr id="32" name="Text 30"/>
          <p:cNvSpPr/>
          <p:nvPr/>
        </p:nvSpPr>
        <p:spPr>
          <a:xfrm>
            <a:off x="3429000" y="4800600"/>
            <a:ext cx="4389120" cy="50292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Proactivity + accountability values</a:t>
            </a:r>
            <a:endParaRPr lang="en-US" sz="1400" dirty="0"/>
          </a:p>
        </p:txBody>
      </p:sp>
      <p:sp>
        <p:nvSpPr>
          <p:cNvPr id="33" name="Text 31"/>
          <p:cNvSpPr/>
          <p:nvPr/>
        </p:nvSpPr>
        <p:spPr>
          <a:xfrm>
            <a:off x="7818120" y="4800600"/>
            <a:ext cx="3657600" cy="502920"/>
          </a:xfrm>
          <a:prstGeom prst="rect">
            <a:avLst/>
          </a:prstGeom>
          <a:solidFill>
            <a:srgbClr val="FFFFFF"/>
          </a:solidFill>
          <a:ln>
            <a:solidFill>
              <a:srgbClr val="B7C2CC"/>
            </a:solidFill>
          </a:ln>
        </p:spPr>
        <p:txBody>
          <a:bodyPr wrap="square" lIns="635" tIns="635" rIns="635" bIns="635" rtlCol="0" anchor="ctr">
            <a:normAutofit/>
          </a:bodyPr>
          <a:lstStyle/>
          <a:p>
            <a:pPr marL="0" indent="0">
              <a:buNone/>
            </a:pPr>
            <a:r>
              <a:rPr lang="en-US" sz="1400" dirty="0">
                <a:solidFill>
                  <a:srgbClr val="1F2937"/>
                </a:solidFill>
              </a:rPr>
              <a:t>Delayed actions and repeated nonconformities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1F3B57"/>
          </a:solidFill>
          <a:ln w="12700">
            <a:solidFill>
              <a:srgbClr val="1F3B57"/>
            </a:solidFill>
            <a:prstDash val="solid"/>
          </a:ln>
        </p:spPr>
      </p:sp>
      <p:sp>
        <p:nvSpPr>
          <p:cNvPr id="3" name="Shape 1"/>
          <p:cNvSpPr/>
          <p:nvPr/>
        </p:nvSpPr>
        <p:spPr>
          <a:xfrm>
            <a:off x="0" y="6565392"/>
            <a:ext cx="12191695" cy="292608"/>
          </a:xfrm>
          <a:prstGeom prst="rect">
            <a:avLst/>
          </a:prstGeom>
          <a:solidFill>
            <a:srgbClr val="1F3B57"/>
          </a:solidFill>
          <a:ln w="12700">
            <a:solidFill>
              <a:srgbClr val="1F3B57"/>
            </a:solidFill>
            <a:prstDash val="solid"/>
          </a:ln>
        </p:spPr>
      </p:sp>
      <p:sp>
        <p:nvSpPr>
          <p:cNvPr id="4" name="Text 2"/>
          <p:cNvSpPr/>
          <p:nvPr/>
        </p:nvSpPr>
        <p:spPr>
          <a:xfrm>
            <a:off x="365760" y="6601968"/>
            <a:ext cx="8412480" cy="164592"/>
          </a:xfrm>
          <a:prstGeom prst="rect">
            <a:avLst/>
          </a:prstGeom>
          <a:noFill/>
          <a:ln/>
        </p:spPr>
        <p:txBody>
          <a:bodyPr wrap="square" lIns="0" tIns="0" rIns="0" bIns="0" rtlCol="0" anchor="ctr"/>
          <a:lstStyle/>
          <a:p>
            <a:pPr marL="0" indent="0">
              <a:buNone/>
            </a:pPr>
            <a:r>
              <a:rPr lang="en-US" sz="750" dirty="0">
                <a:solidFill>
                  <a:srgbClr val="FFFFFF"/>
                </a:solidFill>
                <a:latin typeface="Aptos" pitchFamily="34" charset="0"/>
                <a:ea typeface="Aptos" pitchFamily="34" charset="-122"/>
                <a:cs typeface="Aptos" pitchFamily="34" charset="-120"/>
              </a:rPr>
              <a:t>G TQM 511 | Organizational Behavior and Quality | Robbins &amp; Judge, Updated 18e GE, Chapter 4</a:t>
            </a:r>
            <a:endParaRPr lang="en-US" sz="750" dirty="0"/>
          </a:p>
        </p:txBody>
      </p:sp>
      <p:sp>
        <p:nvSpPr>
          <p:cNvPr id="5" name="Text 3"/>
          <p:cNvSpPr/>
          <p:nvPr/>
        </p:nvSpPr>
        <p:spPr>
          <a:xfrm>
            <a:off x="10607040" y="6601968"/>
            <a:ext cx="1188720" cy="164592"/>
          </a:xfrm>
          <a:prstGeom prst="rect">
            <a:avLst/>
          </a:prstGeom>
          <a:noFill/>
          <a:ln/>
        </p:spPr>
        <p:txBody>
          <a:bodyPr wrap="square" lIns="0" tIns="0" rIns="0" bIns="0" rtlCol="0" anchor="ctr"/>
          <a:lstStyle/>
          <a:p>
            <a:pPr marL="0" indent="0" algn="r">
              <a:buNone/>
            </a:pPr>
            <a:r>
              <a:rPr lang="en-US" sz="750" dirty="0">
                <a:solidFill>
                  <a:srgbClr val="FFFFFF"/>
                </a:solidFill>
              </a:rPr>
              <a:t>Week 5</a:t>
            </a:r>
            <a:endParaRPr lang="en-US" sz="750" dirty="0"/>
          </a:p>
        </p:txBody>
      </p:sp>
      <p:sp>
        <p:nvSpPr>
          <p:cNvPr id="6" name="Text 4"/>
          <p:cNvSpPr/>
          <p:nvPr/>
        </p:nvSpPr>
        <p:spPr>
          <a:xfrm>
            <a:off x="502920" y="502920"/>
            <a:ext cx="11064240" cy="384048"/>
          </a:xfrm>
          <a:prstGeom prst="rect">
            <a:avLst/>
          </a:prstGeom>
          <a:noFill/>
          <a:ln/>
        </p:spPr>
        <p:txBody>
          <a:bodyPr wrap="square" lIns="0" tIns="0" rIns="0" bIns="0" rtlCol="0" anchor="ctr"/>
          <a:lstStyle/>
          <a:p>
            <a:pPr marL="0" indent="0">
              <a:buNone/>
            </a:pPr>
            <a:r>
              <a:rPr lang="en-US" sz="2400" b="1" dirty="0">
                <a:solidFill>
                  <a:srgbClr val="1F3B57"/>
                </a:solidFill>
                <a:latin typeface="Aptos Display" pitchFamily="34" charset="0"/>
                <a:ea typeface="Aptos Display" pitchFamily="34" charset="-122"/>
                <a:cs typeface="Aptos Display" pitchFamily="34" charset="-120"/>
              </a:rPr>
              <a:t>In-Class Activity: Fit, Traits, and Quality Risk</a:t>
            </a:r>
            <a:endParaRPr lang="en-US" sz="2400" dirty="0"/>
          </a:p>
        </p:txBody>
      </p:sp>
      <p:sp>
        <p:nvSpPr>
          <p:cNvPr id="7" name="Text 5"/>
          <p:cNvSpPr/>
          <p:nvPr/>
        </p:nvSpPr>
        <p:spPr>
          <a:xfrm>
            <a:off x="521208" y="932688"/>
            <a:ext cx="10789920" cy="256032"/>
          </a:xfrm>
          <a:prstGeom prst="rect">
            <a:avLst/>
          </a:prstGeom>
          <a:noFill/>
          <a:ln/>
        </p:spPr>
        <p:txBody>
          <a:bodyPr wrap="square" lIns="0" tIns="0" rIns="0" bIns="0" rtlCol="0" anchor="ctr"/>
          <a:lstStyle/>
          <a:p>
            <a:pPr marL="0" indent="0">
              <a:buNone/>
            </a:pPr>
            <a:r>
              <a:rPr lang="en-US" sz="1400" dirty="0">
                <a:solidFill>
                  <a:srgbClr val="0F7C80"/>
                </a:solidFill>
                <a:latin typeface="Aptos" pitchFamily="34" charset="0"/>
                <a:ea typeface="Aptos" pitchFamily="34" charset="-122"/>
                <a:cs typeface="Aptos" pitchFamily="34" charset="-120"/>
              </a:rPr>
              <a:t>Small groups | 20 minutes</a:t>
            </a:r>
            <a:endParaRPr lang="en-US" sz="1400" dirty="0"/>
          </a:p>
        </p:txBody>
      </p:sp>
      <p:sp>
        <p:nvSpPr>
          <p:cNvPr id="8" name="Shape 6"/>
          <p:cNvSpPr/>
          <p:nvPr/>
        </p:nvSpPr>
        <p:spPr>
          <a:xfrm>
            <a:off x="685800" y="1389888"/>
            <a:ext cx="10835640" cy="850392"/>
          </a:xfrm>
          <a:prstGeom prst="roundRect">
            <a:avLst>
              <a:gd name="adj" fmla="val 6667"/>
            </a:avLst>
          </a:prstGeom>
          <a:solidFill>
            <a:srgbClr val="E6F3F3"/>
          </a:solidFill>
          <a:ln w="12700">
            <a:solidFill>
              <a:srgbClr val="0F7C80"/>
            </a:solidFill>
            <a:prstDash val="solid"/>
          </a:ln>
        </p:spPr>
      </p:sp>
      <p:sp>
        <p:nvSpPr>
          <p:cNvPr id="9" name="Text 7"/>
          <p:cNvSpPr/>
          <p:nvPr/>
        </p:nvSpPr>
        <p:spPr>
          <a:xfrm>
            <a:off x="914400" y="1389888"/>
            <a:ext cx="10287000" cy="502920"/>
          </a:xfrm>
          <a:prstGeom prst="rect">
            <a:avLst/>
          </a:prstGeom>
          <a:noFill/>
          <a:ln/>
        </p:spPr>
        <p:txBody>
          <a:bodyPr wrap="square" lIns="635" tIns="635" rIns="635" bIns="635" rtlCol="0" anchor="ctr">
            <a:normAutofit/>
          </a:bodyPr>
          <a:lstStyle/>
          <a:p>
            <a:pPr marL="0" indent="0" algn="l">
              <a:buNone/>
            </a:pPr>
            <a:r>
              <a:rPr lang="en-US" sz="1450" b="1" dirty="0">
                <a:solidFill>
                  <a:srgbClr val="1F3B57"/>
                </a:solidFill>
                <a:latin typeface="Aptos" pitchFamily="34" charset="0"/>
                <a:ea typeface="Aptos" pitchFamily="34" charset="-122"/>
                <a:cs typeface="Aptos" pitchFamily="34" charset="-120"/>
              </a:rPr>
              <a:t>Scenario: A hospital improvement team must reduce repeated documentation errors and patient complaint delays. Candidates differ in attention to detail, social skills, creativity, emotional stability, and values.</a:t>
            </a:r>
            <a:endParaRPr lang="en-US" sz="1450" dirty="0"/>
          </a:p>
        </p:txBody>
      </p:sp>
      <p:graphicFrame>
        <p:nvGraphicFramePr>
          <p:cNvPr id="20" name="Table 0"/>
          <p:cNvGraphicFramePr>
            <a:graphicFrameLocks noGrp="1"/>
          </p:cNvGraphicFramePr>
          <p:nvPr>
            <p:extLst>
              <p:ext uri="{D42A27DB-BD31-4B8C-83A1-F6EECF244321}">
                <p14:modId xmlns:p14="http://schemas.microsoft.com/office/powerpoint/2010/main" val="1255415081"/>
              </p:ext>
            </p:extLst>
          </p:nvPr>
        </p:nvGraphicFramePr>
        <p:xfrm>
          <a:off x="777240" y="2743200"/>
          <a:ext cx="10652760" cy="2743200"/>
        </p:xfrm>
        <a:graphic>
          <a:graphicData uri="http://schemas.openxmlformats.org/drawingml/2006/table">
            <a:tbl>
              <a:tblPr/>
              <a:tblGrid>
                <a:gridCol w="1188720">
                  <a:extLst>
                    <a:ext uri="{9D8B030D-6E8A-4147-A177-3AD203B41FA5}">
                      <a16:colId xmlns:a16="http://schemas.microsoft.com/office/drawing/2014/main" val="20000"/>
                    </a:ext>
                  </a:extLst>
                </a:gridCol>
                <a:gridCol w="9464040">
                  <a:extLst>
                    <a:ext uri="{9D8B030D-6E8A-4147-A177-3AD203B41FA5}">
                      <a16:colId xmlns:a16="http://schemas.microsoft.com/office/drawing/2014/main" val="20001"/>
                    </a:ext>
                  </a:extLst>
                </a:gridCol>
              </a:tblGrid>
              <a:tr h="457200">
                <a:tc>
                  <a:txBody>
                    <a:bodyPr/>
                    <a:lstStyle/>
                    <a:p>
                      <a:pPr marL="0" indent="0">
                        <a:buNone/>
                      </a:pPr>
                      <a:r>
                        <a:rPr lang="en-US" sz="1400" b="1" dirty="0">
                          <a:solidFill>
                            <a:srgbClr val="2D3748"/>
                          </a:solidFill>
                          <a:latin typeface="Aptos" pitchFamily="34" charset="0"/>
                          <a:ea typeface="Aptos" pitchFamily="34" charset="-122"/>
                          <a:cs typeface="Aptos" pitchFamily="34" charset="-120"/>
                        </a:rPr>
                        <a:t>Step</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D9EAF7"/>
                    </a:solidFill>
                  </a:tcPr>
                </a:tc>
                <a:tc>
                  <a:txBody>
                    <a:bodyPr/>
                    <a:lstStyle/>
                    <a:p>
                      <a:pPr marL="0" indent="0">
                        <a:buNone/>
                      </a:pPr>
                      <a:r>
                        <a:rPr lang="en-US" sz="1400" b="1" dirty="0">
                          <a:solidFill>
                            <a:srgbClr val="2D3748"/>
                          </a:solidFill>
                          <a:latin typeface="Aptos" pitchFamily="34" charset="0"/>
                          <a:ea typeface="Aptos" pitchFamily="34" charset="-122"/>
                          <a:cs typeface="Aptos" pitchFamily="34" charset="-120"/>
                        </a:rPr>
                        <a:t>Group task</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D9EAF7"/>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0F7C80"/>
                          </a:solidFill>
                          <a:latin typeface="Aptos" pitchFamily="34" charset="0"/>
                          <a:ea typeface="Aptos" pitchFamily="34" charset="-122"/>
                          <a:cs typeface="Aptos" pitchFamily="34" charset="-120"/>
                        </a:rPr>
                        <a:t>1</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400" dirty="0">
                          <a:solidFill>
                            <a:srgbClr val="2D3748"/>
                          </a:solidFill>
                          <a:latin typeface="Aptos" pitchFamily="34" charset="0"/>
                          <a:ea typeface="Aptos" pitchFamily="34" charset="-122"/>
                          <a:cs typeface="Aptos" pitchFamily="34" charset="-120"/>
                        </a:rPr>
                        <a:t>Choose the quality role: audit, complaint handling, improvement design, or frontline implementation.</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0F7C80"/>
                          </a:solidFill>
                          <a:latin typeface="Aptos" pitchFamily="34" charset="0"/>
                          <a:ea typeface="Aptos" pitchFamily="34" charset="-122"/>
                          <a:cs typeface="Aptos" pitchFamily="34" charset="-120"/>
                        </a:rPr>
                        <a:t>2</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400" dirty="0">
                          <a:solidFill>
                            <a:srgbClr val="2D3748"/>
                          </a:solidFill>
                          <a:latin typeface="Aptos" pitchFamily="34" charset="0"/>
                          <a:ea typeface="Aptos" pitchFamily="34" charset="-122"/>
                          <a:cs typeface="Aptos" pitchFamily="34" charset="-120"/>
                        </a:rPr>
                        <a:t>Identify which Big Five trait should be most relevant and why.</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0F7C80"/>
                          </a:solidFill>
                          <a:latin typeface="Aptos" pitchFamily="34" charset="0"/>
                          <a:ea typeface="Aptos" pitchFamily="34" charset="-122"/>
                          <a:cs typeface="Aptos" pitchFamily="34" charset="-120"/>
                        </a:rPr>
                        <a:t>3</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400" dirty="0">
                          <a:solidFill>
                            <a:srgbClr val="2D3748"/>
                          </a:solidFill>
                          <a:latin typeface="Aptos" pitchFamily="34" charset="0"/>
                          <a:ea typeface="Aptos" pitchFamily="34" charset="-122"/>
                          <a:cs typeface="Aptos" pitchFamily="34" charset="-120"/>
                        </a:rPr>
                        <a:t>Use Holland’s typology to discuss occupational fit.</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0F7C80"/>
                          </a:solidFill>
                          <a:latin typeface="Aptos" pitchFamily="34" charset="0"/>
                          <a:ea typeface="Aptos" pitchFamily="34" charset="-122"/>
                          <a:cs typeface="Aptos" pitchFamily="34" charset="-120"/>
                        </a:rPr>
                        <a:t>4</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400" dirty="0">
                          <a:solidFill>
                            <a:srgbClr val="2D3748"/>
                          </a:solidFill>
                          <a:latin typeface="Aptos" pitchFamily="34" charset="0"/>
                          <a:ea typeface="Aptos" pitchFamily="34" charset="-122"/>
                          <a:cs typeface="Aptos" pitchFamily="34" charset="-120"/>
                        </a:rPr>
                        <a:t>Use TAT: what job feature will activate the trait?</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rgbClr val="0F7C80"/>
                          </a:solidFill>
                          <a:latin typeface="Aptos" pitchFamily="34" charset="0"/>
                          <a:ea typeface="Aptos" pitchFamily="34" charset="-122"/>
                          <a:cs typeface="Aptos" pitchFamily="34" charset="-120"/>
                        </a:rPr>
                        <a:t>5</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8FBFD"/>
                    </a:solidFill>
                  </a:tcPr>
                </a:tc>
                <a:tc>
                  <a:txBody>
                    <a:bodyPr/>
                    <a:lstStyle/>
                    <a:p>
                      <a:pPr marL="0" indent="0">
                        <a:buNone/>
                      </a:pPr>
                      <a:r>
                        <a:rPr lang="en-US" sz="1400" dirty="0">
                          <a:solidFill>
                            <a:srgbClr val="2D3748"/>
                          </a:solidFill>
                          <a:latin typeface="Aptos" pitchFamily="34" charset="0"/>
                          <a:ea typeface="Aptos" pitchFamily="34" charset="-122"/>
                          <a:cs typeface="Aptos" pitchFamily="34" charset="-120"/>
                        </a:rPr>
                        <a:t>Identify a value conflict and one management safeguard.</a:t>
                      </a:r>
                      <a:endParaRPr lang="en-US" sz="1400" dirty="0">
                        <a:latin typeface="Aptos" charset="0"/>
                        <a:ea typeface="Aptos" charset="0"/>
                        <a:cs typeface="Aptos" charset="0"/>
                      </a:endParaRPr>
                    </a:p>
                  </a:txBody>
                  <a:tcPr marL="36576" marR="36576" marT="36576" marB="36576">
                    <a:lnL w="8890" cap="flat" cmpd="sng" algn="ctr">
                      <a:solidFill>
                        <a:srgbClr val="A0AEC0"/>
                      </a:solidFill>
                      <a:prstDash val="solid"/>
                      <a:round/>
                      <a:headEnd type="none" w="med" len="med"/>
                      <a:tailEnd type="none" w="med" len="med"/>
                    </a:lnL>
                    <a:lnR w="8890" cap="flat" cmpd="sng" algn="ctr">
                      <a:solidFill>
                        <a:srgbClr val="A0AEC0"/>
                      </a:solidFill>
                      <a:prstDash val="solid"/>
                      <a:round/>
                      <a:headEnd type="none" w="med" len="med"/>
                      <a:tailEnd type="none" w="med" len="med"/>
                    </a:lnR>
                    <a:lnT w="8890" cap="flat" cmpd="sng" algn="ctr">
                      <a:solidFill>
                        <a:srgbClr val="A0AEC0"/>
                      </a:solidFill>
                      <a:prstDash val="solid"/>
                      <a:round/>
                      <a:headEnd type="none" w="med" len="med"/>
                      <a:tailEnd type="none" w="med" len="med"/>
                    </a:lnT>
                    <a:lnB w="8890" cap="flat" cmpd="sng" algn="ctr">
                      <a:solidFill>
                        <a:srgbClr val="A0AEC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Text 8"/>
          <p:cNvSpPr/>
          <p:nvPr/>
        </p:nvSpPr>
        <p:spPr>
          <a:xfrm>
            <a:off x="777240" y="5897880"/>
            <a:ext cx="10652760" cy="292608"/>
          </a:xfrm>
          <a:prstGeom prst="rect">
            <a:avLst/>
          </a:prstGeom>
          <a:noFill/>
          <a:ln/>
        </p:spPr>
        <p:txBody>
          <a:bodyPr wrap="square" lIns="635" tIns="635" rIns="635" bIns="635" rtlCol="0" anchor="ctr">
            <a:normAutofit/>
          </a:bodyPr>
          <a:lstStyle/>
          <a:p>
            <a:pPr marL="0" indent="0" algn="l">
              <a:buNone/>
            </a:pPr>
            <a:r>
              <a:rPr lang="en-US" sz="1400" b="1" dirty="0">
                <a:solidFill>
                  <a:srgbClr val="1F3B57"/>
                </a:solidFill>
                <a:latin typeface="Aptos" pitchFamily="34" charset="0"/>
                <a:ea typeface="Aptos" pitchFamily="34" charset="-122"/>
                <a:cs typeface="Aptos" pitchFamily="34" charset="-120"/>
              </a:rPr>
              <a:t>Deliverable: Person–Job Fit + Activated Trait + Value Safeguard + Quality Outcome.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17324D"/>
          </a:solidFill>
          <a:ln w="12700">
            <a:solidFill>
              <a:srgbClr val="17324D"/>
            </a:solidFill>
            <a:prstDash val="solid"/>
          </a:ln>
        </p:spPr>
      </p:sp>
      <p:sp>
        <p:nvSpPr>
          <p:cNvPr id="3" name="Text 1"/>
          <p:cNvSpPr/>
          <p:nvPr/>
        </p:nvSpPr>
        <p:spPr>
          <a:xfrm>
            <a:off x="384048" y="73152"/>
            <a:ext cx="7863840" cy="310896"/>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Mini Case: High Output, Poor Quality Culture</a:t>
            </a:r>
            <a:endParaRPr lang="en-US" sz="2400" dirty="0"/>
          </a:p>
        </p:txBody>
      </p:sp>
      <p:sp>
        <p:nvSpPr>
          <p:cNvPr id="4" name="Text 2"/>
          <p:cNvSpPr/>
          <p:nvPr/>
        </p:nvSpPr>
        <p:spPr>
          <a:xfrm>
            <a:off x="9784080" y="137160"/>
            <a:ext cx="2011680" cy="219456"/>
          </a:xfrm>
          <a:prstGeom prst="rect">
            <a:avLst/>
          </a:prstGeom>
          <a:noFill/>
          <a:ln/>
        </p:spPr>
        <p:txBody>
          <a:bodyPr wrap="square" lIns="0" tIns="0" rIns="0" bIns="0" rtlCol="0" anchor="ctr"/>
          <a:lstStyle/>
          <a:p>
            <a:pPr marL="0" indent="0" algn="r">
              <a:buNone/>
            </a:pPr>
            <a:r>
              <a:rPr lang="en-US" sz="1000" b="1" dirty="0">
                <a:solidFill>
                  <a:srgbClr val="FFFFFF"/>
                </a:solidFill>
              </a:rPr>
              <a:t>G TQM 511 | Week 5</a:t>
            </a:r>
            <a:endParaRPr lang="en-US" sz="1000" dirty="0"/>
          </a:p>
        </p:txBody>
      </p:sp>
      <p:sp>
        <p:nvSpPr>
          <p:cNvPr id="5" name="Text 3"/>
          <p:cNvSpPr/>
          <p:nvPr/>
        </p:nvSpPr>
        <p:spPr>
          <a:xfrm>
            <a:off x="502920" y="612648"/>
            <a:ext cx="11201400" cy="292608"/>
          </a:xfrm>
          <a:prstGeom prst="rect">
            <a:avLst/>
          </a:prstGeom>
          <a:noFill/>
          <a:ln/>
        </p:spPr>
        <p:txBody>
          <a:bodyPr wrap="square" lIns="0" tIns="0" rIns="0" bIns="0" rtlCol="0" anchor="ctr"/>
          <a:lstStyle/>
          <a:p>
            <a:pPr marL="0" indent="0">
              <a:buNone/>
            </a:pPr>
            <a:r>
              <a:rPr lang="en-US" sz="1400" i="1" dirty="0">
                <a:solidFill>
                  <a:srgbClr val="5A6775"/>
                </a:solidFill>
              </a:rPr>
              <a:t>Use the case to connect personality, values, and quality outcomes.</a:t>
            </a:r>
            <a:endParaRPr lang="en-US" sz="1400" dirty="0"/>
          </a:p>
        </p:txBody>
      </p:sp>
      <p:sp>
        <p:nvSpPr>
          <p:cNvPr id="6" name="Text 4"/>
          <p:cNvSpPr/>
          <p:nvPr/>
        </p:nvSpPr>
        <p:spPr>
          <a:xfrm>
            <a:off x="502920" y="6528816"/>
            <a:ext cx="7132320" cy="164592"/>
          </a:xfrm>
          <a:prstGeom prst="rect">
            <a:avLst/>
          </a:prstGeom>
          <a:noFill/>
          <a:ln/>
        </p:spPr>
        <p:txBody>
          <a:bodyPr wrap="square" lIns="0" tIns="0" rIns="0" bIns="0" rtlCol="0" anchor="ctr"/>
          <a:lstStyle/>
          <a:p>
            <a:pPr marL="0" indent="0">
              <a:buNone/>
            </a:pPr>
            <a:r>
              <a:rPr lang="en-US" sz="680" dirty="0">
                <a:solidFill>
                  <a:srgbClr val="7D8790"/>
                </a:solidFill>
              </a:rPr>
              <a:t>Based on Robbins &amp; Judge, Organizational Behavior, Updated 18th Global Edition, Chapter 4</a:t>
            </a:r>
            <a:endParaRPr lang="en-US" sz="680" dirty="0"/>
          </a:p>
        </p:txBody>
      </p:sp>
      <p:sp>
        <p:nvSpPr>
          <p:cNvPr id="7" name="Text 5"/>
          <p:cNvSpPr/>
          <p:nvPr/>
        </p:nvSpPr>
        <p:spPr>
          <a:xfrm>
            <a:off x="9738360" y="6528816"/>
            <a:ext cx="1965960" cy="164592"/>
          </a:xfrm>
          <a:prstGeom prst="rect">
            <a:avLst/>
          </a:prstGeom>
          <a:noFill/>
          <a:ln/>
        </p:spPr>
        <p:txBody>
          <a:bodyPr wrap="square" lIns="0" tIns="0" rIns="0" bIns="0" rtlCol="0" anchor="ctr"/>
          <a:lstStyle/>
          <a:p>
            <a:pPr marL="0" indent="0" algn="r">
              <a:buNone/>
            </a:pPr>
            <a:r>
              <a:rPr lang="en-US" sz="680" dirty="0">
                <a:solidFill>
                  <a:srgbClr val="7D8790"/>
                </a:solidFill>
              </a:rPr>
              <a:t>Personality and Values</a:t>
            </a:r>
            <a:endParaRPr lang="en-US" sz="680" dirty="0"/>
          </a:p>
        </p:txBody>
      </p:sp>
      <p:sp>
        <p:nvSpPr>
          <p:cNvPr id="8" name="Text 6"/>
          <p:cNvSpPr/>
          <p:nvPr/>
        </p:nvSpPr>
        <p:spPr>
          <a:xfrm>
            <a:off x="685800" y="1051560"/>
            <a:ext cx="5394960" cy="320040"/>
          </a:xfrm>
          <a:prstGeom prst="rect">
            <a:avLst/>
          </a:prstGeom>
          <a:noFill/>
          <a:ln/>
        </p:spPr>
        <p:txBody>
          <a:bodyPr wrap="square" lIns="1016" tIns="1016" rIns="1016" bIns="1016" rtlCol="0" anchor="ctr">
            <a:normAutofit/>
          </a:bodyPr>
          <a:lstStyle/>
          <a:p>
            <a:pPr marL="0" indent="0" algn="l">
              <a:buNone/>
            </a:pPr>
            <a:r>
              <a:rPr lang="en-US" sz="2000" b="1" dirty="0">
                <a:solidFill>
                  <a:srgbClr val="B45309"/>
                </a:solidFill>
                <a:latin typeface="Aptos" pitchFamily="34" charset="0"/>
                <a:ea typeface="Aptos" pitchFamily="34" charset="-122"/>
                <a:cs typeface="Aptos" pitchFamily="34" charset="-120"/>
              </a:rPr>
              <a:t>Case</a:t>
            </a:r>
            <a:endParaRPr lang="en-US" sz="2000" dirty="0"/>
          </a:p>
        </p:txBody>
      </p:sp>
      <p:sp>
        <p:nvSpPr>
          <p:cNvPr id="9" name="Text 7"/>
          <p:cNvSpPr/>
          <p:nvPr/>
        </p:nvSpPr>
        <p:spPr>
          <a:xfrm>
            <a:off x="685800" y="1490472"/>
            <a:ext cx="5394960" cy="3721608"/>
          </a:xfrm>
          <a:prstGeom prst="rect">
            <a:avLst/>
          </a:prstGeom>
          <a:solidFill>
            <a:srgbClr val="FFF4E6"/>
          </a:solidFill>
          <a:ln>
            <a:solidFill>
              <a:srgbClr val="B45309">
                <a:alpha val="75000"/>
              </a:srgbClr>
            </a:solidFill>
          </a:ln>
        </p:spPr>
        <p:txBody>
          <a:bodyPr wrap="square" lIns="1524" tIns="1524" rIns="1524" bIns="1524" rtlCol="0" anchor="ctr">
            <a:normAutofit/>
          </a:bodyPr>
          <a:lstStyle/>
          <a:p>
            <a:pPr marL="0" indent="0">
              <a:buNone/>
            </a:pPr>
            <a:r>
              <a:rPr lang="en-US" sz="1600" dirty="0">
                <a:solidFill>
                  <a:srgbClr val="1F2937"/>
                </a:solidFill>
              </a:rPr>
              <a:t>A senior employee completes tasks quickly and has strong technical skills. However, he dismisses colleagues’ ideas, avoids documenting lessons learned, and treats customer complaints as interruptions. Managers tolerate this behavior because his individual output is high. Over time, junior staff stop suggesting improvements and errors are repeated.</a:t>
            </a:r>
            <a:endParaRPr lang="en-US" sz="1600" dirty="0"/>
          </a:p>
        </p:txBody>
      </p:sp>
      <p:sp>
        <p:nvSpPr>
          <p:cNvPr id="10" name="Text 8"/>
          <p:cNvSpPr/>
          <p:nvPr/>
        </p:nvSpPr>
        <p:spPr>
          <a:xfrm>
            <a:off x="6355080" y="1051560"/>
            <a:ext cx="5029200" cy="320040"/>
          </a:xfrm>
          <a:prstGeom prst="rect">
            <a:avLst/>
          </a:prstGeom>
          <a:noFill/>
          <a:ln/>
        </p:spPr>
        <p:txBody>
          <a:bodyPr wrap="square" lIns="1016" tIns="1016" rIns="1016" bIns="1016" rtlCol="0" anchor="ctr">
            <a:normAutofit/>
          </a:bodyPr>
          <a:lstStyle/>
          <a:p>
            <a:pPr marL="0" indent="0" algn="l">
              <a:buNone/>
            </a:pPr>
            <a:r>
              <a:rPr lang="en-US" sz="2000" b="1" dirty="0">
                <a:solidFill>
                  <a:srgbClr val="1D4E89"/>
                </a:solidFill>
                <a:latin typeface="Aptos" pitchFamily="34" charset="0"/>
                <a:ea typeface="Aptos" pitchFamily="34" charset="-122"/>
                <a:cs typeface="Aptos" pitchFamily="34" charset="-120"/>
              </a:rPr>
              <a:t>Questions</a:t>
            </a:r>
            <a:endParaRPr lang="en-US" sz="2000" dirty="0"/>
          </a:p>
        </p:txBody>
      </p:sp>
      <p:sp>
        <p:nvSpPr>
          <p:cNvPr id="11" name="Text 9"/>
          <p:cNvSpPr/>
          <p:nvPr/>
        </p:nvSpPr>
        <p:spPr>
          <a:xfrm>
            <a:off x="6355080" y="1490472"/>
            <a:ext cx="5029200" cy="3721608"/>
          </a:xfrm>
          <a:prstGeom prst="rect">
            <a:avLst/>
          </a:prstGeom>
          <a:solidFill>
            <a:srgbClr val="EAF3FF"/>
          </a:solidFill>
          <a:ln>
            <a:solidFill>
              <a:srgbClr val="1D4E89">
                <a:alpha val="75000"/>
              </a:srgbClr>
            </a:solidFill>
          </a:ln>
        </p:spPr>
        <p:txBody>
          <a:bodyPr wrap="square" lIns="1524" tIns="1524" rIns="1524" bIns="1524" rtlCol="0" anchor="ctr">
            <a:normAutofit/>
          </a:bodyPr>
          <a:lstStyle/>
          <a:p>
            <a:pPr marL="0" indent="0">
              <a:buNone/>
            </a:pPr>
            <a:r>
              <a:rPr lang="en-US" sz="1600" dirty="0">
                <a:solidFill>
                  <a:srgbClr val="1F2937"/>
                </a:solidFill>
              </a:rPr>
              <a:t>1. Which Big Five traits may be relevant?</a:t>
            </a:r>
            <a:endParaRPr lang="en-US" sz="1600" dirty="0"/>
          </a:p>
          <a:p>
            <a:pPr marL="0" indent="0">
              <a:buNone/>
            </a:pPr>
            <a:r>
              <a:rPr lang="en-US" sz="1600" dirty="0">
                <a:solidFill>
                  <a:srgbClr val="1F2937"/>
                </a:solidFill>
              </a:rPr>
              <a:t>2. Which values appear dominant?</a:t>
            </a:r>
            <a:endParaRPr lang="en-US" sz="1600" dirty="0"/>
          </a:p>
          <a:p>
            <a:pPr marL="0" indent="0">
              <a:buNone/>
            </a:pPr>
            <a:r>
              <a:rPr lang="en-US" sz="1600" dirty="0">
                <a:solidFill>
                  <a:srgbClr val="1F2937"/>
                </a:solidFill>
              </a:rPr>
              <a:t>3. Is this poor person–organization fit?</a:t>
            </a:r>
            <a:endParaRPr lang="en-US" sz="1600" dirty="0"/>
          </a:p>
          <a:p>
            <a:pPr marL="0" indent="0">
              <a:buNone/>
            </a:pPr>
            <a:r>
              <a:rPr lang="en-US" sz="1600" dirty="0">
                <a:solidFill>
                  <a:srgbClr val="1F2937"/>
                </a:solidFill>
              </a:rPr>
              <a:t>4. Which situations activate risky behavior?</a:t>
            </a:r>
            <a:endParaRPr lang="en-US" sz="1600" dirty="0"/>
          </a:p>
          <a:p>
            <a:pPr marL="0" indent="0">
              <a:buNone/>
            </a:pPr>
            <a:r>
              <a:rPr lang="en-US" sz="1600" dirty="0">
                <a:solidFill>
                  <a:srgbClr val="1F2937"/>
                </a:solidFill>
              </a:rPr>
              <a:t>5. What should management change?</a:t>
            </a:r>
            <a:endParaRPr lang="en-US" sz="1600" dirty="0"/>
          </a:p>
        </p:txBody>
      </p:sp>
      <p:sp>
        <p:nvSpPr>
          <p:cNvPr id="12" name="Text 10"/>
          <p:cNvSpPr/>
          <p:nvPr/>
        </p:nvSpPr>
        <p:spPr>
          <a:xfrm>
            <a:off x="868680" y="5687568"/>
            <a:ext cx="10424160" cy="384048"/>
          </a:xfrm>
          <a:prstGeom prst="rect">
            <a:avLst/>
          </a:prstGeom>
          <a:noFill/>
          <a:ln/>
        </p:spPr>
        <p:txBody>
          <a:bodyPr wrap="square" lIns="1016" tIns="1016" rIns="1016" bIns="1016" rtlCol="0" anchor="ctr">
            <a:normAutofit/>
          </a:bodyPr>
          <a:lstStyle/>
          <a:p>
            <a:pPr marL="0" indent="0" algn="ctr">
              <a:buNone/>
            </a:pPr>
            <a:r>
              <a:rPr lang="en-US" sz="1400" b="1" dirty="0">
                <a:solidFill>
                  <a:srgbClr val="17324D"/>
                </a:solidFill>
                <a:latin typeface="Aptos" pitchFamily="34" charset="0"/>
                <a:ea typeface="Aptos" pitchFamily="34" charset="-122"/>
                <a:cs typeface="Aptos" pitchFamily="34" charset="-120"/>
              </a:rPr>
              <a:t>Quality connection: individual output can damage system-level quality if values and behavior are misaligned.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17324D"/>
          </a:solidFill>
          <a:ln w="12700">
            <a:solidFill>
              <a:srgbClr val="17324D"/>
            </a:solidFill>
            <a:prstDash val="solid"/>
          </a:ln>
        </p:spPr>
      </p:sp>
      <p:sp>
        <p:nvSpPr>
          <p:cNvPr id="3" name="Text 1"/>
          <p:cNvSpPr/>
          <p:nvPr/>
        </p:nvSpPr>
        <p:spPr>
          <a:xfrm>
            <a:off x="384048" y="73152"/>
            <a:ext cx="7863840" cy="310896"/>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Key Takeaways and Assignment</a:t>
            </a:r>
            <a:endParaRPr lang="en-US" sz="2400" dirty="0"/>
          </a:p>
        </p:txBody>
      </p:sp>
      <p:sp>
        <p:nvSpPr>
          <p:cNvPr id="4" name="Text 2"/>
          <p:cNvSpPr/>
          <p:nvPr/>
        </p:nvSpPr>
        <p:spPr>
          <a:xfrm>
            <a:off x="9784080" y="137160"/>
            <a:ext cx="2011680" cy="219456"/>
          </a:xfrm>
          <a:prstGeom prst="rect">
            <a:avLst/>
          </a:prstGeom>
          <a:noFill/>
          <a:ln/>
        </p:spPr>
        <p:txBody>
          <a:bodyPr wrap="square" lIns="0" tIns="0" rIns="0" bIns="0" rtlCol="0" anchor="ctr"/>
          <a:lstStyle/>
          <a:p>
            <a:pPr marL="0" indent="0" algn="r">
              <a:buNone/>
            </a:pPr>
            <a:r>
              <a:rPr lang="en-US" sz="1000" b="1" dirty="0">
                <a:solidFill>
                  <a:srgbClr val="FFFFFF"/>
                </a:solidFill>
              </a:rPr>
              <a:t>G TQM 511 | Week 5</a:t>
            </a:r>
            <a:endParaRPr lang="en-US" sz="1000" dirty="0"/>
          </a:p>
        </p:txBody>
      </p:sp>
      <p:sp>
        <p:nvSpPr>
          <p:cNvPr id="5" name="Text 3"/>
          <p:cNvSpPr/>
          <p:nvPr/>
        </p:nvSpPr>
        <p:spPr>
          <a:xfrm>
            <a:off x="502920" y="612648"/>
            <a:ext cx="11201400" cy="292608"/>
          </a:xfrm>
          <a:prstGeom prst="rect">
            <a:avLst/>
          </a:prstGeom>
          <a:noFill/>
          <a:ln/>
        </p:spPr>
        <p:txBody>
          <a:bodyPr wrap="square" lIns="0" tIns="0" rIns="0" bIns="0" rtlCol="0" anchor="ctr"/>
          <a:lstStyle/>
          <a:p>
            <a:pPr marL="0" indent="0">
              <a:buNone/>
            </a:pPr>
            <a:r>
              <a:rPr lang="en-US" sz="1400" i="1" dirty="0">
                <a:solidFill>
                  <a:srgbClr val="5A6775"/>
                </a:solidFill>
              </a:rPr>
              <a:t>End with the textbook’s core implications for managers.</a:t>
            </a:r>
            <a:endParaRPr lang="en-US" sz="1400" dirty="0"/>
          </a:p>
        </p:txBody>
      </p:sp>
      <p:sp>
        <p:nvSpPr>
          <p:cNvPr id="6" name="Text 4"/>
          <p:cNvSpPr/>
          <p:nvPr/>
        </p:nvSpPr>
        <p:spPr>
          <a:xfrm>
            <a:off x="502920" y="6528816"/>
            <a:ext cx="7132320" cy="164592"/>
          </a:xfrm>
          <a:prstGeom prst="rect">
            <a:avLst/>
          </a:prstGeom>
          <a:noFill/>
          <a:ln/>
        </p:spPr>
        <p:txBody>
          <a:bodyPr wrap="square" lIns="0" tIns="0" rIns="0" bIns="0" rtlCol="0" anchor="ctr"/>
          <a:lstStyle/>
          <a:p>
            <a:pPr marL="0" indent="0">
              <a:buNone/>
            </a:pPr>
            <a:r>
              <a:rPr lang="en-US" sz="680" dirty="0">
                <a:solidFill>
                  <a:srgbClr val="7D8790"/>
                </a:solidFill>
              </a:rPr>
              <a:t>Based on Robbins &amp; Judge, Organizational Behavior, Updated 18th Global Edition, Chapter 4</a:t>
            </a:r>
            <a:endParaRPr lang="en-US" sz="680" dirty="0"/>
          </a:p>
        </p:txBody>
      </p:sp>
      <p:sp>
        <p:nvSpPr>
          <p:cNvPr id="7" name="Text 5"/>
          <p:cNvSpPr/>
          <p:nvPr/>
        </p:nvSpPr>
        <p:spPr>
          <a:xfrm>
            <a:off x="9738360" y="6528816"/>
            <a:ext cx="1965960" cy="164592"/>
          </a:xfrm>
          <a:prstGeom prst="rect">
            <a:avLst/>
          </a:prstGeom>
          <a:noFill/>
          <a:ln/>
        </p:spPr>
        <p:txBody>
          <a:bodyPr wrap="square" lIns="0" tIns="0" rIns="0" bIns="0" rtlCol="0" anchor="ctr"/>
          <a:lstStyle/>
          <a:p>
            <a:pPr marL="0" indent="0" algn="r">
              <a:buNone/>
            </a:pPr>
            <a:r>
              <a:rPr lang="en-US" sz="680" dirty="0">
                <a:solidFill>
                  <a:srgbClr val="7D8790"/>
                </a:solidFill>
              </a:rPr>
              <a:t>Personality and Values</a:t>
            </a:r>
            <a:endParaRPr lang="en-US" sz="680" dirty="0"/>
          </a:p>
        </p:txBody>
      </p:sp>
      <p:sp>
        <p:nvSpPr>
          <p:cNvPr id="8" name="Text 6"/>
          <p:cNvSpPr/>
          <p:nvPr/>
        </p:nvSpPr>
        <p:spPr>
          <a:xfrm>
            <a:off x="594360" y="1051560"/>
            <a:ext cx="5623560" cy="320040"/>
          </a:xfrm>
          <a:prstGeom prst="rect">
            <a:avLst/>
          </a:prstGeom>
          <a:noFill/>
          <a:ln/>
        </p:spPr>
        <p:txBody>
          <a:bodyPr wrap="square" lIns="1016" tIns="1016" rIns="1016" bIns="1016" rtlCol="0" anchor="ctr">
            <a:normAutofit/>
          </a:bodyPr>
          <a:lstStyle/>
          <a:p>
            <a:pPr marL="0" indent="0" algn="l">
              <a:buNone/>
            </a:pPr>
            <a:r>
              <a:rPr lang="en-US" sz="2000" b="1" dirty="0">
                <a:solidFill>
                  <a:srgbClr val="2E7D32"/>
                </a:solidFill>
                <a:latin typeface="Aptos" pitchFamily="34" charset="0"/>
                <a:ea typeface="Aptos" pitchFamily="34" charset="-122"/>
                <a:cs typeface="Aptos" pitchFamily="34" charset="-120"/>
              </a:rPr>
              <a:t>Key takeaways</a:t>
            </a:r>
            <a:endParaRPr lang="en-US" sz="2000" dirty="0"/>
          </a:p>
        </p:txBody>
      </p:sp>
      <p:sp>
        <p:nvSpPr>
          <p:cNvPr id="9" name="Text 7"/>
          <p:cNvSpPr/>
          <p:nvPr/>
        </p:nvSpPr>
        <p:spPr>
          <a:xfrm>
            <a:off x="594360" y="1490472"/>
            <a:ext cx="5623560" cy="3858768"/>
          </a:xfrm>
          <a:prstGeom prst="rect">
            <a:avLst/>
          </a:prstGeom>
          <a:solidFill>
            <a:srgbClr val="EAF6EA"/>
          </a:solidFill>
          <a:ln>
            <a:solidFill>
              <a:srgbClr val="2E7D32">
                <a:alpha val="75000"/>
              </a:srgbClr>
            </a:solidFill>
          </a:ln>
        </p:spPr>
        <p:txBody>
          <a:bodyPr wrap="square" lIns="1524" tIns="1524" rIns="1524" bIns="1524" rtlCol="0" anchor="ctr">
            <a:normAutofit/>
          </a:bodyPr>
          <a:lstStyle/>
          <a:p>
            <a:pPr marL="0" indent="0">
              <a:buNone/>
            </a:pPr>
            <a:r>
              <a:rPr lang="en-US" sz="1600" dirty="0">
                <a:solidFill>
                  <a:srgbClr val="1F2937"/>
                </a:solidFill>
              </a:rPr>
              <a:t>1. Personality matters, but it does not explain all behavior.</a:t>
            </a:r>
            <a:endParaRPr lang="en-US" sz="1600" dirty="0"/>
          </a:p>
          <a:p>
            <a:pPr marL="0" indent="0">
              <a:buNone/>
            </a:pPr>
            <a:r>
              <a:rPr lang="en-US" sz="1600" dirty="0">
                <a:solidFill>
                  <a:srgbClr val="1F2937"/>
                </a:solidFill>
              </a:rPr>
              <a:t>2. Big Five traits have strong links to OB criteria.</a:t>
            </a:r>
            <a:endParaRPr lang="en-US" sz="1600" dirty="0"/>
          </a:p>
          <a:p>
            <a:pPr marL="0" indent="0">
              <a:buNone/>
            </a:pPr>
            <a:r>
              <a:rPr lang="en-US" sz="1600" dirty="0">
                <a:solidFill>
                  <a:srgbClr val="1F2937"/>
                </a:solidFill>
              </a:rPr>
              <a:t>3. Person–job fit and person–organization fit affect satisfaction, commitment, performance, and turnover.</a:t>
            </a:r>
            <a:endParaRPr lang="en-US" sz="1600" dirty="0"/>
          </a:p>
          <a:p>
            <a:pPr marL="0" indent="0">
              <a:buNone/>
            </a:pPr>
            <a:r>
              <a:rPr lang="en-US" sz="1600" dirty="0">
                <a:solidFill>
                  <a:srgbClr val="1F2937"/>
                </a:solidFill>
              </a:rPr>
              <a:t>4. Situation strength and trait activation shape whether personality predicts behavior.</a:t>
            </a:r>
            <a:endParaRPr lang="en-US" sz="1600" dirty="0"/>
          </a:p>
          <a:p>
            <a:pPr marL="0" indent="0">
              <a:buNone/>
            </a:pPr>
            <a:r>
              <a:rPr lang="en-US" sz="1600" dirty="0">
                <a:solidFill>
                  <a:srgbClr val="1F2937"/>
                </a:solidFill>
              </a:rPr>
              <a:t>5. Values underlie attitudes, behaviors, and perceptions.</a:t>
            </a:r>
            <a:endParaRPr lang="en-US" sz="1600" dirty="0"/>
          </a:p>
          <a:p>
            <a:pPr marL="0" indent="0">
              <a:buNone/>
            </a:pPr>
            <a:r>
              <a:rPr lang="en-US" sz="1600" dirty="0">
                <a:solidFill>
                  <a:srgbClr val="1F2937"/>
                </a:solidFill>
              </a:rPr>
              <a:t>6. Cultural values help managers think globally, but individuals vary within cultures.</a:t>
            </a:r>
            <a:endParaRPr lang="en-US" sz="1600" dirty="0"/>
          </a:p>
        </p:txBody>
      </p:sp>
      <p:sp>
        <p:nvSpPr>
          <p:cNvPr id="10" name="Text 8"/>
          <p:cNvSpPr/>
          <p:nvPr/>
        </p:nvSpPr>
        <p:spPr>
          <a:xfrm>
            <a:off x="6537960" y="1051560"/>
            <a:ext cx="4754880" cy="320040"/>
          </a:xfrm>
          <a:prstGeom prst="rect">
            <a:avLst/>
          </a:prstGeom>
          <a:noFill/>
          <a:ln/>
        </p:spPr>
        <p:txBody>
          <a:bodyPr wrap="square" lIns="1016" tIns="1016" rIns="1016" bIns="1016" rtlCol="0" anchor="ctr">
            <a:normAutofit/>
          </a:bodyPr>
          <a:lstStyle/>
          <a:p>
            <a:pPr marL="0" indent="0" algn="l">
              <a:buNone/>
            </a:pPr>
            <a:r>
              <a:rPr lang="en-US" sz="2000" b="1" dirty="0">
                <a:solidFill>
                  <a:srgbClr val="1D4E89"/>
                </a:solidFill>
                <a:latin typeface="Aptos" pitchFamily="34" charset="0"/>
                <a:ea typeface="Aptos" pitchFamily="34" charset="-122"/>
                <a:cs typeface="Aptos" pitchFamily="34" charset="-120"/>
              </a:rPr>
              <a:t>Assignment</a:t>
            </a:r>
            <a:endParaRPr lang="en-US" sz="2000" dirty="0"/>
          </a:p>
        </p:txBody>
      </p:sp>
      <p:sp>
        <p:nvSpPr>
          <p:cNvPr id="11" name="Text 9"/>
          <p:cNvSpPr/>
          <p:nvPr/>
        </p:nvSpPr>
        <p:spPr>
          <a:xfrm>
            <a:off x="6537960" y="1490472"/>
            <a:ext cx="4754880" cy="1435608"/>
          </a:xfrm>
          <a:prstGeom prst="rect">
            <a:avLst/>
          </a:prstGeom>
          <a:solidFill>
            <a:srgbClr val="EAF3FF"/>
          </a:solidFill>
          <a:ln>
            <a:solidFill>
              <a:srgbClr val="1D4E89">
                <a:alpha val="75000"/>
              </a:srgbClr>
            </a:solidFill>
          </a:ln>
        </p:spPr>
        <p:txBody>
          <a:bodyPr wrap="square" lIns="1524" tIns="1524" rIns="1524" bIns="1524" rtlCol="0" anchor="ctr">
            <a:normAutofit/>
          </a:bodyPr>
          <a:lstStyle/>
          <a:p>
            <a:pPr marL="0" indent="0">
              <a:buNone/>
            </a:pPr>
            <a:r>
              <a:rPr lang="en-US" sz="1400" dirty="0">
                <a:solidFill>
                  <a:srgbClr val="1F2937"/>
                </a:solidFill>
              </a:rPr>
              <a:t>Analyze a familiar role, team, or quality problem. Explain how personality, values, and fit may influence behavior and quality outcomes. Use Chapter 4 concepts and recommend two practical management actions.</a:t>
            </a:r>
            <a:endParaRPr lang="en-US" sz="1400" dirty="0"/>
          </a:p>
        </p:txBody>
      </p:sp>
      <p:sp>
        <p:nvSpPr>
          <p:cNvPr id="12" name="Text 10"/>
          <p:cNvSpPr/>
          <p:nvPr/>
        </p:nvSpPr>
        <p:spPr>
          <a:xfrm>
            <a:off x="6537960" y="3337560"/>
            <a:ext cx="4754880" cy="320040"/>
          </a:xfrm>
          <a:prstGeom prst="rect">
            <a:avLst/>
          </a:prstGeom>
          <a:noFill/>
          <a:ln/>
        </p:spPr>
        <p:txBody>
          <a:bodyPr wrap="square" lIns="1016" tIns="1016" rIns="1016" bIns="1016" rtlCol="0" anchor="ctr">
            <a:normAutofit/>
          </a:bodyPr>
          <a:lstStyle/>
          <a:p>
            <a:pPr marL="0" indent="0" algn="l">
              <a:buNone/>
            </a:pPr>
            <a:r>
              <a:rPr lang="en-US" sz="2000" b="1" dirty="0">
                <a:solidFill>
                  <a:srgbClr val="B45309"/>
                </a:solidFill>
                <a:latin typeface="Aptos" pitchFamily="34" charset="0"/>
                <a:ea typeface="Aptos" pitchFamily="34" charset="-122"/>
                <a:cs typeface="Aptos" pitchFamily="34" charset="-120"/>
              </a:rPr>
              <a:t>Preparation for Week 6</a:t>
            </a:r>
            <a:endParaRPr lang="en-US" sz="2000" dirty="0"/>
          </a:p>
        </p:txBody>
      </p:sp>
      <p:sp>
        <p:nvSpPr>
          <p:cNvPr id="13" name="Text 11"/>
          <p:cNvSpPr/>
          <p:nvPr/>
        </p:nvSpPr>
        <p:spPr>
          <a:xfrm>
            <a:off x="6537960" y="3776472"/>
            <a:ext cx="4754880" cy="1069848"/>
          </a:xfrm>
          <a:prstGeom prst="rect">
            <a:avLst/>
          </a:prstGeom>
          <a:solidFill>
            <a:srgbClr val="FFF4E6"/>
          </a:solidFill>
          <a:ln>
            <a:solidFill>
              <a:srgbClr val="B45309">
                <a:alpha val="75000"/>
              </a:srgbClr>
            </a:solidFill>
          </a:ln>
        </p:spPr>
        <p:txBody>
          <a:bodyPr wrap="square" lIns="1524" tIns="1524" rIns="1524" bIns="1524" rtlCol="0" anchor="ctr">
            <a:normAutofit/>
          </a:bodyPr>
          <a:lstStyle/>
          <a:p>
            <a:pPr marL="0" indent="0">
              <a:buNone/>
            </a:pPr>
            <a:r>
              <a:rPr lang="en-US" sz="1400" dirty="0">
                <a:solidFill>
                  <a:srgbClr val="1F2937"/>
                </a:solidFill>
              </a:rPr>
              <a:t>Next topic: Perception and Individual Decision Making. Identify one work decision that may have been affected by perception, attribution, stereotyping, overconfidence, or limited information.</a:t>
            </a:r>
            <a:endParaRPr lang="en-US" sz="1400" dirty="0"/>
          </a:p>
        </p:txBody>
      </p:sp>
      <p:sp>
        <p:nvSpPr>
          <p:cNvPr id="14" name="Text 12"/>
          <p:cNvSpPr/>
          <p:nvPr/>
        </p:nvSpPr>
        <p:spPr>
          <a:xfrm>
            <a:off x="6537960" y="5650992"/>
            <a:ext cx="4754880" cy="384048"/>
          </a:xfrm>
          <a:prstGeom prst="rect">
            <a:avLst/>
          </a:prstGeom>
          <a:noFill/>
          <a:ln/>
        </p:spPr>
        <p:txBody>
          <a:bodyPr wrap="square" lIns="1016" tIns="1016" rIns="1016" bIns="1016" rtlCol="0" anchor="ctr">
            <a:normAutofit/>
          </a:bodyPr>
          <a:lstStyle/>
          <a:p>
            <a:pPr marL="0" indent="0" algn="ctr">
              <a:buNone/>
            </a:pPr>
            <a:r>
              <a:rPr lang="en-US" sz="2000" b="1" dirty="0">
                <a:solidFill>
                  <a:srgbClr val="0F766E"/>
                </a:solidFill>
                <a:latin typeface="Aptos" pitchFamily="34" charset="0"/>
                <a:ea typeface="Aptos" pitchFamily="34" charset="-122"/>
                <a:cs typeface="Aptos"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3176</Words>
  <Application>Microsoft Office PowerPoint</Application>
  <PresentationFormat>Widescreen</PresentationFormat>
  <Paragraphs>387</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Sudan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 TQM 511 Week 5 - Personality and Values</dc:title>
  <dc:subject>G TQM 511 Week 5 Personality and Values</dc:subject>
  <dc:creator>OpenAI</dc:creator>
  <cp:lastModifiedBy>Abdelmutalab Talabose</cp:lastModifiedBy>
  <cp:revision>5</cp:revision>
  <dcterms:created xsi:type="dcterms:W3CDTF">2026-09-05T08:49:09Z</dcterms:created>
  <dcterms:modified xsi:type="dcterms:W3CDTF">2026-09-05T10:14:52Z</dcterms:modified>
</cp:coreProperties>
</file>