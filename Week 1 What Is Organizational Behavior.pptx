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3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544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F2D3A"/>
          </a:solidFill>
          <a:ln w="12700">
            <a:solidFill>
              <a:srgbClr val="0F2D3A"/>
            </a:solidFill>
            <a:prstDash val="solid"/>
          </a:ln>
        </p:spPr>
      </p:sp>
      <p:sp>
        <p:nvSpPr>
          <p:cNvPr id="3" name="Shape 1"/>
          <p:cNvSpPr/>
          <p:nvPr/>
        </p:nvSpPr>
        <p:spPr>
          <a:xfrm>
            <a:off x="0" y="6565392"/>
            <a:ext cx="12191695" cy="292608"/>
          </a:xfrm>
          <a:prstGeom prst="rect">
            <a:avLst/>
          </a:prstGeom>
          <a:solidFill>
            <a:srgbClr val="F5F7F8"/>
          </a:solidFill>
          <a:ln w="12700">
            <a:solidFill>
              <a:srgbClr val="F5F7F8"/>
            </a:solidFill>
            <a:prstDash val="solid"/>
          </a:ln>
        </p:spPr>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D3A"/>
          </a:solidFill>
          <a:ln w="12700">
            <a:solidFill>
              <a:srgbClr val="0F2D3A"/>
            </a:solidFill>
            <a:prstDash val="solid"/>
          </a:ln>
        </p:spPr>
        <p:txBody>
          <a:bodyPr/>
          <a:lstStyle/>
          <a:p>
            <a:endParaRPr sz="2400"/>
          </a:p>
        </p:txBody>
      </p:sp>
      <p:sp>
        <p:nvSpPr>
          <p:cNvPr id="3" name="Shape 1"/>
          <p:cNvSpPr/>
          <p:nvPr/>
        </p:nvSpPr>
        <p:spPr>
          <a:xfrm>
            <a:off x="0" y="0"/>
            <a:ext cx="12191695" cy="164592"/>
          </a:xfrm>
          <a:prstGeom prst="rect">
            <a:avLst/>
          </a:prstGeom>
          <a:solidFill>
            <a:srgbClr val="C49A3A"/>
          </a:solidFill>
          <a:ln w="12700">
            <a:solidFill>
              <a:srgbClr val="C49A3A"/>
            </a:solidFill>
            <a:prstDash val="solid"/>
          </a:ln>
        </p:spPr>
        <p:txBody>
          <a:bodyPr/>
          <a:lstStyle/>
          <a:p>
            <a:endParaRPr sz="2400"/>
          </a:p>
        </p:txBody>
      </p:sp>
      <p:sp>
        <p:nvSpPr>
          <p:cNvPr id="4" name="Text 2"/>
          <p:cNvSpPr/>
          <p:nvPr/>
        </p:nvSpPr>
        <p:spPr>
          <a:xfrm>
            <a:off x="640080" y="749808"/>
            <a:ext cx="2011680" cy="219456"/>
          </a:xfrm>
          <a:prstGeom prst="rect">
            <a:avLst/>
          </a:prstGeom>
          <a:noFill/>
          <a:ln/>
        </p:spPr>
        <p:txBody>
          <a:bodyPr wrap="square" lIns="0" tIns="0" rIns="0" bIns="0" rtlCol="0" anchor="ctr"/>
          <a:lstStyle/>
          <a:p>
            <a:pPr marL="0" indent="0">
              <a:buNone/>
            </a:pPr>
            <a:r>
              <a:rPr lang="en-US" b="1" dirty="0">
                <a:solidFill>
                  <a:srgbClr val="C49A3A"/>
                </a:solidFill>
                <a:latin typeface="Aptos" pitchFamily="34" charset="0"/>
                <a:ea typeface="Aptos" pitchFamily="34" charset="-122"/>
                <a:cs typeface="Aptos" pitchFamily="34" charset="-120"/>
              </a:rPr>
              <a:t>G TQM 511</a:t>
            </a:r>
            <a:endParaRPr lang="en-US" dirty="0"/>
          </a:p>
        </p:txBody>
      </p:sp>
      <p:sp>
        <p:nvSpPr>
          <p:cNvPr id="5" name="Text 3"/>
          <p:cNvSpPr/>
          <p:nvPr/>
        </p:nvSpPr>
        <p:spPr>
          <a:xfrm>
            <a:off x="640080" y="1143000"/>
            <a:ext cx="6583680" cy="1234440"/>
          </a:xfrm>
          <a:prstGeom prst="rect">
            <a:avLst/>
          </a:prstGeom>
          <a:noFill/>
          <a:ln/>
        </p:spPr>
        <p:txBody>
          <a:bodyPr wrap="square" lIns="0" tIns="0" rIns="0" bIns="0" rtlCol="0" anchor="ctr">
            <a:noAutofit/>
          </a:bodyPr>
          <a:lstStyle/>
          <a:p>
            <a:pPr marL="0" indent="0">
              <a:buNone/>
            </a:pPr>
            <a:r>
              <a:rPr lang="en-US" sz="4400" b="1" dirty="0">
                <a:solidFill>
                  <a:srgbClr val="FFFFFF"/>
                </a:solidFill>
                <a:latin typeface="Aptos Display" pitchFamily="34" charset="0"/>
                <a:ea typeface="Aptos Display" pitchFamily="34" charset="-122"/>
                <a:cs typeface="Aptos Display" pitchFamily="34" charset="-120"/>
              </a:rPr>
              <a:t>Organizational Behavior</a:t>
            </a:r>
            <a:endParaRPr lang="en-US" sz="4400" dirty="0"/>
          </a:p>
          <a:p>
            <a:pPr marL="0" indent="0">
              <a:buNone/>
            </a:pPr>
            <a:r>
              <a:rPr lang="en-US" sz="4400" b="1" dirty="0">
                <a:solidFill>
                  <a:srgbClr val="FFFFFF"/>
                </a:solidFill>
                <a:latin typeface="Aptos Display" pitchFamily="34" charset="0"/>
                <a:ea typeface="Aptos Display" pitchFamily="34" charset="-122"/>
                <a:cs typeface="Aptos Display" pitchFamily="34" charset="-120"/>
              </a:rPr>
              <a:t>and Quality</a:t>
            </a:r>
            <a:endParaRPr lang="en-US" sz="4400" dirty="0"/>
          </a:p>
        </p:txBody>
      </p:sp>
      <p:sp>
        <p:nvSpPr>
          <p:cNvPr id="6" name="Text 4"/>
          <p:cNvSpPr/>
          <p:nvPr/>
        </p:nvSpPr>
        <p:spPr>
          <a:xfrm>
            <a:off x="658368" y="2606040"/>
            <a:ext cx="6995160" cy="438912"/>
          </a:xfrm>
          <a:prstGeom prst="rect">
            <a:avLst/>
          </a:prstGeom>
          <a:noFill/>
          <a:ln/>
        </p:spPr>
        <p:txBody>
          <a:bodyPr wrap="square" lIns="0" tIns="0" rIns="0" bIns="0" rtlCol="0" anchor="ctr">
            <a:normAutofit/>
          </a:bodyPr>
          <a:lstStyle/>
          <a:p>
            <a:r>
              <a:rPr lang="en-US" sz="2000" dirty="0">
                <a:solidFill>
                  <a:srgbClr val="D6E7EA"/>
                </a:solidFill>
                <a:latin typeface="Aptos" pitchFamily="34" charset="0"/>
                <a:ea typeface="Aptos" pitchFamily="34" charset="-122"/>
                <a:cs typeface="Aptos" pitchFamily="34" charset="-120"/>
              </a:rPr>
              <a:t>Week 1: </a:t>
            </a:r>
            <a:r>
              <a:rPr lang="en-US" sz="2000" dirty="0">
                <a:solidFill>
                  <a:schemeClr val="bg1"/>
                </a:solidFill>
              </a:rPr>
              <a:t>What Is Organizational Behavior?</a:t>
            </a:r>
            <a:endParaRPr lang="en-US" sz="2000" dirty="0"/>
          </a:p>
        </p:txBody>
      </p:sp>
      <p:sp>
        <p:nvSpPr>
          <p:cNvPr id="7" name="Shape 5"/>
          <p:cNvSpPr/>
          <p:nvPr/>
        </p:nvSpPr>
        <p:spPr>
          <a:xfrm>
            <a:off x="658368" y="3246120"/>
            <a:ext cx="3246120" cy="329184"/>
          </a:xfrm>
          <a:prstGeom prst="roundRect">
            <a:avLst>
              <a:gd name="adj" fmla="val 50000"/>
            </a:avLst>
          </a:prstGeom>
          <a:solidFill>
            <a:srgbClr val="007C89"/>
          </a:solidFill>
          <a:ln w="12700">
            <a:solidFill>
              <a:srgbClr val="007C89"/>
            </a:solidFill>
            <a:prstDash val="solid"/>
          </a:ln>
        </p:spPr>
        <p:txBody>
          <a:bodyPr/>
          <a:lstStyle/>
          <a:p>
            <a:endParaRPr sz="2400"/>
          </a:p>
        </p:txBody>
      </p:sp>
      <p:sp>
        <p:nvSpPr>
          <p:cNvPr id="8" name="Text 6"/>
          <p:cNvSpPr/>
          <p:nvPr/>
        </p:nvSpPr>
        <p:spPr>
          <a:xfrm>
            <a:off x="749808" y="3319272"/>
            <a:ext cx="3063240" cy="137160"/>
          </a:xfrm>
          <a:prstGeom prst="rect">
            <a:avLst/>
          </a:prstGeom>
          <a:noFill/>
          <a:ln/>
        </p:spPr>
        <p:txBody>
          <a:bodyPr wrap="square" lIns="0" tIns="0" rIns="0" bIns="0" rtlCol="0" anchor="ctr">
            <a:no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People behavior → quality outcomes</a:t>
            </a:r>
            <a:endParaRPr lang="en-US" sz="1050" dirty="0"/>
          </a:p>
        </p:txBody>
      </p:sp>
      <p:sp>
        <p:nvSpPr>
          <p:cNvPr id="9" name="Text 7"/>
          <p:cNvSpPr/>
          <p:nvPr/>
        </p:nvSpPr>
        <p:spPr>
          <a:xfrm>
            <a:off x="658368" y="5687568"/>
            <a:ext cx="5669280" cy="219456"/>
          </a:xfrm>
          <a:prstGeom prst="rect">
            <a:avLst/>
          </a:prstGeom>
          <a:noFill/>
          <a:ln/>
        </p:spPr>
        <p:txBody>
          <a:bodyPr wrap="square" lIns="0" tIns="0" rIns="0" bIns="0" rtlCol="0" anchor="ctr"/>
          <a:lstStyle/>
          <a:p>
            <a:pPr marL="0" indent="0">
              <a:buNone/>
            </a:pPr>
            <a:r>
              <a:rPr lang="en-US" sz="1600" dirty="0">
                <a:solidFill>
                  <a:srgbClr val="D6E7EA"/>
                </a:solidFill>
                <a:latin typeface="Aptos" pitchFamily="34" charset="0"/>
                <a:ea typeface="Aptos" pitchFamily="34" charset="-122"/>
                <a:cs typeface="Aptos" pitchFamily="34" charset="-120"/>
              </a:rPr>
              <a:t>Postgraduate Diploma in Total Quality Management</a:t>
            </a:r>
            <a:endParaRPr lang="en-US" sz="1600" dirty="0"/>
          </a:p>
        </p:txBody>
      </p:sp>
      <p:sp>
        <p:nvSpPr>
          <p:cNvPr id="10" name="Text 8"/>
          <p:cNvSpPr/>
          <p:nvPr/>
        </p:nvSpPr>
        <p:spPr>
          <a:xfrm>
            <a:off x="658368" y="5971032"/>
            <a:ext cx="5486400" cy="347472"/>
          </a:xfrm>
          <a:prstGeom prst="rect">
            <a:avLst/>
          </a:prstGeom>
          <a:noFill/>
          <a:ln/>
        </p:spPr>
        <p:txBody>
          <a:bodyPr wrap="square" lIns="0" tIns="0" rIns="0" bIns="0" rtlCol="0" anchor="ctr"/>
          <a:lstStyle/>
          <a:p>
            <a:pPr marL="0" indent="0">
              <a:buNone/>
            </a:pPr>
            <a:r>
              <a:rPr lang="en-US" sz="1100" dirty="0">
                <a:solidFill>
                  <a:srgbClr val="B4C8CE"/>
                </a:solidFill>
                <a:latin typeface="Aptos" pitchFamily="34" charset="0"/>
                <a:ea typeface="Aptos" pitchFamily="34" charset="-122"/>
                <a:cs typeface="Aptos" pitchFamily="34" charset="-120"/>
              </a:rPr>
              <a:t>Based on Robbins &amp; Judge, Organizational Behavior, 18th ed.</a:t>
            </a:r>
            <a:endParaRPr lang="en-US" sz="1100" dirty="0"/>
          </a:p>
          <a:p>
            <a:pPr marL="0" indent="0">
              <a:buNone/>
            </a:pPr>
            <a:r>
              <a:rPr lang="en-US" sz="1100" dirty="0">
                <a:solidFill>
                  <a:srgbClr val="B4C8CE"/>
                </a:solidFill>
                <a:latin typeface="Aptos" pitchFamily="34" charset="0"/>
                <a:ea typeface="Aptos" pitchFamily="34" charset="-122"/>
                <a:cs typeface="Aptos" pitchFamily="34" charset="-120"/>
              </a:rPr>
              <a:t>Designed for active, case-based postgraduate learning</a:t>
            </a:r>
            <a:endParaRPr lang="en-US" sz="1100" dirty="0"/>
          </a:p>
        </p:txBody>
      </p:sp>
      <p:sp>
        <p:nvSpPr>
          <p:cNvPr id="11" name="Shape 9"/>
          <p:cNvSpPr/>
          <p:nvPr/>
        </p:nvSpPr>
        <p:spPr>
          <a:xfrm>
            <a:off x="7909560" y="1335024"/>
            <a:ext cx="3566160" cy="4389120"/>
          </a:xfrm>
          <a:prstGeom prst="roundRect">
            <a:avLst>
              <a:gd name="adj" fmla="val 2051"/>
            </a:avLst>
          </a:prstGeom>
          <a:solidFill>
            <a:srgbClr val="123A4A"/>
          </a:solidFill>
          <a:ln w="12700">
            <a:solidFill>
              <a:srgbClr val="1A5265"/>
            </a:solidFill>
            <a:prstDash val="solid"/>
          </a:ln>
        </p:spPr>
        <p:txBody>
          <a:bodyPr/>
          <a:lstStyle/>
          <a:p>
            <a:endParaRPr sz="2400"/>
          </a:p>
        </p:txBody>
      </p:sp>
      <p:sp>
        <p:nvSpPr>
          <p:cNvPr id="12" name="Text 10"/>
          <p:cNvSpPr/>
          <p:nvPr/>
        </p:nvSpPr>
        <p:spPr>
          <a:xfrm>
            <a:off x="8412480" y="1426464"/>
            <a:ext cx="2560320" cy="640080"/>
          </a:xfrm>
          <a:prstGeom prst="rect">
            <a:avLst/>
          </a:prstGeom>
          <a:noFill/>
          <a:ln/>
        </p:spPr>
        <p:txBody>
          <a:bodyPr wrap="square" lIns="0" tIns="0" rIns="0" bIns="0" rtlCol="0" anchor="ctr"/>
          <a:lstStyle/>
          <a:p>
            <a:pPr marL="0" indent="0" algn="ctr">
              <a:buNone/>
            </a:pPr>
            <a:r>
              <a:rPr lang="en-US" sz="5400" b="1" dirty="0">
                <a:solidFill>
                  <a:srgbClr val="C49A3A"/>
                </a:solidFill>
                <a:latin typeface="Aptos Display" pitchFamily="34" charset="0"/>
                <a:ea typeface="Aptos Display" pitchFamily="34" charset="-122"/>
                <a:cs typeface="Aptos Display" pitchFamily="34" charset="-120"/>
              </a:rPr>
              <a:t>OB</a:t>
            </a:r>
            <a:endParaRPr lang="en-US" sz="5400" dirty="0"/>
          </a:p>
        </p:txBody>
      </p:sp>
      <p:sp>
        <p:nvSpPr>
          <p:cNvPr id="13" name="Text 11"/>
          <p:cNvSpPr/>
          <p:nvPr/>
        </p:nvSpPr>
        <p:spPr>
          <a:xfrm>
            <a:off x="8275320" y="2286000"/>
            <a:ext cx="2743200" cy="182880"/>
          </a:xfrm>
          <a:prstGeom prst="rect">
            <a:avLst/>
          </a:prstGeom>
          <a:noFill/>
          <a:ln/>
        </p:spPr>
        <p:txBody>
          <a:bodyPr wrap="square" lIns="0" tIns="0" rIns="0" bIns="0" rtlCol="0" anchor="ctr"/>
          <a:lstStyle/>
          <a:p>
            <a:pPr marL="0" indent="0" algn="ctr">
              <a:buNone/>
            </a:pPr>
            <a:r>
              <a:rPr lang="en-US" dirty="0">
                <a:solidFill>
                  <a:srgbClr val="FFFFFF"/>
                </a:solidFill>
                <a:latin typeface="Aptos" pitchFamily="34" charset="0"/>
                <a:ea typeface="Aptos" pitchFamily="34" charset="-122"/>
                <a:cs typeface="Aptos" pitchFamily="34" charset="-120"/>
              </a:rPr>
              <a:t>individuals • groups • structure</a:t>
            </a:r>
            <a:endParaRPr lang="en-US" dirty="0"/>
          </a:p>
        </p:txBody>
      </p:sp>
      <p:sp>
        <p:nvSpPr>
          <p:cNvPr id="14" name="Shape 12"/>
          <p:cNvSpPr/>
          <p:nvPr/>
        </p:nvSpPr>
        <p:spPr>
          <a:xfrm>
            <a:off x="9646920" y="2697480"/>
            <a:ext cx="0" cy="731520"/>
          </a:xfrm>
          <a:prstGeom prst="line">
            <a:avLst/>
          </a:prstGeom>
          <a:noFill/>
          <a:ln w="25400">
            <a:solidFill>
              <a:srgbClr val="C49A3A"/>
            </a:solidFill>
            <a:prstDash val="solid"/>
            <a:headEnd type="none"/>
            <a:tailEnd type="triangle"/>
          </a:ln>
        </p:spPr>
        <p:txBody>
          <a:bodyPr/>
          <a:lstStyle/>
          <a:p>
            <a:endParaRPr sz="2400"/>
          </a:p>
        </p:txBody>
      </p:sp>
      <p:sp>
        <p:nvSpPr>
          <p:cNvPr id="15" name="Text 13"/>
          <p:cNvSpPr/>
          <p:nvPr/>
        </p:nvSpPr>
        <p:spPr>
          <a:xfrm>
            <a:off x="8686800" y="3657600"/>
            <a:ext cx="1920240" cy="566928"/>
          </a:xfrm>
          <a:prstGeom prst="rect">
            <a:avLst/>
          </a:prstGeom>
          <a:noFill/>
          <a:ln/>
        </p:spPr>
        <p:txBody>
          <a:bodyPr wrap="square" lIns="0" tIns="0" rIns="0" bIns="0" rtlCol="0" anchor="ctr"/>
          <a:lstStyle/>
          <a:p>
            <a:pPr marL="0" indent="0" algn="ctr">
              <a:buNone/>
            </a:pPr>
            <a:r>
              <a:rPr lang="en-US" sz="3200" b="1" dirty="0">
                <a:solidFill>
                  <a:srgbClr val="FFFFFF"/>
                </a:solidFill>
                <a:latin typeface="Aptos Display" pitchFamily="34" charset="0"/>
                <a:ea typeface="Aptos Display" pitchFamily="34" charset="-122"/>
                <a:cs typeface="Aptos Display" pitchFamily="34" charset="-120"/>
              </a:rPr>
              <a:t>quality</a:t>
            </a:r>
            <a:endParaRPr lang="en-US" sz="3200" dirty="0"/>
          </a:p>
          <a:p>
            <a:pPr marL="0" indent="0" algn="ctr">
              <a:buNone/>
            </a:pPr>
            <a:r>
              <a:rPr lang="en-US" sz="3200" b="1" dirty="0">
                <a:solidFill>
                  <a:srgbClr val="FFFFFF"/>
                </a:solidFill>
                <a:latin typeface="Aptos Display" pitchFamily="34" charset="0"/>
                <a:ea typeface="Aptos Display" pitchFamily="34" charset="-122"/>
                <a:cs typeface="Aptos Display" pitchFamily="34" charset="-120"/>
              </a:rPr>
              <a:t>outcomes</a:t>
            </a:r>
            <a:endParaRPr lang="en-US" sz="3200" dirty="0"/>
          </a:p>
        </p:txBody>
      </p:sp>
      <p:sp>
        <p:nvSpPr>
          <p:cNvPr id="16" name="Text 14"/>
          <p:cNvSpPr/>
          <p:nvPr/>
        </p:nvSpPr>
        <p:spPr>
          <a:xfrm>
            <a:off x="8183880" y="4901184"/>
            <a:ext cx="2926080" cy="201168"/>
          </a:xfrm>
          <a:prstGeom prst="rect">
            <a:avLst/>
          </a:prstGeom>
          <a:noFill/>
          <a:ln/>
        </p:spPr>
        <p:txBody>
          <a:bodyPr wrap="square" lIns="0" tIns="0" rIns="0" bIns="0" rtlCol="0" anchor="ctr"/>
          <a:lstStyle/>
          <a:p>
            <a:pPr marL="0" indent="0" algn="ctr">
              <a:buNone/>
            </a:pPr>
            <a:r>
              <a:rPr lang="en-US" sz="1400" dirty="0">
                <a:solidFill>
                  <a:srgbClr val="D6E7EA"/>
                </a:solidFill>
                <a:latin typeface="Aptos" pitchFamily="34" charset="0"/>
                <a:ea typeface="Aptos" pitchFamily="34" charset="-122"/>
                <a:cs typeface="Aptos" pitchFamily="34" charset="-120"/>
              </a:rPr>
              <a:t>Dr. Abdelmutalab Adam</a:t>
            </a:r>
            <a:endParaRPr lang="en-US" sz="1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00" b="0"/>
              <a:t>1</a:t>
            </a:fld>
            <a:endParaRPr lang="en-US" sz="1000"/>
          </a:p>
        </p:txBody>
      </p:sp>
      <p:sp>
        <p:nvSpPr>
          <p:cNvPr id="18" name="Text 4">
            <a:extLst>
              <a:ext uri="{FF2B5EF4-FFF2-40B4-BE49-F238E27FC236}">
                <a16:creationId xmlns:a16="http://schemas.microsoft.com/office/drawing/2014/main" id="{CBAD06ED-AA31-F51C-8AD7-E1F42C429EA8}"/>
              </a:ext>
            </a:extLst>
          </p:cNvPr>
          <p:cNvSpPr/>
          <p:nvPr/>
        </p:nvSpPr>
        <p:spPr>
          <a:xfrm>
            <a:off x="955548" y="4462272"/>
            <a:ext cx="6400800" cy="274320"/>
          </a:xfrm>
          <a:prstGeom prst="rect">
            <a:avLst/>
          </a:prstGeom>
          <a:noFill/>
          <a:ln/>
        </p:spPr>
        <p:txBody>
          <a:bodyPr wrap="square" lIns="0" tIns="0" rIns="0" bIns="0" rtlCol="0" anchor="ctr"/>
          <a:lstStyle/>
          <a:p>
            <a:pPr marL="0" indent="0">
              <a:buNone/>
            </a:pPr>
            <a:r>
              <a:rPr lang="en-US" dirty="0">
                <a:solidFill>
                  <a:schemeClr val="bg1"/>
                </a:solidFill>
              </a:rPr>
              <a:t>Week 1 Lecture: What Is Organizational Behavior?</a:t>
            </a:r>
          </a:p>
        </p:txBody>
      </p:sp>
      <p:pic>
        <p:nvPicPr>
          <p:cNvPr id="19" name="Picture 18" descr="images">
            <a:extLst>
              <a:ext uri="{FF2B5EF4-FFF2-40B4-BE49-F238E27FC236}">
                <a16:creationId xmlns:a16="http://schemas.microsoft.com/office/drawing/2014/main" id="{1E450DC0-046F-EAE4-A25B-AD90712CA7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835640" y="244246"/>
            <a:ext cx="847725" cy="942975"/>
          </a:xfrm>
          <a:prstGeom prst="rect">
            <a:avLst/>
          </a:prstGeom>
          <a:noFill/>
          <a:ln w="9525">
            <a:noFill/>
            <a:miter lim="800000"/>
            <a:headEnd/>
            <a:tailEnd/>
          </a:ln>
        </p:spPr>
      </p:pic>
      <p:sp>
        <p:nvSpPr>
          <p:cNvPr id="21" name="Text 10">
            <a:extLst>
              <a:ext uri="{FF2B5EF4-FFF2-40B4-BE49-F238E27FC236}">
                <a16:creationId xmlns:a16="http://schemas.microsoft.com/office/drawing/2014/main" id="{A5215BE2-BA4C-CF9C-4C8B-0475A2BDF59B}"/>
              </a:ext>
            </a:extLst>
          </p:cNvPr>
          <p:cNvSpPr/>
          <p:nvPr/>
        </p:nvSpPr>
        <p:spPr>
          <a:xfrm>
            <a:off x="713232" y="5010912"/>
            <a:ext cx="6949440" cy="310896"/>
          </a:xfrm>
          <a:prstGeom prst="rect">
            <a:avLst/>
          </a:prstGeom>
          <a:noFill/>
          <a:ln/>
        </p:spPr>
        <p:txBody>
          <a:bodyPr wrap="square" lIns="0" tIns="0" rIns="0" bIns="0" rtlCol="0" anchor="ctr"/>
          <a:lstStyle/>
          <a:p>
            <a:pPr marL="0" indent="0">
              <a:buNone/>
            </a:pPr>
            <a:r>
              <a:rPr lang="en-US" sz="1600" dirty="0">
                <a:solidFill>
                  <a:srgbClr val="CFE4E8"/>
                </a:solidFill>
              </a:rPr>
              <a:t>Dr. Abdelmutalab Ibrahim Abdelrasul Adam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Learning Outcomes</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23444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Shape 5"/>
          <p:cNvSpPr/>
          <p:nvPr/>
        </p:nvSpPr>
        <p:spPr>
          <a:xfrm>
            <a:off x="822960" y="1380744"/>
            <a:ext cx="1143000" cy="329184"/>
          </a:xfrm>
          <a:prstGeom prst="roundRect">
            <a:avLst>
              <a:gd name="adj" fmla="val 50000"/>
            </a:avLst>
          </a:prstGeom>
          <a:solidFill>
            <a:srgbClr val="007C89"/>
          </a:solidFill>
          <a:ln w="12700">
            <a:solidFill>
              <a:srgbClr val="007C89"/>
            </a:solidFill>
            <a:prstDash val="solid"/>
          </a:ln>
        </p:spPr>
        <p:txBody>
          <a:bodyPr/>
          <a:lstStyle/>
          <a:p>
            <a:endParaRPr sz="2000"/>
          </a:p>
        </p:txBody>
      </p:sp>
      <p:sp>
        <p:nvSpPr>
          <p:cNvPr id="8" name="Text 6"/>
          <p:cNvSpPr/>
          <p:nvPr/>
        </p:nvSpPr>
        <p:spPr>
          <a:xfrm>
            <a:off x="914400" y="1453896"/>
            <a:ext cx="96012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Explain</a:t>
            </a:r>
            <a:endParaRPr lang="en-US" sz="1000" dirty="0"/>
          </a:p>
        </p:txBody>
      </p:sp>
      <p:sp>
        <p:nvSpPr>
          <p:cNvPr id="9" name="Text 7"/>
          <p:cNvSpPr/>
          <p:nvPr/>
        </p:nvSpPr>
        <p:spPr>
          <a:xfrm>
            <a:off x="2139696" y="1417320"/>
            <a:ext cx="3337560" cy="530352"/>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Define organizational behavior and explain why interpersonal skills matter for managerial effectiveness.</a:t>
            </a:r>
            <a:endParaRPr lang="en-US" sz="1400" dirty="0"/>
          </a:p>
        </p:txBody>
      </p:sp>
      <p:sp>
        <p:nvSpPr>
          <p:cNvPr id="10" name="Shape 8"/>
          <p:cNvSpPr/>
          <p:nvPr/>
        </p:nvSpPr>
        <p:spPr>
          <a:xfrm>
            <a:off x="6236208" y="123444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1" name="Shape 9"/>
          <p:cNvSpPr/>
          <p:nvPr/>
        </p:nvSpPr>
        <p:spPr>
          <a:xfrm>
            <a:off x="6400800" y="1380744"/>
            <a:ext cx="1143000" cy="329184"/>
          </a:xfrm>
          <a:prstGeom prst="roundRect">
            <a:avLst>
              <a:gd name="adj" fmla="val 50000"/>
            </a:avLst>
          </a:prstGeom>
          <a:solidFill>
            <a:srgbClr val="007C89"/>
          </a:solidFill>
          <a:ln w="12700">
            <a:solidFill>
              <a:srgbClr val="007C89"/>
            </a:solidFill>
            <a:prstDash val="solid"/>
          </a:ln>
        </p:spPr>
        <p:txBody>
          <a:bodyPr/>
          <a:lstStyle/>
          <a:p>
            <a:endParaRPr sz="2000"/>
          </a:p>
        </p:txBody>
      </p:sp>
      <p:sp>
        <p:nvSpPr>
          <p:cNvPr id="12" name="Text 10"/>
          <p:cNvSpPr/>
          <p:nvPr/>
        </p:nvSpPr>
        <p:spPr>
          <a:xfrm>
            <a:off x="6492240" y="1453896"/>
            <a:ext cx="96012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Differentiate</a:t>
            </a:r>
            <a:endParaRPr lang="en-US" sz="1000" dirty="0"/>
          </a:p>
        </p:txBody>
      </p:sp>
      <p:sp>
        <p:nvSpPr>
          <p:cNvPr id="13" name="Text 11"/>
          <p:cNvSpPr/>
          <p:nvPr/>
        </p:nvSpPr>
        <p:spPr>
          <a:xfrm>
            <a:off x="7717536" y="1417320"/>
            <a:ext cx="3337560" cy="530352"/>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Distinguish management functions, roles, and technical, human, and conceptual skills.</a:t>
            </a:r>
            <a:endParaRPr lang="en-US" sz="1400" dirty="0"/>
          </a:p>
        </p:txBody>
      </p:sp>
      <p:sp>
        <p:nvSpPr>
          <p:cNvPr id="14" name="Shape 12"/>
          <p:cNvSpPr/>
          <p:nvPr/>
        </p:nvSpPr>
        <p:spPr>
          <a:xfrm>
            <a:off x="658368" y="256032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5" name="Shape 13"/>
          <p:cNvSpPr/>
          <p:nvPr/>
        </p:nvSpPr>
        <p:spPr>
          <a:xfrm>
            <a:off x="822960" y="2706624"/>
            <a:ext cx="1143000" cy="329184"/>
          </a:xfrm>
          <a:prstGeom prst="roundRect">
            <a:avLst>
              <a:gd name="adj" fmla="val 50000"/>
            </a:avLst>
          </a:prstGeom>
          <a:solidFill>
            <a:srgbClr val="007C89"/>
          </a:solidFill>
          <a:ln w="12700">
            <a:solidFill>
              <a:srgbClr val="007C89"/>
            </a:solidFill>
            <a:prstDash val="solid"/>
          </a:ln>
        </p:spPr>
        <p:txBody>
          <a:bodyPr/>
          <a:lstStyle/>
          <a:p>
            <a:endParaRPr sz="2000"/>
          </a:p>
        </p:txBody>
      </p:sp>
      <p:sp>
        <p:nvSpPr>
          <p:cNvPr id="16" name="Text 14"/>
          <p:cNvSpPr/>
          <p:nvPr/>
        </p:nvSpPr>
        <p:spPr>
          <a:xfrm>
            <a:off x="914400" y="2779776"/>
            <a:ext cx="96012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Apply</a:t>
            </a:r>
            <a:endParaRPr lang="en-US" sz="1000" dirty="0"/>
          </a:p>
        </p:txBody>
      </p:sp>
      <p:sp>
        <p:nvSpPr>
          <p:cNvPr id="17" name="Text 15"/>
          <p:cNvSpPr/>
          <p:nvPr/>
        </p:nvSpPr>
        <p:spPr>
          <a:xfrm>
            <a:off x="2139696" y="2743200"/>
            <a:ext cx="3337560" cy="530352"/>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Diagnose a quality-related problem at the individual, group, and organizational levels.</a:t>
            </a:r>
            <a:endParaRPr lang="en-US" sz="1400" dirty="0"/>
          </a:p>
        </p:txBody>
      </p:sp>
      <p:sp>
        <p:nvSpPr>
          <p:cNvPr id="18" name="Shape 16"/>
          <p:cNvSpPr/>
          <p:nvPr/>
        </p:nvSpPr>
        <p:spPr>
          <a:xfrm>
            <a:off x="6236208" y="256032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9" name="Shape 17"/>
          <p:cNvSpPr/>
          <p:nvPr/>
        </p:nvSpPr>
        <p:spPr>
          <a:xfrm>
            <a:off x="6400800" y="2706624"/>
            <a:ext cx="1143000" cy="329184"/>
          </a:xfrm>
          <a:prstGeom prst="roundRect">
            <a:avLst>
              <a:gd name="adj" fmla="val 50000"/>
            </a:avLst>
          </a:prstGeom>
          <a:solidFill>
            <a:srgbClr val="007C89"/>
          </a:solidFill>
          <a:ln w="12700">
            <a:solidFill>
              <a:srgbClr val="007C89"/>
            </a:solidFill>
            <a:prstDash val="solid"/>
          </a:ln>
        </p:spPr>
        <p:txBody>
          <a:bodyPr/>
          <a:lstStyle/>
          <a:p>
            <a:endParaRPr sz="2000"/>
          </a:p>
        </p:txBody>
      </p:sp>
      <p:sp>
        <p:nvSpPr>
          <p:cNvPr id="20" name="Text 18"/>
          <p:cNvSpPr/>
          <p:nvPr/>
        </p:nvSpPr>
        <p:spPr>
          <a:xfrm>
            <a:off x="6492240" y="2779776"/>
            <a:ext cx="96012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Evaluate</a:t>
            </a:r>
            <a:endParaRPr lang="en-US" sz="1000" dirty="0"/>
          </a:p>
        </p:txBody>
      </p:sp>
      <p:sp>
        <p:nvSpPr>
          <p:cNvPr id="21" name="Text 19"/>
          <p:cNvSpPr/>
          <p:nvPr/>
        </p:nvSpPr>
        <p:spPr>
          <a:xfrm>
            <a:off x="7635240" y="2743199"/>
            <a:ext cx="3767328" cy="777237"/>
          </a:xfrm>
          <a:prstGeom prst="rect">
            <a:avLst/>
          </a:prstGeom>
          <a:noFill/>
          <a:ln/>
        </p:spPr>
        <p:txBody>
          <a:bodyPr wrap="square" lIns="0" tIns="0" rIns="0" bIns="0" rtlCol="0" anchor="ctr">
            <a:noAutofit/>
          </a:bodyPr>
          <a:lstStyle/>
          <a:p>
            <a:r>
              <a:rPr dirty="0"/>
              <a:t>Explain systematic study, evidence-based management, and the disciplines contributing to OB.</a:t>
            </a:r>
          </a:p>
        </p:txBody>
      </p:sp>
      <p:sp>
        <p:nvSpPr>
          <p:cNvPr id="22" name="Shape 20"/>
          <p:cNvSpPr/>
          <p:nvPr/>
        </p:nvSpPr>
        <p:spPr>
          <a:xfrm>
            <a:off x="658368" y="3886200"/>
            <a:ext cx="10972800" cy="960120"/>
          </a:xfrm>
          <a:prstGeom prst="roundRect">
            <a:avLst>
              <a:gd name="adj" fmla="val 7619"/>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23" name="Shape 21"/>
          <p:cNvSpPr/>
          <p:nvPr/>
        </p:nvSpPr>
        <p:spPr>
          <a:xfrm>
            <a:off x="822960" y="4032504"/>
            <a:ext cx="1143000" cy="329184"/>
          </a:xfrm>
          <a:prstGeom prst="roundRect">
            <a:avLst>
              <a:gd name="adj" fmla="val 50000"/>
            </a:avLst>
          </a:prstGeom>
          <a:solidFill>
            <a:srgbClr val="C49A3A"/>
          </a:solidFill>
          <a:ln w="12700">
            <a:solidFill>
              <a:srgbClr val="C49A3A"/>
            </a:solidFill>
            <a:prstDash val="solid"/>
          </a:ln>
        </p:spPr>
        <p:txBody>
          <a:bodyPr/>
          <a:lstStyle/>
          <a:p>
            <a:endParaRPr sz="2000"/>
          </a:p>
        </p:txBody>
      </p:sp>
      <p:sp>
        <p:nvSpPr>
          <p:cNvPr id="24" name="Text 22"/>
          <p:cNvSpPr/>
          <p:nvPr/>
        </p:nvSpPr>
        <p:spPr>
          <a:xfrm>
            <a:off x="914400" y="4105656"/>
            <a:ext cx="960120" cy="137160"/>
          </a:xfrm>
          <a:prstGeom prst="rect">
            <a:avLst/>
          </a:prstGeom>
          <a:noFill/>
          <a:ln/>
        </p:spPr>
        <p:txBody>
          <a:bodyPr wrap="square" lIns="0" tIns="0" rIns="0" bIns="0" rtlCol="0" anchor="ctr">
            <a:noAutofit/>
          </a:bodyPr>
          <a:lstStyle/>
          <a:p>
            <a:r>
              <a:t>Apply</a:t>
            </a:r>
          </a:p>
        </p:txBody>
      </p:sp>
      <p:sp>
        <p:nvSpPr>
          <p:cNvPr id="25" name="Text 23"/>
          <p:cNvSpPr/>
          <p:nvPr/>
        </p:nvSpPr>
        <p:spPr>
          <a:xfrm>
            <a:off x="2139696" y="4069080"/>
            <a:ext cx="9235440" cy="530352"/>
          </a:xfrm>
          <a:prstGeom prst="rect">
            <a:avLst/>
          </a:prstGeom>
          <a:noFill/>
          <a:ln/>
        </p:spPr>
        <p:txBody>
          <a:bodyPr wrap="square" lIns="0" tIns="0" rIns="0" bIns="0" rtlCol="0" anchor="ctr">
            <a:noAutofit/>
          </a:bodyPr>
          <a:lstStyle/>
          <a:p>
            <a:r>
              <a:rPr sz="2000"/>
              <a:t>Apply the inputs–processes–outcomes model to connect behavior with quality performance and evaluate feasible interventions.</a:t>
            </a:r>
          </a:p>
        </p:txBody>
      </p:sp>
      <p:sp>
        <p:nvSpPr>
          <p:cNvPr id="26" name="Shape 24"/>
          <p:cNvSpPr/>
          <p:nvPr/>
        </p:nvSpPr>
        <p:spPr>
          <a:xfrm>
            <a:off x="658368" y="5349240"/>
            <a:ext cx="10881360" cy="658368"/>
          </a:xfrm>
          <a:prstGeom prst="roundRect">
            <a:avLst>
              <a:gd name="adj" fmla="val 11111"/>
            </a:avLst>
          </a:prstGeom>
          <a:solidFill>
            <a:srgbClr val="FFF7E7"/>
          </a:solidFill>
          <a:ln w="12700">
            <a:solidFill>
              <a:srgbClr val="B9DEE3"/>
            </a:solidFill>
            <a:prstDash val="solid"/>
          </a:ln>
        </p:spPr>
        <p:txBody>
          <a:bodyPr/>
          <a:lstStyle/>
          <a:p>
            <a:endParaRPr sz="2000"/>
          </a:p>
        </p:txBody>
      </p:sp>
      <p:sp>
        <p:nvSpPr>
          <p:cNvPr id="27" name="Text 25"/>
          <p:cNvSpPr/>
          <p:nvPr/>
        </p:nvSpPr>
        <p:spPr>
          <a:xfrm>
            <a:off x="822960" y="5486400"/>
            <a:ext cx="10552176" cy="429768"/>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Guiding question: How can understanding behavior improve quality performance?</a:t>
            </a:r>
            <a:endParaRPr lang="en-US" sz="1400" dirty="0"/>
          </a:p>
        </p:txBody>
      </p:sp>
      <p:sp>
        <p:nvSpPr>
          <p:cNvPr id="28"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2</a:t>
            </a:fld>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19" y="438911"/>
            <a:ext cx="10022619" cy="429767"/>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Opening Case: When Quality Problems Are Human Problems</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170432"/>
            <a:ext cx="6903720" cy="3053698"/>
          </a:xfrm>
          <a:prstGeom prst="roundRect">
            <a:avLst>
              <a:gd name="adj" fmla="val 2500"/>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960120" y="1426464"/>
            <a:ext cx="6263640" cy="1408176"/>
          </a:xfrm>
          <a:prstGeom prst="rect">
            <a:avLst/>
          </a:prstGeom>
          <a:noFill/>
          <a:ln/>
        </p:spPr>
        <p:txBody>
          <a:bodyPr wrap="square" lIns="254" tIns="254" rIns="254" bIns="254"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A hospital introduced a new electronic incident-reporting system. The technology worked, but reporting remained low. Staff feared blame, supervisors discouraged “bad news,” and departments argued over responsibility. The quality office concluded that the problem was not primarily technical—it was behavioral and organizational.</a:t>
            </a:r>
            <a:endParaRPr lang="en-US" dirty="0"/>
          </a:p>
        </p:txBody>
      </p:sp>
      <p:sp>
        <p:nvSpPr>
          <p:cNvPr id="8" name="Text 6"/>
          <p:cNvSpPr/>
          <p:nvPr/>
        </p:nvSpPr>
        <p:spPr>
          <a:xfrm>
            <a:off x="960120" y="3054096"/>
            <a:ext cx="1005840" cy="182880"/>
          </a:xfrm>
          <a:prstGeom prst="rect">
            <a:avLst/>
          </a:prstGeom>
          <a:noFill/>
          <a:ln/>
        </p:spPr>
        <p:txBody>
          <a:bodyPr wrap="square" lIns="0" tIns="0" rIns="0" bIns="0" rtlCol="0" anchor="ctr"/>
          <a:lstStyle/>
          <a:p>
            <a:pPr marL="0" indent="0">
              <a:buNone/>
            </a:pPr>
            <a:r>
              <a:rPr lang="en-US" sz="1400" b="1" dirty="0">
                <a:solidFill>
                  <a:srgbClr val="007C89"/>
                </a:solidFill>
                <a:latin typeface="Aptos" pitchFamily="34" charset="0"/>
                <a:ea typeface="Aptos" pitchFamily="34" charset="-122"/>
                <a:cs typeface="Aptos" pitchFamily="34" charset="-120"/>
              </a:rPr>
              <a:t>Discuss</a:t>
            </a:r>
            <a:endParaRPr lang="en-US" sz="1400" dirty="0"/>
          </a:p>
        </p:txBody>
      </p:sp>
      <p:sp>
        <p:nvSpPr>
          <p:cNvPr id="9" name="Text 7"/>
          <p:cNvSpPr/>
          <p:nvPr/>
        </p:nvSpPr>
        <p:spPr>
          <a:xfrm>
            <a:off x="960120" y="3328416"/>
            <a:ext cx="6263640" cy="895714"/>
          </a:xfrm>
          <a:prstGeom prst="rect">
            <a:avLst/>
          </a:prstGeom>
          <a:noFill/>
          <a:ln/>
        </p:spPr>
        <p:txBody>
          <a:bodyPr wrap="square" lIns="381" tIns="381" rIns="381" bIns="381" rtlCol="0" anchor="t">
            <a:noAutofit/>
          </a:bodyPr>
          <a:lstStyle/>
          <a:p>
            <a:r>
              <a:rPr lang="en-US" sz="1400" dirty="0">
                <a:solidFill>
                  <a:srgbClr val="1A1A1A"/>
                </a:solidFill>
                <a:latin typeface="Aptos" pitchFamily="34" charset="0"/>
                <a:ea typeface="Aptos" pitchFamily="34" charset="-122"/>
                <a:cs typeface="Aptos" pitchFamily="34" charset="-120"/>
              </a:rPr>
              <a:t>What individual factors may be involved?</a:t>
            </a:r>
            <a:endParaRPr lang="en-US" sz="1400" dirty="0"/>
          </a:p>
          <a:p>
            <a:r>
              <a:rPr lang="en-US" sz="1400" dirty="0">
                <a:solidFill>
                  <a:srgbClr val="1A1A1A"/>
                </a:solidFill>
                <a:latin typeface="Aptos" pitchFamily="34" charset="0"/>
                <a:ea typeface="Aptos" pitchFamily="34" charset="-122"/>
                <a:cs typeface="Aptos" pitchFamily="34" charset="-120"/>
              </a:rPr>
              <a:t>What group dynamics may be involved?</a:t>
            </a:r>
            <a:endParaRPr lang="en-US" sz="1400" dirty="0"/>
          </a:p>
          <a:p>
            <a:r>
              <a:rPr lang="en-US" sz="1400" dirty="0">
                <a:solidFill>
                  <a:srgbClr val="1A1A1A"/>
                </a:solidFill>
                <a:latin typeface="Aptos" pitchFamily="34" charset="0"/>
                <a:ea typeface="Aptos" pitchFamily="34" charset="-122"/>
                <a:cs typeface="Aptos" pitchFamily="34" charset="-120"/>
              </a:rPr>
              <a:t>What organizational conditions may be involved?</a:t>
            </a:r>
            <a:endParaRPr lang="en-US" sz="1400" dirty="0"/>
          </a:p>
          <a:p>
            <a:r>
              <a:rPr lang="en-US" sz="1400" dirty="0">
                <a:solidFill>
                  <a:srgbClr val="1A1A1A"/>
                </a:solidFill>
                <a:latin typeface="Aptos" pitchFamily="34" charset="0"/>
                <a:ea typeface="Aptos" pitchFamily="34" charset="-122"/>
                <a:cs typeface="Aptos" pitchFamily="34" charset="-120"/>
              </a:rPr>
              <a:t>What quality outcomes are affected?</a:t>
            </a:r>
            <a:endParaRPr lang="en-US" sz="1400" dirty="0"/>
          </a:p>
        </p:txBody>
      </p:sp>
      <p:sp>
        <p:nvSpPr>
          <p:cNvPr id="10" name="Shape 8"/>
          <p:cNvSpPr/>
          <p:nvPr/>
        </p:nvSpPr>
        <p:spPr>
          <a:xfrm>
            <a:off x="7882128" y="1170432"/>
            <a:ext cx="3639312" cy="2926080"/>
          </a:xfrm>
          <a:prstGeom prst="roundRect">
            <a:avLst>
              <a:gd name="adj" fmla="val 2500"/>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1" name="Text 9"/>
          <p:cNvSpPr/>
          <p:nvPr/>
        </p:nvSpPr>
        <p:spPr>
          <a:xfrm>
            <a:off x="8183880" y="1252726"/>
            <a:ext cx="1828800" cy="374906"/>
          </a:xfrm>
          <a:prstGeom prst="rect">
            <a:avLst/>
          </a:prstGeom>
          <a:noFill/>
          <a:ln/>
        </p:spPr>
        <p:txBody>
          <a:bodyPr wrap="square" lIns="0" tIns="0" rIns="0" bIns="0" rtlCol="0" anchor="ctr">
            <a:normAutofit/>
          </a:bodyPr>
          <a:lstStyle/>
          <a:p>
            <a:pPr marL="0" indent="0">
              <a:buNone/>
            </a:pPr>
            <a:r>
              <a:rPr lang="en-US" sz="1200" b="1" dirty="0">
                <a:solidFill>
                  <a:srgbClr val="C49A3A"/>
                </a:solidFill>
                <a:latin typeface="Aptos" pitchFamily="34" charset="0"/>
                <a:ea typeface="Aptos" pitchFamily="34" charset="-122"/>
                <a:cs typeface="Aptos" pitchFamily="34" charset="-120"/>
              </a:rPr>
              <a:t>Key insight</a:t>
            </a:r>
            <a:endParaRPr lang="en-US" sz="1200" dirty="0"/>
          </a:p>
        </p:txBody>
      </p:sp>
      <p:sp>
        <p:nvSpPr>
          <p:cNvPr id="12" name="Text 10"/>
          <p:cNvSpPr/>
          <p:nvPr/>
        </p:nvSpPr>
        <p:spPr>
          <a:xfrm>
            <a:off x="8183880" y="1719072"/>
            <a:ext cx="3017520" cy="786384"/>
          </a:xfrm>
          <a:prstGeom prst="rect">
            <a:avLst/>
          </a:prstGeom>
          <a:noFill/>
          <a:ln/>
        </p:spPr>
        <p:txBody>
          <a:bodyPr wrap="square" lIns="0" tIns="0" rIns="0" bIns="0" rtlCol="0" anchor="ctr">
            <a:noAutofit/>
          </a:bodyPr>
          <a:lstStyle/>
          <a:p>
            <a:pPr marL="0" indent="0">
              <a:buNone/>
            </a:pPr>
            <a:r>
              <a:rPr lang="en-US" sz="1600" b="1" dirty="0">
                <a:solidFill>
                  <a:srgbClr val="0F2D3A"/>
                </a:solidFill>
                <a:latin typeface="Aptos Display" pitchFamily="34" charset="0"/>
                <a:ea typeface="Aptos Display" pitchFamily="34" charset="-122"/>
                <a:cs typeface="Aptos Display" pitchFamily="34" charset="-120"/>
              </a:rPr>
              <a:t>Many quality failures are produced by attitudes, norms, leadership, communication, structure, and culture—not by process design alone.</a:t>
            </a:r>
            <a:endParaRPr lang="en-US" sz="1600" dirty="0"/>
          </a:p>
        </p:txBody>
      </p:sp>
      <p:sp>
        <p:nvSpPr>
          <p:cNvPr id="13" name="Text 11"/>
          <p:cNvSpPr/>
          <p:nvPr/>
        </p:nvSpPr>
        <p:spPr>
          <a:xfrm>
            <a:off x="8183880" y="2715767"/>
            <a:ext cx="1828800" cy="260605"/>
          </a:xfrm>
          <a:prstGeom prst="rect">
            <a:avLst/>
          </a:prstGeom>
          <a:noFill/>
          <a:ln/>
        </p:spPr>
        <p:txBody>
          <a:bodyPr wrap="square" lIns="0" tIns="0" rIns="0" bIns="0" rtlCol="0" anchor="ctr">
            <a:normAutofit/>
          </a:bodyPr>
          <a:lstStyle/>
          <a:p>
            <a:pPr marL="0" indent="0">
              <a:buNone/>
            </a:pPr>
            <a:r>
              <a:rPr lang="en-US" sz="1100" b="1" dirty="0">
                <a:solidFill>
                  <a:srgbClr val="007C89"/>
                </a:solidFill>
                <a:latin typeface="Aptos" pitchFamily="34" charset="0"/>
                <a:ea typeface="Aptos" pitchFamily="34" charset="-122"/>
                <a:cs typeface="Aptos" pitchFamily="34" charset="-120"/>
              </a:rPr>
              <a:t>Teaching move</a:t>
            </a:r>
            <a:endParaRPr lang="en-US" sz="1100" dirty="0"/>
          </a:p>
        </p:txBody>
      </p:sp>
      <p:sp>
        <p:nvSpPr>
          <p:cNvPr id="14" name="Text 12"/>
          <p:cNvSpPr/>
          <p:nvPr/>
        </p:nvSpPr>
        <p:spPr>
          <a:xfrm>
            <a:off x="8183880" y="3136392"/>
            <a:ext cx="2999232" cy="365760"/>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Ask learners to classify each cause at the individual, group, or organizational level.</a:t>
            </a:r>
            <a:endParaRPr lang="en-US" sz="1400" dirty="0"/>
          </a:p>
        </p:txBody>
      </p:sp>
      <p:sp>
        <p:nvSpPr>
          <p:cNvPr id="15" name="Shape 13"/>
          <p:cNvSpPr/>
          <p:nvPr/>
        </p:nvSpPr>
        <p:spPr>
          <a:xfrm>
            <a:off x="658368" y="4709160"/>
            <a:ext cx="10881360" cy="694944"/>
          </a:xfrm>
          <a:prstGeom prst="roundRect">
            <a:avLst>
              <a:gd name="adj" fmla="val 10526"/>
            </a:avLst>
          </a:prstGeom>
          <a:solidFill>
            <a:srgbClr val="FFF7E7"/>
          </a:solidFill>
          <a:ln w="12700">
            <a:solidFill>
              <a:srgbClr val="B9DEE3"/>
            </a:solidFill>
            <a:prstDash val="solid"/>
          </a:ln>
        </p:spPr>
        <p:txBody>
          <a:bodyPr/>
          <a:lstStyle/>
          <a:p>
            <a:endParaRPr sz="2000"/>
          </a:p>
        </p:txBody>
      </p:sp>
      <p:sp>
        <p:nvSpPr>
          <p:cNvPr id="16" name="Text 14"/>
          <p:cNvSpPr/>
          <p:nvPr/>
        </p:nvSpPr>
        <p:spPr>
          <a:xfrm>
            <a:off x="822960" y="4846320"/>
            <a:ext cx="10552176" cy="466344"/>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Core idea: Quality systems succeed when human behavior reinforces them.</a:t>
            </a:r>
            <a:endParaRPr lang="en-US" sz="1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3</a:t>
            </a:fld>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Why Interpersonal Skills Matter</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170432"/>
            <a:ext cx="6583680" cy="3429000"/>
          </a:xfrm>
          <a:prstGeom prst="roundRect">
            <a:avLst>
              <a:gd name="adj" fmla="val 2133"/>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960120" y="1554480"/>
            <a:ext cx="5943600" cy="2194560"/>
          </a:xfrm>
          <a:prstGeom prst="rect">
            <a:avLst/>
          </a:prstGeom>
          <a:noFill/>
          <a:ln/>
        </p:spPr>
        <p:txBody>
          <a:bodyPr wrap="square" lIns="381" tIns="381" rIns="381" bIns="381" rtlCol="0" anchor="t">
            <a:normAutofit/>
          </a:bodyPr>
          <a:lstStyle/>
          <a:p>
            <a:r>
              <a:rPr lang="en-US" dirty="0">
                <a:solidFill>
                  <a:srgbClr val="1A1A1A"/>
                </a:solidFill>
                <a:latin typeface="Aptos" pitchFamily="34" charset="0"/>
                <a:ea typeface="Aptos" pitchFamily="34" charset="-122"/>
                <a:cs typeface="Aptos" pitchFamily="34" charset="-120"/>
              </a:rPr>
              <a:t>Managers achieve results through other people.</a:t>
            </a:r>
            <a:endParaRPr lang="en-US" dirty="0"/>
          </a:p>
          <a:p>
            <a:r>
              <a:rPr lang="en-US" dirty="0">
                <a:solidFill>
                  <a:srgbClr val="1A1A1A"/>
                </a:solidFill>
                <a:latin typeface="Aptos" pitchFamily="34" charset="0"/>
                <a:ea typeface="Aptos" pitchFamily="34" charset="-122"/>
                <a:cs typeface="Aptos" pitchFamily="34" charset="-120"/>
              </a:rPr>
              <a:t>Workplace relationships influence job satisfaction, stress, commitment, and turnover.</a:t>
            </a:r>
            <a:endParaRPr lang="en-US" dirty="0"/>
          </a:p>
          <a:p>
            <a:r>
              <a:rPr lang="en-US" dirty="0">
                <a:solidFill>
                  <a:srgbClr val="1A1A1A"/>
                </a:solidFill>
                <a:latin typeface="Aptos" pitchFamily="34" charset="0"/>
                <a:ea typeface="Aptos" pitchFamily="34" charset="-122"/>
                <a:cs typeface="Aptos" pitchFamily="34" charset="-120"/>
              </a:rPr>
              <a:t>Human skills help organizations attract, develop, and retain high-performing employees.</a:t>
            </a:r>
            <a:endParaRPr lang="en-US" dirty="0"/>
          </a:p>
          <a:p>
            <a:r>
              <a:rPr lang="en-US" dirty="0">
                <a:solidFill>
                  <a:srgbClr val="1A1A1A"/>
                </a:solidFill>
                <a:latin typeface="Aptos" pitchFamily="34" charset="0"/>
                <a:ea typeface="Aptos" pitchFamily="34" charset="-122"/>
                <a:cs typeface="Aptos" pitchFamily="34" charset="-120"/>
              </a:rPr>
              <a:t>A positive work environment supports engagement, learning, and responsible behavior.</a:t>
            </a:r>
            <a:endParaRPr lang="en-US" dirty="0"/>
          </a:p>
        </p:txBody>
      </p:sp>
      <p:sp>
        <p:nvSpPr>
          <p:cNvPr id="8" name="Shape 6"/>
          <p:cNvSpPr/>
          <p:nvPr/>
        </p:nvSpPr>
        <p:spPr>
          <a:xfrm>
            <a:off x="7635240" y="1170432"/>
            <a:ext cx="3886200" cy="3429000"/>
          </a:xfrm>
          <a:prstGeom prst="roundRect">
            <a:avLst>
              <a:gd name="adj" fmla="val 2133"/>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9" name="Text 7"/>
          <p:cNvSpPr/>
          <p:nvPr/>
        </p:nvSpPr>
        <p:spPr>
          <a:xfrm>
            <a:off x="7973568" y="1481328"/>
            <a:ext cx="2194560" cy="219456"/>
          </a:xfrm>
          <a:prstGeom prst="rect">
            <a:avLst/>
          </a:prstGeom>
          <a:noFill/>
          <a:ln/>
        </p:spPr>
        <p:txBody>
          <a:bodyPr wrap="square" lIns="0" tIns="0" rIns="0" bIns="0" rtlCol="0" anchor="ctr"/>
          <a:lstStyle/>
          <a:p>
            <a:pPr marL="0" indent="0">
              <a:buNone/>
            </a:pPr>
            <a:r>
              <a:rPr lang="en-US" sz="1400" b="1" dirty="0">
                <a:solidFill>
                  <a:srgbClr val="007C89"/>
                </a:solidFill>
                <a:latin typeface="Aptos" pitchFamily="34" charset="0"/>
                <a:ea typeface="Aptos" pitchFamily="34" charset="-122"/>
                <a:cs typeface="Aptos" pitchFamily="34" charset="-120"/>
              </a:rPr>
              <a:t>Quality connection</a:t>
            </a:r>
            <a:endParaRPr lang="en-US" sz="1400" dirty="0"/>
          </a:p>
        </p:txBody>
      </p:sp>
      <p:sp>
        <p:nvSpPr>
          <p:cNvPr id="10" name="Text 8"/>
          <p:cNvSpPr/>
          <p:nvPr/>
        </p:nvSpPr>
        <p:spPr>
          <a:xfrm>
            <a:off x="7927848" y="2020824"/>
            <a:ext cx="3200400" cy="822960"/>
          </a:xfrm>
          <a:prstGeom prst="rect">
            <a:avLst/>
          </a:prstGeom>
          <a:noFill/>
          <a:ln/>
        </p:spPr>
        <p:txBody>
          <a:bodyPr wrap="square" lIns="0" tIns="0" rIns="0" bIns="0" rtlCol="0" anchor="ctr">
            <a:noAutofit/>
          </a:bodyPr>
          <a:lstStyle/>
          <a:p>
            <a:pPr marL="0" indent="0">
              <a:buNone/>
            </a:pPr>
            <a:r>
              <a:rPr lang="en-US" b="1" dirty="0">
                <a:solidFill>
                  <a:srgbClr val="0F2D3A"/>
                </a:solidFill>
                <a:latin typeface="Aptos Display" pitchFamily="34" charset="0"/>
                <a:ea typeface="Aptos Display" pitchFamily="34" charset="-122"/>
                <a:cs typeface="Aptos Display" pitchFamily="34" charset="-120"/>
              </a:rPr>
              <a:t>Quality is delivered through human interactions: handoffs, teamwork, communication, judgement, and response to customers.</a:t>
            </a:r>
            <a:endParaRPr lang="en-US" dirty="0"/>
          </a:p>
        </p:txBody>
      </p:sp>
      <p:sp>
        <p:nvSpPr>
          <p:cNvPr id="11" name="Text 9"/>
          <p:cNvSpPr/>
          <p:nvPr/>
        </p:nvSpPr>
        <p:spPr>
          <a:xfrm>
            <a:off x="7973568" y="3163824"/>
            <a:ext cx="914400" cy="182880"/>
          </a:xfrm>
          <a:prstGeom prst="rect">
            <a:avLst/>
          </a:prstGeom>
          <a:noFill/>
          <a:ln/>
        </p:spPr>
        <p:txBody>
          <a:bodyPr wrap="square" lIns="0" tIns="0" rIns="0" bIns="0" rtlCol="0" anchor="ctr"/>
          <a:lstStyle/>
          <a:p>
            <a:pPr marL="0" indent="0">
              <a:buNone/>
            </a:pPr>
            <a:r>
              <a:rPr lang="en-US" sz="1400" b="1" dirty="0">
                <a:solidFill>
                  <a:srgbClr val="C49A3A"/>
                </a:solidFill>
                <a:latin typeface="Aptos" pitchFamily="34" charset="0"/>
                <a:ea typeface="Aptos" pitchFamily="34" charset="-122"/>
                <a:cs typeface="Aptos" pitchFamily="34" charset="-120"/>
              </a:rPr>
              <a:t>Prompt</a:t>
            </a:r>
            <a:endParaRPr lang="en-US" sz="1400" dirty="0"/>
          </a:p>
        </p:txBody>
      </p:sp>
      <p:sp>
        <p:nvSpPr>
          <p:cNvPr id="12" name="Text 10"/>
          <p:cNvSpPr/>
          <p:nvPr/>
        </p:nvSpPr>
        <p:spPr>
          <a:xfrm>
            <a:off x="7973568" y="3419856"/>
            <a:ext cx="3154680" cy="365760"/>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Which people skill is most critical in your work context?</a:t>
            </a:r>
            <a:endParaRPr lang="en-US" sz="1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4</a:t>
            </a:fld>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Managers and Organizations</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207008"/>
            <a:ext cx="5349240" cy="2834640"/>
          </a:xfrm>
          <a:prstGeom prst="roundRect">
            <a:avLst>
              <a:gd name="adj" fmla="val 258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Shape 5"/>
          <p:cNvSpPr/>
          <p:nvPr/>
        </p:nvSpPr>
        <p:spPr>
          <a:xfrm>
            <a:off x="960120" y="1499616"/>
            <a:ext cx="1234440" cy="329184"/>
          </a:xfrm>
          <a:prstGeom prst="roundRect">
            <a:avLst>
              <a:gd name="adj" fmla="val 50000"/>
            </a:avLst>
          </a:prstGeom>
          <a:solidFill>
            <a:srgbClr val="007C89"/>
          </a:solidFill>
          <a:ln w="12700">
            <a:solidFill>
              <a:srgbClr val="007C89"/>
            </a:solidFill>
            <a:prstDash val="solid"/>
          </a:ln>
        </p:spPr>
        <p:txBody>
          <a:bodyPr/>
          <a:lstStyle/>
          <a:p>
            <a:endParaRPr sz="2000"/>
          </a:p>
        </p:txBody>
      </p:sp>
      <p:sp>
        <p:nvSpPr>
          <p:cNvPr id="8" name="Text 6"/>
          <p:cNvSpPr/>
          <p:nvPr/>
        </p:nvSpPr>
        <p:spPr>
          <a:xfrm>
            <a:off x="1051560" y="1572768"/>
            <a:ext cx="105156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Manager</a:t>
            </a:r>
            <a:endParaRPr lang="en-US" sz="1000" dirty="0"/>
          </a:p>
        </p:txBody>
      </p:sp>
      <p:sp>
        <p:nvSpPr>
          <p:cNvPr id="9" name="Text 7"/>
          <p:cNvSpPr/>
          <p:nvPr/>
        </p:nvSpPr>
        <p:spPr>
          <a:xfrm>
            <a:off x="960120" y="2011680"/>
            <a:ext cx="4572000" cy="914400"/>
          </a:xfrm>
          <a:prstGeom prst="rect">
            <a:avLst/>
          </a:prstGeom>
          <a:noFill/>
          <a:ln/>
        </p:spPr>
        <p:txBody>
          <a:bodyPr wrap="square" lIns="0" tIns="0" rIns="0" bIns="0" rtlCol="0" anchor="ctr">
            <a:normAutofit/>
          </a:bodyPr>
          <a:lstStyle/>
          <a:p>
            <a:pPr marL="0" indent="0">
              <a:buNone/>
            </a:pPr>
            <a:r>
              <a:rPr lang="en-US" b="1" dirty="0">
                <a:solidFill>
                  <a:srgbClr val="0F2D3A"/>
                </a:solidFill>
                <a:latin typeface="Aptos Display" pitchFamily="34" charset="0"/>
                <a:ea typeface="Aptos Display" pitchFamily="34" charset="-122"/>
                <a:cs typeface="Aptos Display" pitchFamily="34" charset="-120"/>
              </a:rPr>
              <a:t>An individual who achieves goals through other people. Managers make decisions, allocate resources, and direct activities toward goals.</a:t>
            </a:r>
            <a:endParaRPr lang="en-US" dirty="0"/>
          </a:p>
        </p:txBody>
      </p:sp>
      <p:sp>
        <p:nvSpPr>
          <p:cNvPr id="10" name="Shape 8"/>
          <p:cNvSpPr/>
          <p:nvPr/>
        </p:nvSpPr>
        <p:spPr>
          <a:xfrm>
            <a:off x="6355080" y="1207008"/>
            <a:ext cx="5166360" cy="2834640"/>
          </a:xfrm>
          <a:prstGeom prst="roundRect">
            <a:avLst>
              <a:gd name="adj" fmla="val 258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1" name="Shape 9"/>
          <p:cNvSpPr/>
          <p:nvPr/>
        </p:nvSpPr>
        <p:spPr>
          <a:xfrm>
            <a:off x="6656832" y="1499616"/>
            <a:ext cx="1508760" cy="329184"/>
          </a:xfrm>
          <a:prstGeom prst="roundRect">
            <a:avLst>
              <a:gd name="adj" fmla="val 50000"/>
            </a:avLst>
          </a:prstGeom>
          <a:solidFill>
            <a:srgbClr val="C49A3A"/>
          </a:solidFill>
          <a:ln w="12700">
            <a:solidFill>
              <a:srgbClr val="C49A3A"/>
            </a:solidFill>
            <a:prstDash val="solid"/>
          </a:ln>
        </p:spPr>
        <p:txBody>
          <a:bodyPr/>
          <a:lstStyle/>
          <a:p>
            <a:endParaRPr sz="2000"/>
          </a:p>
        </p:txBody>
      </p:sp>
      <p:sp>
        <p:nvSpPr>
          <p:cNvPr id="12" name="Text 10"/>
          <p:cNvSpPr/>
          <p:nvPr/>
        </p:nvSpPr>
        <p:spPr>
          <a:xfrm>
            <a:off x="6748272" y="1572768"/>
            <a:ext cx="132588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Organization</a:t>
            </a:r>
            <a:endParaRPr lang="en-US" sz="1000" dirty="0"/>
          </a:p>
        </p:txBody>
      </p:sp>
      <p:sp>
        <p:nvSpPr>
          <p:cNvPr id="13" name="Text 11"/>
          <p:cNvSpPr/>
          <p:nvPr/>
        </p:nvSpPr>
        <p:spPr>
          <a:xfrm>
            <a:off x="6656832" y="2011680"/>
            <a:ext cx="4389120" cy="1755648"/>
          </a:xfrm>
          <a:prstGeom prst="rect">
            <a:avLst/>
          </a:prstGeom>
          <a:noFill/>
          <a:ln/>
        </p:spPr>
        <p:txBody>
          <a:bodyPr wrap="square" lIns="0" tIns="0" rIns="0" bIns="0" rtlCol="0" anchor="ctr">
            <a:no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A consciously coordinated social unit of two or more people that functions continuously to achieve common goals.</a:t>
            </a:r>
            <a:endParaRPr lang="en-US" sz="2400" dirty="0"/>
          </a:p>
        </p:txBody>
      </p:sp>
      <p:sp>
        <p:nvSpPr>
          <p:cNvPr id="14" name="Shape 12"/>
          <p:cNvSpPr/>
          <p:nvPr/>
        </p:nvSpPr>
        <p:spPr>
          <a:xfrm>
            <a:off x="658368" y="4617720"/>
            <a:ext cx="10881360" cy="694944"/>
          </a:xfrm>
          <a:prstGeom prst="roundRect">
            <a:avLst>
              <a:gd name="adj" fmla="val 10526"/>
            </a:avLst>
          </a:prstGeom>
          <a:solidFill>
            <a:srgbClr val="F2FBFC"/>
          </a:solidFill>
          <a:ln w="12700">
            <a:solidFill>
              <a:srgbClr val="B9DEE3"/>
            </a:solidFill>
            <a:prstDash val="solid"/>
          </a:ln>
        </p:spPr>
        <p:txBody>
          <a:bodyPr/>
          <a:lstStyle/>
          <a:p>
            <a:endParaRPr sz="2000"/>
          </a:p>
        </p:txBody>
      </p:sp>
      <p:sp>
        <p:nvSpPr>
          <p:cNvPr id="15" name="Text 13"/>
          <p:cNvSpPr/>
          <p:nvPr/>
        </p:nvSpPr>
        <p:spPr>
          <a:xfrm>
            <a:off x="822960" y="4754880"/>
            <a:ext cx="10552176" cy="466344"/>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Quality is produced by people coordinated toward shared standards and improvement goals.</a:t>
            </a:r>
            <a:endParaRPr lang="en-US" sz="1400" dirty="0"/>
          </a:p>
        </p:txBody>
      </p:sp>
      <p:sp>
        <p:nvSpPr>
          <p:cNvPr id="16" name="Text 14"/>
          <p:cNvSpPr/>
          <p:nvPr/>
        </p:nvSpPr>
        <p:spPr>
          <a:xfrm>
            <a:off x="868680" y="5559552"/>
            <a:ext cx="10332720" cy="219456"/>
          </a:xfrm>
          <a:prstGeom prst="rect">
            <a:avLst/>
          </a:prstGeom>
          <a:noFill/>
          <a:ln/>
        </p:spPr>
        <p:txBody>
          <a:bodyPr wrap="square" lIns="0" tIns="0" rIns="0" bIns="0" rtlCol="0" anchor="ctr"/>
          <a:lstStyle/>
          <a:p>
            <a:pPr marL="0" indent="0" algn="ctr">
              <a:buNone/>
            </a:pPr>
            <a:r>
              <a:rPr lang="en-US" sz="1400" dirty="0">
                <a:solidFill>
                  <a:srgbClr val="5A6872"/>
                </a:solidFill>
                <a:latin typeface="Aptos" pitchFamily="34" charset="0"/>
                <a:ea typeface="Aptos" pitchFamily="34" charset="-122"/>
                <a:cs typeface="Aptos" pitchFamily="34" charset="-120"/>
              </a:rPr>
              <a:t>Examples: hospitals • universities • government agencies • manufacturing firms • service firms • nonprofits</a:t>
            </a:r>
            <a:endParaRPr lang="en-US" sz="1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5</a:t>
            </a:fld>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Four Management Functions Through a Quality Lens</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298448"/>
            <a:ext cx="2514600" cy="2971800"/>
          </a:xfrm>
          <a:prstGeom prst="roundRect">
            <a:avLst>
              <a:gd name="adj" fmla="val 2909"/>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Shape 5"/>
          <p:cNvSpPr/>
          <p:nvPr/>
        </p:nvSpPr>
        <p:spPr>
          <a:xfrm>
            <a:off x="859536" y="1536192"/>
            <a:ext cx="347472" cy="347472"/>
          </a:xfrm>
          <a:prstGeom prst="ellipse">
            <a:avLst/>
          </a:prstGeom>
          <a:solidFill>
            <a:srgbClr val="007C89"/>
          </a:solidFill>
          <a:ln w="12700">
            <a:solidFill>
              <a:srgbClr val="007C89"/>
            </a:solidFill>
            <a:prstDash val="solid"/>
          </a:ln>
        </p:spPr>
        <p:txBody>
          <a:bodyPr/>
          <a:lstStyle/>
          <a:p>
            <a:endParaRPr sz="2000"/>
          </a:p>
        </p:txBody>
      </p:sp>
      <p:sp>
        <p:nvSpPr>
          <p:cNvPr id="8" name="Text 6"/>
          <p:cNvSpPr/>
          <p:nvPr/>
        </p:nvSpPr>
        <p:spPr>
          <a:xfrm>
            <a:off x="859536" y="1618488"/>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9" name="Text 7"/>
          <p:cNvSpPr/>
          <p:nvPr/>
        </p:nvSpPr>
        <p:spPr>
          <a:xfrm>
            <a:off x="1316736" y="1600200"/>
            <a:ext cx="1664208" cy="228600"/>
          </a:xfrm>
          <a:prstGeom prst="rect">
            <a:avLst/>
          </a:prstGeom>
          <a:noFill/>
          <a:ln/>
        </p:spPr>
        <p:txBody>
          <a:bodyPr wrap="square" lIns="0" tIns="0" rIns="0" bIns="0" rtlCol="0" anchor="ctr">
            <a:noAutofit/>
          </a:bodyPr>
          <a:lstStyle/>
          <a:p>
            <a:pPr marL="0" indent="0">
              <a:buNone/>
            </a:pPr>
            <a:r>
              <a:rPr lang="en-US" b="1" dirty="0">
                <a:solidFill>
                  <a:srgbClr val="0F2D3A"/>
                </a:solidFill>
                <a:latin typeface="Aptos Display" pitchFamily="34" charset="0"/>
                <a:ea typeface="Aptos Display" pitchFamily="34" charset="-122"/>
                <a:cs typeface="Aptos Display" pitchFamily="34" charset="-120"/>
              </a:rPr>
              <a:t>Planning</a:t>
            </a:r>
            <a:endParaRPr lang="en-US" dirty="0"/>
          </a:p>
        </p:txBody>
      </p:sp>
      <p:sp>
        <p:nvSpPr>
          <p:cNvPr id="10" name="Text 8"/>
          <p:cNvSpPr/>
          <p:nvPr/>
        </p:nvSpPr>
        <p:spPr>
          <a:xfrm>
            <a:off x="932688" y="2148840"/>
            <a:ext cx="1965960" cy="1097280"/>
          </a:xfrm>
          <a:prstGeom prst="rect">
            <a:avLst/>
          </a:prstGeom>
          <a:noFill/>
          <a:ln/>
        </p:spPr>
        <p:txBody>
          <a:bodyPr wrap="square" lIns="0" tIns="0" rIns="0" bIns="0" rtlCol="0" anchor="ctr">
            <a:normAutofit/>
          </a:bodyPr>
          <a:lstStyle/>
          <a:p>
            <a:pPr marL="0" indent="0">
              <a:buNone/>
            </a:pPr>
            <a:r>
              <a:rPr lang="en-US" sz="1600" dirty="0">
                <a:solidFill>
                  <a:srgbClr val="1A1A1A"/>
                </a:solidFill>
                <a:latin typeface="Aptos" pitchFamily="34" charset="0"/>
                <a:ea typeface="Aptos" pitchFamily="34" charset="-122"/>
                <a:cs typeface="Aptos" pitchFamily="34" charset="-120"/>
              </a:rPr>
              <a:t>Set quality objectives, strategies and improvement priorities.</a:t>
            </a:r>
            <a:endParaRPr lang="en-US" sz="1600" dirty="0"/>
          </a:p>
        </p:txBody>
      </p:sp>
      <p:sp>
        <p:nvSpPr>
          <p:cNvPr id="11" name="Shape 9"/>
          <p:cNvSpPr/>
          <p:nvPr/>
        </p:nvSpPr>
        <p:spPr>
          <a:xfrm>
            <a:off x="3493008" y="1298448"/>
            <a:ext cx="2514600" cy="2971800"/>
          </a:xfrm>
          <a:prstGeom prst="roundRect">
            <a:avLst>
              <a:gd name="adj" fmla="val 290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2" name="Shape 10"/>
          <p:cNvSpPr/>
          <p:nvPr/>
        </p:nvSpPr>
        <p:spPr>
          <a:xfrm>
            <a:off x="3694176" y="1536192"/>
            <a:ext cx="347472" cy="347472"/>
          </a:xfrm>
          <a:prstGeom prst="ellipse">
            <a:avLst/>
          </a:prstGeom>
          <a:solidFill>
            <a:srgbClr val="007C89"/>
          </a:solidFill>
          <a:ln w="12700">
            <a:solidFill>
              <a:srgbClr val="007C89"/>
            </a:solidFill>
            <a:prstDash val="solid"/>
          </a:ln>
        </p:spPr>
        <p:txBody>
          <a:bodyPr/>
          <a:lstStyle/>
          <a:p>
            <a:endParaRPr sz="2000"/>
          </a:p>
        </p:txBody>
      </p:sp>
      <p:sp>
        <p:nvSpPr>
          <p:cNvPr id="13" name="Text 11"/>
          <p:cNvSpPr/>
          <p:nvPr/>
        </p:nvSpPr>
        <p:spPr>
          <a:xfrm>
            <a:off x="3694176" y="1618488"/>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4" name="Text 12"/>
          <p:cNvSpPr/>
          <p:nvPr/>
        </p:nvSpPr>
        <p:spPr>
          <a:xfrm>
            <a:off x="4151376" y="1600200"/>
            <a:ext cx="1664208" cy="228600"/>
          </a:xfrm>
          <a:prstGeom prst="rect">
            <a:avLst/>
          </a:prstGeom>
          <a:noFill/>
          <a:ln/>
        </p:spPr>
        <p:txBody>
          <a:bodyPr wrap="square" lIns="0" tIns="0" rIns="0" bIns="0" rtlCol="0" anchor="ctr">
            <a:noAutofit/>
          </a:bodyPr>
          <a:lstStyle/>
          <a:p>
            <a:pPr marL="0" indent="0">
              <a:buNone/>
            </a:pPr>
            <a:r>
              <a:rPr lang="en-US" b="1" dirty="0">
                <a:solidFill>
                  <a:srgbClr val="0F2D3A"/>
                </a:solidFill>
                <a:latin typeface="Aptos Display" pitchFamily="34" charset="0"/>
                <a:ea typeface="Aptos Display" pitchFamily="34" charset="-122"/>
                <a:cs typeface="Aptos Display" pitchFamily="34" charset="-120"/>
              </a:rPr>
              <a:t>Organizing</a:t>
            </a:r>
            <a:endParaRPr lang="en-US" dirty="0"/>
          </a:p>
        </p:txBody>
      </p:sp>
      <p:sp>
        <p:nvSpPr>
          <p:cNvPr id="15" name="Text 13"/>
          <p:cNvSpPr/>
          <p:nvPr/>
        </p:nvSpPr>
        <p:spPr>
          <a:xfrm>
            <a:off x="3767328" y="2148840"/>
            <a:ext cx="1965960" cy="1097280"/>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Assign responsibilities, define process ownership and reporting lines.</a:t>
            </a:r>
            <a:endParaRPr lang="en-US" sz="1600" dirty="0"/>
          </a:p>
        </p:txBody>
      </p:sp>
      <p:sp>
        <p:nvSpPr>
          <p:cNvPr id="16" name="Shape 14"/>
          <p:cNvSpPr/>
          <p:nvPr/>
        </p:nvSpPr>
        <p:spPr>
          <a:xfrm>
            <a:off x="6327648" y="1298448"/>
            <a:ext cx="2514600" cy="2971800"/>
          </a:xfrm>
          <a:prstGeom prst="roundRect">
            <a:avLst>
              <a:gd name="adj" fmla="val 2909"/>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7" name="Shape 15"/>
          <p:cNvSpPr/>
          <p:nvPr/>
        </p:nvSpPr>
        <p:spPr>
          <a:xfrm>
            <a:off x="6528816" y="1536192"/>
            <a:ext cx="347472" cy="347472"/>
          </a:xfrm>
          <a:prstGeom prst="ellipse">
            <a:avLst/>
          </a:prstGeom>
          <a:solidFill>
            <a:srgbClr val="007C89"/>
          </a:solidFill>
          <a:ln w="12700">
            <a:solidFill>
              <a:srgbClr val="007C89"/>
            </a:solidFill>
            <a:prstDash val="solid"/>
          </a:ln>
        </p:spPr>
        <p:txBody>
          <a:bodyPr/>
          <a:lstStyle/>
          <a:p>
            <a:endParaRPr sz="2000"/>
          </a:p>
        </p:txBody>
      </p:sp>
      <p:sp>
        <p:nvSpPr>
          <p:cNvPr id="18" name="Text 16"/>
          <p:cNvSpPr/>
          <p:nvPr/>
        </p:nvSpPr>
        <p:spPr>
          <a:xfrm>
            <a:off x="6528816" y="1618488"/>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9" name="Text 17"/>
          <p:cNvSpPr/>
          <p:nvPr/>
        </p:nvSpPr>
        <p:spPr>
          <a:xfrm>
            <a:off x="6986016" y="1600200"/>
            <a:ext cx="1664208" cy="228600"/>
          </a:xfrm>
          <a:prstGeom prst="rect">
            <a:avLst/>
          </a:prstGeom>
          <a:noFill/>
          <a:ln/>
        </p:spPr>
        <p:txBody>
          <a:bodyPr wrap="square" lIns="0" tIns="0" rIns="0" bIns="0" rtlCol="0" anchor="ctr">
            <a:noAutofit/>
          </a:bodyPr>
          <a:lstStyle/>
          <a:p>
            <a:pPr marL="0" indent="0">
              <a:buNone/>
            </a:pPr>
            <a:r>
              <a:rPr lang="en-US" b="1" dirty="0">
                <a:solidFill>
                  <a:srgbClr val="0F2D3A"/>
                </a:solidFill>
                <a:latin typeface="Aptos Display" pitchFamily="34" charset="0"/>
                <a:ea typeface="Aptos Display" pitchFamily="34" charset="-122"/>
                <a:cs typeface="Aptos Display" pitchFamily="34" charset="-120"/>
              </a:rPr>
              <a:t>Leading</a:t>
            </a:r>
            <a:endParaRPr lang="en-US" dirty="0"/>
          </a:p>
        </p:txBody>
      </p:sp>
      <p:sp>
        <p:nvSpPr>
          <p:cNvPr id="20" name="Text 18"/>
          <p:cNvSpPr/>
          <p:nvPr/>
        </p:nvSpPr>
        <p:spPr>
          <a:xfrm>
            <a:off x="6601968" y="2148840"/>
            <a:ext cx="1965960" cy="1097280"/>
          </a:xfrm>
          <a:prstGeom prst="rect">
            <a:avLst/>
          </a:prstGeom>
          <a:noFill/>
          <a:ln/>
        </p:spPr>
        <p:txBody>
          <a:bodyPr wrap="square" lIns="0" tIns="0" rIns="0" bIns="0" rtlCol="0" anchor="ctr">
            <a:normAutofit/>
          </a:bodyPr>
          <a:lstStyle/>
          <a:p>
            <a:pPr marL="0" indent="0">
              <a:buNone/>
            </a:pPr>
            <a:r>
              <a:rPr lang="en-US" sz="1600" dirty="0">
                <a:solidFill>
                  <a:srgbClr val="1A1A1A"/>
                </a:solidFill>
                <a:latin typeface="Aptos" pitchFamily="34" charset="0"/>
                <a:ea typeface="Aptos" pitchFamily="34" charset="-122"/>
                <a:cs typeface="Aptos" pitchFamily="34" charset="-120"/>
              </a:rPr>
              <a:t>Motivate, communicate, coach and resolve conflicts around quality work.</a:t>
            </a:r>
            <a:endParaRPr lang="en-US" sz="1600" dirty="0"/>
          </a:p>
        </p:txBody>
      </p:sp>
      <p:sp>
        <p:nvSpPr>
          <p:cNvPr id="21" name="Shape 19"/>
          <p:cNvSpPr/>
          <p:nvPr/>
        </p:nvSpPr>
        <p:spPr>
          <a:xfrm>
            <a:off x="9162288" y="1298448"/>
            <a:ext cx="2514600" cy="2971800"/>
          </a:xfrm>
          <a:prstGeom prst="roundRect">
            <a:avLst>
              <a:gd name="adj" fmla="val 290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22" name="Shape 20"/>
          <p:cNvSpPr/>
          <p:nvPr/>
        </p:nvSpPr>
        <p:spPr>
          <a:xfrm>
            <a:off x="9363456" y="1536192"/>
            <a:ext cx="347472" cy="347472"/>
          </a:xfrm>
          <a:prstGeom prst="ellipse">
            <a:avLst/>
          </a:prstGeom>
          <a:solidFill>
            <a:srgbClr val="007C89"/>
          </a:solidFill>
          <a:ln w="12700">
            <a:solidFill>
              <a:srgbClr val="007C89"/>
            </a:solidFill>
            <a:prstDash val="solid"/>
          </a:ln>
        </p:spPr>
        <p:txBody>
          <a:bodyPr/>
          <a:lstStyle/>
          <a:p>
            <a:endParaRPr sz="2000"/>
          </a:p>
        </p:txBody>
      </p:sp>
      <p:sp>
        <p:nvSpPr>
          <p:cNvPr id="23" name="Text 21"/>
          <p:cNvSpPr/>
          <p:nvPr/>
        </p:nvSpPr>
        <p:spPr>
          <a:xfrm>
            <a:off x="9363456" y="1618488"/>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4" name="Text 22"/>
          <p:cNvSpPr/>
          <p:nvPr/>
        </p:nvSpPr>
        <p:spPr>
          <a:xfrm>
            <a:off x="9820656" y="1600200"/>
            <a:ext cx="1664208" cy="228600"/>
          </a:xfrm>
          <a:prstGeom prst="rect">
            <a:avLst/>
          </a:prstGeom>
          <a:noFill/>
          <a:ln/>
        </p:spPr>
        <p:txBody>
          <a:bodyPr wrap="square" lIns="0" tIns="0" rIns="0" bIns="0" rtlCol="0" anchor="ctr">
            <a:noAutofit/>
          </a:bodyPr>
          <a:lstStyle/>
          <a:p>
            <a:pPr marL="0" indent="0">
              <a:buNone/>
            </a:pPr>
            <a:r>
              <a:rPr lang="en-US" b="1" dirty="0">
                <a:solidFill>
                  <a:srgbClr val="0F2D3A"/>
                </a:solidFill>
                <a:latin typeface="Aptos Display" pitchFamily="34" charset="0"/>
                <a:ea typeface="Aptos Display" pitchFamily="34" charset="-122"/>
                <a:cs typeface="Aptos Display" pitchFamily="34" charset="-120"/>
              </a:rPr>
              <a:t>Controlling</a:t>
            </a:r>
            <a:endParaRPr lang="en-US" dirty="0"/>
          </a:p>
        </p:txBody>
      </p:sp>
      <p:sp>
        <p:nvSpPr>
          <p:cNvPr id="25" name="Text 23"/>
          <p:cNvSpPr/>
          <p:nvPr/>
        </p:nvSpPr>
        <p:spPr>
          <a:xfrm>
            <a:off x="9436608" y="2148840"/>
            <a:ext cx="1965960" cy="1097280"/>
          </a:xfrm>
          <a:prstGeom prst="rect">
            <a:avLst/>
          </a:prstGeom>
          <a:noFill/>
          <a:ln/>
        </p:spPr>
        <p:txBody>
          <a:bodyPr wrap="square" lIns="0" tIns="0" rIns="0" bIns="0" rtlCol="0" anchor="ctr">
            <a:normAutofit/>
          </a:bodyPr>
          <a:lstStyle/>
          <a:p>
            <a:pPr marL="0" indent="0">
              <a:buNone/>
            </a:pPr>
            <a:r>
              <a:rPr lang="en-US" sz="1600" dirty="0">
                <a:solidFill>
                  <a:srgbClr val="1A1A1A"/>
                </a:solidFill>
                <a:latin typeface="Aptos" pitchFamily="34" charset="0"/>
                <a:ea typeface="Aptos" pitchFamily="34" charset="-122"/>
                <a:cs typeface="Aptos" pitchFamily="34" charset="-120"/>
              </a:rPr>
              <a:t>Monitor performance, compare with targets and correct deviations.</a:t>
            </a:r>
            <a:endParaRPr lang="en-US" sz="1600" dirty="0"/>
          </a:p>
        </p:txBody>
      </p:sp>
      <p:sp>
        <p:nvSpPr>
          <p:cNvPr id="26" name="Shape 24"/>
          <p:cNvSpPr/>
          <p:nvPr/>
        </p:nvSpPr>
        <p:spPr>
          <a:xfrm>
            <a:off x="658368" y="4892040"/>
            <a:ext cx="10881360" cy="658368"/>
          </a:xfrm>
          <a:prstGeom prst="roundRect">
            <a:avLst>
              <a:gd name="adj" fmla="val 11111"/>
            </a:avLst>
          </a:prstGeom>
          <a:solidFill>
            <a:srgbClr val="FFF7E7"/>
          </a:solidFill>
          <a:ln w="12700">
            <a:solidFill>
              <a:srgbClr val="B9DEE3"/>
            </a:solidFill>
            <a:prstDash val="solid"/>
          </a:ln>
        </p:spPr>
        <p:txBody>
          <a:bodyPr/>
          <a:lstStyle/>
          <a:p>
            <a:endParaRPr sz="2000"/>
          </a:p>
        </p:txBody>
      </p:sp>
      <p:sp>
        <p:nvSpPr>
          <p:cNvPr id="27" name="Text 25"/>
          <p:cNvSpPr/>
          <p:nvPr/>
        </p:nvSpPr>
        <p:spPr>
          <a:xfrm>
            <a:off x="822960" y="5029200"/>
            <a:ext cx="10552176" cy="429768"/>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Applied question: Which function is weakest when quality problems remain unresolved?</a:t>
            </a:r>
            <a:endParaRPr lang="en-US" sz="1400" dirty="0"/>
          </a:p>
        </p:txBody>
      </p:sp>
      <p:sp>
        <p:nvSpPr>
          <p:cNvPr id="28"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6</a:t>
            </a:fld>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Mintzberg’s Managerial Roles</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234440"/>
            <a:ext cx="3337560" cy="365760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Shape 5"/>
          <p:cNvSpPr/>
          <p:nvPr/>
        </p:nvSpPr>
        <p:spPr>
          <a:xfrm>
            <a:off x="859536" y="1508760"/>
            <a:ext cx="1645920" cy="329184"/>
          </a:xfrm>
          <a:prstGeom prst="roundRect">
            <a:avLst>
              <a:gd name="adj" fmla="val 50000"/>
            </a:avLst>
          </a:prstGeom>
          <a:solidFill>
            <a:srgbClr val="007C89"/>
          </a:solidFill>
          <a:ln w="12700">
            <a:solidFill>
              <a:srgbClr val="007C89"/>
            </a:solidFill>
            <a:prstDash val="solid"/>
          </a:ln>
        </p:spPr>
        <p:txBody>
          <a:bodyPr/>
          <a:lstStyle/>
          <a:p>
            <a:endParaRPr sz="2000"/>
          </a:p>
        </p:txBody>
      </p:sp>
      <p:sp>
        <p:nvSpPr>
          <p:cNvPr id="8" name="Text 6"/>
          <p:cNvSpPr/>
          <p:nvPr/>
        </p:nvSpPr>
        <p:spPr>
          <a:xfrm>
            <a:off x="950976" y="1581912"/>
            <a:ext cx="146304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Interpersonal</a:t>
            </a:r>
            <a:endParaRPr lang="en-US" sz="1000" dirty="0"/>
          </a:p>
        </p:txBody>
      </p:sp>
      <p:sp>
        <p:nvSpPr>
          <p:cNvPr id="9" name="Text 7"/>
          <p:cNvSpPr/>
          <p:nvPr/>
        </p:nvSpPr>
        <p:spPr>
          <a:xfrm>
            <a:off x="886968" y="2084832"/>
            <a:ext cx="2834640" cy="530352"/>
          </a:xfrm>
          <a:prstGeom prst="rect">
            <a:avLst/>
          </a:prstGeom>
          <a:noFill/>
          <a:ln/>
        </p:spPr>
        <p:txBody>
          <a:bodyPr wrap="square" lIns="0" tIns="0" rIns="0" bIns="0" rtlCol="0" anchor="ctr">
            <a:noAutofit/>
          </a:bodyPr>
          <a:lstStyle/>
          <a:p>
            <a:pPr marL="0" indent="0">
              <a:buNone/>
            </a:pPr>
            <a:r>
              <a:rPr lang="en-US" sz="2000" b="1" dirty="0">
                <a:solidFill>
                  <a:srgbClr val="0F2D3A"/>
                </a:solidFill>
                <a:latin typeface="Aptos Display" pitchFamily="34" charset="0"/>
                <a:ea typeface="Aptos Display" pitchFamily="34" charset="-122"/>
                <a:cs typeface="Aptos Display" pitchFamily="34" charset="-120"/>
              </a:rPr>
              <a:t>Figurehead • Leader • Liaison</a:t>
            </a:r>
            <a:endParaRPr lang="en-US" sz="2000" dirty="0"/>
          </a:p>
        </p:txBody>
      </p:sp>
      <p:sp>
        <p:nvSpPr>
          <p:cNvPr id="10" name="Shape 8"/>
          <p:cNvSpPr/>
          <p:nvPr/>
        </p:nvSpPr>
        <p:spPr>
          <a:xfrm>
            <a:off x="886968" y="2880360"/>
            <a:ext cx="2834640" cy="0"/>
          </a:xfrm>
          <a:prstGeom prst="line">
            <a:avLst/>
          </a:prstGeom>
          <a:noFill/>
          <a:ln w="12700">
            <a:solidFill>
              <a:srgbClr val="D9E2E5"/>
            </a:solidFill>
            <a:prstDash val="solid"/>
          </a:ln>
        </p:spPr>
        <p:txBody>
          <a:bodyPr/>
          <a:lstStyle/>
          <a:p>
            <a:endParaRPr sz="2000"/>
          </a:p>
        </p:txBody>
      </p:sp>
      <p:sp>
        <p:nvSpPr>
          <p:cNvPr id="11" name="Text 9"/>
          <p:cNvSpPr/>
          <p:nvPr/>
        </p:nvSpPr>
        <p:spPr>
          <a:xfrm>
            <a:off x="886968" y="3127248"/>
            <a:ext cx="1371600" cy="182880"/>
          </a:xfrm>
          <a:prstGeom prst="rect">
            <a:avLst/>
          </a:prstGeom>
          <a:noFill/>
          <a:ln/>
        </p:spPr>
        <p:txBody>
          <a:bodyPr wrap="square" lIns="0" tIns="0" rIns="0" bIns="0" rtlCol="0" anchor="ctr"/>
          <a:lstStyle/>
          <a:p>
            <a:pPr marL="0" indent="0">
              <a:buNone/>
            </a:pPr>
            <a:r>
              <a:rPr lang="en-US" sz="1200" b="1" dirty="0">
                <a:solidFill>
                  <a:srgbClr val="007C89"/>
                </a:solidFill>
                <a:latin typeface="Aptos" pitchFamily="34" charset="0"/>
                <a:ea typeface="Aptos" pitchFamily="34" charset="-122"/>
                <a:cs typeface="Aptos" pitchFamily="34" charset="-120"/>
              </a:rPr>
              <a:t>Quality examples</a:t>
            </a:r>
            <a:endParaRPr lang="en-US" sz="1200" dirty="0"/>
          </a:p>
        </p:txBody>
      </p:sp>
      <p:sp>
        <p:nvSpPr>
          <p:cNvPr id="12" name="Text 10"/>
          <p:cNvSpPr/>
          <p:nvPr/>
        </p:nvSpPr>
        <p:spPr>
          <a:xfrm>
            <a:off x="886968" y="3401568"/>
            <a:ext cx="2834640" cy="804672"/>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Sponsor improvement teams, build trust, model standards, connect departments.</a:t>
            </a:r>
            <a:endParaRPr lang="en-US" sz="1400" dirty="0"/>
          </a:p>
        </p:txBody>
      </p:sp>
      <p:sp>
        <p:nvSpPr>
          <p:cNvPr id="13" name="Shape 11"/>
          <p:cNvSpPr/>
          <p:nvPr/>
        </p:nvSpPr>
        <p:spPr>
          <a:xfrm>
            <a:off x="4407408" y="1234440"/>
            <a:ext cx="3337560" cy="3657600"/>
          </a:xfrm>
          <a:prstGeom prst="roundRect">
            <a:avLst>
              <a:gd name="adj" fmla="val 2192"/>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4" name="Shape 12"/>
          <p:cNvSpPr/>
          <p:nvPr/>
        </p:nvSpPr>
        <p:spPr>
          <a:xfrm>
            <a:off x="4608576" y="1508760"/>
            <a:ext cx="1645920" cy="329184"/>
          </a:xfrm>
          <a:prstGeom prst="roundRect">
            <a:avLst>
              <a:gd name="adj" fmla="val 50000"/>
            </a:avLst>
          </a:prstGeom>
          <a:solidFill>
            <a:srgbClr val="C49A3A"/>
          </a:solidFill>
          <a:ln w="12700">
            <a:solidFill>
              <a:srgbClr val="C49A3A"/>
            </a:solidFill>
            <a:prstDash val="solid"/>
          </a:ln>
        </p:spPr>
        <p:txBody>
          <a:bodyPr/>
          <a:lstStyle/>
          <a:p>
            <a:endParaRPr sz="2000"/>
          </a:p>
        </p:txBody>
      </p:sp>
      <p:sp>
        <p:nvSpPr>
          <p:cNvPr id="15" name="Text 13"/>
          <p:cNvSpPr/>
          <p:nvPr/>
        </p:nvSpPr>
        <p:spPr>
          <a:xfrm>
            <a:off x="4700016" y="1581912"/>
            <a:ext cx="146304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Informational</a:t>
            </a:r>
            <a:endParaRPr lang="en-US" sz="1000" dirty="0"/>
          </a:p>
        </p:txBody>
      </p:sp>
      <p:sp>
        <p:nvSpPr>
          <p:cNvPr id="16" name="Text 14"/>
          <p:cNvSpPr/>
          <p:nvPr/>
        </p:nvSpPr>
        <p:spPr>
          <a:xfrm>
            <a:off x="4636008" y="2084832"/>
            <a:ext cx="2834640" cy="530352"/>
          </a:xfrm>
          <a:prstGeom prst="rect">
            <a:avLst/>
          </a:prstGeom>
          <a:noFill/>
          <a:ln/>
        </p:spPr>
        <p:txBody>
          <a:bodyPr wrap="square" lIns="0" tIns="0" rIns="0" bIns="0" rtlCol="0" anchor="ctr">
            <a:noAutofit/>
          </a:bodyPr>
          <a:lstStyle/>
          <a:p>
            <a:pPr marL="0" indent="0">
              <a:buNone/>
            </a:pPr>
            <a:r>
              <a:rPr lang="en-US" sz="2000" b="1" dirty="0">
                <a:solidFill>
                  <a:srgbClr val="0F2D3A"/>
                </a:solidFill>
                <a:latin typeface="Aptos Display" pitchFamily="34" charset="0"/>
                <a:ea typeface="Aptos Display" pitchFamily="34" charset="-122"/>
                <a:cs typeface="Aptos Display" pitchFamily="34" charset="-120"/>
              </a:rPr>
              <a:t>Monitor • Disseminator • Spokesperson</a:t>
            </a:r>
            <a:endParaRPr lang="en-US" sz="2000" dirty="0"/>
          </a:p>
        </p:txBody>
      </p:sp>
      <p:sp>
        <p:nvSpPr>
          <p:cNvPr id="17" name="Shape 15"/>
          <p:cNvSpPr/>
          <p:nvPr/>
        </p:nvSpPr>
        <p:spPr>
          <a:xfrm>
            <a:off x="4636008" y="2880360"/>
            <a:ext cx="2834640" cy="0"/>
          </a:xfrm>
          <a:prstGeom prst="line">
            <a:avLst/>
          </a:prstGeom>
          <a:noFill/>
          <a:ln w="12700">
            <a:solidFill>
              <a:srgbClr val="D9E2E5"/>
            </a:solidFill>
            <a:prstDash val="solid"/>
          </a:ln>
        </p:spPr>
        <p:txBody>
          <a:bodyPr/>
          <a:lstStyle/>
          <a:p>
            <a:endParaRPr sz="2000"/>
          </a:p>
        </p:txBody>
      </p:sp>
      <p:sp>
        <p:nvSpPr>
          <p:cNvPr id="18" name="Text 16"/>
          <p:cNvSpPr/>
          <p:nvPr/>
        </p:nvSpPr>
        <p:spPr>
          <a:xfrm>
            <a:off x="4636008" y="3127248"/>
            <a:ext cx="1371600" cy="182880"/>
          </a:xfrm>
          <a:prstGeom prst="rect">
            <a:avLst/>
          </a:prstGeom>
          <a:noFill/>
          <a:ln/>
        </p:spPr>
        <p:txBody>
          <a:bodyPr wrap="square" lIns="0" tIns="0" rIns="0" bIns="0" rtlCol="0" anchor="ctr"/>
          <a:lstStyle/>
          <a:p>
            <a:pPr marL="0" indent="0">
              <a:buNone/>
            </a:pPr>
            <a:r>
              <a:rPr lang="en-US" sz="1200" b="1" dirty="0">
                <a:solidFill>
                  <a:srgbClr val="007C89"/>
                </a:solidFill>
                <a:latin typeface="Aptos" pitchFamily="34" charset="0"/>
                <a:ea typeface="Aptos" pitchFamily="34" charset="-122"/>
                <a:cs typeface="Aptos" pitchFamily="34" charset="-120"/>
              </a:rPr>
              <a:t>Quality examples</a:t>
            </a:r>
            <a:endParaRPr lang="en-US" sz="1200" dirty="0"/>
          </a:p>
        </p:txBody>
      </p:sp>
      <p:sp>
        <p:nvSpPr>
          <p:cNvPr id="19" name="Text 17"/>
          <p:cNvSpPr/>
          <p:nvPr/>
        </p:nvSpPr>
        <p:spPr>
          <a:xfrm>
            <a:off x="4636008" y="3401568"/>
            <a:ext cx="2834640" cy="804672"/>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Review performance data, communicate lessons learned, report results to stakeholders.</a:t>
            </a:r>
            <a:endParaRPr lang="en-US" sz="1400" dirty="0"/>
          </a:p>
        </p:txBody>
      </p:sp>
      <p:sp>
        <p:nvSpPr>
          <p:cNvPr id="20" name="Shape 18"/>
          <p:cNvSpPr/>
          <p:nvPr/>
        </p:nvSpPr>
        <p:spPr>
          <a:xfrm>
            <a:off x="8156448" y="1234440"/>
            <a:ext cx="3337560" cy="365760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21" name="Shape 19"/>
          <p:cNvSpPr/>
          <p:nvPr/>
        </p:nvSpPr>
        <p:spPr>
          <a:xfrm>
            <a:off x="8357616" y="1508760"/>
            <a:ext cx="1645920" cy="329184"/>
          </a:xfrm>
          <a:prstGeom prst="roundRect">
            <a:avLst>
              <a:gd name="adj" fmla="val 50000"/>
            </a:avLst>
          </a:prstGeom>
          <a:solidFill>
            <a:srgbClr val="007C89"/>
          </a:solidFill>
          <a:ln w="12700">
            <a:solidFill>
              <a:srgbClr val="007C89"/>
            </a:solidFill>
            <a:prstDash val="solid"/>
          </a:ln>
        </p:spPr>
        <p:txBody>
          <a:bodyPr/>
          <a:lstStyle/>
          <a:p>
            <a:endParaRPr sz="2000"/>
          </a:p>
        </p:txBody>
      </p:sp>
      <p:sp>
        <p:nvSpPr>
          <p:cNvPr id="22" name="Text 20"/>
          <p:cNvSpPr/>
          <p:nvPr/>
        </p:nvSpPr>
        <p:spPr>
          <a:xfrm>
            <a:off x="8449056" y="1581912"/>
            <a:ext cx="1463040" cy="137160"/>
          </a:xfrm>
          <a:prstGeom prst="rect">
            <a:avLst/>
          </a:prstGeom>
          <a:noFill/>
          <a:ln/>
        </p:spPr>
        <p:txBody>
          <a:bodyPr wrap="square" lIns="0" tIns="0" rIns="0" bIns="0" rtlCol="0" anchor="ctr">
            <a:no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Decisional</a:t>
            </a:r>
            <a:endParaRPr lang="en-US" sz="1000" dirty="0"/>
          </a:p>
        </p:txBody>
      </p:sp>
      <p:sp>
        <p:nvSpPr>
          <p:cNvPr id="23" name="Text 21"/>
          <p:cNvSpPr/>
          <p:nvPr/>
        </p:nvSpPr>
        <p:spPr>
          <a:xfrm>
            <a:off x="8385048" y="2084832"/>
            <a:ext cx="2834640" cy="530352"/>
          </a:xfrm>
          <a:prstGeom prst="rect">
            <a:avLst/>
          </a:prstGeom>
          <a:noFill/>
          <a:ln/>
        </p:spPr>
        <p:txBody>
          <a:bodyPr wrap="square" lIns="0" tIns="0" rIns="0" bIns="0" rtlCol="0" anchor="ctr">
            <a:normAutofit/>
          </a:bodyPr>
          <a:lstStyle/>
          <a:p>
            <a:pPr marL="0" indent="0">
              <a:buNone/>
            </a:pPr>
            <a:r>
              <a:rPr lang="en-US" sz="1400" b="1" dirty="0">
                <a:solidFill>
                  <a:srgbClr val="0F2D3A"/>
                </a:solidFill>
                <a:latin typeface="Aptos Display" pitchFamily="34" charset="0"/>
                <a:ea typeface="Aptos Display" pitchFamily="34" charset="-122"/>
                <a:cs typeface="Aptos Display" pitchFamily="34" charset="-120"/>
              </a:rPr>
              <a:t>Entrepreneur • Disturbance handler • Resource allocator • Negotiator</a:t>
            </a:r>
            <a:endParaRPr lang="en-US" sz="1400" dirty="0"/>
          </a:p>
        </p:txBody>
      </p:sp>
      <p:sp>
        <p:nvSpPr>
          <p:cNvPr id="24" name="Shape 22"/>
          <p:cNvSpPr/>
          <p:nvPr/>
        </p:nvSpPr>
        <p:spPr>
          <a:xfrm>
            <a:off x="8385048" y="2880360"/>
            <a:ext cx="2834640" cy="0"/>
          </a:xfrm>
          <a:prstGeom prst="line">
            <a:avLst/>
          </a:prstGeom>
          <a:noFill/>
          <a:ln w="12700">
            <a:solidFill>
              <a:srgbClr val="D9E2E5"/>
            </a:solidFill>
            <a:prstDash val="solid"/>
          </a:ln>
        </p:spPr>
        <p:txBody>
          <a:bodyPr/>
          <a:lstStyle/>
          <a:p>
            <a:endParaRPr sz="2000"/>
          </a:p>
        </p:txBody>
      </p:sp>
      <p:sp>
        <p:nvSpPr>
          <p:cNvPr id="25" name="Text 23"/>
          <p:cNvSpPr/>
          <p:nvPr/>
        </p:nvSpPr>
        <p:spPr>
          <a:xfrm>
            <a:off x="8385048" y="3127248"/>
            <a:ext cx="1371600" cy="182880"/>
          </a:xfrm>
          <a:prstGeom prst="rect">
            <a:avLst/>
          </a:prstGeom>
          <a:noFill/>
          <a:ln/>
        </p:spPr>
        <p:txBody>
          <a:bodyPr wrap="square" lIns="0" tIns="0" rIns="0" bIns="0" rtlCol="0" anchor="ctr"/>
          <a:lstStyle/>
          <a:p>
            <a:pPr marL="0" indent="0">
              <a:buNone/>
            </a:pPr>
            <a:r>
              <a:rPr lang="en-US" sz="1200" b="1" dirty="0">
                <a:solidFill>
                  <a:srgbClr val="007C89"/>
                </a:solidFill>
                <a:latin typeface="Aptos" pitchFamily="34" charset="0"/>
                <a:ea typeface="Aptos" pitchFamily="34" charset="-122"/>
                <a:cs typeface="Aptos" pitchFamily="34" charset="-120"/>
              </a:rPr>
              <a:t>Quality examples</a:t>
            </a:r>
            <a:endParaRPr lang="en-US" sz="1200" dirty="0"/>
          </a:p>
        </p:txBody>
      </p:sp>
      <p:sp>
        <p:nvSpPr>
          <p:cNvPr id="26" name="Text 24"/>
          <p:cNvSpPr/>
          <p:nvPr/>
        </p:nvSpPr>
        <p:spPr>
          <a:xfrm>
            <a:off x="8385048" y="3401568"/>
            <a:ext cx="2834640" cy="804672"/>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Launch improvements, resolve failures, allocate resources, negotiate priorities.</a:t>
            </a:r>
            <a:endParaRPr lang="en-US" sz="1400" dirty="0"/>
          </a:p>
        </p:txBody>
      </p:sp>
      <p:sp>
        <p:nvSpPr>
          <p:cNvPr id="27" name="Shape 25"/>
          <p:cNvSpPr/>
          <p:nvPr/>
        </p:nvSpPr>
        <p:spPr>
          <a:xfrm>
            <a:off x="658368" y="5303520"/>
            <a:ext cx="10881360" cy="566928"/>
          </a:xfrm>
          <a:prstGeom prst="roundRect">
            <a:avLst>
              <a:gd name="adj" fmla="val 12903"/>
            </a:avLst>
          </a:prstGeom>
          <a:solidFill>
            <a:srgbClr val="F2FBFC"/>
          </a:solidFill>
          <a:ln w="12700">
            <a:solidFill>
              <a:srgbClr val="B9DEE3"/>
            </a:solidFill>
            <a:prstDash val="solid"/>
          </a:ln>
        </p:spPr>
        <p:txBody>
          <a:bodyPr/>
          <a:lstStyle/>
          <a:p>
            <a:endParaRPr sz="2000"/>
          </a:p>
        </p:txBody>
      </p:sp>
      <p:sp>
        <p:nvSpPr>
          <p:cNvPr id="28" name="Text 26"/>
          <p:cNvSpPr/>
          <p:nvPr/>
        </p:nvSpPr>
        <p:spPr>
          <a:xfrm>
            <a:off x="822960" y="5440680"/>
            <a:ext cx="10552176" cy="338328"/>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A quality manager connects people, interprets data and allocates attention to improvement.</a:t>
            </a:r>
            <a:endParaRPr lang="en-US" sz="1400" dirty="0"/>
          </a:p>
        </p:txBody>
      </p:sp>
      <p:sp>
        <p:nvSpPr>
          <p:cNvPr id="29"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7</a:t>
            </a:fld>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Three Essential Managerial Skills</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234440"/>
            <a:ext cx="3337560" cy="352044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914400" y="1554480"/>
            <a:ext cx="2651760" cy="274320"/>
          </a:xfrm>
          <a:prstGeom prst="rect">
            <a:avLst/>
          </a:prstGeom>
          <a:noFill/>
          <a:ln/>
        </p:spPr>
        <p:txBody>
          <a:bodyPr wrap="square" lIns="0" tIns="0" rIns="0" bIns="0" rtlCol="0" anchor="ct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Technical</a:t>
            </a:r>
            <a:endParaRPr lang="en-US" sz="2400" dirty="0"/>
          </a:p>
        </p:txBody>
      </p:sp>
      <p:sp>
        <p:nvSpPr>
          <p:cNvPr id="8" name="Text 6"/>
          <p:cNvSpPr/>
          <p:nvPr/>
        </p:nvSpPr>
        <p:spPr>
          <a:xfrm>
            <a:off x="914400" y="2066544"/>
            <a:ext cx="2788920" cy="530352"/>
          </a:xfrm>
          <a:prstGeom prst="rect">
            <a:avLst/>
          </a:prstGeom>
          <a:noFill/>
          <a:ln/>
        </p:spPr>
        <p:txBody>
          <a:bodyPr wrap="square" lIns="0" tIns="0" rIns="0" bIns="0" rtlCol="0" anchor="ctr">
            <a:normAutofit/>
          </a:bodyPr>
          <a:lstStyle/>
          <a:p>
            <a:pPr marL="0" indent="0">
              <a:buNone/>
            </a:pPr>
            <a:r>
              <a:rPr lang="en-US" sz="1600" dirty="0">
                <a:solidFill>
                  <a:srgbClr val="1A1A1A"/>
                </a:solidFill>
                <a:latin typeface="Aptos" pitchFamily="34" charset="0"/>
                <a:ea typeface="Aptos" pitchFamily="34" charset="-122"/>
                <a:cs typeface="Aptos" pitchFamily="34" charset="-120"/>
              </a:rPr>
              <a:t>Apply specialized knowledge or expertise.</a:t>
            </a:r>
            <a:endParaRPr lang="en-US" sz="1600" dirty="0"/>
          </a:p>
        </p:txBody>
      </p:sp>
      <p:sp>
        <p:nvSpPr>
          <p:cNvPr id="9" name="Text 7"/>
          <p:cNvSpPr/>
          <p:nvPr/>
        </p:nvSpPr>
        <p:spPr>
          <a:xfrm>
            <a:off x="914400" y="2944368"/>
            <a:ext cx="1005840" cy="182880"/>
          </a:xfrm>
          <a:prstGeom prst="rect">
            <a:avLst/>
          </a:prstGeom>
          <a:noFill/>
          <a:ln/>
        </p:spPr>
        <p:txBody>
          <a:bodyPr wrap="square" lIns="0" tIns="0" rIns="0" bIns="0" rtlCol="0" anchor="ctr"/>
          <a:lstStyle/>
          <a:p>
            <a:pPr marL="0" indent="0">
              <a:buNone/>
            </a:pPr>
            <a:r>
              <a:rPr lang="en-US" sz="1200" b="1" dirty="0">
                <a:solidFill>
                  <a:srgbClr val="C49A3A"/>
                </a:solidFill>
                <a:latin typeface="Aptos" pitchFamily="34" charset="0"/>
                <a:ea typeface="Aptos" pitchFamily="34" charset="-122"/>
                <a:cs typeface="Aptos" pitchFamily="34" charset="-120"/>
              </a:rPr>
              <a:t>Examples:</a:t>
            </a:r>
            <a:endParaRPr lang="en-US" sz="1200" dirty="0"/>
          </a:p>
        </p:txBody>
      </p:sp>
      <p:sp>
        <p:nvSpPr>
          <p:cNvPr id="10" name="Text 8"/>
          <p:cNvSpPr/>
          <p:nvPr/>
        </p:nvSpPr>
        <p:spPr>
          <a:xfrm>
            <a:off x="914400" y="3218688"/>
            <a:ext cx="2788920" cy="603504"/>
          </a:xfrm>
          <a:prstGeom prst="rect">
            <a:avLst/>
          </a:prstGeom>
          <a:noFill/>
          <a:ln/>
        </p:spPr>
        <p:txBody>
          <a:bodyPr wrap="square" lIns="0" tIns="0" rIns="0" bIns="0" rtlCol="0" anchor="ctr">
            <a:normAutofit/>
          </a:bodyPr>
          <a:lstStyle/>
          <a:p>
            <a:pPr marL="0" indent="0">
              <a:buNone/>
            </a:pPr>
            <a:r>
              <a:rPr lang="en-US" sz="1400" dirty="0">
                <a:solidFill>
                  <a:srgbClr val="5A6872"/>
                </a:solidFill>
                <a:latin typeface="Aptos" pitchFamily="34" charset="0"/>
                <a:ea typeface="Aptos" pitchFamily="34" charset="-122"/>
                <a:cs typeface="Aptos" pitchFamily="34" charset="-120"/>
              </a:rPr>
              <a:t>Process mapping • data analysis • audit methods • service design</a:t>
            </a:r>
            <a:endParaRPr lang="en-US" sz="1400" dirty="0"/>
          </a:p>
        </p:txBody>
      </p:sp>
      <p:sp>
        <p:nvSpPr>
          <p:cNvPr id="11" name="Shape 9"/>
          <p:cNvSpPr/>
          <p:nvPr/>
        </p:nvSpPr>
        <p:spPr>
          <a:xfrm>
            <a:off x="4407408" y="1234440"/>
            <a:ext cx="3337560" cy="3520440"/>
          </a:xfrm>
          <a:prstGeom prst="roundRect">
            <a:avLst>
              <a:gd name="adj" fmla="val 2192"/>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2" name="Text 10"/>
          <p:cNvSpPr/>
          <p:nvPr/>
        </p:nvSpPr>
        <p:spPr>
          <a:xfrm>
            <a:off x="4663440" y="1554480"/>
            <a:ext cx="2651760" cy="274320"/>
          </a:xfrm>
          <a:prstGeom prst="rect">
            <a:avLst/>
          </a:prstGeom>
          <a:noFill/>
          <a:ln/>
        </p:spPr>
        <p:txBody>
          <a:bodyPr wrap="square" lIns="0" tIns="0" rIns="0" bIns="0" rtlCol="0" anchor="ctr"/>
          <a:lstStyle/>
          <a:p>
            <a:pPr marL="0" indent="0">
              <a:buNone/>
            </a:pPr>
            <a:r>
              <a:rPr lang="en-US" sz="2400" b="1" dirty="0">
                <a:solidFill>
                  <a:srgbClr val="007C89"/>
                </a:solidFill>
                <a:latin typeface="Aptos Display" pitchFamily="34" charset="0"/>
                <a:ea typeface="Aptos Display" pitchFamily="34" charset="-122"/>
                <a:cs typeface="Aptos Display" pitchFamily="34" charset="-120"/>
              </a:rPr>
              <a:t>Human</a:t>
            </a:r>
            <a:endParaRPr lang="en-US" sz="2400" dirty="0"/>
          </a:p>
        </p:txBody>
      </p:sp>
      <p:sp>
        <p:nvSpPr>
          <p:cNvPr id="13" name="Text 11"/>
          <p:cNvSpPr/>
          <p:nvPr/>
        </p:nvSpPr>
        <p:spPr>
          <a:xfrm>
            <a:off x="4663440" y="2066544"/>
            <a:ext cx="2788920" cy="530352"/>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Understand, communicate with, motivate, and support people.</a:t>
            </a:r>
            <a:endParaRPr lang="en-US" sz="1600" dirty="0"/>
          </a:p>
        </p:txBody>
      </p:sp>
      <p:sp>
        <p:nvSpPr>
          <p:cNvPr id="14" name="Text 12"/>
          <p:cNvSpPr/>
          <p:nvPr/>
        </p:nvSpPr>
        <p:spPr>
          <a:xfrm>
            <a:off x="4663440" y="2944368"/>
            <a:ext cx="1005840" cy="182880"/>
          </a:xfrm>
          <a:prstGeom prst="rect">
            <a:avLst/>
          </a:prstGeom>
          <a:noFill/>
          <a:ln/>
        </p:spPr>
        <p:txBody>
          <a:bodyPr wrap="square" lIns="0" tIns="0" rIns="0" bIns="0" rtlCol="0" anchor="ctr"/>
          <a:lstStyle/>
          <a:p>
            <a:pPr marL="0" indent="0">
              <a:buNone/>
            </a:pPr>
            <a:r>
              <a:rPr lang="en-US" sz="1200" b="1" dirty="0">
                <a:solidFill>
                  <a:srgbClr val="C49A3A"/>
                </a:solidFill>
                <a:latin typeface="Aptos" pitchFamily="34" charset="0"/>
                <a:ea typeface="Aptos" pitchFamily="34" charset="-122"/>
                <a:cs typeface="Aptos" pitchFamily="34" charset="-120"/>
              </a:rPr>
              <a:t>Examples:</a:t>
            </a:r>
            <a:endParaRPr lang="en-US" sz="1200" dirty="0"/>
          </a:p>
        </p:txBody>
      </p:sp>
      <p:sp>
        <p:nvSpPr>
          <p:cNvPr id="15" name="Text 13"/>
          <p:cNvSpPr/>
          <p:nvPr/>
        </p:nvSpPr>
        <p:spPr>
          <a:xfrm>
            <a:off x="4663440" y="3218688"/>
            <a:ext cx="2788920" cy="603504"/>
          </a:xfrm>
          <a:prstGeom prst="rect">
            <a:avLst/>
          </a:prstGeom>
          <a:noFill/>
          <a:ln/>
        </p:spPr>
        <p:txBody>
          <a:bodyPr wrap="square" lIns="0" tIns="0" rIns="0" bIns="0" rtlCol="0" anchor="ctr">
            <a:normAutofit/>
          </a:bodyPr>
          <a:lstStyle/>
          <a:p>
            <a:pPr marL="0" indent="0">
              <a:buNone/>
            </a:pPr>
            <a:r>
              <a:rPr lang="en-US" sz="1400" dirty="0">
                <a:solidFill>
                  <a:srgbClr val="5A6872"/>
                </a:solidFill>
                <a:latin typeface="Aptos" pitchFamily="34" charset="0"/>
                <a:ea typeface="Aptos" pitchFamily="34" charset="-122"/>
                <a:cs typeface="Aptos" pitchFamily="34" charset="-120"/>
              </a:rPr>
              <a:t>Feedback • facilitation • conflict management</a:t>
            </a:r>
            <a:endParaRPr lang="en-US" sz="1400" dirty="0"/>
          </a:p>
        </p:txBody>
      </p:sp>
      <p:sp>
        <p:nvSpPr>
          <p:cNvPr id="16" name="Shape 14"/>
          <p:cNvSpPr/>
          <p:nvPr/>
        </p:nvSpPr>
        <p:spPr>
          <a:xfrm>
            <a:off x="8156448" y="1234440"/>
            <a:ext cx="3337560" cy="352044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7" name="Text 15"/>
          <p:cNvSpPr/>
          <p:nvPr/>
        </p:nvSpPr>
        <p:spPr>
          <a:xfrm>
            <a:off x="8412480" y="1554480"/>
            <a:ext cx="2651760" cy="274320"/>
          </a:xfrm>
          <a:prstGeom prst="rect">
            <a:avLst/>
          </a:prstGeom>
          <a:noFill/>
          <a:ln/>
        </p:spPr>
        <p:txBody>
          <a:bodyPr wrap="square" lIns="0" tIns="0" rIns="0" bIns="0" rtlCol="0" anchor="ct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Conceptual</a:t>
            </a:r>
            <a:endParaRPr lang="en-US" sz="2400" dirty="0"/>
          </a:p>
        </p:txBody>
      </p:sp>
      <p:sp>
        <p:nvSpPr>
          <p:cNvPr id="18" name="Text 16"/>
          <p:cNvSpPr/>
          <p:nvPr/>
        </p:nvSpPr>
        <p:spPr>
          <a:xfrm>
            <a:off x="8412480" y="2066544"/>
            <a:ext cx="2788920" cy="530352"/>
          </a:xfrm>
          <a:prstGeom prst="rect">
            <a:avLst/>
          </a:prstGeom>
          <a:noFill/>
          <a:ln/>
        </p:spPr>
        <p:txBody>
          <a:bodyPr wrap="square" lIns="0" tIns="0" rIns="0" bIns="0" rtlCol="0" anchor="ctr">
            <a:normAutofit/>
          </a:bodyPr>
          <a:lstStyle/>
          <a:p>
            <a:pPr marL="0" indent="0">
              <a:buNone/>
            </a:pPr>
            <a:r>
              <a:rPr lang="en-US" sz="1600" dirty="0">
                <a:solidFill>
                  <a:srgbClr val="1A1A1A"/>
                </a:solidFill>
                <a:latin typeface="Aptos" pitchFamily="34" charset="0"/>
                <a:ea typeface="Aptos" pitchFamily="34" charset="-122"/>
                <a:cs typeface="Aptos" pitchFamily="34" charset="-120"/>
              </a:rPr>
              <a:t>Analyze complex situations and choose among alternatives.</a:t>
            </a:r>
            <a:endParaRPr lang="en-US" sz="1600" dirty="0"/>
          </a:p>
        </p:txBody>
      </p:sp>
      <p:sp>
        <p:nvSpPr>
          <p:cNvPr id="19" name="Text 17"/>
          <p:cNvSpPr/>
          <p:nvPr/>
        </p:nvSpPr>
        <p:spPr>
          <a:xfrm>
            <a:off x="8412480" y="2944368"/>
            <a:ext cx="1005840" cy="182880"/>
          </a:xfrm>
          <a:prstGeom prst="rect">
            <a:avLst/>
          </a:prstGeom>
          <a:noFill/>
          <a:ln/>
        </p:spPr>
        <p:txBody>
          <a:bodyPr wrap="square" lIns="0" tIns="0" rIns="0" bIns="0" rtlCol="0" anchor="ctr"/>
          <a:lstStyle/>
          <a:p>
            <a:pPr marL="0" indent="0">
              <a:buNone/>
            </a:pPr>
            <a:r>
              <a:rPr lang="en-US" sz="1200" b="1" dirty="0">
                <a:solidFill>
                  <a:srgbClr val="C49A3A"/>
                </a:solidFill>
                <a:latin typeface="Aptos" pitchFamily="34" charset="0"/>
                <a:ea typeface="Aptos" pitchFamily="34" charset="-122"/>
                <a:cs typeface="Aptos" pitchFamily="34" charset="-120"/>
              </a:rPr>
              <a:t>Examples:</a:t>
            </a:r>
            <a:endParaRPr lang="en-US" sz="1200" dirty="0"/>
          </a:p>
        </p:txBody>
      </p:sp>
      <p:sp>
        <p:nvSpPr>
          <p:cNvPr id="20" name="Text 18"/>
          <p:cNvSpPr/>
          <p:nvPr/>
        </p:nvSpPr>
        <p:spPr>
          <a:xfrm>
            <a:off x="8412480" y="3218688"/>
            <a:ext cx="2788920" cy="603504"/>
          </a:xfrm>
          <a:prstGeom prst="rect">
            <a:avLst/>
          </a:prstGeom>
          <a:noFill/>
          <a:ln/>
        </p:spPr>
        <p:txBody>
          <a:bodyPr wrap="square" lIns="0" tIns="0" rIns="0" bIns="0" rtlCol="0" anchor="ctr">
            <a:normAutofit/>
          </a:bodyPr>
          <a:lstStyle/>
          <a:p>
            <a:pPr marL="0" indent="0">
              <a:buNone/>
            </a:pPr>
            <a:r>
              <a:rPr lang="en-US" sz="1400" dirty="0">
                <a:solidFill>
                  <a:srgbClr val="5A6872"/>
                </a:solidFill>
                <a:latin typeface="Aptos" pitchFamily="34" charset="0"/>
                <a:ea typeface="Aptos" pitchFamily="34" charset="-122"/>
                <a:cs typeface="Aptos" pitchFamily="34" charset="-120"/>
              </a:rPr>
              <a:t>Systems thinking • root-cause logic • strategic alignment</a:t>
            </a:r>
            <a:endParaRPr lang="en-US" sz="1400" dirty="0"/>
          </a:p>
        </p:txBody>
      </p:sp>
      <p:sp>
        <p:nvSpPr>
          <p:cNvPr id="21" name="Shape 19"/>
          <p:cNvSpPr/>
          <p:nvPr/>
        </p:nvSpPr>
        <p:spPr>
          <a:xfrm>
            <a:off x="658368" y="5303520"/>
            <a:ext cx="10881360" cy="566928"/>
          </a:xfrm>
          <a:prstGeom prst="roundRect">
            <a:avLst>
              <a:gd name="adj" fmla="val 12903"/>
            </a:avLst>
          </a:prstGeom>
          <a:solidFill>
            <a:srgbClr val="FFF7E7"/>
          </a:solidFill>
          <a:ln w="12700">
            <a:solidFill>
              <a:srgbClr val="B9DEE3"/>
            </a:solidFill>
            <a:prstDash val="solid"/>
          </a:ln>
        </p:spPr>
        <p:txBody>
          <a:bodyPr/>
          <a:lstStyle/>
          <a:p>
            <a:endParaRPr sz="2000"/>
          </a:p>
        </p:txBody>
      </p:sp>
      <p:sp>
        <p:nvSpPr>
          <p:cNvPr id="22" name="Text 20"/>
          <p:cNvSpPr/>
          <p:nvPr/>
        </p:nvSpPr>
        <p:spPr>
          <a:xfrm>
            <a:off x="822960" y="5440680"/>
            <a:ext cx="10552176" cy="338328"/>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Reflection: Which skill is most developed in your current role—and which most limits your quality impact?</a:t>
            </a:r>
            <a:endParaRPr lang="en-US" sz="1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8</a:t>
            </a:fld>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000" b="1" dirty="0">
                <a:solidFill>
                  <a:srgbClr val="007C89"/>
                </a:solidFill>
                <a:latin typeface="Aptos" pitchFamily="34" charset="0"/>
                <a:ea typeface="Aptos" pitchFamily="34" charset="-122"/>
                <a:cs typeface="Aptos" pitchFamily="34" charset="-120"/>
              </a:rPr>
              <a:t>G TQM 511 | Organizational Behavior and Quality</a:t>
            </a:r>
            <a:endParaRPr lang="en-US" sz="10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200" b="1" dirty="0">
                <a:solidFill>
                  <a:srgbClr val="0F2D3A"/>
                </a:solidFill>
                <a:latin typeface="Aptos Display" pitchFamily="34" charset="0"/>
                <a:ea typeface="Aptos Display" pitchFamily="34" charset="-122"/>
                <a:cs typeface="Aptos Display" pitchFamily="34" charset="-120"/>
              </a:rPr>
              <a:t>Effective vs. Successful Managers</a:t>
            </a:r>
            <a:endParaRPr lang="en-US" sz="32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4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9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900" dirty="0"/>
          </a:p>
        </p:txBody>
      </p:sp>
      <p:sp>
        <p:nvSpPr>
          <p:cNvPr id="6" name="Text 4"/>
          <p:cNvSpPr/>
          <p:nvPr/>
        </p:nvSpPr>
        <p:spPr>
          <a:xfrm>
            <a:off x="685800" y="1143000"/>
            <a:ext cx="9875520" cy="219456"/>
          </a:xfrm>
          <a:prstGeom prst="rect">
            <a:avLst/>
          </a:prstGeom>
          <a:noFill/>
          <a:ln/>
        </p:spPr>
        <p:txBody>
          <a:bodyPr wrap="square" lIns="0" tIns="0" rIns="0" bIns="0" rtlCol="0" anchor="ctr"/>
          <a:lstStyle/>
          <a:p>
            <a:pPr marL="0" indent="0">
              <a:buNone/>
            </a:pPr>
            <a:r>
              <a:rPr lang="en-US" dirty="0">
                <a:solidFill>
                  <a:srgbClr val="5A6872"/>
                </a:solidFill>
                <a:latin typeface="Aptos" pitchFamily="34" charset="0"/>
                <a:ea typeface="Aptos" pitchFamily="34" charset="-122"/>
                <a:cs typeface="Aptos" pitchFamily="34" charset="-120"/>
              </a:rPr>
              <a:t>Promotion speed and performance effectiveness may depend on different activities.</a:t>
            </a:r>
            <a:endParaRPr lang="en-US" dirty="0"/>
          </a:p>
        </p:txBody>
      </p:sp>
      <p:sp>
        <p:nvSpPr>
          <p:cNvPr id="7" name="Shape 5"/>
          <p:cNvSpPr/>
          <p:nvPr/>
        </p:nvSpPr>
        <p:spPr>
          <a:xfrm>
            <a:off x="749808" y="1600200"/>
            <a:ext cx="2514600" cy="502920"/>
          </a:xfrm>
          <a:prstGeom prst="rect">
            <a:avLst/>
          </a:prstGeom>
          <a:solidFill>
            <a:srgbClr val="0F2D3A"/>
          </a:solidFill>
          <a:ln w="12700">
            <a:solidFill>
              <a:srgbClr val="D9E2E5"/>
            </a:solidFill>
            <a:prstDash val="solid"/>
          </a:ln>
        </p:spPr>
        <p:txBody>
          <a:bodyPr/>
          <a:lstStyle/>
          <a:p>
            <a:endParaRPr sz="2400"/>
          </a:p>
        </p:txBody>
      </p:sp>
      <p:sp>
        <p:nvSpPr>
          <p:cNvPr id="8" name="Text 6"/>
          <p:cNvSpPr/>
          <p:nvPr/>
        </p:nvSpPr>
        <p:spPr>
          <a:xfrm>
            <a:off x="795528" y="1746504"/>
            <a:ext cx="2423160" cy="146304"/>
          </a:xfrm>
          <a:prstGeom prst="rect">
            <a:avLst/>
          </a:prstGeom>
          <a:noFill/>
          <a:ln/>
        </p:spPr>
        <p:txBody>
          <a:bodyPr wrap="square" lIns="0" tIns="0" rIns="0" bIns="0" rtlCol="0" anchor="ctr">
            <a:noAutofit/>
          </a:bodyPr>
          <a:lstStyle/>
          <a:p>
            <a:pPr marL="0" indent="0" algn="l">
              <a:buNone/>
            </a:pPr>
            <a:r>
              <a:rPr lang="en-US" sz="1200" b="1" dirty="0">
                <a:solidFill>
                  <a:srgbClr val="FFFFFF"/>
                </a:solidFill>
                <a:latin typeface="Aptos" pitchFamily="34" charset="0"/>
                <a:ea typeface="Aptos" pitchFamily="34" charset="-122"/>
                <a:cs typeface="Aptos" pitchFamily="34" charset="-120"/>
              </a:rPr>
              <a:t>Activity</a:t>
            </a:r>
            <a:endParaRPr lang="en-US" sz="1200" dirty="0"/>
          </a:p>
        </p:txBody>
      </p:sp>
      <p:sp>
        <p:nvSpPr>
          <p:cNvPr id="9" name="Shape 7"/>
          <p:cNvSpPr/>
          <p:nvPr/>
        </p:nvSpPr>
        <p:spPr>
          <a:xfrm>
            <a:off x="3264408" y="1600200"/>
            <a:ext cx="1234440" cy="502920"/>
          </a:xfrm>
          <a:prstGeom prst="rect">
            <a:avLst/>
          </a:prstGeom>
          <a:solidFill>
            <a:srgbClr val="0F2D3A"/>
          </a:solidFill>
          <a:ln w="12700">
            <a:solidFill>
              <a:srgbClr val="D9E2E5"/>
            </a:solidFill>
            <a:prstDash val="solid"/>
          </a:ln>
        </p:spPr>
        <p:txBody>
          <a:bodyPr/>
          <a:lstStyle/>
          <a:p>
            <a:endParaRPr sz="2400"/>
          </a:p>
        </p:txBody>
      </p:sp>
      <p:sp>
        <p:nvSpPr>
          <p:cNvPr id="10" name="Text 8"/>
          <p:cNvSpPr/>
          <p:nvPr/>
        </p:nvSpPr>
        <p:spPr>
          <a:xfrm>
            <a:off x="3310128" y="1746504"/>
            <a:ext cx="1143000" cy="146304"/>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Average</a:t>
            </a:r>
            <a:endParaRPr lang="en-US" sz="1200" dirty="0"/>
          </a:p>
        </p:txBody>
      </p:sp>
      <p:sp>
        <p:nvSpPr>
          <p:cNvPr id="11" name="Shape 9"/>
          <p:cNvSpPr/>
          <p:nvPr/>
        </p:nvSpPr>
        <p:spPr>
          <a:xfrm>
            <a:off x="4498848" y="1600200"/>
            <a:ext cx="1234440" cy="502920"/>
          </a:xfrm>
          <a:prstGeom prst="rect">
            <a:avLst/>
          </a:prstGeom>
          <a:solidFill>
            <a:srgbClr val="0F2D3A"/>
          </a:solidFill>
          <a:ln w="12700">
            <a:solidFill>
              <a:srgbClr val="D9E2E5"/>
            </a:solidFill>
            <a:prstDash val="solid"/>
          </a:ln>
        </p:spPr>
        <p:txBody>
          <a:bodyPr/>
          <a:lstStyle/>
          <a:p>
            <a:endParaRPr sz="2400"/>
          </a:p>
        </p:txBody>
      </p:sp>
      <p:sp>
        <p:nvSpPr>
          <p:cNvPr id="12" name="Text 10"/>
          <p:cNvSpPr/>
          <p:nvPr/>
        </p:nvSpPr>
        <p:spPr>
          <a:xfrm>
            <a:off x="4544568" y="1746504"/>
            <a:ext cx="1143000" cy="146304"/>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Effective</a:t>
            </a:r>
            <a:endParaRPr lang="en-US" sz="1200" dirty="0"/>
          </a:p>
        </p:txBody>
      </p:sp>
      <p:sp>
        <p:nvSpPr>
          <p:cNvPr id="13" name="Shape 11"/>
          <p:cNvSpPr/>
          <p:nvPr/>
        </p:nvSpPr>
        <p:spPr>
          <a:xfrm>
            <a:off x="5733288" y="1600200"/>
            <a:ext cx="1234440" cy="502920"/>
          </a:xfrm>
          <a:prstGeom prst="rect">
            <a:avLst/>
          </a:prstGeom>
          <a:solidFill>
            <a:srgbClr val="0F2D3A"/>
          </a:solidFill>
          <a:ln w="12700">
            <a:solidFill>
              <a:srgbClr val="D9E2E5"/>
            </a:solidFill>
            <a:prstDash val="solid"/>
          </a:ln>
        </p:spPr>
        <p:txBody>
          <a:bodyPr/>
          <a:lstStyle/>
          <a:p>
            <a:endParaRPr sz="2400"/>
          </a:p>
        </p:txBody>
      </p:sp>
      <p:sp>
        <p:nvSpPr>
          <p:cNvPr id="14" name="Text 12"/>
          <p:cNvSpPr/>
          <p:nvPr/>
        </p:nvSpPr>
        <p:spPr>
          <a:xfrm>
            <a:off x="5779008" y="1746504"/>
            <a:ext cx="1143000" cy="146304"/>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Successful</a:t>
            </a:r>
            <a:endParaRPr lang="en-US" sz="1200" dirty="0"/>
          </a:p>
        </p:txBody>
      </p:sp>
      <p:sp>
        <p:nvSpPr>
          <p:cNvPr id="15" name="Shape 13"/>
          <p:cNvSpPr/>
          <p:nvPr/>
        </p:nvSpPr>
        <p:spPr>
          <a:xfrm>
            <a:off x="749808" y="2103120"/>
            <a:ext cx="2514600" cy="502920"/>
          </a:xfrm>
          <a:prstGeom prst="rect">
            <a:avLst/>
          </a:prstGeom>
          <a:solidFill>
            <a:srgbClr val="FFFFFF"/>
          </a:solidFill>
          <a:ln w="12700">
            <a:solidFill>
              <a:srgbClr val="D9E2E5"/>
            </a:solidFill>
            <a:prstDash val="solid"/>
          </a:ln>
        </p:spPr>
        <p:txBody>
          <a:bodyPr/>
          <a:lstStyle/>
          <a:p>
            <a:endParaRPr sz="2400"/>
          </a:p>
        </p:txBody>
      </p:sp>
      <p:sp>
        <p:nvSpPr>
          <p:cNvPr id="16" name="Text 14"/>
          <p:cNvSpPr/>
          <p:nvPr/>
        </p:nvSpPr>
        <p:spPr>
          <a:xfrm>
            <a:off x="795528" y="2249424"/>
            <a:ext cx="2423160" cy="146304"/>
          </a:xfrm>
          <a:prstGeom prst="rect">
            <a:avLst/>
          </a:prstGeom>
          <a:noFill/>
          <a:ln/>
        </p:spPr>
        <p:txBody>
          <a:bodyPr wrap="square" lIns="0" tIns="0" rIns="0" bIns="0" rtlCol="0" anchor="ctr">
            <a:noAutofit/>
          </a:bodyPr>
          <a:lstStyle/>
          <a:p>
            <a:pPr marL="0" indent="0" algn="l">
              <a:buNone/>
            </a:pPr>
            <a:r>
              <a:rPr lang="en-US" sz="1200" dirty="0">
                <a:solidFill>
                  <a:srgbClr val="1A1A1A"/>
                </a:solidFill>
                <a:latin typeface="Aptos" pitchFamily="34" charset="0"/>
                <a:ea typeface="Aptos" pitchFamily="34" charset="-122"/>
                <a:cs typeface="Aptos" pitchFamily="34" charset="-120"/>
              </a:rPr>
              <a:t>Traditional management</a:t>
            </a:r>
            <a:endParaRPr lang="en-US" sz="1200" dirty="0"/>
          </a:p>
        </p:txBody>
      </p:sp>
      <p:sp>
        <p:nvSpPr>
          <p:cNvPr id="17" name="Shape 15"/>
          <p:cNvSpPr/>
          <p:nvPr/>
        </p:nvSpPr>
        <p:spPr>
          <a:xfrm>
            <a:off x="3264408" y="2103120"/>
            <a:ext cx="1234440" cy="502920"/>
          </a:xfrm>
          <a:prstGeom prst="rect">
            <a:avLst/>
          </a:prstGeom>
          <a:solidFill>
            <a:srgbClr val="FFFFFF"/>
          </a:solidFill>
          <a:ln w="12700">
            <a:solidFill>
              <a:srgbClr val="D9E2E5"/>
            </a:solidFill>
            <a:prstDash val="solid"/>
          </a:ln>
        </p:spPr>
        <p:txBody>
          <a:bodyPr/>
          <a:lstStyle/>
          <a:p>
            <a:endParaRPr sz="2400"/>
          </a:p>
        </p:txBody>
      </p:sp>
      <p:sp>
        <p:nvSpPr>
          <p:cNvPr id="18" name="Text 16"/>
          <p:cNvSpPr/>
          <p:nvPr/>
        </p:nvSpPr>
        <p:spPr>
          <a:xfrm>
            <a:off x="3310128" y="224942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32%</a:t>
            </a:r>
            <a:endParaRPr lang="en-US" sz="1200" dirty="0"/>
          </a:p>
        </p:txBody>
      </p:sp>
      <p:sp>
        <p:nvSpPr>
          <p:cNvPr id="19" name="Shape 17"/>
          <p:cNvSpPr/>
          <p:nvPr/>
        </p:nvSpPr>
        <p:spPr>
          <a:xfrm>
            <a:off x="4498848" y="2103120"/>
            <a:ext cx="1234440" cy="502920"/>
          </a:xfrm>
          <a:prstGeom prst="rect">
            <a:avLst/>
          </a:prstGeom>
          <a:solidFill>
            <a:srgbClr val="FFFFFF"/>
          </a:solidFill>
          <a:ln w="12700">
            <a:solidFill>
              <a:srgbClr val="D9E2E5"/>
            </a:solidFill>
            <a:prstDash val="solid"/>
          </a:ln>
        </p:spPr>
        <p:txBody>
          <a:bodyPr/>
          <a:lstStyle/>
          <a:p>
            <a:endParaRPr sz="2400"/>
          </a:p>
        </p:txBody>
      </p:sp>
      <p:sp>
        <p:nvSpPr>
          <p:cNvPr id="20" name="Text 18"/>
          <p:cNvSpPr/>
          <p:nvPr/>
        </p:nvSpPr>
        <p:spPr>
          <a:xfrm>
            <a:off x="4544568" y="224942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13%</a:t>
            </a:r>
            <a:endParaRPr lang="en-US" sz="1200" dirty="0"/>
          </a:p>
        </p:txBody>
      </p:sp>
      <p:sp>
        <p:nvSpPr>
          <p:cNvPr id="21" name="Shape 19"/>
          <p:cNvSpPr/>
          <p:nvPr/>
        </p:nvSpPr>
        <p:spPr>
          <a:xfrm>
            <a:off x="5733288" y="2103120"/>
            <a:ext cx="1234440" cy="502920"/>
          </a:xfrm>
          <a:prstGeom prst="rect">
            <a:avLst/>
          </a:prstGeom>
          <a:solidFill>
            <a:srgbClr val="FFFFFF"/>
          </a:solidFill>
          <a:ln w="12700">
            <a:solidFill>
              <a:srgbClr val="D9E2E5"/>
            </a:solidFill>
            <a:prstDash val="solid"/>
          </a:ln>
        </p:spPr>
        <p:txBody>
          <a:bodyPr/>
          <a:lstStyle/>
          <a:p>
            <a:endParaRPr sz="2400"/>
          </a:p>
        </p:txBody>
      </p:sp>
      <p:sp>
        <p:nvSpPr>
          <p:cNvPr id="22" name="Text 20"/>
          <p:cNvSpPr/>
          <p:nvPr/>
        </p:nvSpPr>
        <p:spPr>
          <a:xfrm>
            <a:off x="5779008" y="224942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28%</a:t>
            </a:r>
            <a:endParaRPr lang="en-US" sz="1200" dirty="0"/>
          </a:p>
        </p:txBody>
      </p:sp>
      <p:sp>
        <p:nvSpPr>
          <p:cNvPr id="23" name="Shape 21"/>
          <p:cNvSpPr/>
          <p:nvPr/>
        </p:nvSpPr>
        <p:spPr>
          <a:xfrm>
            <a:off x="749808" y="2606040"/>
            <a:ext cx="2514600" cy="502920"/>
          </a:xfrm>
          <a:prstGeom prst="rect">
            <a:avLst/>
          </a:prstGeom>
          <a:solidFill>
            <a:srgbClr val="FFFFFF"/>
          </a:solidFill>
          <a:ln w="12700">
            <a:solidFill>
              <a:srgbClr val="D9E2E5"/>
            </a:solidFill>
            <a:prstDash val="solid"/>
          </a:ln>
        </p:spPr>
        <p:txBody>
          <a:bodyPr/>
          <a:lstStyle/>
          <a:p>
            <a:endParaRPr sz="2400"/>
          </a:p>
        </p:txBody>
      </p:sp>
      <p:sp>
        <p:nvSpPr>
          <p:cNvPr id="24" name="Text 22"/>
          <p:cNvSpPr/>
          <p:nvPr/>
        </p:nvSpPr>
        <p:spPr>
          <a:xfrm>
            <a:off x="795528" y="2752344"/>
            <a:ext cx="2423160" cy="146304"/>
          </a:xfrm>
          <a:prstGeom prst="rect">
            <a:avLst/>
          </a:prstGeom>
          <a:noFill/>
          <a:ln/>
        </p:spPr>
        <p:txBody>
          <a:bodyPr wrap="square" lIns="0" tIns="0" rIns="0" bIns="0" rtlCol="0" anchor="ctr">
            <a:noAutofit/>
          </a:bodyPr>
          <a:lstStyle/>
          <a:p>
            <a:pPr marL="0" indent="0" algn="l">
              <a:buNone/>
            </a:pPr>
            <a:r>
              <a:rPr lang="en-US" sz="1200" dirty="0">
                <a:solidFill>
                  <a:srgbClr val="1A1A1A"/>
                </a:solidFill>
                <a:latin typeface="Aptos" pitchFamily="34" charset="0"/>
                <a:ea typeface="Aptos" pitchFamily="34" charset="-122"/>
                <a:cs typeface="Aptos" pitchFamily="34" charset="-120"/>
              </a:rPr>
              <a:t>Communication</a:t>
            </a:r>
            <a:endParaRPr lang="en-US" sz="1200" dirty="0"/>
          </a:p>
        </p:txBody>
      </p:sp>
      <p:sp>
        <p:nvSpPr>
          <p:cNvPr id="25" name="Shape 23"/>
          <p:cNvSpPr/>
          <p:nvPr/>
        </p:nvSpPr>
        <p:spPr>
          <a:xfrm>
            <a:off x="3264408" y="2606040"/>
            <a:ext cx="1234440" cy="502920"/>
          </a:xfrm>
          <a:prstGeom prst="rect">
            <a:avLst/>
          </a:prstGeom>
          <a:solidFill>
            <a:srgbClr val="FFFFFF"/>
          </a:solidFill>
          <a:ln w="12700">
            <a:solidFill>
              <a:srgbClr val="D9E2E5"/>
            </a:solidFill>
            <a:prstDash val="solid"/>
          </a:ln>
        </p:spPr>
        <p:txBody>
          <a:bodyPr/>
          <a:lstStyle/>
          <a:p>
            <a:endParaRPr sz="2400"/>
          </a:p>
        </p:txBody>
      </p:sp>
      <p:sp>
        <p:nvSpPr>
          <p:cNvPr id="26" name="Text 24"/>
          <p:cNvSpPr/>
          <p:nvPr/>
        </p:nvSpPr>
        <p:spPr>
          <a:xfrm>
            <a:off x="3310128" y="275234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29%</a:t>
            </a:r>
            <a:endParaRPr lang="en-US" sz="1200" dirty="0"/>
          </a:p>
        </p:txBody>
      </p:sp>
      <p:sp>
        <p:nvSpPr>
          <p:cNvPr id="27" name="Shape 25"/>
          <p:cNvSpPr/>
          <p:nvPr/>
        </p:nvSpPr>
        <p:spPr>
          <a:xfrm>
            <a:off x="4498848" y="2606040"/>
            <a:ext cx="1234440" cy="502920"/>
          </a:xfrm>
          <a:prstGeom prst="rect">
            <a:avLst/>
          </a:prstGeom>
          <a:solidFill>
            <a:srgbClr val="FFFFFF"/>
          </a:solidFill>
          <a:ln w="12700">
            <a:solidFill>
              <a:srgbClr val="D9E2E5"/>
            </a:solidFill>
            <a:prstDash val="solid"/>
          </a:ln>
        </p:spPr>
        <p:txBody>
          <a:bodyPr/>
          <a:lstStyle/>
          <a:p>
            <a:endParaRPr sz="2400"/>
          </a:p>
        </p:txBody>
      </p:sp>
      <p:sp>
        <p:nvSpPr>
          <p:cNvPr id="28" name="Text 26"/>
          <p:cNvSpPr/>
          <p:nvPr/>
        </p:nvSpPr>
        <p:spPr>
          <a:xfrm>
            <a:off x="4544568" y="275234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44%</a:t>
            </a:r>
            <a:endParaRPr lang="en-US" sz="1200" dirty="0"/>
          </a:p>
        </p:txBody>
      </p:sp>
      <p:sp>
        <p:nvSpPr>
          <p:cNvPr id="29" name="Shape 27"/>
          <p:cNvSpPr/>
          <p:nvPr/>
        </p:nvSpPr>
        <p:spPr>
          <a:xfrm>
            <a:off x="5733288" y="2606040"/>
            <a:ext cx="1234440" cy="502920"/>
          </a:xfrm>
          <a:prstGeom prst="rect">
            <a:avLst/>
          </a:prstGeom>
          <a:solidFill>
            <a:srgbClr val="FFFFFF"/>
          </a:solidFill>
          <a:ln w="12700">
            <a:solidFill>
              <a:srgbClr val="D9E2E5"/>
            </a:solidFill>
            <a:prstDash val="solid"/>
          </a:ln>
        </p:spPr>
        <p:txBody>
          <a:bodyPr/>
          <a:lstStyle/>
          <a:p>
            <a:endParaRPr sz="2400"/>
          </a:p>
        </p:txBody>
      </p:sp>
      <p:sp>
        <p:nvSpPr>
          <p:cNvPr id="30" name="Text 28"/>
          <p:cNvSpPr/>
          <p:nvPr/>
        </p:nvSpPr>
        <p:spPr>
          <a:xfrm>
            <a:off x="5779008" y="275234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11%</a:t>
            </a:r>
            <a:endParaRPr lang="en-US" sz="1200" dirty="0"/>
          </a:p>
        </p:txBody>
      </p:sp>
      <p:sp>
        <p:nvSpPr>
          <p:cNvPr id="31" name="Shape 29"/>
          <p:cNvSpPr/>
          <p:nvPr/>
        </p:nvSpPr>
        <p:spPr>
          <a:xfrm>
            <a:off x="749808" y="3108960"/>
            <a:ext cx="2514600" cy="502920"/>
          </a:xfrm>
          <a:prstGeom prst="rect">
            <a:avLst/>
          </a:prstGeom>
          <a:solidFill>
            <a:srgbClr val="FFFFFF"/>
          </a:solidFill>
          <a:ln w="12700">
            <a:solidFill>
              <a:srgbClr val="D9E2E5"/>
            </a:solidFill>
            <a:prstDash val="solid"/>
          </a:ln>
        </p:spPr>
        <p:txBody>
          <a:bodyPr/>
          <a:lstStyle/>
          <a:p>
            <a:endParaRPr sz="2400"/>
          </a:p>
        </p:txBody>
      </p:sp>
      <p:sp>
        <p:nvSpPr>
          <p:cNvPr id="32" name="Text 30"/>
          <p:cNvSpPr/>
          <p:nvPr/>
        </p:nvSpPr>
        <p:spPr>
          <a:xfrm>
            <a:off x="795528" y="3255264"/>
            <a:ext cx="2423160" cy="146304"/>
          </a:xfrm>
          <a:prstGeom prst="rect">
            <a:avLst/>
          </a:prstGeom>
          <a:noFill/>
          <a:ln/>
        </p:spPr>
        <p:txBody>
          <a:bodyPr wrap="square" lIns="0" tIns="0" rIns="0" bIns="0" rtlCol="0" anchor="ctr">
            <a:noAutofit/>
          </a:bodyPr>
          <a:lstStyle/>
          <a:p>
            <a:pPr marL="0" indent="0" algn="l">
              <a:buNone/>
            </a:pPr>
            <a:r>
              <a:rPr lang="en-US" sz="1200" dirty="0">
                <a:solidFill>
                  <a:srgbClr val="1A1A1A"/>
                </a:solidFill>
                <a:latin typeface="Aptos" pitchFamily="34" charset="0"/>
                <a:ea typeface="Aptos" pitchFamily="34" charset="-122"/>
                <a:cs typeface="Aptos" pitchFamily="34" charset="-120"/>
              </a:rPr>
              <a:t>Human resource management</a:t>
            </a:r>
            <a:endParaRPr lang="en-US" sz="1200" dirty="0"/>
          </a:p>
        </p:txBody>
      </p:sp>
      <p:sp>
        <p:nvSpPr>
          <p:cNvPr id="33" name="Shape 31"/>
          <p:cNvSpPr/>
          <p:nvPr/>
        </p:nvSpPr>
        <p:spPr>
          <a:xfrm>
            <a:off x="3264408" y="3108960"/>
            <a:ext cx="1234440" cy="502920"/>
          </a:xfrm>
          <a:prstGeom prst="rect">
            <a:avLst/>
          </a:prstGeom>
          <a:solidFill>
            <a:srgbClr val="FFFFFF"/>
          </a:solidFill>
          <a:ln w="12700">
            <a:solidFill>
              <a:srgbClr val="D9E2E5"/>
            </a:solidFill>
            <a:prstDash val="solid"/>
          </a:ln>
        </p:spPr>
        <p:txBody>
          <a:bodyPr/>
          <a:lstStyle/>
          <a:p>
            <a:endParaRPr sz="2400"/>
          </a:p>
        </p:txBody>
      </p:sp>
      <p:sp>
        <p:nvSpPr>
          <p:cNvPr id="34" name="Text 32"/>
          <p:cNvSpPr/>
          <p:nvPr/>
        </p:nvSpPr>
        <p:spPr>
          <a:xfrm>
            <a:off x="3310128" y="325526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20%</a:t>
            </a:r>
            <a:endParaRPr lang="en-US" sz="1200" dirty="0"/>
          </a:p>
        </p:txBody>
      </p:sp>
      <p:sp>
        <p:nvSpPr>
          <p:cNvPr id="35" name="Shape 33"/>
          <p:cNvSpPr/>
          <p:nvPr/>
        </p:nvSpPr>
        <p:spPr>
          <a:xfrm>
            <a:off x="4498848" y="3108960"/>
            <a:ext cx="1234440" cy="502920"/>
          </a:xfrm>
          <a:prstGeom prst="rect">
            <a:avLst/>
          </a:prstGeom>
          <a:solidFill>
            <a:srgbClr val="FFFFFF"/>
          </a:solidFill>
          <a:ln w="12700">
            <a:solidFill>
              <a:srgbClr val="D9E2E5"/>
            </a:solidFill>
            <a:prstDash val="solid"/>
          </a:ln>
        </p:spPr>
        <p:txBody>
          <a:bodyPr/>
          <a:lstStyle/>
          <a:p>
            <a:endParaRPr sz="2400"/>
          </a:p>
        </p:txBody>
      </p:sp>
      <p:sp>
        <p:nvSpPr>
          <p:cNvPr id="36" name="Text 34"/>
          <p:cNvSpPr/>
          <p:nvPr/>
        </p:nvSpPr>
        <p:spPr>
          <a:xfrm>
            <a:off x="4544568" y="325526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26%</a:t>
            </a:r>
            <a:endParaRPr lang="en-US" sz="1200" dirty="0"/>
          </a:p>
        </p:txBody>
      </p:sp>
      <p:sp>
        <p:nvSpPr>
          <p:cNvPr id="37" name="Shape 35"/>
          <p:cNvSpPr/>
          <p:nvPr/>
        </p:nvSpPr>
        <p:spPr>
          <a:xfrm>
            <a:off x="5733288" y="3108960"/>
            <a:ext cx="1234440" cy="502920"/>
          </a:xfrm>
          <a:prstGeom prst="rect">
            <a:avLst/>
          </a:prstGeom>
          <a:solidFill>
            <a:srgbClr val="FFFFFF"/>
          </a:solidFill>
          <a:ln w="12700">
            <a:solidFill>
              <a:srgbClr val="D9E2E5"/>
            </a:solidFill>
            <a:prstDash val="solid"/>
          </a:ln>
        </p:spPr>
        <p:txBody>
          <a:bodyPr/>
          <a:lstStyle/>
          <a:p>
            <a:endParaRPr sz="2400"/>
          </a:p>
        </p:txBody>
      </p:sp>
      <p:sp>
        <p:nvSpPr>
          <p:cNvPr id="38" name="Text 36"/>
          <p:cNvSpPr/>
          <p:nvPr/>
        </p:nvSpPr>
        <p:spPr>
          <a:xfrm>
            <a:off x="5779008" y="325526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11%</a:t>
            </a:r>
            <a:endParaRPr lang="en-US" sz="1200" dirty="0"/>
          </a:p>
        </p:txBody>
      </p:sp>
      <p:sp>
        <p:nvSpPr>
          <p:cNvPr id="39" name="Shape 37"/>
          <p:cNvSpPr/>
          <p:nvPr/>
        </p:nvSpPr>
        <p:spPr>
          <a:xfrm>
            <a:off x="749808" y="3611880"/>
            <a:ext cx="2514600" cy="502920"/>
          </a:xfrm>
          <a:prstGeom prst="rect">
            <a:avLst/>
          </a:prstGeom>
          <a:solidFill>
            <a:srgbClr val="FFFFFF"/>
          </a:solidFill>
          <a:ln w="12700">
            <a:solidFill>
              <a:srgbClr val="D9E2E5"/>
            </a:solidFill>
            <a:prstDash val="solid"/>
          </a:ln>
        </p:spPr>
        <p:txBody>
          <a:bodyPr/>
          <a:lstStyle/>
          <a:p>
            <a:endParaRPr sz="2400"/>
          </a:p>
        </p:txBody>
      </p:sp>
      <p:sp>
        <p:nvSpPr>
          <p:cNvPr id="40" name="Text 38"/>
          <p:cNvSpPr/>
          <p:nvPr/>
        </p:nvSpPr>
        <p:spPr>
          <a:xfrm>
            <a:off x="795528" y="3758184"/>
            <a:ext cx="2423160" cy="146304"/>
          </a:xfrm>
          <a:prstGeom prst="rect">
            <a:avLst/>
          </a:prstGeom>
          <a:noFill/>
          <a:ln/>
        </p:spPr>
        <p:txBody>
          <a:bodyPr wrap="square" lIns="0" tIns="0" rIns="0" bIns="0" rtlCol="0" anchor="ctr">
            <a:noAutofit/>
          </a:bodyPr>
          <a:lstStyle/>
          <a:p>
            <a:pPr marL="0" indent="0" algn="l">
              <a:buNone/>
            </a:pPr>
            <a:r>
              <a:rPr lang="en-US" sz="1200" dirty="0">
                <a:solidFill>
                  <a:srgbClr val="1A1A1A"/>
                </a:solidFill>
                <a:latin typeface="Aptos" pitchFamily="34" charset="0"/>
                <a:ea typeface="Aptos" pitchFamily="34" charset="-122"/>
                <a:cs typeface="Aptos" pitchFamily="34" charset="-120"/>
              </a:rPr>
              <a:t>Networking</a:t>
            </a:r>
            <a:endParaRPr lang="en-US" sz="1200" dirty="0"/>
          </a:p>
        </p:txBody>
      </p:sp>
      <p:sp>
        <p:nvSpPr>
          <p:cNvPr id="41" name="Shape 39"/>
          <p:cNvSpPr/>
          <p:nvPr/>
        </p:nvSpPr>
        <p:spPr>
          <a:xfrm>
            <a:off x="3264408" y="3611880"/>
            <a:ext cx="1234440" cy="502920"/>
          </a:xfrm>
          <a:prstGeom prst="rect">
            <a:avLst/>
          </a:prstGeom>
          <a:solidFill>
            <a:srgbClr val="FFFFFF"/>
          </a:solidFill>
          <a:ln w="12700">
            <a:solidFill>
              <a:srgbClr val="D9E2E5"/>
            </a:solidFill>
            <a:prstDash val="solid"/>
          </a:ln>
        </p:spPr>
        <p:txBody>
          <a:bodyPr/>
          <a:lstStyle/>
          <a:p>
            <a:endParaRPr sz="2400"/>
          </a:p>
        </p:txBody>
      </p:sp>
      <p:sp>
        <p:nvSpPr>
          <p:cNvPr id="42" name="Text 40"/>
          <p:cNvSpPr/>
          <p:nvPr/>
        </p:nvSpPr>
        <p:spPr>
          <a:xfrm>
            <a:off x="3310128" y="375818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19%</a:t>
            </a:r>
            <a:endParaRPr lang="en-US" sz="1200" dirty="0"/>
          </a:p>
        </p:txBody>
      </p:sp>
      <p:sp>
        <p:nvSpPr>
          <p:cNvPr id="43" name="Shape 41"/>
          <p:cNvSpPr/>
          <p:nvPr/>
        </p:nvSpPr>
        <p:spPr>
          <a:xfrm>
            <a:off x="4498848" y="3611880"/>
            <a:ext cx="1234440" cy="502920"/>
          </a:xfrm>
          <a:prstGeom prst="rect">
            <a:avLst/>
          </a:prstGeom>
          <a:solidFill>
            <a:srgbClr val="FFFFFF"/>
          </a:solidFill>
          <a:ln w="12700">
            <a:solidFill>
              <a:srgbClr val="D9E2E5"/>
            </a:solidFill>
            <a:prstDash val="solid"/>
          </a:ln>
        </p:spPr>
        <p:txBody>
          <a:bodyPr/>
          <a:lstStyle/>
          <a:p>
            <a:endParaRPr sz="2400"/>
          </a:p>
        </p:txBody>
      </p:sp>
      <p:sp>
        <p:nvSpPr>
          <p:cNvPr id="44" name="Text 42"/>
          <p:cNvSpPr/>
          <p:nvPr/>
        </p:nvSpPr>
        <p:spPr>
          <a:xfrm>
            <a:off x="4544568" y="375818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11%</a:t>
            </a:r>
            <a:endParaRPr lang="en-US" sz="1200" dirty="0"/>
          </a:p>
        </p:txBody>
      </p:sp>
      <p:sp>
        <p:nvSpPr>
          <p:cNvPr id="45" name="Shape 43"/>
          <p:cNvSpPr/>
          <p:nvPr/>
        </p:nvSpPr>
        <p:spPr>
          <a:xfrm>
            <a:off x="5733288" y="3611880"/>
            <a:ext cx="1234440" cy="502920"/>
          </a:xfrm>
          <a:prstGeom prst="rect">
            <a:avLst/>
          </a:prstGeom>
          <a:solidFill>
            <a:srgbClr val="FFFFFF"/>
          </a:solidFill>
          <a:ln w="12700">
            <a:solidFill>
              <a:srgbClr val="D9E2E5"/>
            </a:solidFill>
            <a:prstDash val="solid"/>
          </a:ln>
        </p:spPr>
        <p:txBody>
          <a:bodyPr/>
          <a:lstStyle/>
          <a:p>
            <a:endParaRPr sz="2400"/>
          </a:p>
        </p:txBody>
      </p:sp>
      <p:sp>
        <p:nvSpPr>
          <p:cNvPr id="46" name="Text 44"/>
          <p:cNvSpPr/>
          <p:nvPr/>
        </p:nvSpPr>
        <p:spPr>
          <a:xfrm>
            <a:off x="5779008" y="3758184"/>
            <a:ext cx="1143000" cy="146304"/>
          </a:xfrm>
          <a:prstGeom prst="rect">
            <a:avLst/>
          </a:prstGeom>
          <a:noFill/>
          <a:ln/>
        </p:spPr>
        <p:txBody>
          <a:bodyPr wrap="square" lIns="0" tIns="0" rIns="0" bIns="0" rtlCol="0" anchor="ctr">
            <a:noAutofit/>
          </a:bodyPr>
          <a:lstStyle/>
          <a:p>
            <a:pPr marL="0" indent="0" algn="ctr">
              <a:buNone/>
            </a:pPr>
            <a:r>
              <a:rPr lang="en-US" sz="1200" dirty="0">
                <a:solidFill>
                  <a:srgbClr val="1A1A1A"/>
                </a:solidFill>
                <a:latin typeface="Aptos" pitchFamily="34" charset="0"/>
                <a:ea typeface="Aptos" pitchFamily="34" charset="-122"/>
                <a:cs typeface="Aptos" pitchFamily="34" charset="-120"/>
              </a:rPr>
              <a:t>48%</a:t>
            </a:r>
            <a:endParaRPr lang="en-US" sz="1200" dirty="0"/>
          </a:p>
        </p:txBody>
      </p:sp>
      <p:sp>
        <p:nvSpPr>
          <p:cNvPr id="47" name="Shape 45"/>
          <p:cNvSpPr/>
          <p:nvPr/>
        </p:nvSpPr>
        <p:spPr>
          <a:xfrm>
            <a:off x="7818120" y="1600200"/>
            <a:ext cx="3566160" cy="2971800"/>
          </a:xfrm>
          <a:prstGeom prst="roundRect">
            <a:avLst>
              <a:gd name="adj" fmla="val 2462"/>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400"/>
          </a:p>
        </p:txBody>
      </p:sp>
      <p:sp>
        <p:nvSpPr>
          <p:cNvPr id="48" name="Text 46"/>
          <p:cNvSpPr/>
          <p:nvPr/>
        </p:nvSpPr>
        <p:spPr>
          <a:xfrm>
            <a:off x="8138160" y="1874520"/>
            <a:ext cx="2011680" cy="201168"/>
          </a:xfrm>
          <a:prstGeom prst="rect">
            <a:avLst/>
          </a:prstGeom>
          <a:noFill/>
          <a:ln/>
        </p:spPr>
        <p:txBody>
          <a:bodyPr wrap="square" lIns="0" tIns="0" rIns="0" bIns="0" rtlCol="0" anchor="ctr">
            <a:normAutofit/>
          </a:bodyPr>
          <a:lstStyle/>
          <a:p>
            <a:pPr marL="0" indent="0">
              <a:buNone/>
            </a:pPr>
            <a:r>
              <a:rPr lang="en-US" sz="1100" b="1" dirty="0">
                <a:solidFill>
                  <a:srgbClr val="007C89"/>
                </a:solidFill>
                <a:latin typeface="Aptos" pitchFamily="34" charset="0"/>
                <a:ea typeface="Aptos" pitchFamily="34" charset="-122"/>
                <a:cs typeface="Aptos" pitchFamily="34" charset="-120"/>
              </a:rPr>
              <a:t>Quality implication</a:t>
            </a:r>
            <a:endParaRPr lang="en-US" sz="1100" dirty="0"/>
          </a:p>
        </p:txBody>
      </p:sp>
      <p:sp>
        <p:nvSpPr>
          <p:cNvPr id="49" name="Text 47"/>
          <p:cNvSpPr/>
          <p:nvPr/>
        </p:nvSpPr>
        <p:spPr>
          <a:xfrm>
            <a:off x="8138160" y="2231136"/>
            <a:ext cx="2971800" cy="804672"/>
          </a:xfrm>
          <a:prstGeom prst="rect">
            <a:avLst/>
          </a:prstGeom>
          <a:noFill/>
          <a:ln/>
        </p:spPr>
        <p:txBody>
          <a:bodyPr wrap="square" lIns="0" tIns="0" rIns="0" bIns="0" rtlCol="0" anchor="ctr">
            <a:noAutofit/>
          </a:bodyPr>
          <a:lstStyle/>
          <a:p>
            <a:pPr marL="0" indent="0">
              <a:buNone/>
            </a:pPr>
            <a:r>
              <a:rPr lang="en-US" sz="1600" b="1" dirty="0">
                <a:solidFill>
                  <a:srgbClr val="0F2D3A"/>
                </a:solidFill>
                <a:latin typeface="Aptos Display" pitchFamily="34" charset="0"/>
                <a:ea typeface="Aptos Display" pitchFamily="34" charset="-122"/>
                <a:cs typeface="Aptos Display" pitchFamily="34" charset="-120"/>
              </a:rPr>
              <a:t>Effective quality leadership requires strong communication and people management—not only visibility or networking.</a:t>
            </a:r>
            <a:endParaRPr lang="en-US" sz="1600" dirty="0"/>
          </a:p>
        </p:txBody>
      </p:sp>
      <p:sp>
        <p:nvSpPr>
          <p:cNvPr id="50" name="Text 48"/>
          <p:cNvSpPr/>
          <p:nvPr/>
        </p:nvSpPr>
        <p:spPr>
          <a:xfrm>
            <a:off x="8138160" y="3323646"/>
            <a:ext cx="1188720" cy="201168"/>
          </a:xfrm>
          <a:prstGeom prst="rect">
            <a:avLst/>
          </a:prstGeom>
          <a:noFill/>
          <a:ln/>
        </p:spPr>
        <p:txBody>
          <a:bodyPr wrap="square" lIns="0" tIns="0" rIns="0" bIns="0" rtlCol="0" anchor="ctr">
            <a:normAutofit/>
          </a:bodyPr>
          <a:lstStyle/>
          <a:p>
            <a:pPr marL="0" indent="0">
              <a:buNone/>
            </a:pPr>
            <a:r>
              <a:rPr lang="en-US" sz="1100" b="1" dirty="0">
                <a:solidFill>
                  <a:srgbClr val="C49A3A"/>
                </a:solidFill>
                <a:latin typeface="Aptos" pitchFamily="34" charset="0"/>
                <a:ea typeface="Aptos" pitchFamily="34" charset="-122"/>
                <a:cs typeface="Aptos" pitchFamily="34" charset="-120"/>
              </a:rPr>
              <a:t>Discussion</a:t>
            </a:r>
            <a:endParaRPr lang="en-US" sz="1100" dirty="0"/>
          </a:p>
        </p:txBody>
      </p:sp>
      <p:sp>
        <p:nvSpPr>
          <p:cNvPr id="51" name="Text 49"/>
          <p:cNvSpPr/>
          <p:nvPr/>
        </p:nvSpPr>
        <p:spPr>
          <a:xfrm>
            <a:off x="8138160" y="3794760"/>
            <a:ext cx="2880360" cy="320040"/>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What does your organization reward: real effectiveness or visible success?</a:t>
            </a:r>
            <a:endParaRPr lang="en-US" sz="1600" dirty="0"/>
          </a:p>
        </p:txBody>
      </p:sp>
      <p:sp>
        <p:nvSpPr>
          <p:cNvPr id="52" name="Shape 50"/>
          <p:cNvSpPr/>
          <p:nvPr/>
        </p:nvSpPr>
        <p:spPr>
          <a:xfrm>
            <a:off x="658368" y="5166360"/>
            <a:ext cx="10881360" cy="594360"/>
          </a:xfrm>
          <a:prstGeom prst="roundRect">
            <a:avLst>
              <a:gd name="adj" fmla="val 12308"/>
            </a:avLst>
          </a:prstGeom>
          <a:solidFill>
            <a:srgbClr val="FFF7E7"/>
          </a:solidFill>
          <a:ln w="12700">
            <a:solidFill>
              <a:srgbClr val="B9DEE3"/>
            </a:solidFill>
            <a:prstDash val="solid"/>
          </a:ln>
        </p:spPr>
        <p:txBody>
          <a:bodyPr/>
          <a:lstStyle/>
          <a:p>
            <a:endParaRPr sz="2400"/>
          </a:p>
        </p:txBody>
      </p:sp>
      <p:sp>
        <p:nvSpPr>
          <p:cNvPr id="53" name="Text 51"/>
          <p:cNvSpPr/>
          <p:nvPr/>
        </p:nvSpPr>
        <p:spPr>
          <a:xfrm>
            <a:off x="822960" y="5303520"/>
            <a:ext cx="10552176" cy="365760"/>
          </a:xfrm>
          <a:prstGeom prst="rect">
            <a:avLst/>
          </a:prstGeom>
          <a:noFill/>
          <a:ln/>
        </p:spPr>
        <p:txBody>
          <a:bodyPr wrap="square" lIns="254" tIns="254" rIns="254" bIns="254" rtlCol="0" anchor="ctr">
            <a:normAutofit/>
          </a:bodyPr>
          <a:lstStyle/>
          <a:p>
            <a:pPr marL="0" indent="0">
              <a:buNone/>
            </a:pPr>
            <a:r>
              <a:rPr lang="en-US" sz="1600" b="1" dirty="0">
                <a:solidFill>
                  <a:srgbClr val="0F2D3A"/>
                </a:solidFill>
                <a:latin typeface="Aptos" pitchFamily="34" charset="0"/>
                <a:ea typeface="Aptos" pitchFamily="34" charset="-122"/>
                <a:cs typeface="Aptos" pitchFamily="34" charset="-120"/>
              </a:rPr>
              <a:t>Direct takeaway: protect time for communication routines that surface accurate quality information.</a:t>
            </a:r>
            <a:endParaRPr lang="en-US" sz="1600" dirty="0"/>
          </a:p>
        </p:txBody>
      </p:sp>
      <p:sp>
        <p:nvSpPr>
          <p:cNvPr id="54"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00" b="0"/>
              <a:t>9</a:t>
            </a:fld>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What Is Organizational Behavior?</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9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900" dirty="0"/>
          </a:p>
        </p:txBody>
      </p:sp>
      <p:sp>
        <p:nvSpPr>
          <p:cNvPr id="6" name="Shape 4"/>
          <p:cNvSpPr/>
          <p:nvPr/>
        </p:nvSpPr>
        <p:spPr>
          <a:xfrm>
            <a:off x="658368" y="1143000"/>
            <a:ext cx="10881360" cy="1143000"/>
          </a:xfrm>
          <a:prstGeom prst="roundRect">
            <a:avLst>
              <a:gd name="adj" fmla="val 6400"/>
            </a:avLst>
          </a:prstGeom>
          <a:solidFill>
            <a:srgbClr val="0F2D3A"/>
          </a:solidFill>
          <a:ln w="12700">
            <a:solidFill>
              <a:srgbClr val="0F2D3A"/>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960120" y="1444752"/>
            <a:ext cx="10241280" cy="457200"/>
          </a:xfrm>
          <a:prstGeom prst="rect">
            <a:avLst/>
          </a:prstGeom>
          <a:noFill/>
          <a:ln/>
        </p:spPr>
        <p:txBody>
          <a:bodyPr wrap="square" lIns="0" tIns="0" rIns="0" bIns="0" rtlCol="0" anchor="ctr">
            <a:noAutofit/>
          </a:bodyPr>
          <a:lstStyle/>
          <a:p>
            <a:pPr marL="0" indent="0">
              <a:buNone/>
            </a:pPr>
            <a:r>
              <a:rPr lang="en-US" b="1" dirty="0">
                <a:solidFill>
                  <a:srgbClr val="FFFFFF"/>
                </a:solidFill>
                <a:latin typeface="Aptos Display" pitchFamily="34" charset="0"/>
                <a:ea typeface="Aptos Display" pitchFamily="34" charset="-122"/>
                <a:cs typeface="Aptos Display" pitchFamily="34" charset="-120"/>
              </a:rPr>
              <a:t>Organizational behavior is a field of study that investigates the impact of individuals, groups, and structure on behavior within organizations, with the purpose of applying that knowledge to improve organizational effectiveness.</a:t>
            </a:r>
            <a:endParaRPr lang="en-US" dirty="0"/>
          </a:p>
        </p:txBody>
      </p:sp>
      <p:sp>
        <p:nvSpPr>
          <p:cNvPr id="8" name="Shape 6"/>
          <p:cNvSpPr/>
          <p:nvPr/>
        </p:nvSpPr>
        <p:spPr>
          <a:xfrm>
            <a:off x="658368" y="2743200"/>
            <a:ext cx="3337560" cy="1737360"/>
          </a:xfrm>
          <a:prstGeom prst="roundRect">
            <a:avLst>
              <a:gd name="adj" fmla="val 421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9" name="Text 7"/>
          <p:cNvSpPr/>
          <p:nvPr/>
        </p:nvSpPr>
        <p:spPr>
          <a:xfrm>
            <a:off x="914400" y="3035808"/>
            <a:ext cx="2377440" cy="228600"/>
          </a:xfrm>
          <a:prstGeom prst="rect">
            <a:avLst/>
          </a:prstGeom>
          <a:noFill/>
          <a:ln/>
        </p:spPr>
        <p:txBody>
          <a:bodyPr wrap="square" lIns="0" tIns="0" rIns="0" bIns="0" rtlCol="0" anchor="ctr"/>
          <a:lstStyle/>
          <a:p>
            <a:pPr marL="0" indent="0">
              <a:buNone/>
            </a:pPr>
            <a:r>
              <a:rPr lang="en-US" sz="2400" b="1" dirty="0">
                <a:solidFill>
                  <a:srgbClr val="007C89"/>
                </a:solidFill>
                <a:latin typeface="Aptos Display" pitchFamily="34" charset="0"/>
                <a:ea typeface="Aptos Display" pitchFamily="34" charset="-122"/>
                <a:cs typeface="Aptos Display" pitchFamily="34" charset="-120"/>
              </a:rPr>
              <a:t>Individuals</a:t>
            </a:r>
            <a:endParaRPr lang="en-US" sz="2400" dirty="0"/>
          </a:p>
        </p:txBody>
      </p:sp>
      <p:sp>
        <p:nvSpPr>
          <p:cNvPr id="10" name="Text 8"/>
          <p:cNvSpPr/>
          <p:nvPr/>
        </p:nvSpPr>
        <p:spPr>
          <a:xfrm>
            <a:off x="914400" y="3566160"/>
            <a:ext cx="2697480" cy="457200"/>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Attitudes, personality, perception, motivation, emotions, decisions.</a:t>
            </a:r>
            <a:endParaRPr lang="en-US" sz="1600" dirty="0"/>
          </a:p>
        </p:txBody>
      </p:sp>
      <p:sp>
        <p:nvSpPr>
          <p:cNvPr id="11" name="Shape 9"/>
          <p:cNvSpPr/>
          <p:nvPr/>
        </p:nvSpPr>
        <p:spPr>
          <a:xfrm>
            <a:off x="4407408" y="2743200"/>
            <a:ext cx="3337560" cy="1737360"/>
          </a:xfrm>
          <a:prstGeom prst="roundRect">
            <a:avLst>
              <a:gd name="adj" fmla="val 4211"/>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2" name="Text 10"/>
          <p:cNvSpPr/>
          <p:nvPr/>
        </p:nvSpPr>
        <p:spPr>
          <a:xfrm>
            <a:off x="4663440" y="3035808"/>
            <a:ext cx="2377440" cy="228600"/>
          </a:xfrm>
          <a:prstGeom prst="rect">
            <a:avLst/>
          </a:prstGeom>
          <a:noFill/>
          <a:ln/>
        </p:spPr>
        <p:txBody>
          <a:bodyPr wrap="square" lIns="0" tIns="0" rIns="0" bIns="0" rtlCol="0" anchor="ctr"/>
          <a:lstStyle/>
          <a:p>
            <a:pPr marL="0" indent="0">
              <a:buNone/>
            </a:pPr>
            <a:r>
              <a:rPr lang="en-US" sz="2400" b="1" dirty="0">
                <a:solidFill>
                  <a:srgbClr val="007C89"/>
                </a:solidFill>
                <a:latin typeface="Aptos Display" pitchFamily="34" charset="0"/>
                <a:ea typeface="Aptos Display" pitchFamily="34" charset="-122"/>
                <a:cs typeface="Aptos Display" pitchFamily="34" charset="-120"/>
              </a:rPr>
              <a:t>Groups</a:t>
            </a:r>
            <a:endParaRPr lang="en-US" sz="2400" dirty="0"/>
          </a:p>
        </p:txBody>
      </p:sp>
      <p:sp>
        <p:nvSpPr>
          <p:cNvPr id="13" name="Text 11"/>
          <p:cNvSpPr/>
          <p:nvPr/>
        </p:nvSpPr>
        <p:spPr>
          <a:xfrm>
            <a:off x="4663440" y="3566160"/>
            <a:ext cx="2697480" cy="457200"/>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Roles, norms, teams, communication, leadership, power, conflict.</a:t>
            </a:r>
            <a:endParaRPr lang="en-US" sz="1400" dirty="0"/>
          </a:p>
        </p:txBody>
      </p:sp>
      <p:sp>
        <p:nvSpPr>
          <p:cNvPr id="14" name="Shape 12"/>
          <p:cNvSpPr/>
          <p:nvPr/>
        </p:nvSpPr>
        <p:spPr>
          <a:xfrm>
            <a:off x="8156448" y="2743200"/>
            <a:ext cx="3337560" cy="1737360"/>
          </a:xfrm>
          <a:prstGeom prst="roundRect">
            <a:avLst>
              <a:gd name="adj" fmla="val 421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5" name="Text 13"/>
          <p:cNvSpPr/>
          <p:nvPr/>
        </p:nvSpPr>
        <p:spPr>
          <a:xfrm>
            <a:off x="8412480" y="3035808"/>
            <a:ext cx="2377440" cy="228600"/>
          </a:xfrm>
          <a:prstGeom prst="rect">
            <a:avLst/>
          </a:prstGeom>
          <a:noFill/>
          <a:ln/>
        </p:spPr>
        <p:txBody>
          <a:bodyPr wrap="square" lIns="0" tIns="0" rIns="0" bIns="0" rtlCol="0" anchor="ctr"/>
          <a:lstStyle/>
          <a:p>
            <a:pPr marL="0" indent="0">
              <a:buNone/>
            </a:pPr>
            <a:r>
              <a:rPr lang="en-US" sz="2400" b="1" dirty="0">
                <a:solidFill>
                  <a:srgbClr val="007C89"/>
                </a:solidFill>
                <a:latin typeface="Aptos Display" pitchFamily="34" charset="0"/>
                <a:ea typeface="Aptos Display" pitchFamily="34" charset="-122"/>
                <a:cs typeface="Aptos Display" pitchFamily="34" charset="-120"/>
              </a:rPr>
              <a:t>Organization</a:t>
            </a:r>
            <a:endParaRPr lang="en-US" sz="2400" dirty="0"/>
          </a:p>
        </p:txBody>
      </p:sp>
      <p:sp>
        <p:nvSpPr>
          <p:cNvPr id="16" name="Text 14"/>
          <p:cNvSpPr/>
          <p:nvPr/>
        </p:nvSpPr>
        <p:spPr>
          <a:xfrm>
            <a:off x="8412480" y="3566160"/>
            <a:ext cx="2697480" cy="457200"/>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Structure, culture, HR practices, and change.</a:t>
            </a:r>
            <a:endParaRPr lang="en-US" sz="1600" dirty="0"/>
          </a:p>
        </p:txBody>
      </p:sp>
      <p:sp>
        <p:nvSpPr>
          <p:cNvPr id="17" name="Shape 15"/>
          <p:cNvSpPr/>
          <p:nvPr/>
        </p:nvSpPr>
        <p:spPr>
          <a:xfrm>
            <a:off x="658368" y="5166360"/>
            <a:ext cx="10881360" cy="594360"/>
          </a:xfrm>
          <a:prstGeom prst="roundRect">
            <a:avLst>
              <a:gd name="adj" fmla="val 12308"/>
            </a:avLst>
          </a:prstGeom>
          <a:solidFill>
            <a:srgbClr val="F2FBFC"/>
          </a:solidFill>
          <a:ln w="12700">
            <a:solidFill>
              <a:srgbClr val="B9DEE3"/>
            </a:solidFill>
            <a:prstDash val="solid"/>
          </a:ln>
        </p:spPr>
        <p:txBody>
          <a:bodyPr/>
          <a:lstStyle/>
          <a:p>
            <a:endParaRPr sz="2000"/>
          </a:p>
        </p:txBody>
      </p:sp>
      <p:sp>
        <p:nvSpPr>
          <p:cNvPr id="18" name="Text 16"/>
          <p:cNvSpPr/>
          <p:nvPr/>
        </p:nvSpPr>
        <p:spPr>
          <a:xfrm>
            <a:off x="822960" y="5303520"/>
            <a:ext cx="10552176" cy="365760"/>
          </a:xfrm>
          <a:prstGeom prst="rect">
            <a:avLst/>
          </a:prstGeom>
          <a:noFill/>
          <a:ln/>
        </p:spPr>
        <p:txBody>
          <a:bodyPr wrap="square" lIns="254" tIns="254" rIns="254" bIns="254" rtlCol="0" anchor="ctr">
            <a:normAutofit/>
          </a:bodyPr>
          <a:lstStyle/>
          <a:p>
            <a:pPr marL="0" indent="0">
              <a:buNone/>
            </a:pPr>
            <a:r>
              <a:rPr lang="en-US" sz="1600" b="1" dirty="0">
                <a:solidFill>
                  <a:srgbClr val="0F2D3A"/>
                </a:solidFill>
                <a:latin typeface="Aptos" pitchFamily="34" charset="0"/>
                <a:ea typeface="Aptos" pitchFamily="34" charset="-122"/>
                <a:cs typeface="Aptos" pitchFamily="34" charset="-120"/>
              </a:rPr>
              <a:t>TQM link: OB topics explain how quality practices become daily behavior.</a:t>
            </a:r>
            <a:endParaRPr lang="en-US" sz="16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10</a:t>
            </a:fld>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000" b="1" dirty="0">
                <a:solidFill>
                  <a:srgbClr val="007C89"/>
                </a:solidFill>
                <a:latin typeface="Aptos" pitchFamily="34" charset="0"/>
                <a:ea typeface="Aptos" pitchFamily="34" charset="-122"/>
                <a:cs typeface="Aptos" pitchFamily="34" charset="-120"/>
              </a:rPr>
              <a:t>G TQM 511 | Organizational Behavior and Quality</a:t>
            </a:r>
            <a:endParaRPr lang="en-US" sz="10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200" b="1" dirty="0">
                <a:solidFill>
                  <a:srgbClr val="0F2D3A"/>
                </a:solidFill>
                <a:latin typeface="Aptos Display" pitchFamily="34" charset="0"/>
                <a:ea typeface="Aptos Display" pitchFamily="34" charset="-122"/>
                <a:cs typeface="Aptos Display" pitchFamily="34" charset="-120"/>
              </a:rPr>
              <a:t>From Intuition to Evidence-Based Management</a:t>
            </a:r>
            <a:endParaRPr lang="en-US" sz="32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4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9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900" dirty="0"/>
          </a:p>
        </p:txBody>
      </p:sp>
      <p:sp>
        <p:nvSpPr>
          <p:cNvPr id="6" name="Shape 4"/>
          <p:cNvSpPr/>
          <p:nvPr/>
        </p:nvSpPr>
        <p:spPr>
          <a:xfrm>
            <a:off x="777240" y="1280160"/>
            <a:ext cx="347472" cy="347472"/>
          </a:xfrm>
          <a:prstGeom prst="ellipse">
            <a:avLst/>
          </a:prstGeom>
          <a:solidFill>
            <a:srgbClr val="007C89"/>
          </a:solidFill>
          <a:ln w="12700">
            <a:solidFill>
              <a:srgbClr val="007C89"/>
            </a:solidFill>
            <a:prstDash val="solid"/>
          </a:ln>
        </p:spPr>
        <p:txBody>
          <a:bodyPr/>
          <a:lstStyle/>
          <a:p>
            <a:endParaRPr sz="2400"/>
          </a:p>
        </p:txBody>
      </p:sp>
      <p:sp>
        <p:nvSpPr>
          <p:cNvPr id="7" name="Text 5"/>
          <p:cNvSpPr/>
          <p:nvPr/>
        </p:nvSpPr>
        <p:spPr>
          <a:xfrm>
            <a:off x="777240" y="1362456"/>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8" name="Text 6"/>
          <p:cNvSpPr/>
          <p:nvPr/>
        </p:nvSpPr>
        <p:spPr>
          <a:xfrm>
            <a:off x="1261872" y="1261872"/>
            <a:ext cx="2834640" cy="201168"/>
          </a:xfrm>
          <a:prstGeom prst="rect">
            <a:avLst/>
          </a:prstGeom>
          <a:noFill/>
          <a:ln/>
        </p:spPr>
        <p:txBody>
          <a:bodyPr wrap="square" lIns="0" tIns="0" rIns="0" bIns="0" rtlCol="0" anchor="ct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Intuition</a:t>
            </a:r>
            <a:endParaRPr lang="en-US" sz="2400" dirty="0"/>
          </a:p>
        </p:txBody>
      </p:sp>
      <p:sp>
        <p:nvSpPr>
          <p:cNvPr id="9" name="Text 7"/>
          <p:cNvSpPr/>
          <p:nvPr/>
        </p:nvSpPr>
        <p:spPr>
          <a:xfrm>
            <a:off x="4251960" y="1261872"/>
            <a:ext cx="6812280" cy="45720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Instinctive feelings and experience can be useful—but may be incomplete, biased, or overconfident.</a:t>
            </a:r>
            <a:endParaRPr lang="en-US" dirty="0"/>
          </a:p>
        </p:txBody>
      </p:sp>
      <p:sp>
        <p:nvSpPr>
          <p:cNvPr id="10" name="Shape 8"/>
          <p:cNvSpPr/>
          <p:nvPr/>
        </p:nvSpPr>
        <p:spPr>
          <a:xfrm>
            <a:off x="1261872" y="2039112"/>
            <a:ext cx="9875520" cy="0"/>
          </a:xfrm>
          <a:prstGeom prst="line">
            <a:avLst/>
          </a:prstGeom>
          <a:noFill/>
          <a:ln w="12700">
            <a:solidFill>
              <a:srgbClr val="D9E2E5"/>
            </a:solidFill>
            <a:prstDash val="solid"/>
          </a:ln>
        </p:spPr>
        <p:txBody>
          <a:bodyPr/>
          <a:lstStyle/>
          <a:p>
            <a:endParaRPr sz="2400"/>
          </a:p>
        </p:txBody>
      </p:sp>
      <p:sp>
        <p:nvSpPr>
          <p:cNvPr id="11" name="Shape 9"/>
          <p:cNvSpPr/>
          <p:nvPr/>
        </p:nvSpPr>
        <p:spPr>
          <a:xfrm>
            <a:off x="777240" y="2423160"/>
            <a:ext cx="347472" cy="347472"/>
          </a:xfrm>
          <a:prstGeom prst="ellipse">
            <a:avLst/>
          </a:prstGeom>
          <a:solidFill>
            <a:srgbClr val="007C89"/>
          </a:solidFill>
          <a:ln w="12700">
            <a:solidFill>
              <a:srgbClr val="007C89"/>
            </a:solidFill>
            <a:prstDash val="solid"/>
          </a:ln>
        </p:spPr>
        <p:txBody>
          <a:bodyPr/>
          <a:lstStyle/>
          <a:p>
            <a:endParaRPr sz="2400"/>
          </a:p>
        </p:txBody>
      </p:sp>
      <p:sp>
        <p:nvSpPr>
          <p:cNvPr id="12" name="Text 10"/>
          <p:cNvSpPr/>
          <p:nvPr/>
        </p:nvSpPr>
        <p:spPr>
          <a:xfrm>
            <a:off x="777240" y="2505456"/>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3" name="Text 11"/>
          <p:cNvSpPr/>
          <p:nvPr/>
        </p:nvSpPr>
        <p:spPr>
          <a:xfrm>
            <a:off x="1261872" y="2404872"/>
            <a:ext cx="2834640" cy="201168"/>
          </a:xfrm>
          <a:prstGeom prst="rect">
            <a:avLst/>
          </a:prstGeom>
          <a:noFill/>
          <a:ln/>
        </p:spPr>
        <p:txBody>
          <a:bodyPr wrap="square" lIns="0" tIns="0" rIns="0" bIns="0" rtlCol="0" anchor="ct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Systematic study</a:t>
            </a:r>
            <a:endParaRPr lang="en-US" sz="2400" dirty="0"/>
          </a:p>
        </p:txBody>
      </p:sp>
      <p:sp>
        <p:nvSpPr>
          <p:cNvPr id="14" name="Text 12"/>
          <p:cNvSpPr/>
          <p:nvPr/>
        </p:nvSpPr>
        <p:spPr>
          <a:xfrm>
            <a:off x="4251960" y="2404872"/>
            <a:ext cx="6812280" cy="45720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Examine relationships, seek causes and effects, and draw conclusions from rigorously gathered evidence.</a:t>
            </a:r>
            <a:endParaRPr lang="en-US" dirty="0"/>
          </a:p>
        </p:txBody>
      </p:sp>
      <p:sp>
        <p:nvSpPr>
          <p:cNvPr id="15" name="Shape 13"/>
          <p:cNvSpPr/>
          <p:nvPr/>
        </p:nvSpPr>
        <p:spPr>
          <a:xfrm>
            <a:off x="1261872" y="3182112"/>
            <a:ext cx="9875520" cy="0"/>
          </a:xfrm>
          <a:prstGeom prst="line">
            <a:avLst/>
          </a:prstGeom>
          <a:noFill/>
          <a:ln w="12700">
            <a:solidFill>
              <a:srgbClr val="D9E2E5"/>
            </a:solidFill>
            <a:prstDash val="solid"/>
          </a:ln>
        </p:spPr>
        <p:txBody>
          <a:bodyPr/>
          <a:lstStyle/>
          <a:p>
            <a:endParaRPr sz="2400"/>
          </a:p>
        </p:txBody>
      </p:sp>
      <p:sp>
        <p:nvSpPr>
          <p:cNvPr id="16" name="Shape 14"/>
          <p:cNvSpPr/>
          <p:nvPr/>
        </p:nvSpPr>
        <p:spPr>
          <a:xfrm>
            <a:off x="777240" y="3566160"/>
            <a:ext cx="347472" cy="347472"/>
          </a:xfrm>
          <a:prstGeom prst="ellipse">
            <a:avLst/>
          </a:prstGeom>
          <a:solidFill>
            <a:srgbClr val="007C89"/>
          </a:solidFill>
          <a:ln w="12700">
            <a:solidFill>
              <a:srgbClr val="007C89"/>
            </a:solidFill>
            <a:prstDash val="solid"/>
          </a:ln>
        </p:spPr>
        <p:txBody>
          <a:bodyPr/>
          <a:lstStyle/>
          <a:p>
            <a:endParaRPr sz="2400"/>
          </a:p>
        </p:txBody>
      </p:sp>
      <p:sp>
        <p:nvSpPr>
          <p:cNvPr id="17" name="Text 15"/>
          <p:cNvSpPr/>
          <p:nvPr/>
        </p:nvSpPr>
        <p:spPr>
          <a:xfrm>
            <a:off x="777240" y="3648456"/>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8" name="Text 16"/>
          <p:cNvSpPr/>
          <p:nvPr/>
        </p:nvSpPr>
        <p:spPr>
          <a:xfrm>
            <a:off x="1261872" y="3547872"/>
            <a:ext cx="2834640" cy="201168"/>
          </a:xfrm>
          <a:prstGeom prst="rect">
            <a:avLst/>
          </a:prstGeom>
          <a:noFill/>
          <a:ln/>
        </p:spPr>
        <p:txBody>
          <a:bodyPr wrap="square" lIns="0" tIns="0" rIns="0" bIns="0" rtlCol="0" anchor="ct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Evidence-based management</a:t>
            </a:r>
            <a:endParaRPr lang="en-US" sz="2400" dirty="0"/>
          </a:p>
        </p:txBody>
      </p:sp>
      <p:sp>
        <p:nvSpPr>
          <p:cNvPr id="19" name="Text 17"/>
          <p:cNvSpPr/>
          <p:nvPr/>
        </p:nvSpPr>
        <p:spPr>
          <a:xfrm>
            <a:off x="4251960" y="3547872"/>
            <a:ext cx="6812280" cy="45720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Make decisions using the best available scientific evidence, contextual information, and professional judgement.</a:t>
            </a:r>
            <a:endParaRPr lang="en-US" dirty="0"/>
          </a:p>
        </p:txBody>
      </p:sp>
      <p:sp>
        <p:nvSpPr>
          <p:cNvPr id="20" name="Shape 18"/>
          <p:cNvSpPr/>
          <p:nvPr/>
        </p:nvSpPr>
        <p:spPr>
          <a:xfrm>
            <a:off x="1261872" y="4325112"/>
            <a:ext cx="9875520" cy="0"/>
          </a:xfrm>
          <a:prstGeom prst="line">
            <a:avLst/>
          </a:prstGeom>
          <a:noFill/>
          <a:ln w="12700">
            <a:solidFill>
              <a:srgbClr val="D9E2E5"/>
            </a:solidFill>
            <a:prstDash val="solid"/>
          </a:ln>
        </p:spPr>
        <p:txBody>
          <a:bodyPr/>
          <a:lstStyle/>
          <a:p>
            <a:endParaRPr sz="2400"/>
          </a:p>
        </p:txBody>
      </p:sp>
      <p:sp>
        <p:nvSpPr>
          <p:cNvPr id="21" name="Shape 19"/>
          <p:cNvSpPr/>
          <p:nvPr/>
        </p:nvSpPr>
        <p:spPr>
          <a:xfrm>
            <a:off x="658368" y="4892040"/>
            <a:ext cx="10881360" cy="731520"/>
          </a:xfrm>
          <a:prstGeom prst="roundRect">
            <a:avLst>
              <a:gd name="adj" fmla="val 10000"/>
            </a:avLst>
          </a:prstGeom>
          <a:solidFill>
            <a:srgbClr val="FFF7E7"/>
          </a:solidFill>
          <a:ln w="12700">
            <a:solidFill>
              <a:srgbClr val="B9DEE3"/>
            </a:solidFill>
            <a:prstDash val="solid"/>
          </a:ln>
        </p:spPr>
        <p:txBody>
          <a:bodyPr/>
          <a:lstStyle/>
          <a:p>
            <a:endParaRPr sz="2400"/>
          </a:p>
        </p:txBody>
      </p:sp>
      <p:sp>
        <p:nvSpPr>
          <p:cNvPr id="22" name="Text 20"/>
          <p:cNvSpPr/>
          <p:nvPr/>
        </p:nvSpPr>
        <p:spPr>
          <a:xfrm>
            <a:off x="822960" y="5029200"/>
            <a:ext cx="10552176" cy="502920"/>
          </a:xfrm>
          <a:prstGeom prst="rect">
            <a:avLst/>
          </a:prstGeom>
          <a:noFill/>
          <a:ln/>
        </p:spPr>
        <p:txBody>
          <a:bodyPr wrap="square" lIns="254" tIns="254" rIns="254" bIns="254" rtlCol="0" anchor="ctr">
            <a:normAutofit/>
          </a:bodyPr>
          <a:lstStyle/>
          <a:p>
            <a:pPr marL="0" indent="0">
              <a:buNone/>
            </a:pPr>
            <a:r>
              <a:rPr lang="en-US" sz="1600" b="1" dirty="0">
                <a:solidFill>
                  <a:srgbClr val="0F2D3A"/>
                </a:solidFill>
                <a:latin typeface="Aptos" pitchFamily="34" charset="0"/>
                <a:ea typeface="Aptos" pitchFamily="34" charset="-122"/>
                <a:cs typeface="Aptos" pitchFamily="34" charset="-120"/>
              </a:rPr>
              <a:t>Quality practice: Move from “I think the problem is…” to “What does the evidence suggest?”</a:t>
            </a:r>
            <a:endParaRPr lang="en-US" sz="16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00" b="0"/>
              <a:t>11</a:t>
            </a:fld>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Disciplines That Contribute to Organizational Behavior</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234440"/>
            <a:ext cx="5074920" cy="1280160"/>
          </a:xfrm>
          <a:prstGeom prst="roundRect">
            <a:avLst>
              <a:gd name="adj" fmla="val 5714"/>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886968" y="1453896"/>
            <a:ext cx="2194560" cy="219456"/>
          </a:xfrm>
          <a:prstGeom prst="rect">
            <a:avLst/>
          </a:prstGeom>
          <a:noFill/>
          <a:ln/>
        </p:spPr>
        <p:txBody>
          <a:bodyPr wrap="square" lIns="0" tIns="0" rIns="0" bIns="0" rtlCol="0" anchor="ctr"/>
          <a:lstStyle/>
          <a:p>
            <a:pPr marL="0" indent="0">
              <a:buNone/>
            </a:pPr>
            <a:r>
              <a:rPr lang="en-US" sz="2000" b="1" dirty="0">
                <a:solidFill>
                  <a:srgbClr val="007C89"/>
                </a:solidFill>
                <a:latin typeface="Aptos Display" pitchFamily="34" charset="0"/>
                <a:ea typeface="Aptos Display" pitchFamily="34" charset="-122"/>
                <a:cs typeface="Aptos Display" pitchFamily="34" charset="-120"/>
              </a:rPr>
              <a:t>Psychology</a:t>
            </a:r>
            <a:endParaRPr lang="en-US" sz="2000" dirty="0"/>
          </a:p>
        </p:txBody>
      </p:sp>
      <p:sp>
        <p:nvSpPr>
          <p:cNvPr id="8" name="Text 6"/>
          <p:cNvSpPr/>
          <p:nvPr/>
        </p:nvSpPr>
        <p:spPr>
          <a:xfrm>
            <a:off x="886968" y="1920240"/>
            <a:ext cx="4526280" cy="329184"/>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Learning • motivation • personality • emotions • perception • stress</a:t>
            </a:r>
            <a:endParaRPr lang="en-US" sz="1400" dirty="0"/>
          </a:p>
        </p:txBody>
      </p:sp>
      <p:sp>
        <p:nvSpPr>
          <p:cNvPr id="9" name="Shape 7"/>
          <p:cNvSpPr/>
          <p:nvPr/>
        </p:nvSpPr>
        <p:spPr>
          <a:xfrm>
            <a:off x="6236208" y="1234440"/>
            <a:ext cx="5074920" cy="1280160"/>
          </a:xfrm>
          <a:prstGeom prst="roundRect">
            <a:avLst>
              <a:gd name="adj" fmla="val 5714"/>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0" name="Text 8"/>
          <p:cNvSpPr/>
          <p:nvPr/>
        </p:nvSpPr>
        <p:spPr>
          <a:xfrm>
            <a:off x="6464808" y="1453896"/>
            <a:ext cx="2194560" cy="219456"/>
          </a:xfrm>
          <a:prstGeom prst="rect">
            <a:avLst/>
          </a:prstGeom>
          <a:noFill/>
          <a:ln/>
        </p:spPr>
        <p:txBody>
          <a:bodyPr wrap="square" lIns="0" tIns="0" rIns="0" bIns="0" rtlCol="0" anchor="ctr"/>
          <a:lstStyle/>
          <a:p>
            <a:pPr marL="0" indent="0">
              <a:buNone/>
            </a:pPr>
            <a:r>
              <a:rPr lang="en-US" sz="2000" b="1" dirty="0">
                <a:solidFill>
                  <a:srgbClr val="007C89"/>
                </a:solidFill>
                <a:latin typeface="Aptos Display" pitchFamily="34" charset="0"/>
                <a:ea typeface="Aptos Display" pitchFamily="34" charset="-122"/>
                <a:cs typeface="Aptos Display" pitchFamily="34" charset="-120"/>
              </a:rPr>
              <a:t>Social psychology</a:t>
            </a:r>
            <a:endParaRPr lang="en-US" sz="2000" dirty="0"/>
          </a:p>
        </p:txBody>
      </p:sp>
      <p:sp>
        <p:nvSpPr>
          <p:cNvPr id="11" name="Text 9"/>
          <p:cNvSpPr/>
          <p:nvPr/>
        </p:nvSpPr>
        <p:spPr>
          <a:xfrm>
            <a:off x="6464808" y="1920240"/>
            <a:ext cx="4526280" cy="329184"/>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Attitude change • communication • trust • group behavior • conflict</a:t>
            </a:r>
            <a:endParaRPr lang="en-US" sz="1400" dirty="0"/>
          </a:p>
        </p:txBody>
      </p:sp>
      <p:sp>
        <p:nvSpPr>
          <p:cNvPr id="12" name="Shape 10"/>
          <p:cNvSpPr/>
          <p:nvPr/>
        </p:nvSpPr>
        <p:spPr>
          <a:xfrm>
            <a:off x="658368" y="2926080"/>
            <a:ext cx="5074920" cy="1280160"/>
          </a:xfrm>
          <a:prstGeom prst="roundRect">
            <a:avLst>
              <a:gd name="adj" fmla="val 5714"/>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3" name="Text 11"/>
          <p:cNvSpPr/>
          <p:nvPr/>
        </p:nvSpPr>
        <p:spPr>
          <a:xfrm>
            <a:off x="886968" y="3145536"/>
            <a:ext cx="2194560" cy="219456"/>
          </a:xfrm>
          <a:prstGeom prst="rect">
            <a:avLst/>
          </a:prstGeom>
          <a:noFill/>
          <a:ln/>
        </p:spPr>
        <p:txBody>
          <a:bodyPr wrap="square" lIns="0" tIns="0" rIns="0" bIns="0" rtlCol="0" anchor="ctr"/>
          <a:lstStyle/>
          <a:p>
            <a:pPr marL="0" indent="0">
              <a:buNone/>
            </a:pPr>
            <a:r>
              <a:rPr lang="en-US" sz="2000" b="1" dirty="0">
                <a:solidFill>
                  <a:srgbClr val="007C89"/>
                </a:solidFill>
                <a:latin typeface="Aptos Display" pitchFamily="34" charset="0"/>
                <a:ea typeface="Aptos Display" pitchFamily="34" charset="-122"/>
                <a:cs typeface="Aptos Display" pitchFamily="34" charset="-120"/>
              </a:rPr>
              <a:t>Sociology</a:t>
            </a:r>
            <a:endParaRPr lang="en-US" sz="2000" dirty="0"/>
          </a:p>
        </p:txBody>
      </p:sp>
      <p:sp>
        <p:nvSpPr>
          <p:cNvPr id="14" name="Text 12"/>
          <p:cNvSpPr/>
          <p:nvPr/>
        </p:nvSpPr>
        <p:spPr>
          <a:xfrm>
            <a:off x="886968" y="3611880"/>
            <a:ext cx="4526280" cy="329184"/>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Groups • structure • technology • communication • power • change</a:t>
            </a:r>
            <a:endParaRPr lang="en-US" sz="1400" dirty="0"/>
          </a:p>
        </p:txBody>
      </p:sp>
      <p:sp>
        <p:nvSpPr>
          <p:cNvPr id="15" name="Shape 13"/>
          <p:cNvSpPr/>
          <p:nvPr/>
        </p:nvSpPr>
        <p:spPr>
          <a:xfrm>
            <a:off x="6236208" y="2926080"/>
            <a:ext cx="5074920" cy="1280160"/>
          </a:xfrm>
          <a:prstGeom prst="roundRect">
            <a:avLst>
              <a:gd name="adj" fmla="val 5714"/>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6" name="Text 14"/>
          <p:cNvSpPr/>
          <p:nvPr/>
        </p:nvSpPr>
        <p:spPr>
          <a:xfrm>
            <a:off x="6464808" y="3145536"/>
            <a:ext cx="2194560" cy="219456"/>
          </a:xfrm>
          <a:prstGeom prst="rect">
            <a:avLst/>
          </a:prstGeom>
          <a:noFill/>
          <a:ln/>
        </p:spPr>
        <p:txBody>
          <a:bodyPr wrap="square" lIns="0" tIns="0" rIns="0" bIns="0" rtlCol="0" anchor="ctr"/>
          <a:lstStyle/>
          <a:p>
            <a:pPr marL="0" indent="0">
              <a:buNone/>
            </a:pPr>
            <a:r>
              <a:rPr lang="en-US" sz="2000" b="1" dirty="0">
                <a:solidFill>
                  <a:srgbClr val="007C89"/>
                </a:solidFill>
                <a:latin typeface="Aptos Display" pitchFamily="34" charset="0"/>
                <a:ea typeface="Aptos Display" pitchFamily="34" charset="-122"/>
                <a:cs typeface="Aptos Display" pitchFamily="34" charset="-120"/>
              </a:rPr>
              <a:t>Anthropology</a:t>
            </a:r>
            <a:endParaRPr lang="en-US" sz="2000" dirty="0"/>
          </a:p>
        </p:txBody>
      </p:sp>
      <p:sp>
        <p:nvSpPr>
          <p:cNvPr id="17" name="Text 15"/>
          <p:cNvSpPr/>
          <p:nvPr/>
        </p:nvSpPr>
        <p:spPr>
          <a:xfrm>
            <a:off x="6464808" y="3611880"/>
            <a:ext cx="4526280" cy="329184"/>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Values • culture • cross-cultural differences • organizational climate</a:t>
            </a:r>
            <a:endParaRPr lang="en-US" sz="1400" dirty="0"/>
          </a:p>
        </p:txBody>
      </p:sp>
      <p:sp>
        <p:nvSpPr>
          <p:cNvPr id="18" name="Shape 16"/>
          <p:cNvSpPr/>
          <p:nvPr/>
        </p:nvSpPr>
        <p:spPr>
          <a:xfrm>
            <a:off x="658368" y="5074920"/>
            <a:ext cx="10881360" cy="594360"/>
          </a:xfrm>
          <a:prstGeom prst="roundRect">
            <a:avLst>
              <a:gd name="adj" fmla="val 12308"/>
            </a:avLst>
          </a:prstGeom>
          <a:solidFill>
            <a:srgbClr val="F2FBFC"/>
          </a:solidFill>
          <a:ln w="12700">
            <a:solidFill>
              <a:srgbClr val="B9DEE3"/>
            </a:solidFill>
            <a:prstDash val="solid"/>
          </a:ln>
        </p:spPr>
        <p:txBody>
          <a:bodyPr/>
          <a:lstStyle/>
          <a:p>
            <a:endParaRPr sz="2000"/>
          </a:p>
        </p:txBody>
      </p:sp>
      <p:sp>
        <p:nvSpPr>
          <p:cNvPr id="19" name="Text 17"/>
          <p:cNvSpPr/>
          <p:nvPr/>
        </p:nvSpPr>
        <p:spPr>
          <a:xfrm>
            <a:off x="822960" y="5212080"/>
            <a:ext cx="10552176" cy="365760"/>
          </a:xfrm>
          <a:prstGeom prst="rect">
            <a:avLst/>
          </a:prstGeom>
          <a:noFill/>
          <a:ln/>
        </p:spPr>
        <p:txBody>
          <a:bodyPr wrap="square" lIns="254" tIns="254" rIns="254" bIns="254" rtlCol="0" anchor="ctr">
            <a:normAutofit/>
          </a:bodyPr>
          <a:lstStyle/>
          <a:p>
            <a:pPr marL="0" indent="0">
              <a:buNone/>
            </a:pPr>
            <a:r>
              <a:rPr lang="en-US" b="1" dirty="0">
                <a:solidFill>
                  <a:srgbClr val="0F2D3A"/>
                </a:solidFill>
                <a:latin typeface="Aptos" pitchFamily="34" charset="0"/>
                <a:ea typeface="Aptos" pitchFamily="34" charset="-122"/>
                <a:cs typeface="Aptos" pitchFamily="34" charset="-120"/>
              </a:rPr>
              <a:t>Quality problems are rarely one-dimensional; use multiple disciplines to diagnose them.</a:t>
            </a:r>
            <a:endParaRPr lang="en-US"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12</a:t>
            </a:fld>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050" b="1" dirty="0">
                <a:solidFill>
                  <a:srgbClr val="007C89"/>
                </a:solidFill>
                <a:latin typeface="Aptos" pitchFamily="34" charset="0"/>
                <a:ea typeface="Aptos" pitchFamily="34" charset="-122"/>
                <a:cs typeface="Aptos" pitchFamily="34" charset="-120"/>
              </a:rPr>
              <a:t>G TQM 511 | Organizational Behavior and Quality</a:t>
            </a:r>
            <a:endParaRPr lang="en-US" sz="105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200" b="1" dirty="0">
                <a:solidFill>
                  <a:srgbClr val="0F2D3A"/>
                </a:solidFill>
                <a:latin typeface="Aptos Display" pitchFamily="34" charset="0"/>
                <a:ea typeface="Aptos Display" pitchFamily="34" charset="-122"/>
                <a:cs typeface="Aptos Display" pitchFamily="34" charset="-120"/>
              </a:rPr>
              <a:t>Few Absolutes: The Contingency Perspective</a:t>
            </a:r>
            <a:endParaRPr lang="en-US" sz="32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8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10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1000" dirty="0"/>
          </a:p>
        </p:txBody>
      </p:sp>
      <p:sp>
        <p:nvSpPr>
          <p:cNvPr id="6" name="Text 4"/>
          <p:cNvSpPr/>
          <p:nvPr/>
        </p:nvSpPr>
        <p:spPr>
          <a:xfrm>
            <a:off x="713232" y="1188720"/>
            <a:ext cx="6217920" cy="274320"/>
          </a:xfrm>
          <a:prstGeom prst="rect">
            <a:avLst/>
          </a:prstGeom>
          <a:noFill/>
          <a:ln/>
        </p:spPr>
        <p:txBody>
          <a:bodyPr wrap="square" lIns="0" tIns="0" rIns="0" bIns="0" rtlCol="0" anchor="ct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Human behavior is complex and context dependent.</a:t>
            </a:r>
            <a:endParaRPr lang="en-US" sz="2400" dirty="0"/>
          </a:p>
        </p:txBody>
      </p:sp>
      <p:sp>
        <p:nvSpPr>
          <p:cNvPr id="7" name="Shape 5"/>
          <p:cNvSpPr/>
          <p:nvPr/>
        </p:nvSpPr>
        <p:spPr>
          <a:xfrm>
            <a:off x="822960" y="1828800"/>
            <a:ext cx="3017520" cy="1143000"/>
          </a:xfrm>
          <a:prstGeom prst="roundRect">
            <a:avLst>
              <a:gd name="adj" fmla="val 6400"/>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800"/>
          </a:p>
        </p:txBody>
      </p:sp>
      <p:sp>
        <p:nvSpPr>
          <p:cNvPr id="8" name="Shape 6"/>
          <p:cNvSpPr/>
          <p:nvPr/>
        </p:nvSpPr>
        <p:spPr>
          <a:xfrm>
            <a:off x="4572000" y="1828800"/>
            <a:ext cx="3017520" cy="1143000"/>
          </a:xfrm>
          <a:prstGeom prst="roundRect">
            <a:avLst>
              <a:gd name="adj" fmla="val 6400"/>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800"/>
          </a:p>
        </p:txBody>
      </p:sp>
      <p:sp>
        <p:nvSpPr>
          <p:cNvPr id="9" name="Shape 7"/>
          <p:cNvSpPr/>
          <p:nvPr/>
        </p:nvSpPr>
        <p:spPr>
          <a:xfrm>
            <a:off x="8321040" y="1828800"/>
            <a:ext cx="3017520" cy="1143000"/>
          </a:xfrm>
          <a:prstGeom prst="roundRect">
            <a:avLst>
              <a:gd name="adj" fmla="val 6400"/>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800"/>
          </a:p>
        </p:txBody>
      </p:sp>
      <p:sp>
        <p:nvSpPr>
          <p:cNvPr id="10" name="Text 8"/>
          <p:cNvSpPr/>
          <p:nvPr/>
        </p:nvSpPr>
        <p:spPr>
          <a:xfrm>
            <a:off x="2057400" y="2148840"/>
            <a:ext cx="365760" cy="292608"/>
          </a:xfrm>
          <a:prstGeom prst="rect">
            <a:avLst/>
          </a:prstGeom>
          <a:noFill/>
          <a:ln/>
        </p:spPr>
        <p:txBody>
          <a:bodyPr wrap="square" lIns="0" tIns="0" rIns="0" bIns="0" rtlCol="0" anchor="ctr"/>
          <a:lstStyle/>
          <a:p>
            <a:pPr marL="0" indent="0" algn="ctr">
              <a:buNone/>
            </a:pPr>
            <a:r>
              <a:rPr lang="en-US" sz="3600" b="1" dirty="0">
                <a:solidFill>
                  <a:srgbClr val="C49A3A"/>
                </a:solidFill>
                <a:latin typeface="Aptos Display" pitchFamily="34" charset="0"/>
                <a:ea typeface="Aptos Display" pitchFamily="34" charset="-122"/>
                <a:cs typeface="Aptos Display" pitchFamily="34" charset="-120"/>
              </a:rPr>
              <a:t>X</a:t>
            </a:r>
            <a:endParaRPr lang="en-US" sz="3600" dirty="0"/>
          </a:p>
        </p:txBody>
      </p:sp>
      <p:sp>
        <p:nvSpPr>
          <p:cNvPr id="11" name="Text 9"/>
          <p:cNvSpPr/>
          <p:nvPr/>
        </p:nvSpPr>
        <p:spPr>
          <a:xfrm>
            <a:off x="1234440" y="2578608"/>
            <a:ext cx="2194560" cy="164592"/>
          </a:xfrm>
          <a:prstGeom prst="rect">
            <a:avLst/>
          </a:prstGeom>
          <a:noFill/>
          <a:ln/>
        </p:spPr>
        <p:txBody>
          <a:bodyPr wrap="square" lIns="0" tIns="0" rIns="0" bIns="0" rtlCol="0" anchor="ctr"/>
          <a:lstStyle/>
          <a:p>
            <a:pPr marL="0" indent="0" algn="ctr">
              <a:buNone/>
            </a:pPr>
            <a:r>
              <a:rPr lang="en-US" dirty="0">
                <a:solidFill>
                  <a:srgbClr val="5A6872"/>
                </a:solidFill>
                <a:latin typeface="Aptos" pitchFamily="34" charset="0"/>
                <a:ea typeface="Aptos" pitchFamily="34" charset="-122"/>
                <a:cs typeface="Aptos" pitchFamily="34" charset="-120"/>
              </a:rPr>
              <a:t>Management practice</a:t>
            </a:r>
            <a:endParaRPr lang="en-US" dirty="0"/>
          </a:p>
        </p:txBody>
      </p:sp>
      <p:sp>
        <p:nvSpPr>
          <p:cNvPr id="12" name="Text 10"/>
          <p:cNvSpPr/>
          <p:nvPr/>
        </p:nvSpPr>
        <p:spPr>
          <a:xfrm>
            <a:off x="5815584" y="2148840"/>
            <a:ext cx="365760" cy="292608"/>
          </a:xfrm>
          <a:prstGeom prst="rect">
            <a:avLst/>
          </a:prstGeom>
          <a:noFill/>
          <a:ln/>
        </p:spPr>
        <p:txBody>
          <a:bodyPr wrap="square" lIns="0" tIns="0" rIns="0" bIns="0" rtlCol="0" anchor="ctr"/>
          <a:lstStyle/>
          <a:p>
            <a:pPr marL="0" indent="0" algn="ctr">
              <a:buNone/>
            </a:pPr>
            <a:r>
              <a:rPr lang="en-US" sz="3600" b="1" dirty="0">
                <a:solidFill>
                  <a:srgbClr val="007C89"/>
                </a:solidFill>
                <a:latin typeface="Aptos Display" pitchFamily="34" charset="0"/>
                <a:ea typeface="Aptos Display" pitchFamily="34" charset="-122"/>
                <a:cs typeface="Aptos Display" pitchFamily="34" charset="-120"/>
              </a:rPr>
              <a:t>Z</a:t>
            </a:r>
            <a:endParaRPr lang="en-US" sz="3600" dirty="0"/>
          </a:p>
        </p:txBody>
      </p:sp>
      <p:sp>
        <p:nvSpPr>
          <p:cNvPr id="13" name="Text 11"/>
          <p:cNvSpPr/>
          <p:nvPr/>
        </p:nvSpPr>
        <p:spPr>
          <a:xfrm>
            <a:off x="4919472" y="2578608"/>
            <a:ext cx="2331720" cy="164592"/>
          </a:xfrm>
          <a:prstGeom prst="rect">
            <a:avLst/>
          </a:prstGeom>
          <a:noFill/>
          <a:ln/>
        </p:spPr>
        <p:txBody>
          <a:bodyPr wrap="square" lIns="0" tIns="0" rIns="0" bIns="0" rtlCol="0" anchor="ctr"/>
          <a:lstStyle/>
          <a:p>
            <a:pPr marL="0" indent="0" algn="ctr">
              <a:buNone/>
            </a:pPr>
            <a:r>
              <a:rPr lang="en-US" dirty="0">
                <a:solidFill>
                  <a:srgbClr val="5A6872"/>
                </a:solidFill>
                <a:latin typeface="Aptos" pitchFamily="34" charset="0"/>
                <a:ea typeface="Aptos" pitchFamily="34" charset="-122"/>
                <a:cs typeface="Aptos" pitchFamily="34" charset="-120"/>
              </a:rPr>
              <a:t>Contingency conditions</a:t>
            </a:r>
            <a:endParaRPr lang="en-US" dirty="0"/>
          </a:p>
        </p:txBody>
      </p:sp>
      <p:sp>
        <p:nvSpPr>
          <p:cNvPr id="14" name="Text 12"/>
          <p:cNvSpPr/>
          <p:nvPr/>
        </p:nvSpPr>
        <p:spPr>
          <a:xfrm>
            <a:off x="9555480" y="2148840"/>
            <a:ext cx="365760" cy="292608"/>
          </a:xfrm>
          <a:prstGeom prst="rect">
            <a:avLst/>
          </a:prstGeom>
          <a:noFill/>
          <a:ln/>
        </p:spPr>
        <p:txBody>
          <a:bodyPr wrap="square" lIns="0" tIns="0" rIns="0" bIns="0" rtlCol="0" anchor="ctr"/>
          <a:lstStyle/>
          <a:p>
            <a:pPr marL="0" indent="0" algn="ctr">
              <a:buNone/>
            </a:pPr>
            <a:r>
              <a:rPr lang="en-US" sz="3600" b="1" dirty="0">
                <a:solidFill>
                  <a:srgbClr val="C49A3A"/>
                </a:solidFill>
                <a:latin typeface="Aptos Display" pitchFamily="34" charset="0"/>
                <a:ea typeface="Aptos Display" pitchFamily="34" charset="-122"/>
                <a:cs typeface="Aptos Display" pitchFamily="34" charset="-120"/>
              </a:rPr>
              <a:t>Y</a:t>
            </a:r>
            <a:endParaRPr lang="en-US" sz="3600" dirty="0"/>
          </a:p>
        </p:txBody>
      </p:sp>
      <p:sp>
        <p:nvSpPr>
          <p:cNvPr id="15" name="Text 13"/>
          <p:cNvSpPr/>
          <p:nvPr/>
        </p:nvSpPr>
        <p:spPr>
          <a:xfrm>
            <a:off x="8732520" y="2578608"/>
            <a:ext cx="2377440" cy="164592"/>
          </a:xfrm>
          <a:prstGeom prst="rect">
            <a:avLst/>
          </a:prstGeom>
          <a:noFill/>
          <a:ln/>
        </p:spPr>
        <p:txBody>
          <a:bodyPr wrap="square" lIns="0" tIns="0" rIns="0" bIns="0" rtlCol="0" anchor="ctr"/>
          <a:lstStyle/>
          <a:p>
            <a:pPr marL="0" indent="0" algn="ctr">
              <a:buNone/>
            </a:pPr>
            <a:r>
              <a:rPr lang="en-US" dirty="0">
                <a:solidFill>
                  <a:srgbClr val="5A6872"/>
                </a:solidFill>
                <a:latin typeface="Aptos" pitchFamily="34" charset="0"/>
                <a:ea typeface="Aptos" pitchFamily="34" charset="-122"/>
                <a:cs typeface="Aptos" pitchFamily="34" charset="-120"/>
              </a:rPr>
              <a:t>Behavioral outcome</a:t>
            </a:r>
            <a:endParaRPr lang="en-US" dirty="0"/>
          </a:p>
        </p:txBody>
      </p:sp>
      <p:sp>
        <p:nvSpPr>
          <p:cNvPr id="16" name="Shape 14"/>
          <p:cNvSpPr/>
          <p:nvPr/>
        </p:nvSpPr>
        <p:spPr>
          <a:xfrm>
            <a:off x="3895344" y="2395728"/>
            <a:ext cx="594360" cy="0"/>
          </a:xfrm>
          <a:prstGeom prst="line">
            <a:avLst/>
          </a:prstGeom>
          <a:noFill/>
          <a:ln w="25400">
            <a:solidFill>
              <a:srgbClr val="007C89"/>
            </a:solidFill>
            <a:prstDash val="solid"/>
            <a:tailEnd type="triangle"/>
          </a:ln>
        </p:spPr>
        <p:txBody>
          <a:bodyPr/>
          <a:lstStyle/>
          <a:p>
            <a:endParaRPr sz="2800"/>
          </a:p>
        </p:txBody>
      </p:sp>
      <p:sp>
        <p:nvSpPr>
          <p:cNvPr id="17" name="Shape 15"/>
          <p:cNvSpPr/>
          <p:nvPr/>
        </p:nvSpPr>
        <p:spPr>
          <a:xfrm>
            <a:off x="7644384" y="2395728"/>
            <a:ext cx="594360" cy="0"/>
          </a:xfrm>
          <a:prstGeom prst="line">
            <a:avLst/>
          </a:prstGeom>
          <a:noFill/>
          <a:ln w="25400">
            <a:solidFill>
              <a:srgbClr val="007C89"/>
            </a:solidFill>
            <a:prstDash val="solid"/>
            <a:tailEnd type="triangle"/>
          </a:ln>
        </p:spPr>
        <p:txBody>
          <a:bodyPr/>
          <a:lstStyle/>
          <a:p>
            <a:endParaRPr sz="2800"/>
          </a:p>
        </p:txBody>
      </p:sp>
      <p:sp>
        <p:nvSpPr>
          <p:cNvPr id="18" name="Text 16"/>
          <p:cNvSpPr/>
          <p:nvPr/>
        </p:nvSpPr>
        <p:spPr>
          <a:xfrm>
            <a:off x="1051560" y="3657600"/>
            <a:ext cx="9784080" cy="960120"/>
          </a:xfrm>
          <a:prstGeom prst="rect">
            <a:avLst/>
          </a:prstGeom>
          <a:noFill/>
          <a:ln/>
        </p:spPr>
        <p:txBody>
          <a:bodyPr wrap="square" lIns="381" tIns="381" rIns="381" bIns="381" rtlCol="0" anchor="t">
            <a:noAutofit/>
          </a:bodyPr>
          <a:lstStyle/>
          <a:p>
            <a:r>
              <a:rPr lang="en-US" sz="2400" dirty="0">
                <a:solidFill>
                  <a:srgbClr val="1A1A1A"/>
                </a:solidFill>
                <a:latin typeface="Aptos" pitchFamily="34" charset="0"/>
                <a:ea typeface="Aptos" pitchFamily="34" charset="-122"/>
                <a:cs typeface="Aptos" pitchFamily="34" charset="-120"/>
              </a:rPr>
              <a:t>The same intervention may affect different people differently.</a:t>
            </a:r>
            <a:endParaRPr lang="en-US" sz="2400" dirty="0"/>
          </a:p>
          <a:p>
            <a:r>
              <a:rPr lang="en-US" sz="2400" dirty="0">
                <a:solidFill>
                  <a:srgbClr val="1A1A1A"/>
                </a:solidFill>
                <a:latin typeface="Aptos" pitchFamily="34" charset="0"/>
                <a:ea typeface="Aptos" pitchFamily="34" charset="-122"/>
                <a:cs typeface="Aptos" pitchFamily="34" charset="-120"/>
              </a:rPr>
              <a:t>The same person may respond differently across situations.</a:t>
            </a:r>
            <a:endParaRPr lang="en-US" sz="2400" dirty="0"/>
          </a:p>
          <a:p>
            <a:r>
              <a:rPr lang="en-US" sz="2400" dirty="0">
                <a:solidFill>
                  <a:srgbClr val="1A1A1A"/>
                </a:solidFill>
                <a:latin typeface="Aptos" pitchFamily="34" charset="0"/>
                <a:ea typeface="Aptos" pitchFamily="34" charset="-122"/>
                <a:cs typeface="Aptos" pitchFamily="34" charset="-120"/>
              </a:rPr>
              <a:t>Good diagnosis requires context, culture, task, people, and timing.</a:t>
            </a:r>
            <a:endParaRPr lang="en-US" sz="2400" dirty="0"/>
          </a:p>
        </p:txBody>
      </p:sp>
      <p:sp>
        <p:nvSpPr>
          <p:cNvPr id="19" name="Shape 17"/>
          <p:cNvSpPr/>
          <p:nvPr/>
        </p:nvSpPr>
        <p:spPr>
          <a:xfrm>
            <a:off x="658368" y="5212080"/>
            <a:ext cx="10881360" cy="566928"/>
          </a:xfrm>
          <a:prstGeom prst="roundRect">
            <a:avLst>
              <a:gd name="adj" fmla="val 12903"/>
            </a:avLst>
          </a:prstGeom>
          <a:solidFill>
            <a:srgbClr val="FFF7E7"/>
          </a:solidFill>
          <a:ln w="12700">
            <a:solidFill>
              <a:srgbClr val="B9DEE3"/>
            </a:solidFill>
            <a:prstDash val="solid"/>
          </a:ln>
        </p:spPr>
        <p:txBody>
          <a:bodyPr/>
          <a:lstStyle/>
          <a:p>
            <a:endParaRPr sz="2800"/>
          </a:p>
        </p:txBody>
      </p:sp>
      <p:sp>
        <p:nvSpPr>
          <p:cNvPr id="20" name="Text 18"/>
          <p:cNvSpPr/>
          <p:nvPr/>
        </p:nvSpPr>
        <p:spPr>
          <a:xfrm>
            <a:off x="822960" y="5349240"/>
            <a:ext cx="10552176" cy="338328"/>
          </a:xfrm>
          <a:prstGeom prst="rect">
            <a:avLst/>
          </a:prstGeom>
          <a:noFill/>
          <a:ln/>
        </p:spPr>
        <p:txBody>
          <a:bodyPr wrap="square" lIns="254" tIns="254" rIns="254" bIns="254" rtlCol="0" anchor="ctr">
            <a:normAutofit/>
          </a:bodyPr>
          <a:lstStyle/>
          <a:p>
            <a:pPr marL="0" indent="0">
              <a:buNone/>
            </a:pPr>
            <a:r>
              <a:rPr lang="en-US" b="1" dirty="0">
                <a:solidFill>
                  <a:srgbClr val="0F2D3A"/>
                </a:solidFill>
                <a:latin typeface="Aptos" pitchFamily="34" charset="0"/>
                <a:ea typeface="Aptos" pitchFamily="34" charset="-122"/>
                <a:cs typeface="Aptos" pitchFamily="34" charset="-120"/>
              </a:rPr>
              <a:t>Do not copy practices blindly; diagnose the context first.</a:t>
            </a:r>
            <a:endParaRPr lang="en-US"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50" b="0"/>
              <a:t>13</a:t>
            </a:fld>
            <a:endParaRPr lang="en-US" sz="10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050" b="1" dirty="0">
                <a:solidFill>
                  <a:srgbClr val="007C89"/>
                </a:solidFill>
                <a:latin typeface="Aptos" pitchFamily="34" charset="0"/>
                <a:ea typeface="Aptos" pitchFamily="34" charset="-122"/>
                <a:cs typeface="Aptos" pitchFamily="34" charset="-120"/>
              </a:rPr>
              <a:t>G TQM 511 | Organizational Behavior and Quality</a:t>
            </a:r>
            <a:endParaRPr lang="en-US" sz="105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600" b="1" dirty="0">
                <a:solidFill>
                  <a:srgbClr val="0F2D3A"/>
                </a:solidFill>
                <a:latin typeface="Aptos Display" pitchFamily="34" charset="0"/>
                <a:ea typeface="Aptos Display" pitchFamily="34" charset="-122"/>
                <a:cs typeface="Aptos Display" pitchFamily="34" charset="-120"/>
              </a:rPr>
              <a:t>Managerial Challenges and Opportunities</a:t>
            </a:r>
            <a:endParaRPr lang="en-US" sz="36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8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10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1000" dirty="0"/>
          </a:p>
        </p:txBody>
      </p:sp>
      <p:sp>
        <p:nvSpPr>
          <p:cNvPr id="6" name="Shape 4"/>
          <p:cNvSpPr/>
          <p:nvPr/>
        </p:nvSpPr>
        <p:spPr>
          <a:xfrm>
            <a:off x="822960" y="1234440"/>
            <a:ext cx="2788920" cy="329184"/>
          </a:xfrm>
          <a:prstGeom prst="roundRect">
            <a:avLst>
              <a:gd name="adj" fmla="val 50000"/>
            </a:avLst>
          </a:prstGeom>
          <a:solidFill>
            <a:srgbClr val="007C89"/>
          </a:solidFill>
          <a:ln w="12700">
            <a:solidFill>
              <a:srgbClr val="007C89"/>
            </a:solidFill>
            <a:prstDash val="solid"/>
          </a:ln>
        </p:spPr>
        <p:txBody>
          <a:bodyPr/>
          <a:lstStyle/>
          <a:p>
            <a:endParaRPr sz="2800"/>
          </a:p>
        </p:txBody>
      </p:sp>
      <p:sp>
        <p:nvSpPr>
          <p:cNvPr id="7" name="Text 5"/>
          <p:cNvSpPr/>
          <p:nvPr/>
        </p:nvSpPr>
        <p:spPr>
          <a:xfrm>
            <a:off x="914400" y="1307592"/>
            <a:ext cx="2606040" cy="137160"/>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Globalization</a:t>
            </a:r>
            <a:endParaRPr lang="en-US" sz="1100" dirty="0"/>
          </a:p>
        </p:txBody>
      </p:sp>
      <p:sp>
        <p:nvSpPr>
          <p:cNvPr id="8" name="Shape 6"/>
          <p:cNvSpPr/>
          <p:nvPr/>
        </p:nvSpPr>
        <p:spPr>
          <a:xfrm>
            <a:off x="4526280" y="1234440"/>
            <a:ext cx="2788920" cy="329184"/>
          </a:xfrm>
          <a:prstGeom prst="roundRect">
            <a:avLst>
              <a:gd name="adj" fmla="val 50000"/>
            </a:avLst>
          </a:prstGeom>
          <a:solidFill>
            <a:srgbClr val="C49A3A"/>
          </a:solidFill>
          <a:ln w="12700">
            <a:solidFill>
              <a:srgbClr val="C49A3A"/>
            </a:solidFill>
            <a:prstDash val="solid"/>
          </a:ln>
        </p:spPr>
        <p:txBody>
          <a:bodyPr/>
          <a:lstStyle/>
          <a:p>
            <a:endParaRPr sz="2800"/>
          </a:p>
        </p:txBody>
      </p:sp>
      <p:sp>
        <p:nvSpPr>
          <p:cNvPr id="9" name="Text 7"/>
          <p:cNvSpPr/>
          <p:nvPr/>
        </p:nvSpPr>
        <p:spPr>
          <a:xfrm>
            <a:off x="4617720" y="1307592"/>
            <a:ext cx="2606040" cy="137160"/>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Workforce diversity</a:t>
            </a:r>
            <a:endParaRPr lang="en-US" sz="1100" dirty="0"/>
          </a:p>
        </p:txBody>
      </p:sp>
      <p:sp>
        <p:nvSpPr>
          <p:cNvPr id="10" name="Shape 8"/>
          <p:cNvSpPr/>
          <p:nvPr/>
        </p:nvSpPr>
        <p:spPr>
          <a:xfrm>
            <a:off x="8229600" y="1234440"/>
            <a:ext cx="2788920" cy="329184"/>
          </a:xfrm>
          <a:prstGeom prst="roundRect">
            <a:avLst>
              <a:gd name="adj" fmla="val 50000"/>
            </a:avLst>
          </a:prstGeom>
          <a:solidFill>
            <a:srgbClr val="007C89"/>
          </a:solidFill>
          <a:ln w="12700">
            <a:solidFill>
              <a:srgbClr val="007C89"/>
            </a:solidFill>
            <a:prstDash val="solid"/>
          </a:ln>
        </p:spPr>
        <p:txBody>
          <a:bodyPr/>
          <a:lstStyle/>
          <a:p>
            <a:endParaRPr sz="2800"/>
          </a:p>
        </p:txBody>
      </p:sp>
      <p:sp>
        <p:nvSpPr>
          <p:cNvPr id="11" name="Text 9"/>
          <p:cNvSpPr/>
          <p:nvPr/>
        </p:nvSpPr>
        <p:spPr>
          <a:xfrm>
            <a:off x="8321040" y="1307592"/>
            <a:ext cx="2606040" cy="137160"/>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Customer service</a:t>
            </a:r>
            <a:endParaRPr lang="en-US" sz="1100" dirty="0"/>
          </a:p>
        </p:txBody>
      </p:sp>
      <p:sp>
        <p:nvSpPr>
          <p:cNvPr id="12" name="Shape 10"/>
          <p:cNvSpPr/>
          <p:nvPr/>
        </p:nvSpPr>
        <p:spPr>
          <a:xfrm>
            <a:off x="822960" y="2011680"/>
            <a:ext cx="2788920" cy="329184"/>
          </a:xfrm>
          <a:prstGeom prst="roundRect">
            <a:avLst>
              <a:gd name="adj" fmla="val 50000"/>
            </a:avLst>
          </a:prstGeom>
          <a:solidFill>
            <a:srgbClr val="C49A3A"/>
          </a:solidFill>
          <a:ln w="12700">
            <a:solidFill>
              <a:srgbClr val="C49A3A"/>
            </a:solidFill>
            <a:prstDash val="solid"/>
          </a:ln>
        </p:spPr>
        <p:txBody>
          <a:bodyPr/>
          <a:lstStyle/>
          <a:p>
            <a:endParaRPr sz="2800"/>
          </a:p>
        </p:txBody>
      </p:sp>
      <p:sp>
        <p:nvSpPr>
          <p:cNvPr id="13" name="Text 11"/>
          <p:cNvSpPr/>
          <p:nvPr/>
        </p:nvSpPr>
        <p:spPr>
          <a:xfrm>
            <a:off x="914400" y="2084832"/>
            <a:ext cx="2606040" cy="137160"/>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Ethics</a:t>
            </a:r>
            <a:endParaRPr lang="en-US" sz="1100" dirty="0"/>
          </a:p>
        </p:txBody>
      </p:sp>
      <p:sp>
        <p:nvSpPr>
          <p:cNvPr id="14" name="Shape 12"/>
          <p:cNvSpPr/>
          <p:nvPr/>
        </p:nvSpPr>
        <p:spPr>
          <a:xfrm>
            <a:off x="4526280" y="2011680"/>
            <a:ext cx="2788920" cy="329184"/>
          </a:xfrm>
          <a:prstGeom prst="roundRect">
            <a:avLst>
              <a:gd name="adj" fmla="val 50000"/>
            </a:avLst>
          </a:prstGeom>
          <a:solidFill>
            <a:srgbClr val="007C89"/>
          </a:solidFill>
          <a:ln w="12700">
            <a:solidFill>
              <a:srgbClr val="007C89"/>
            </a:solidFill>
            <a:prstDash val="solid"/>
          </a:ln>
        </p:spPr>
        <p:txBody>
          <a:bodyPr/>
          <a:lstStyle/>
          <a:p>
            <a:endParaRPr sz="2800"/>
          </a:p>
        </p:txBody>
      </p:sp>
      <p:sp>
        <p:nvSpPr>
          <p:cNvPr id="15" name="Text 13"/>
          <p:cNvSpPr/>
          <p:nvPr/>
        </p:nvSpPr>
        <p:spPr>
          <a:xfrm>
            <a:off x="4617720" y="2084832"/>
            <a:ext cx="2606040" cy="137160"/>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Digital &amp; networked work</a:t>
            </a:r>
            <a:endParaRPr lang="en-US" sz="1100" dirty="0"/>
          </a:p>
        </p:txBody>
      </p:sp>
      <p:sp>
        <p:nvSpPr>
          <p:cNvPr id="16" name="Shape 14"/>
          <p:cNvSpPr/>
          <p:nvPr/>
        </p:nvSpPr>
        <p:spPr>
          <a:xfrm>
            <a:off x="8229600" y="2011680"/>
            <a:ext cx="2788920" cy="329184"/>
          </a:xfrm>
          <a:prstGeom prst="roundRect">
            <a:avLst>
              <a:gd name="adj" fmla="val 50000"/>
            </a:avLst>
          </a:prstGeom>
          <a:solidFill>
            <a:srgbClr val="C49A3A"/>
          </a:solidFill>
          <a:ln w="12700">
            <a:solidFill>
              <a:srgbClr val="C49A3A"/>
            </a:solidFill>
            <a:prstDash val="solid"/>
          </a:ln>
        </p:spPr>
        <p:txBody>
          <a:bodyPr/>
          <a:lstStyle/>
          <a:p>
            <a:endParaRPr sz="2800"/>
          </a:p>
        </p:txBody>
      </p:sp>
      <p:sp>
        <p:nvSpPr>
          <p:cNvPr id="17" name="Text 15"/>
          <p:cNvSpPr/>
          <p:nvPr/>
        </p:nvSpPr>
        <p:spPr>
          <a:xfrm>
            <a:off x="8321040" y="2084832"/>
            <a:ext cx="2606040" cy="137160"/>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Employee well-being</a:t>
            </a:r>
            <a:endParaRPr lang="en-US" sz="1100" dirty="0"/>
          </a:p>
        </p:txBody>
      </p:sp>
      <p:sp>
        <p:nvSpPr>
          <p:cNvPr id="18" name="Shape 16"/>
          <p:cNvSpPr/>
          <p:nvPr/>
        </p:nvSpPr>
        <p:spPr>
          <a:xfrm>
            <a:off x="822960" y="2788920"/>
            <a:ext cx="2788920" cy="329184"/>
          </a:xfrm>
          <a:prstGeom prst="roundRect">
            <a:avLst>
              <a:gd name="adj" fmla="val 50000"/>
            </a:avLst>
          </a:prstGeom>
          <a:solidFill>
            <a:srgbClr val="007C89"/>
          </a:solidFill>
          <a:ln w="12700">
            <a:solidFill>
              <a:srgbClr val="007C89"/>
            </a:solidFill>
            <a:prstDash val="solid"/>
          </a:ln>
        </p:spPr>
        <p:txBody>
          <a:bodyPr/>
          <a:lstStyle/>
          <a:p>
            <a:endParaRPr sz="2800"/>
          </a:p>
        </p:txBody>
      </p:sp>
      <p:sp>
        <p:nvSpPr>
          <p:cNvPr id="19" name="Text 17"/>
          <p:cNvSpPr/>
          <p:nvPr/>
        </p:nvSpPr>
        <p:spPr>
          <a:xfrm>
            <a:off x="914400" y="2862072"/>
            <a:ext cx="2606040" cy="137160"/>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Positive work environment</a:t>
            </a:r>
            <a:endParaRPr lang="en-US" sz="1100" dirty="0"/>
          </a:p>
        </p:txBody>
      </p:sp>
      <p:sp>
        <p:nvSpPr>
          <p:cNvPr id="20" name="Shape 18"/>
          <p:cNvSpPr/>
          <p:nvPr/>
        </p:nvSpPr>
        <p:spPr>
          <a:xfrm>
            <a:off x="822960" y="3657600"/>
            <a:ext cx="10515600" cy="1143000"/>
          </a:xfrm>
          <a:prstGeom prst="roundRect">
            <a:avLst>
              <a:gd name="adj" fmla="val 6400"/>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800"/>
          </a:p>
        </p:txBody>
      </p:sp>
      <p:sp>
        <p:nvSpPr>
          <p:cNvPr id="21" name="Text 19"/>
          <p:cNvSpPr/>
          <p:nvPr/>
        </p:nvSpPr>
        <p:spPr>
          <a:xfrm>
            <a:off x="1143000" y="3995928"/>
            <a:ext cx="9875520" cy="384048"/>
          </a:xfrm>
          <a:prstGeom prst="rect">
            <a:avLst/>
          </a:prstGeom>
          <a:noFill/>
          <a:ln/>
        </p:spPr>
        <p:txBody>
          <a:bodyPr wrap="square" lIns="0" tIns="0" rIns="0" bIns="0" rtlCol="0" anchor="ctr">
            <a:noAutofit/>
          </a:bodyPr>
          <a:lstStyle/>
          <a:p>
            <a:pPr marL="0" indent="0" algn="ctr">
              <a:buNone/>
            </a:pPr>
            <a:r>
              <a:rPr lang="en-US" sz="3200" b="1" dirty="0">
                <a:solidFill>
                  <a:srgbClr val="0F2D3A"/>
                </a:solidFill>
                <a:latin typeface="Aptos Display" pitchFamily="34" charset="0"/>
                <a:ea typeface="Aptos Display" pitchFamily="34" charset="-122"/>
                <a:cs typeface="Aptos Display" pitchFamily="34" charset="-120"/>
              </a:rPr>
              <a:t>Quality leadership requires balancing performance, people, ethics, and adaptability.</a:t>
            </a:r>
            <a:endParaRPr lang="en-US" sz="3200" dirty="0"/>
          </a:p>
        </p:txBody>
      </p:sp>
      <p:sp>
        <p:nvSpPr>
          <p:cNvPr id="22" name="Text 20"/>
          <p:cNvSpPr/>
          <p:nvPr/>
        </p:nvSpPr>
        <p:spPr>
          <a:xfrm>
            <a:off x="1005840" y="5212080"/>
            <a:ext cx="10058400" cy="256032"/>
          </a:xfrm>
          <a:prstGeom prst="rect">
            <a:avLst/>
          </a:prstGeom>
          <a:noFill/>
          <a:ln/>
        </p:spPr>
        <p:txBody>
          <a:bodyPr wrap="square" lIns="0" tIns="0" rIns="0" bIns="0" rtlCol="0" anchor="ctr"/>
          <a:lstStyle/>
          <a:p>
            <a:pPr marL="0" indent="0" algn="ctr">
              <a:buNone/>
            </a:pPr>
            <a:r>
              <a:rPr lang="en-US" sz="2000" dirty="0">
                <a:solidFill>
                  <a:srgbClr val="5A6872"/>
                </a:solidFill>
                <a:latin typeface="Aptos" pitchFamily="34" charset="0"/>
                <a:ea typeface="Aptos" pitchFamily="34" charset="-122"/>
                <a:cs typeface="Aptos" pitchFamily="34" charset="-120"/>
              </a:rPr>
              <a:t>Applied prompt: Which challenge is most visible in your organization today, and how does it affect quality?</a:t>
            </a:r>
            <a:endParaRPr lang="en-US" sz="20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50" b="0"/>
              <a:t>14</a:t>
            </a:fld>
            <a:endParaRPr lang="en-US" sz="10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100" b="1" dirty="0">
                <a:solidFill>
                  <a:srgbClr val="007C89"/>
                </a:solidFill>
                <a:latin typeface="Aptos" pitchFamily="34" charset="0"/>
                <a:ea typeface="Aptos" pitchFamily="34" charset="-122"/>
                <a:cs typeface="Aptos" pitchFamily="34" charset="-120"/>
              </a:rPr>
              <a:t>G TQM 511 | Organizational Behavior and Quality</a:t>
            </a:r>
            <a:endParaRPr lang="en-US" sz="11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4000" b="1" dirty="0">
                <a:solidFill>
                  <a:srgbClr val="0F2D3A"/>
                </a:solidFill>
                <a:latin typeface="Aptos Display" pitchFamily="34" charset="0"/>
                <a:ea typeface="Aptos Display" pitchFamily="34" charset="-122"/>
                <a:cs typeface="Aptos Display" pitchFamily="34" charset="-120"/>
              </a:rPr>
              <a:t>A Basic Organizational Behavior Model</a:t>
            </a:r>
            <a:endParaRPr lang="en-US" sz="40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32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10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1050" dirty="0"/>
          </a:p>
        </p:txBody>
      </p:sp>
      <p:sp>
        <p:nvSpPr>
          <p:cNvPr id="6" name="Shape 4"/>
          <p:cNvSpPr/>
          <p:nvPr/>
        </p:nvSpPr>
        <p:spPr>
          <a:xfrm>
            <a:off x="777240" y="1371600"/>
            <a:ext cx="3063240" cy="3429000"/>
          </a:xfrm>
          <a:prstGeom prst="roundRect">
            <a:avLst>
              <a:gd name="adj" fmla="val 2388"/>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3200"/>
          </a:p>
        </p:txBody>
      </p:sp>
      <p:sp>
        <p:nvSpPr>
          <p:cNvPr id="7" name="Text 5"/>
          <p:cNvSpPr/>
          <p:nvPr/>
        </p:nvSpPr>
        <p:spPr>
          <a:xfrm>
            <a:off x="1005840" y="1645920"/>
            <a:ext cx="2606040" cy="219456"/>
          </a:xfrm>
          <a:prstGeom prst="rect">
            <a:avLst/>
          </a:prstGeom>
          <a:noFill/>
          <a:ln/>
        </p:spPr>
        <p:txBody>
          <a:bodyPr wrap="square" lIns="0" tIns="0" rIns="0" bIns="0" rtlCol="0" anchor="ctr"/>
          <a:lstStyle/>
          <a:p>
            <a:pPr marL="0" indent="0" algn="ctr">
              <a:buNone/>
            </a:pPr>
            <a:r>
              <a:rPr lang="en-US" sz="3600" b="1" dirty="0">
                <a:solidFill>
                  <a:srgbClr val="C49A3A"/>
                </a:solidFill>
                <a:latin typeface="Aptos Display" pitchFamily="34" charset="0"/>
                <a:ea typeface="Aptos Display" pitchFamily="34" charset="-122"/>
                <a:cs typeface="Aptos Display" pitchFamily="34" charset="-120"/>
              </a:rPr>
              <a:t>INPUTS</a:t>
            </a:r>
            <a:endParaRPr lang="en-US" sz="3600" dirty="0"/>
          </a:p>
        </p:txBody>
      </p:sp>
      <p:sp>
        <p:nvSpPr>
          <p:cNvPr id="8" name="Text 6"/>
          <p:cNvSpPr/>
          <p:nvPr/>
        </p:nvSpPr>
        <p:spPr>
          <a:xfrm>
            <a:off x="1097280" y="2240280"/>
            <a:ext cx="2423160" cy="1874520"/>
          </a:xfrm>
          <a:prstGeom prst="rect">
            <a:avLst/>
          </a:prstGeom>
          <a:noFill/>
          <a:ln/>
        </p:spPr>
        <p:txBody>
          <a:bodyPr wrap="square" lIns="381" tIns="381" rIns="381" bIns="381" rtlCol="0" anchor="t">
            <a:normAutofit/>
          </a:bodyPr>
          <a:lstStyle/>
          <a:p>
            <a:r>
              <a:rPr lang="en-US" sz="2000" dirty="0">
                <a:solidFill>
                  <a:srgbClr val="1A1A1A"/>
                </a:solidFill>
                <a:latin typeface="Aptos" pitchFamily="34" charset="0"/>
                <a:ea typeface="Aptos" pitchFamily="34" charset="-122"/>
                <a:cs typeface="Aptos" pitchFamily="34" charset="-120"/>
              </a:rPr>
              <a:t>Individual: diversity, personality, values</a:t>
            </a:r>
            <a:endParaRPr lang="en-US" sz="2000" dirty="0"/>
          </a:p>
          <a:p>
            <a:r>
              <a:rPr lang="en-US" sz="2000" dirty="0">
                <a:solidFill>
                  <a:srgbClr val="1A1A1A"/>
                </a:solidFill>
                <a:latin typeface="Aptos" pitchFamily="34" charset="0"/>
                <a:ea typeface="Aptos" pitchFamily="34" charset="-122"/>
                <a:cs typeface="Aptos" pitchFamily="34" charset="-120"/>
              </a:rPr>
              <a:t>Group: structure, roles, responsibilities</a:t>
            </a:r>
            <a:endParaRPr lang="en-US" sz="2000" dirty="0"/>
          </a:p>
          <a:p>
            <a:r>
              <a:rPr lang="en-US" sz="2000" dirty="0">
                <a:solidFill>
                  <a:srgbClr val="1A1A1A"/>
                </a:solidFill>
                <a:latin typeface="Aptos" pitchFamily="34" charset="0"/>
                <a:ea typeface="Aptos" pitchFamily="34" charset="-122"/>
                <a:cs typeface="Aptos" pitchFamily="34" charset="-120"/>
              </a:rPr>
              <a:t>Organization: structure, culture</a:t>
            </a:r>
            <a:endParaRPr lang="en-US" sz="2000" dirty="0"/>
          </a:p>
        </p:txBody>
      </p:sp>
      <p:sp>
        <p:nvSpPr>
          <p:cNvPr id="9" name="Shape 7"/>
          <p:cNvSpPr/>
          <p:nvPr/>
        </p:nvSpPr>
        <p:spPr>
          <a:xfrm>
            <a:off x="4754880" y="1371600"/>
            <a:ext cx="3063240" cy="3429000"/>
          </a:xfrm>
          <a:prstGeom prst="roundRect">
            <a:avLst>
              <a:gd name="adj" fmla="val 2388"/>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3200"/>
          </a:p>
        </p:txBody>
      </p:sp>
      <p:sp>
        <p:nvSpPr>
          <p:cNvPr id="10" name="Text 8"/>
          <p:cNvSpPr/>
          <p:nvPr/>
        </p:nvSpPr>
        <p:spPr>
          <a:xfrm>
            <a:off x="4983480" y="1645920"/>
            <a:ext cx="2606040" cy="219456"/>
          </a:xfrm>
          <a:prstGeom prst="rect">
            <a:avLst/>
          </a:prstGeom>
          <a:noFill/>
          <a:ln/>
        </p:spPr>
        <p:txBody>
          <a:bodyPr wrap="square" lIns="0" tIns="0" rIns="0" bIns="0" rtlCol="0" anchor="ctr"/>
          <a:lstStyle/>
          <a:p>
            <a:pPr marL="0" indent="0" algn="ctr">
              <a:buNone/>
            </a:pPr>
            <a:r>
              <a:rPr lang="en-US" sz="3600" b="1" dirty="0">
                <a:solidFill>
                  <a:srgbClr val="007C89"/>
                </a:solidFill>
                <a:latin typeface="Aptos Display" pitchFamily="34" charset="0"/>
                <a:ea typeface="Aptos Display" pitchFamily="34" charset="-122"/>
                <a:cs typeface="Aptos Display" pitchFamily="34" charset="-120"/>
              </a:rPr>
              <a:t>PROCESSES</a:t>
            </a:r>
            <a:endParaRPr lang="en-US" sz="3600" dirty="0"/>
          </a:p>
        </p:txBody>
      </p:sp>
      <p:sp>
        <p:nvSpPr>
          <p:cNvPr id="11" name="Text 9"/>
          <p:cNvSpPr/>
          <p:nvPr/>
        </p:nvSpPr>
        <p:spPr>
          <a:xfrm>
            <a:off x="5074920" y="2240280"/>
            <a:ext cx="2423160" cy="1874520"/>
          </a:xfrm>
          <a:prstGeom prst="rect">
            <a:avLst/>
          </a:prstGeom>
          <a:noFill/>
          <a:ln/>
        </p:spPr>
        <p:txBody>
          <a:bodyPr wrap="square" lIns="381" tIns="381" rIns="381" bIns="381" rtlCol="0" anchor="t">
            <a:noAutofit/>
          </a:bodyPr>
          <a:lstStyle/>
          <a:p>
            <a:r>
              <a:rPr lang="en-US" dirty="0">
                <a:solidFill>
                  <a:srgbClr val="1A1A1A"/>
                </a:solidFill>
                <a:latin typeface="Aptos" pitchFamily="34" charset="0"/>
                <a:ea typeface="Aptos" pitchFamily="34" charset="-122"/>
                <a:cs typeface="Aptos" pitchFamily="34" charset="-120"/>
              </a:rPr>
              <a:t>Individual: emotions, motivation, perception, decisions</a:t>
            </a:r>
            <a:endParaRPr lang="en-US" dirty="0"/>
          </a:p>
          <a:p>
            <a:r>
              <a:rPr lang="en-US" dirty="0">
                <a:solidFill>
                  <a:srgbClr val="1A1A1A"/>
                </a:solidFill>
                <a:latin typeface="Aptos" pitchFamily="34" charset="0"/>
                <a:ea typeface="Aptos" pitchFamily="34" charset="-122"/>
                <a:cs typeface="Aptos" pitchFamily="34" charset="-120"/>
              </a:rPr>
              <a:t>Group: communication, leadership, power, conflict</a:t>
            </a:r>
            <a:endParaRPr lang="en-US" dirty="0"/>
          </a:p>
          <a:p>
            <a:r>
              <a:rPr lang="en-US" dirty="0">
                <a:solidFill>
                  <a:srgbClr val="1A1A1A"/>
                </a:solidFill>
                <a:latin typeface="Aptos" pitchFamily="34" charset="0"/>
                <a:ea typeface="Aptos" pitchFamily="34" charset="-122"/>
                <a:cs typeface="Aptos" pitchFamily="34" charset="-120"/>
              </a:rPr>
              <a:t>Organization: HR and change practices</a:t>
            </a:r>
            <a:endParaRPr lang="en-US" dirty="0"/>
          </a:p>
        </p:txBody>
      </p:sp>
      <p:sp>
        <p:nvSpPr>
          <p:cNvPr id="12" name="Shape 10"/>
          <p:cNvSpPr/>
          <p:nvPr/>
        </p:nvSpPr>
        <p:spPr>
          <a:xfrm>
            <a:off x="8732520" y="1371600"/>
            <a:ext cx="3063240" cy="3429000"/>
          </a:xfrm>
          <a:prstGeom prst="roundRect">
            <a:avLst>
              <a:gd name="adj" fmla="val 2388"/>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3200"/>
          </a:p>
        </p:txBody>
      </p:sp>
      <p:sp>
        <p:nvSpPr>
          <p:cNvPr id="13" name="Text 11"/>
          <p:cNvSpPr/>
          <p:nvPr/>
        </p:nvSpPr>
        <p:spPr>
          <a:xfrm>
            <a:off x="8961120" y="1645920"/>
            <a:ext cx="2606040" cy="219456"/>
          </a:xfrm>
          <a:prstGeom prst="rect">
            <a:avLst/>
          </a:prstGeom>
          <a:noFill/>
          <a:ln/>
        </p:spPr>
        <p:txBody>
          <a:bodyPr wrap="square" lIns="0" tIns="0" rIns="0" bIns="0" rtlCol="0" anchor="ctr"/>
          <a:lstStyle/>
          <a:p>
            <a:pPr marL="0" indent="0" algn="ctr">
              <a:buNone/>
            </a:pPr>
            <a:r>
              <a:rPr lang="en-US" sz="3600" b="1" dirty="0">
                <a:solidFill>
                  <a:srgbClr val="317A5C"/>
                </a:solidFill>
                <a:latin typeface="Aptos Display" pitchFamily="34" charset="0"/>
                <a:ea typeface="Aptos Display" pitchFamily="34" charset="-122"/>
                <a:cs typeface="Aptos Display" pitchFamily="34" charset="-120"/>
              </a:rPr>
              <a:t>OUTCOMES</a:t>
            </a:r>
            <a:endParaRPr lang="en-US" sz="3600" dirty="0"/>
          </a:p>
        </p:txBody>
      </p:sp>
      <p:sp>
        <p:nvSpPr>
          <p:cNvPr id="14" name="Text 12"/>
          <p:cNvSpPr/>
          <p:nvPr/>
        </p:nvSpPr>
        <p:spPr>
          <a:xfrm>
            <a:off x="9052560" y="2240280"/>
            <a:ext cx="2423160" cy="1874520"/>
          </a:xfrm>
          <a:prstGeom prst="rect">
            <a:avLst/>
          </a:prstGeom>
          <a:noFill/>
          <a:ln/>
        </p:spPr>
        <p:txBody>
          <a:bodyPr wrap="square" lIns="381" tIns="381" rIns="381" bIns="381" rtlCol="0" anchor="t">
            <a:noAutofit/>
          </a:bodyPr>
          <a:lstStyle/>
          <a:p>
            <a:r>
              <a:rPr lang="en-US" dirty="0">
                <a:solidFill>
                  <a:srgbClr val="1A1A1A"/>
                </a:solidFill>
                <a:latin typeface="Aptos" pitchFamily="34" charset="0"/>
                <a:ea typeface="Aptos" pitchFamily="34" charset="-122"/>
                <a:cs typeface="Aptos" pitchFamily="34" charset="-120"/>
              </a:rPr>
              <a:t>Individual: attitudes, stress, performance, citizenship, withdrawal</a:t>
            </a:r>
            <a:endParaRPr lang="en-US" dirty="0"/>
          </a:p>
          <a:p>
            <a:r>
              <a:rPr lang="en-US" dirty="0">
                <a:solidFill>
                  <a:srgbClr val="1A1A1A"/>
                </a:solidFill>
                <a:latin typeface="Aptos" pitchFamily="34" charset="0"/>
                <a:ea typeface="Aptos" pitchFamily="34" charset="-122"/>
                <a:cs typeface="Aptos" pitchFamily="34" charset="-120"/>
              </a:rPr>
              <a:t>Group: cohesion and functioning</a:t>
            </a:r>
            <a:endParaRPr lang="en-US" dirty="0"/>
          </a:p>
          <a:p>
            <a:r>
              <a:rPr lang="en-US" dirty="0">
                <a:solidFill>
                  <a:srgbClr val="1A1A1A"/>
                </a:solidFill>
                <a:latin typeface="Aptos" pitchFamily="34" charset="0"/>
                <a:ea typeface="Aptos" pitchFamily="34" charset="-122"/>
                <a:cs typeface="Aptos" pitchFamily="34" charset="-120"/>
              </a:rPr>
              <a:t>Organization: productivity and survival</a:t>
            </a:r>
            <a:endParaRPr lang="en-US" dirty="0"/>
          </a:p>
        </p:txBody>
      </p:sp>
      <p:sp>
        <p:nvSpPr>
          <p:cNvPr id="15" name="Shape 13"/>
          <p:cNvSpPr/>
          <p:nvPr/>
        </p:nvSpPr>
        <p:spPr>
          <a:xfrm>
            <a:off x="3977640" y="2999232"/>
            <a:ext cx="594360" cy="0"/>
          </a:xfrm>
          <a:prstGeom prst="line">
            <a:avLst/>
          </a:prstGeom>
          <a:noFill/>
          <a:ln w="25400">
            <a:solidFill>
              <a:srgbClr val="007C89"/>
            </a:solidFill>
            <a:prstDash val="solid"/>
            <a:tailEnd type="triangle"/>
          </a:ln>
        </p:spPr>
        <p:txBody>
          <a:bodyPr/>
          <a:lstStyle/>
          <a:p>
            <a:endParaRPr sz="3200"/>
          </a:p>
        </p:txBody>
      </p:sp>
      <p:sp>
        <p:nvSpPr>
          <p:cNvPr id="16" name="Shape 14"/>
          <p:cNvSpPr/>
          <p:nvPr/>
        </p:nvSpPr>
        <p:spPr>
          <a:xfrm>
            <a:off x="7955280" y="2999232"/>
            <a:ext cx="594360" cy="0"/>
          </a:xfrm>
          <a:prstGeom prst="line">
            <a:avLst/>
          </a:prstGeom>
          <a:noFill/>
          <a:ln w="25400">
            <a:solidFill>
              <a:srgbClr val="007C89"/>
            </a:solidFill>
            <a:prstDash val="solid"/>
            <a:tailEnd type="triangle"/>
          </a:ln>
        </p:spPr>
        <p:txBody>
          <a:bodyPr/>
          <a:lstStyle/>
          <a:p>
            <a:endParaRPr sz="3200"/>
          </a:p>
        </p:txBody>
      </p:sp>
      <p:sp>
        <p:nvSpPr>
          <p:cNvPr id="17" name="Shape 15"/>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lstStyle/>
          <a:p>
            <a:endParaRPr sz="3200"/>
          </a:p>
        </p:txBody>
      </p:sp>
      <p:sp>
        <p:nvSpPr>
          <p:cNvPr id="18" name="Text 16"/>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2000" b="1" dirty="0">
                <a:solidFill>
                  <a:srgbClr val="0F2D3A"/>
                </a:solidFill>
                <a:latin typeface="Aptos" pitchFamily="34" charset="0"/>
                <a:ea typeface="Aptos" pitchFamily="34" charset="-122"/>
                <a:cs typeface="Aptos" pitchFamily="34" charset="-120"/>
              </a:rPr>
              <a:t>Feedback matters: outcomes change future inputs.</a:t>
            </a:r>
            <a:endParaRPr lang="en-US" sz="20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100" b="0"/>
              <a:t>15</a:t>
            </a:fld>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400" b="1" dirty="0">
                <a:solidFill>
                  <a:srgbClr val="007C89"/>
                </a:solidFill>
                <a:latin typeface="Aptos" pitchFamily="34" charset="0"/>
                <a:ea typeface="Aptos" pitchFamily="34" charset="-122"/>
                <a:cs typeface="Aptos" pitchFamily="34" charset="-120"/>
              </a:rPr>
              <a:t>G TQM 511 | Organizational Behavior and Quality</a:t>
            </a:r>
            <a:endParaRPr lang="en-US" sz="14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200" b="1" dirty="0">
                <a:solidFill>
                  <a:srgbClr val="0F2D3A"/>
                </a:solidFill>
                <a:latin typeface="Aptos Display" pitchFamily="34" charset="0"/>
                <a:ea typeface="Aptos Display" pitchFamily="34" charset="-122"/>
                <a:cs typeface="Aptos Display" pitchFamily="34" charset="-120"/>
              </a:rPr>
              <a:t>Applying the OB Model to Quality Performance</a:t>
            </a:r>
            <a:endParaRPr lang="en-US" sz="32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4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12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1200" dirty="0"/>
          </a:p>
        </p:txBody>
      </p:sp>
      <p:sp>
        <p:nvSpPr>
          <p:cNvPr id="6" name="Shape 4"/>
          <p:cNvSpPr/>
          <p:nvPr/>
        </p:nvSpPr>
        <p:spPr>
          <a:xfrm>
            <a:off x="658368" y="1234440"/>
            <a:ext cx="1417320" cy="658368"/>
          </a:xfrm>
          <a:prstGeom prst="rect">
            <a:avLst/>
          </a:prstGeom>
          <a:solidFill>
            <a:srgbClr val="0F2D3A"/>
          </a:solidFill>
          <a:ln w="12700">
            <a:solidFill>
              <a:srgbClr val="D9E2E5"/>
            </a:solidFill>
            <a:prstDash val="solid"/>
          </a:ln>
        </p:spPr>
        <p:txBody>
          <a:bodyPr/>
          <a:lstStyle/>
          <a:p>
            <a:endParaRPr sz="4000"/>
          </a:p>
        </p:txBody>
      </p:sp>
      <p:sp>
        <p:nvSpPr>
          <p:cNvPr id="7" name="Text 5"/>
          <p:cNvSpPr/>
          <p:nvPr/>
        </p:nvSpPr>
        <p:spPr>
          <a:xfrm>
            <a:off x="713232" y="1344168"/>
            <a:ext cx="1307592" cy="292608"/>
          </a:xfrm>
          <a:prstGeom prst="rect">
            <a:avLst/>
          </a:prstGeom>
          <a:noFill/>
          <a:ln/>
        </p:spPr>
        <p:txBody>
          <a:bodyPr wrap="square" lIns="0" tIns="0" rIns="0" bIns="0" rtlCol="0" anchor="ctr">
            <a:normAutofit/>
          </a:bodyPr>
          <a:lstStyle/>
          <a:p>
            <a:pPr marL="0" indent="0" algn="ctr">
              <a:buNone/>
            </a:pPr>
            <a:r>
              <a:rPr lang="en-US" b="1" dirty="0">
                <a:solidFill>
                  <a:srgbClr val="FFFFFF"/>
                </a:solidFill>
                <a:latin typeface="Aptos" pitchFamily="34" charset="0"/>
                <a:ea typeface="Aptos" pitchFamily="34" charset="-122"/>
                <a:cs typeface="Aptos" pitchFamily="34" charset="-120"/>
              </a:rPr>
              <a:t>Level</a:t>
            </a:r>
            <a:endParaRPr lang="en-US" dirty="0"/>
          </a:p>
        </p:txBody>
      </p:sp>
      <p:sp>
        <p:nvSpPr>
          <p:cNvPr id="8" name="Shape 6"/>
          <p:cNvSpPr/>
          <p:nvPr/>
        </p:nvSpPr>
        <p:spPr>
          <a:xfrm>
            <a:off x="2075688" y="1234440"/>
            <a:ext cx="2880360" cy="658368"/>
          </a:xfrm>
          <a:prstGeom prst="rect">
            <a:avLst/>
          </a:prstGeom>
          <a:solidFill>
            <a:srgbClr val="0F2D3A"/>
          </a:solidFill>
          <a:ln w="12700">
            <a:solidFill>
              <a:srgbClr val="D9E2E5"/>
            </a:solidFill>
            <a:prstDash val="solid"/>
          </a:ln>
        </p:spPr>
        <p:txBody>
          <a:bodyPr/>
          <a:lstStyle/>
          <a:p>
            <a:endParaRPr sz="4000"/>
          </a:p>
        </p:txBody>
      </p:sp>
      <p:sp>
        <p:nvSpPr>
          <p:cNvPr id="9" name="Text 7"/>
          <p:cNvSpPr/>
          <p:nvPr/>
        </p:nvSpPr>
        <p:spPr>
          <a:xfrm>
            <a:off x="2130552" y="1344168"/>
            <a:ext cx="2770632" cy="292608"/>
          </a:xfrm>
          <a:prstGeom prst="rect">
            <a:avLst/>
          </a:prstGeom>
          <a:noFill/>
          <a:ln/>
        </p:spPr>
        <p:txBody>
          <a:bodyPr wrap="square" lIns="0" tIns="0" rIns="0" bIns="0" rtlCol="0" anchor="ctr">
            <a:normAutofit/>
          </a:bodyPr>
          <a:lstStyle/>
          <a:p>
            <a:pPr marL="0" indent="0" algn="l">
              <a:buNone/>
            </a:pPr>
            <a:r>
              <a:rPr lang="en-US" b="1" dirty="0">
                <a:solidFill>
                  <a:srgbClr val="FFFFFF"/>
                </a:solidFill>
                <a:latin typeface="Aptos" pitchFamily="34" charset="0"/>
                <a:ea typeface="Aptos" pitchFamily="34" charset="-122"/>
                <a:cs typeface="Aptos" pitchFamily="34" charset="-120"/>
              </a:rPr>
              <a:t>Inputs</a:t>
            </a:r>
            <a:endParaRPr lang="en-US" dirty="0"/>
          </a:p>
        </p:txBody>
      </p:sp>
      <p:sp>
        <p:nvSpPr>
          <p:cNvPr id="10" name="Shape 8"/>
          <p:cNvSpPr/>
          <p:nvPr/>
        </p:nvSpPr>
        <p:spPr>
          <a:xfrm>
            <a:off x="4956048" y="1234440"/>
            <a:ext cx="3337560" cy="658368"/>
          </a:xfrm>
          <a:prstGeom prst="rect">
            <a:avLst/>
          </a:prstGeom>
          <a:solidFill>
            <a:srgbClr val="0F2D3A"/>
          </a:solidFill>
          <a:ln w="12700">
            <a:solidFill>
              <a:srgbClr val="D9E2E5"/>
            </a:solidFill>
            <a:prstDash val="solid"/>
          </a:ln>
        </p:spPr>
        <p:txBody>
          <a:bodyPr/>
          <a:lstStyle/>
          <a:p>
            <a:endParaRPr sz="4000"/>
          </a:p>
        </p:txBody>
      </p:sp>
      <p:sp>
        <p:nvSpPr>
          <p:cNvPr id="11" name="Text 9"/>
          <p:cNvSpPr/>
          <p:nvPr/>
        </p:nvSpPr>
        <p:spPr>
          <a:xfrm>
            <a:off x="5010912" y="1344168"/>
            <a:ext cx="3227832" cy="292608"/>
          </a:xfrm>
          <a:prstGeom prst="rect">
            <a:avLst/>
          </a:prstGeom>
          <a:noFill/>
          <a:ln/>
        </p:spPr>
        <p:txBody>
          <a:bodyPr wrap="square" lIns="0" tIns="0" rIns="0" bIns="0" rtlCol="0" anchor="ctr">
            <a:normAutofit/>
          </a:bodyPr>
          <a:lstStyle/>
          <a:p>
            <a:pPr marL="0" indent="0" algn="l">
              <a:buNone/>
            </a:pPr>
            <a:r>
              <a:rPr lang="en-US" b="1" dirty="0">
                <a:solidFill>
                  <a:srgbClr val="FFFFFF"/>
                </a:solidFill>
                <a:latin typeface="Aptos" pitchFamily="34" charset="0"/>
                <a:ea typeface="Aptos" pitchFamily="34" charset="-122"/>
                <a:cs typeface="Aptos" pitchFamily="34" charset="-120"/>
              </a:rPr>
              <a:t>Behavioral processes</a:t>
            </a:r>
            <a:endParaRPr lang="en-US" dirty="0"/>
          </a:p>
        </p:txBody>
      </p:sp>
      <p:sp>
        <p:nvSpPr>
          <p:cNvPr id="12" name="Shape 10"/>
          <p:cNvSpPr/>
          <p:nvPr/>
        </p:nvSpPr>
        <p:spPr>
          <a:xfrm>
            <a:off x="8293608" y="1234440"/>
            <a:ext cx="3154680" cy="658368"/>
          </a:xfrm>
          <a:prstGeom prst="rect">
            <a:avLst/>
          </a:prstGeom>
          <a:solidFill>
            <a:srgbClr val="0F2D3A"/>
          </a:solidFill>
          <a:ln w="12700">
            <a:solidFill>
              <a:srgbClr val="D9E2E5"/>
            </a:solidFill>
            <a:prstDash val="solid"/>
          </a:ln>
        </p:spPr>
        <p:txBody>
          <a:bodyPr/>
          <a:lstStyle/>
          <a:p>
            <a:endParaRPr sz="4000"/>
          </a:p>
        </p:txBody>
      </p:sp>
      <p:sp>
        <p:nvSpPr>
          <p:cNvPr id="13" name="Text 11"/>
          <p:cNvSpPr/>
          <p:nvPr/>
        </p:nvSpPr>
        <p:spPr>
          <a:xfrm>
            <a:off x="8348472" y="1344168"/>
            <a:ext cx="3044952" cy="292608"/>
          </a:xfrm>
          <a:prstGeom prst="rect">
            <a:avLst/>
          </a:prstGeom>
          <a:noFill/>
          <a:ln/>
        </p:spPr>
        <p:txBody>
          <a:bodyPr wrap="square" lIns="0" tIns="0" rIns="0" bIns="0" rtlCol="0" anchor="ctr">
            <a:normAutofit/>
          </a:bodyPr>
          <a:lstStyle/>
          <a:p>
            <a:pPr marL="0" indent="0" algn="l">
              <a:buNone/>
            </a:pPr>
            <a:r>
              <a:rPr lang="en-US" b="1" dirty="0">
                <a:solidFill>
                  <a:srgbClr val="FFFFFF"/>
                </a:solidFill>
                <a:latin typeface="Aptos" pitchFamily="34" charset="0"/>
                <a:ea typeface="Aptos" pitchFamily="34" charset="-122"/>
                <a:cs typeface="Aptos" pitchFamily="34" charset="-120"/>
              </a:rPr>
              <a:t>Quality outcomes</a:t>
            </a:r>
            <a:endParaRPr lang="en-US" dirty="0"/>
          </a:p>
        </p:txBody>
      </p:sp>
      <p:sp>
        <p:nvSpPr>
          <p:cNvPr id="14" name="Shape 12"/>
          <p:cNvSpPr/>
          <p:nvPr/>
        </p:nvSpPr>
        <p:spPr>
          <a:xfrm>
            <a:off x="658368" y="1892808"/>
            <a:ext cx="1417320" cy="658368"/>
          </a:xfrm>
          <a:prstGeom prst="rect">
            <a:avLst/>
          </a:prstGeom>
          <a:solidFill>
            <a:srgbClr val="FFFFFF"/>
          </a:solidFill>
          <a:ln w="12700">
            <a:solidFill>
              <a:srgbClr val="D9E2E5"/>
            </a:solidFill>
            <a:prstDash val="solid"/>
          </a:ln>
        </p:spPr>
        <p:txBody>
          <a:bodyPr/>
          <a:lstStyle/>
          <a:p>
            <a:endParaRPr sz="4000"/>
          </a:p>
        </p:txBody>
      </p:sp>
      <p:sp>
        <p:nvSpPr>
          <p:cNvPr id="15" name="Text 13"/>
          <p:cNvSpPr/>
          <p:nvPr/>
        </p:nvSpPr>
        <p:spPr>
          <a:xfrm>
            <a:off x="713232" y="2002536"/>
            <a:ext cx="1307592" cy="292608"/>
          </a:xfrm>
          <a:prstGeom prst="rect">
            <a:avLst/>
          </a:prstGeom>
          <a:noFill/>
          <a:ln/>
        </p:spPr>
        <p:txBody>
          <a:bodyPr wrap="square" lIns="0" tIns="0" rIns="0" bIns="0" rtlCol="0" anchor="ctr">
            <a:normAutofit/>
          </a:bodyPr>
          <a:lstStyle/>
          <a:p>
            <a:pPr marL="0" indent="0" algn="ctr">
              <a:buNone/>
            </a:pPr>
            <a:r>
              <a:rPr lang="en-US" sz="1600" dirty="0">
                <a:solidFill>
                  <a:srgbClr val="1A1A1A"/>
                </a:solidFill>
                <a:latin typeface="Aptos" pitchFamily="34" charset="0"/>
                <a:ea typeface="Aptos" pitchFamily="34" charset="-122"/>
                <a:cs typeface="Aptos" pitchFamily="34" charset="-120"/>
              </a:rPr>
              <a:t>Individual</a:t>
            </a:r>
            <a:endParaRPr lang="en-US" sz="1600" dirty="0"/>
          </a:p>
        </p:txBody>
      </p:sp>
      <p:sp>
        <p:nvSpPr>
          <p:cNvPr id="16" name="Shape 14"/>
          <p:cNvSpPr/>
          <p:nvPr/>
        </p:nvSpPr>
        <p:spPr>
          <a:xfrm>
            <a:off x="2075688" y="1892808"/>
            <a:ext cx="2880360" cy="658368"/>
          </a:xfrm>
          <a:prstGeom prst="rect">
            <a:avLst/>
          </a:prstGeom>
          <a:solidFill>
            <a:srgbClr val="FFFFFF"/>
          </a:solidFill>
          <a:ln w="12700">
            <a:solidFill>
              <a:srgbClr val="D9E2E5"/>
            </a:solidFill>
            <a:prstDash val="solid"/>
          </a:ln>
        </p:spPr>
        <p:txBody>
          <a:bodyPr/>
          <a:lstStyle/>
          <a:p>
            <a:endParaRPr sz="4000"/>
          </a:p>
        </p:txBody>
      </p:sp>
      <p:sp>
        <p:nvSpPr>
          <p:cNvPr id="17" name="Text 15"/>
          <p:cNvSpPr/>
          <p:nvPr/>
        </p:nvSpPr>
        <p:spPr>
          <a:xfrm>
            <a:off x="2130552" y="2002536"/>
            <a:ext cx="277063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Knowledge, values, attitudes, emotions, motivation</a:t>
            </a:r>
            <a:endParaRPr lang="en-US" sz="1600" dirty="0"/>
          </a:p>
        </p:txBody>
      </p:sp>
      <p:sp>
        <p:nvSpPr>
          <p:cNvPr id="18" name="Shape 16"/>
          <p:cNvSpPr/>
          <p:nvPr/>
        </p:nvSpPr>
        <p:spPr>
          <a:xfrm>
            <a:off x="4956048" y="1892808"/>
            <a:ext cx="3337560" cy="658368"/>
          </a:xfrm>
          <a:prstGeom prst="rect">
            <a:avLst/>
          </a:prstGeom>
          <a:solidFill>
            <a:srgbClr val="FFFFFF"/>
          </a:solidFill>
          <a:ln w="12700">
            <a:solidFill>
              <a:srgbClr val="D9E2E5"/>
            </a:solidFill>
            <a:prstDash val="solid"/>
          </a:ln>
        </p:spPr>
        <p:txBody>
          <a:bodyPr/>
          <a:lstStyle/>
          <a:p>
            <a:endParaRPr sz="4000"/>
          </a:p>
        </p:txBody>
      </p:sp>
      <p:sp>
        <p:nvSpPr>
          <p:cNvPr id="19" name="Text 17"/>
          <p:cNvSpPr/>
          <p:nvPr/>
        </p:nvSpPr>
        <p:spPr>
          <a:xfrm>
            <a:off x="5010912" y="2002536"/>
            <a:ext cx="322783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Following standards, reporting errors, service behavior</a:t>
            </a:r>
            <a:endParaRPr lang="en-US" sz="1600" dirty="0"/>
          </a:p>
        </p:txBody>
      </p:sp>
      <p:sp>
        <p:nvSpPr>
          <p:cNvPr id="20" name="Shape 18"/>
          <p:cNvSpPr/>
          <p:nvPr/>
        </p:nvSpPr>
        <p:spPr>
          <a:xfrm>
            <a:off x="8293608" y="1892808"/>
            <a:ext cx="3154680" cy="658368"/>
          </a:xfrm>
          <a:prstGeom prst="rect">
            <a:avLst/>
          </a:prstGeom>
          <a:solidFill>
            <a:srgbClr val="FFFFFF"/>
          </a:solidFill>
          <a:ln w="12700">
            <a:solidFill>
              <a:srgbClr val="D9E2E5"/>
            </a:solidFill>
            <a:prstDash val="solid"/>
          </a:ln>
        </p:spPr>
        <p:txBody>
          <a:bodyPr/>
          <a:lstStyle/>
          <a:p>
            <a:endParaRPr sz="4000"/>
          </a:p>
        </p:txBody>
      </p:sp>
      <p:sp>
        <p:nvSpPr>
          <p:cNvPr id="21" name="Text 19"/>
          <p:cNvSpPr/>
          <p:nvPr/>
        </p:nvSpPr>
        <p:spPr>
          <a:xfrm>
            <a:off x="8348472" y="2002536"/>
            <a:ext cx="304495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Task quality, safety, customer experience</a:t>
            </a:r>
            <a:endParaRPr lang="en-US" sz="1600" dirty="0"/>
          </a:p>
        </p:txBody>
      </p:sp>
      <p:sp>
        <p:nvSpPr>
          <p:cNvPr id="22" name="Shape 20"/>
          <p:cNvSpPr/>
          <p:nvPr/>
        </p:nvSpPr>
        <p:spPr>
          <a:xfrm>
            <a:off x="658368" y="2551176"/>
            <a:ext cx="1417320" cy="658368"/>
          </a:xfrm>
          <a:prstGeom prst="rect">
            <a:avLst/>
          </a:prstGeom>
          <a:solidFill>
            <a:srgbClr val="F2FBFC"/>
          </a:solidFill>
          <a:ln w="12700">
            <a:solidFill>
              <a:srgbClr val="D9E2E5"/>
            </a:solidFill>
            <a:prstDash val="solid"/>
          </a:ln>
        </p:spPr>
        <p:txBody>
          <a:bodyPr/>
          <a:lstStyle/>
          <a:p>
            <a:endParaRPr sz="4000"/>
          </a:p>
        </p:txBody>
      </p:sp>
      <p:sp>
        <p:nvSpPr>
          <p:cNvPr id="23" name="Text 21"/>
          <p:cNvSpPr/>
          <p:nvPr/>
        </p:nvSpPr>
        <p:spPr>
          <a:xfrm>
            <a:off x="713232" y="2660904"/>
            <a:ext cx="1307592" cy="292608"/>
          </a:xfrm>
          <a:prstGeom prst="rect">
            <a:avLst/>
          </a:prstGeom>
          <a:noFill/>
          <a:ln/>
        </p:spPr>
        <p:txBody>
          <a:bodyPr wrap="square" lIns="0" tIns="0" rIns="0" bIns="0" rtlCol="0" anchor="ctr">
            <a:normAutofit/>
          </a:bodyPr>
          <a:lstStyle/>
          <a:p>
            <a:pPr marL="0" indent="0" algn="ctr">
              <a:buNone/>
            </a:pPr>
            <a:r>
              <a:rPr lang="en-US" sz="1600" dirty="0">
                <a:solidFill>
                  <a:srgbClr val="1A1A1A"/>
                </a:solidFill>
                <a:latin typeface="Aptos" pitchFamily="34" charset="0"/>
                <a:ea typeface="Aptos" pitchFamily="34" charset="-122"/>
                <a:cs typeface="Aptos" pitchFamily="34" charset="-120"/>
              </a:rPr>
              <a:t>Group</a:t>
            </a:r>
            <a:endParaRPr lang="en-US" sz="1600" dirty="0"/>
          </a:p>
        </p:txBody>
      </p:sp>
      <p:sp>
        <p:nvSpPr>
          <p:cNvPr id="24" name="Shape 22"/>
          <p:cNvSpPr/>
          <p:nvPr/>
        </p:nvSpPr>
        <p:spPr>
          <a:xfrm>
            <a:off x="2075688" y="2551176"/>
            <a:ext cx="2880360" cy="658368"/>
          </a:xfrm>
          <a:prstGeom prst="rect">
            <a:avLst/>
          </a:prstGeom>
          <a:solidFill>
            <a:srgbClr val="F2FBFC"/>
          </a:solidFill>
          <a:ln w="12700">
            <a:solidFill>
              <a:srgbClr val="D9E2E5"/>
            </a:solidFill>
            <a:prstDash val="solid"/>
          </a:ln>
        </p:spPr>
        <p:txBody>
          <a:bodyPr/>
          <a:lstStyle/>
          <a:p>
            <a:endParaRPr sz="4000"/>
          </a:p>
        </p:txBody>
      </p:sp>
      <p:sp>
        <p:nvSpPr>
          <p:cNvPr id="25" name="Text 23"/>
          <p:cNvSpPr/>
          <p:nvPr/>
        </p:nvSpPr>
        <p:spPr>
          <a:xfrm>
            <a:off x="2130552" y="2660904"/>
            <a:ext cx="277063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Roles, norms, diversity, team responsibilities</a:t>
            </a:r>
            <a:endParaRPr lang="en-US" sz="1600" dirty="0"/>
          </a:p>
        </p:txBody>
      </p:sp>
      <p:sp>
        <p:nvSpPr>
          <p:cNvPr id="26" name="Shape 24"/>
          <p:cNvSpPr/>
          <p:nvPr/>
        </p:nvSpPr>
        <p:spPr>
          <a:xfrm>
            <a:off x="4956048" y="2551176"/>
            <a:ext cx="3337560" cy="658368"/>
          </a:xfrm>
          <a:prstGeom prst="rect">
            <a:avLst/>
          </a:prstGeom>
          <a:solidFill>
            <a:srgbClr val="F2FBFC"/>
          </a:solidFill>
          <a:ln w="12700">
            <a:solidFill>
              <a:srgbClr val="D9E2E5"/>
            </a:solidFill>
            <a:prstDash val="solid"/>
          </a:ln>
        </p:spPr>
        <p:txBody>
          <a:bodyPr/>
          <a:lstStyle/>
          <a:p>
            <a:endParaRPr sz="4000"/>
          </a:p>
        </p:txBody>
      </p:sp>
      <p:sp>
        <p:nvSpPr>
          <p:cNvPr id="27" name="Text 25"/>
          <p:cNvSpPr/>
          <p:nvPr/>
        </p:nvSpPr>
        <p:spPr>
          <a:xfrm>
            <a:off x="5010912" y="2660904"/>
            <a:ext cx="322783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Communication, coordination, conflict, team learning</a:t>
            </a:r>
            <a:endParaRPr lang="en-US" sz="1600" dirty="0"/>
          </a:p>
        </p:txBody>
      </p:sp>
      <p:sp>
        <p:nvSpPr>
          <p:cNvPr id="28" name="Shape 26"/>
          <p:cNvSpPr/>
          <p:nvPr/>
        </p:nvSpPr>
        <p:spPr>
          <a:xfrm>
            <a:off x="8293608" y="2551176"/>
            <a:ext cx="3154680" cy="658368"/>
          </a:xfrm>
          <a:prstGeom prst="rect">
            <a:avLst/>
          </a:prstGeom>
          <a:solidFill>
            <a:srgbClr val="F2FBFC"/>
          </a:solidFill>
          <a:ln w="12700">
            <a:solidFill>
              <a:srgbClr val="D9E2E5"/>
            </a:solidFill>
            <a:prstDash val="solid"/>
          </a:ln>
        </p:spPr>
        <p:txBody>
          <a:bodyPr/>
          <a:lstStyle/>
          <a:p>
            <a:endParaRPr sz="4000"/>
          </a:p>
        </p:txBody>
      </p:sp>
      <p:sp>
        <p:nvSpPr>
          <p:cNvPr id="29" name="Text 27"/>
          <p:cNvSpPr/>
          <p:nvPr/>
        </p:nvSpPr>
        <p:spPr>
          <a:xfrm>
            <a:off x="8348472" y="2660904"/>
            <a:ext cx="304495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Handover quality, problem solving, cohesion</a:t>
            </a:r>
            <a:endParaRPr lang="en-US" sz="1600" dirty="0"/>
          </a:p>
        </p:txBody>
      </p:sp>
      <p:sp>
        <p:nvSpPr>
          <p:cNvPr id="30" name="Shape 28"/>
          <p:cNvSpPr/>
          <p:nvPr/>
        </p:nvSpPr>
        <p:spPr>
          <a:xfrm>
            <a:off x="658368" y="3209544"/>
            <a:ext cx="1417320" cy="658368"/>
          </a:xfrm>
          <a:prstGeom prst="rect">
            <a:avLst/>
          </a:prstGeom>
          <a:solidFill>
            <a:srgbClr val="FFFFFF"/>
          </a:solidFill>
          <a:ln w="12700">
            <a:solidFill>
              <a:srgbClr val="D9E2E5"/>
            </a:solidFill>
            <a:prstDash val="solid"/>
          </a:ln>
        </p:spPr>
        <p:txBody>
          <a:bodyPr/>
          <a:lstStyle/>
          <a:p>
            <a:endParaRPr sz="4000"/>
          </a:p>
        </p:txBody>
      </p:sp>
      <p:sp>
        <p:nvSpPr>
          <p:cNvPr id="31" name="Text 29"/>
          <p:cNvSpPr/>
          <p:nvPr/>
        </p:nvSpPr>
        <p:spPr>
          <a:xfrm>
            <a:off x="713232" y="3319272"/>
            <a:ext cx="1307592" cy="292608"/>
          </a:xfrm>
          <a:prstGeom prst="rect">
            <a:avLst/>
          </a:prstGeom>
          <a:noFill/>
          <a:ln/>
        </p:spPr>
        <p:txBody>
          <a:bodyPr wrap="square" lIns="0" tIns="0" rIns="0" bIns="0" rtlCol="0" anchor="ctr">
            <a:normAutofit/>
          </a:bodyPr>
          <a:lstStyle/>
          <a:p>
            <a:pPr marL="0" indent="0" algn="ctr">
              <a:buNone/>
            </a:pPr>
            <a:r>
              <a:rPr lang="en-US" sz="1600" dirty="0">
                <a:solidFill>
                  <a:srgbClr val="1A1A1A"/>
                </a:solidFill>
                <a:latin typeface="Aptos" pitchFamily="34" charset="0"/>
                <a:ea typeface="Aptos" pitchFamily="34" charset="-122"/>
                <a:cs typeface="Aptos" pitchFamily="34" charset="-120"/>
              </a:rPr>
              <a:t>Organization</a:t>
            </a:r>
            <a:endParaRPr lang="en-US" sz="1600" dirty="0"/>
          </a:p>
        </p:txBody>
      </p:sp>
      <p:sp>
        <p:nvSpPr>
          <p:cNvPr id="32" name="Shape 30"/>
          <p:cNvSpPr/>
          <p:nvPr/>
        </p:nvSpPr>
        <p:spPr>
          <a:xfrm>
            <a:off x="2075688" y="3209544"/>
            <a:ext cx="2880360" cy="658368"/>
          </a:xfrm>
          <a:prstGeom prst="rect">
            <a:avLst/>
          </a:prstGeom>
          <a:solidFill>
            <a:srgbClr val="FFFFFF"/>
          </a:solidFill>
          <a:ln w="12700">
            <a:solidFill>
              <a:srgbClr val="D9E2E5"/>
            </a:solidFill>
            <a:prstDash val="solid"/>
          </a:ln>
        </p:spPr>
        <p:txBody>
          <a:bodyPr/>
          <a:lstStyle/>
          <a:p>
            <a:endParaRPr sz="4000"/>
          </a:p>
        </p:txBody>
      </p:sp>
      <p:sp>
        <p:nvSpPr>
          <p:cNvPr id="33" name="Text 31"/>
          <p:cNvSpPr/>
          <p:nvPr/>
        </p:nvSpPr>
        <p:spPr>
          <a:xfrm>
            <a:off x="2130552" y="3319272"/>
            <a:ext cx="277063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Structure, culture, leadership system, HR practices</a:t>
            </a:r>
            <a:endParaRPr lang="en-US" sz="1600" dirty="0"/>
          </a:p>
        </p:txBody>
      </p:sp>
      <p:sp>
        <p:nvSpPr>
          <p:cNvPr id="34" name="Shape 32"/>
          <p:cNvSpPr/>
          <p:nvPr/>
        </p:nvSpPr>
        <p:spPr>
          <a:xfrm>
            <a:off x="4956048" y="3209544"/>
            <a:ext cx="3337560" cy="658368"/>
          </a:xfrm>
          <a:prstGeom prst="rect">
            <a:avLst/>
          </a:prstGeom>
          <a:solidFill>
            <a:srgbClr val="FFFFFF"/>
          </a:solidFill>
          <a:ln w="12700">
            <a:solidFill>
              <a:srgbClr val="D9E2E5"/>
            </a:solidFill>
            <a:prstDash val="solid"/>
          </a:ln>
        </p:spPr>
        <p:txBody>
          <a:bodyPr/>
          <a:lstStyle/>
          <a:p>
            <a:endParaRPr sz="4000"/>
          </a:p>
        </p:txBody>
      </p:sp>
      <p:sp>
        <p:nvSpPr>
          <p:cNvPr id="35" name="Text 33"/>
          <p:cNvSpPr/>
          <p:nvPr/>
        </p:nvSpPr>
        <p:spPr>
          <a:xfrm>
            <a:off x="5010912" y="3319272"/>
            <a:ext cx="322783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Resource allocation, change, recognition, governance</a:t>
            </a:r>
            <a:endParaRPr lang="en-US" sz="1600" dirty="0"/>
          </a:p>
        </p:txBody>
      </p:sp>
      <p:sp>
        <p:nvSpPr>
          <p:cNvPr id="36" name="Shape 34"/>
          <p:cNvSpPr/>
          <p:nvPr/>
        </p:nvSpPr>
        <p:spPr>
          <a:xfrm>
            <a:off x="8293608" y="3209544"/>
            <a:ext cx="3154680" cy="658368"/>
          </a:xfrm>
          <a:prstGeom prst="rect">
            <a:avLst/>
          </a:prstGeom>
          <a:solidFill>
            <a:srgbClr val="FFFFFF"/>
          </a:solidFill>
          <a:ln w="12700">
            <a:solidFill>
              <a:srgbClr val="D9E2E5"/>
            </a:solidFill>
            <a:prstDash val="solid"/>
          </a:ln>
        </p:spPr>
        <p:txBody>
          <a:bodyPr/>
          <a:lstStyle/>
          <a:p>
            <a:endParaRPr sz="4000"/>
          </a:p>
        </p:txBody>
      </p:sp>
      <p:sp>
        <p:nvSpPr>
          <p:cNvPr id="37" name="Text 35"/>
          <p:cNvSpPr/>
          <p:nvPr/>
        </p:nvSpPr>
        <p:spPr>
          <a:xfrm>
            <a:off x="8348472" y="3319272"/>
            <a:ext cx="3044952" cy="292608"/>
          </a:xfrm>
          <a:prstGeom prst="rect">
            <a:avLst/>
          </a:prstGeom>
          <a:noFill/>
          <a:ln/>
        </p:spPr>
        <p:txBody>
          <a:bodyPr wrap="square" lIns="0" tIns="0" rIns="0" bIns="0" rtlCol="0" anchor="ctr">
            <a:noAutofit/>
          </a:bodyPr>
          <a:lstStyle/>
          <a:p>
            <a:pPr marL="0" indent="0" algn="l">
              <a:buNone/>
            </a:pPr>
            <a:r>
              <a:rPr lang="en-US" sz="1600" dirty="0">
                <a:solidFill>
                  <a:srgbClr val="1A1A1A"/>
                </a:solidFill>
                <a:latin typeface="Aptos" pitchFamily="34" charset="0"/>
                <a:ea typeface="Aptos" pitchFamily="34" charset="-122"/>
                <a:cs typeface="Aptos" pitchFamily="34" charset="-120"/>
              </a:rPr>
              <a:t>Productivity, reliability, improvement, sustainability</a:t>
            </a:r>
            <a:endParaRPr lang="en-US" sz="1600" dirty="0"/>
          </a:p>
        </p:txBody>
      </p:sp>
      <p:sp>
        <p:nvSpPr>
          <p:cNvPr id="38" name="Shape 36"/>
          <p:cNvSpPr/>
          <p:nvPr/>
        </p:nvSpPr>
        <p:spPr>
          <a:xfrm>
            <a:off x="658368" y="4800600"/>
            <a:ext cx="10881360" cy="786384"/>
          </a:xfrm>
          <a:prstGeom prst="roundRect">
            <a:avLst>
              <a:gd name="adj" fmla="val 9302"/>
            </a:avLst>
          </a:prstGeom>
          <a:solidFill>
            <a:srgbClr val="F2FBFC"/>
          </a:solidFill>
          <a:ln w="12700">
            <a:solidFill>
              <a:srgbClr val="B9DEE3"/>
            </a:solidFill>
            <a:prstDash val="solid"/>
          </a:ln>
        </p:spPr>
        <p:txBody>
          <a:bodyPr/>
          <a:lstStyle/>
          <a:p>
            <a:endParaRPr sz="4000"/>
          </a:p>
        </p:txBody>
      </p:sp>
      <p:sp>
        <p:nvSpPr>
          <p:cNvPr id="39" name="Text 37"/>
          <p:cNvSpPr/>
          <p:nvPr/>
        </p:nvSpPr>
        <p:spPr>
          <a:xfrm>
            <a:off x="822960" y="4937760"/>
            <a:ext cx="10552176" cy="557784"/>
          </a:xfrm>
          <a:prstGeom prst="rect">
            <a:avLst/>
          </a:prstGeom>
          <a:noFill/>
          <a:ln/>
        </p:spPr>
        <p:txBody>
          <a:bodyPr wrap="square" lIns="254" tIns="254" rIns="254" bIns="254" rtlCol="0" anchor="ctr">
            <a:noAutofit/>
          </a:bodyPr>
          <a:lstStyle/>
          <a:p>
            <a:pPr marL="0" indent="0">
              <a:buNone/>
            </a:pPr>
            <a:r>
              <a:rPr lang="en-US" sz="2800" b="1" dirty="0">
                <a:solidFill>
                  <a:srgbClr val="0F2D3A"/>
                </a:solidFill>
                <a:latin typeface="Aptos" pitchFamily="34" charset="0"/>
                <a:ea typeface="Aptos" pitchFamily="34" charset="-122"/>
                <a:cs typeface="Aptos" pitchFamily="34" charset="-120"/>
              </a:rPr>
              <a:t>Diagnostic rule: Do not treat every quality problem as a process problem. Identify the behavioral level and mechanism.</a:t>
            </a:r>
            <a:endParaRPr lang="en-US" sz="2800" dirty="0"/>
          </a:p>
        </p:txBody>
      </p:sp>
      <p:sp>
        <p:nvSpPr>
          <p:cNvPr id="40"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400" b="0"/>
              <a:t>16</a:t>
            </a:fld>
            <a:endParaRPr 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In-Class Activity: Three-Level Diagnosis</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143000"/>
            <a:ext cx="5074920" cy="3840480"/>
          </a:xfrm>
          <a:prstGeom prst="roundRect">
            <a:avLst>
              <a:gd name="adj" fmla="val 1905"/>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3200"/>
          </a:p>
        </p:txBody>
      </p:sp>
      <p:sp>
        <p:nvSpPr>
          <p:cNvPr id="7" name="Text 5"/>
          <p:cNvSpPr/>
          <p:nvPr/>
        </p:nvSpPr>
        <p:spPr>
          <a:xfrm>
            <a:off x="960119" y="1399032"/>
            <a:ext cx="1494845" cy="228600"/>
          </a:xfrm>
          <a:prstGeom prst="rect">
            <a:avLst/>
          </a:prstGeom>
          <a:noFill/>
          <a:ln/>
        </p:spPr>
        <p:txBody>
          <a:bodyPr wrap="square" lIns="0" tIns="0" rIns="0" bIns="0" rtlCol="0" anchor="ctr">
            <a:normAutofit fontScale="92500" lnSpcReduction="20000"/>
          </a:bodyPr>
          <a:lstStyle/>
          <a:p>
            <a:pPr marL="0" indent="0">
              <a:buNone/>
            </a:pPr>
            <a:r>
              <a:rPr lang="en-US" b="1" dirty="0">
                <a:solidFill>
                  <a:srgbClr val="007C89"/>
                </a:solidFill>
                <a:latin typeface="Aptos" pitchFamily="34" charset="0"/>
                <a:ea typeface="Aptos" pitchFamily="34" charset="-122"/>
                <a:cs typeface="Aptos" pitchFamily="34" charset="-120"/>
              </a:rPr>
              <a:t>Scenario</a:t>
            </a:r>
            <a:endParaRPr lang="en-US" dirty="0"/>
          </a:p>
        </p:txBody>
      </p:sp>
      <p:sp>
        <p:nvSpPr>
          <p:cNvPr id="8" name="Text 6"/>
          <p:cNvSpPr/>
          <p:nvPr/>
        </p:nvSpPr>
        <p:spPr>
          <a:xfrm>
            <a:off x="960120" y="1719072"/>
            <a:ext cx="4434840" cy="914400"/>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A university receives repeated complaints about slow student services. Staff say procedures are unclear; supervisors blame employee attitude; employees blame workload and poor systems; departments do not share information.</a:t>
            </a:r>
            <a:endParaRPr lang="en-US" sz="1600" dirty="0"/>
          </a:p>
        </p:txBody>
      </p:sp>
      <p:sp>
        <p:nvSpPr>
          <p:cNvPr id="9" name="Text 7"/>
          <p:cNvSpPr/>
          <p:nvPr/>
        </p:nvSpPr>
        <p:spPr>
          <a:xfrm>
            <a:off x="960120" y="2999232"/>
            <a:ext cx="1371600" cy="310896"/>
          </a:xfrm>
          <a:prstGeom prst="rect">
            <a:avLst/>
          </a:prstGeom>
          <a:noFill/>
          <a:ln/>
        </p:spPr>
        <p:txBody>
          <a:bodyPr wrap="square" lIns="0" tIns="0" rIns="0" bIns="0" rtlCol="0" anchor="ctr">
            <a:normAutofit/>
          </a:bodyPr>
          <a:lstStyle/>
          <a:p>
            <a:pPr marL="0" indent="0">
              <a:buNone/>
            </a:pPr>
            <a:r>
              <a:rPr lang="en-US" sz="1600" b="1" dirty="0">
                <a:solidFill>
                  <a:srgbClr val="C49A3A"/>
                </a:solidFill>
                <a:latin typeface="Aptos" pitchFamily="34" charset="0"/>
                <a:ea typeface="Aptos" pitchFamily="34" charset="-122"/>
                <a:cs typeface="Aptos" pitchFamily="34" charset="-120"/>
              </a:rPr>
              <a:t>Deliverable</a:t>
            </a:r>
            <a:endParaRPr lang="en-US" sz="1600" dirty="0"/>
          </a:p>
        </p:txBody>
      </p:sp>
      <p:sp>
        <p:nvSpPr>
          <p:cNvPr id="10" name="Text 8"/>
          <p:cNvSpPr/>
          <p:nvPr/>
        </p:nvSpPr>
        <p:spPr>
          <a:xfrm>
            <a:off x="960120" y="3401568"/>
            <a:ext cx="4389120" cy="566928"/>
          </a:xfrm>
          <a:prstGeom prst="rect">
            <a:avLst/>
          </a:prstGeom>
          <a:noFill/>
          <a:ln/>
        </p:spPr>
        <p:txBody>
          <a:bodyPr wrap="square" lIns="0" tIns="0" rIns="0" bIns="0" rtlCol="0" anchor="ctr">
            <a:noAutofit/>
          </a:bodyPr>
          <a:lstStyle/>
          <a:p>
            <a:pPr marL="0" indent="0">
              <a:buNone/>
            </a:pPr>
            <a:r>
              <a:rPr lang="en-US" sz="1600" b="1" dirty="0">
                <a:solidFill>
                  <a:srgbClr val="0F2D3A"/>
                </a:solidFill>
                <a:latin typeface="Aptos Display" pitchFamily="34" charset="0"/>
                <a:ea typeface="Aptos Display" pitchFamily="34" charset="-122"/>
                <a:cs typeface="Aptos Display" pitchFamily="34" charset="-120"/>
              </a:rPr>
              <a:t>One-page diagnostic map: Inputs → Processes → Outcomes. Prepare a 2-minute explanation and defend your prioritization.</a:t>
            </a:r>
            <a:endParaRPr lang="en-US" sz="1600" dirty="0"/>
          </a:p>
        </p:txBody>
      </p:sp>
      <p:sp>
        <p:nvSpPr>
          <p:cNvPr id="11" name="Shape 9"/>
          <p:cNvSpPr/>
          <p:nvPr/>
        </p:nvSpPr>
        <p:spPr>
          <a:xfrm>
            <a:off x="6172200" y="1143000"/>
            <a:ext cx="5349240" cy="3840480"/>
          </a:xfrm>
          <a:prstGeom prst="roundRect">
            <a:avLst>
              <a:gd name="adj" fmla="val 1905"/>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2" name="Shape 10"/>
          <p:cNvSpPr/>
          <p:nvPr/>
        </p:nvSpPr>
        <p:spPr>
          <a:xfrm>
            <a:off x="6473952" y="1463040"/>
            <a:ext cx="347472" cy="347472"/>
          </a:xfrm>
          <a:prstGeom prst="ellipse">
            <a:avLst/>
          </a:prstGeom>
          <a:solidFill>
            <a:srgbClr val="007C89"/>
          </a:solidFill>
          <a:ln w="12700">
            <a:solidFill>
              <a:srgbClr val="007C89"/>
            </a:solidFill>
            <a:prstDash val="solid"/>
          </a:ln>
        </p:spPr>
        <p:txBody>
          <a:bodyPr/>
          <a:lstStyle/>
          <a:p>
            <a:endParaRPr sz="2000"/>
          </a:p>
        </p:txBody>
      </p:sp>
      <p:sp>
        <p:nvSpPr>
          <p:cNvPr id="13" name="Text 11"/>
          <p:cNvSpPr/>
          <p:nvPr/>
        </p:nvSpPr>
        <p:spPr>
          <a:xfrm>
            <a:off x="6473952" y="1545336"/>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4" name="Text 12"/>
          <p:cNvSpPr/>
          <p:nvPr/>
        </p:nvSpPr>
        <p:spPr>
          <a:xfrm>
            <a:off x="6931152" y="1527048"/>
            <a:ext cx="3977640" cy="164592"/>
          </a:xfrm>
          <a:prstGeom prst="rect">
            <a:avLst/>
          </a:prstGeom>
          <a:noFill/>
          <a:ln/>
        </p:spPr>
        <p:txBody>
          <a:bodyPr wrap="square" lIns="0" tIns="0" rIns="0" bIns="0" rtlCol="0" anchor="ctr">
            <a:noAutofit/>
          </a:bodyPr>
          <a:lstStyle/>
          <a:p>
            <a:r>
              <a:rPr sz="1600" dirty="0"/>
              <a:t>List at least six possible causes.</a:t>
            </a:r>
          </a:p>
        </p:txBody>
      </p:sp>
      <p:sp>
        <p:nvSpPr>
          <p:cNvPr id="15" name="Shape 13"/>
          <p:cNvSpPr/>
          <p:nvPr/>
        </p:nvSpPr>
        <p:spPr>
          <a:xfrm>
            <a:off x="6473952" y="2057400"/>
            <a:ext cx="347472" cy="347472"/>
          </a:xfrm>
          <a:prstGeom prst="ellipse">
            <a:avLst/>
          </a:prstGeom>
          <a:solidFill>
            <a:srgbClr val="007C89"/>
          </a:solidFill>
          <a:ln w="12700">
            <a:solidFill>
              <a:srgbClr val="007C89"/>
            </a:solidFill>
            <a:prstDash val="solid"/>
          </a:ln>
        </p:spPr>
        <p:txBody>
          <a:bodyPr/>
          <a:lstStyle/>
          <a:p>
            <a:endParaRPr sz="2000"/>
          </a:p>
        </p:txBody>
      </p:sp>
      <p:sp>
        <p:nvSpPr>
          <p:cNvPr id="16" name="Text 14"/>
          <p:cNvSpPr/>
          <p:nvPr/>
        </p:nvSpPr>
        <p:spPr>
          <a:xfrm>
            <a:off x="6473952" y="2139696"/>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7" name="Text 15"/>
          <p:cNvSpPr/>
          <p:nvPr/>
        </p:nvSpPr>
        <p:spPr>
          <a:xfrm>
            <a:off x="6931152" y="2121408"/>
            <a:ext cx="3977640" cy="164592"/>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Classify each as individual, group, or organizational.</a:t>
            </a:r>
            <a:endParaRPr lang="en-US" sz="1400" dirty="0"/>
          </a:p>
        </p:txBody>
      </p:sp>
      <p:sp>
        <p:nvSpPr>
          <p:cNvPr id="18" name="Shape 16"/>
          <p:cNvSpPr/>
          <p:nvPr/>
        </p:nvSpPr>
        <p:spPr>
          <a:xfrm>
            <a:off x="6473952" y="2651760"/>
            <a:ext cx="347472" cy="347472"/>
          </a:xfrm>
          <a:prstGeom prst="ellipse">
            <a:avLst/>
          </a:prstGeom>
          <a:solidFill>
            <a:srgbClr val="007C89"/>
          </a:solidFill>
          <a:ln w="12700">
            <a:solidFill>
              <a:srgbClr val="007C89"/>
            </a:solidFill>
            <a:prstDash val="solid"/>
          </a:ln>
        </p:spPr>
        <p:txBody>
          <a:bodyPr/>
          <a:lstStyle/>
          <a:p>
            <a:endParaRPr sz="2000"/>
          </a:p>
        </p:txBody>
      </p:sp>
      <p:sp>
        <p:nvSpPr>
          <p:cNvPr id="19" name="Text 17"/>
          <p:cNvSpPr/>
          <p:nvPr/>
        </p:nvSpPr>
        <p:spPr>
          <a:xfrm>
            <a:off x="6473952" y="2734056"/>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0" name="Text 18"/>
          <p:cNvSpPr/>
          <p:nvPr/>
        </p:nvSpPr>
        <p:spPr>
          <a:xfrm>
            <a:off x="6931152" y="2715768"/>
            <a:ext cx="3977640" cy="164592"/>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Identify relevant processes.</a:t>
            </a:r>
            <a:endParaRPr lang="en-US" sz="1400" dirty="0"/>
          </a:p>
        </p:txBody>
      </p:sp>
      <p:sp>
        <p:nvSpPr>
          <p:cNvPr id="21" name="Shape 19"/>
          <p:cNvSpPr/>
          <p:nvPr/>
        </p:nvSpPr>
        <p:spPr>
          <a:xfrm>
            <a:off x="6473952" y="3246120"/>
            <a:ext cx="347472" cy="347472"/>
          </a:xfrm>
          <a:prstGeom prst="ellipse">
            <a:avLst/>
          </a:prstGeom>
          <a:solidFill>
            <a:srgbClr val="007C89"/>
          </a:solidFill>
          <a:ln w="12700">
            <a:solidFill>
              <a:srgbClr val="007C89"/>
            </a:solidFill>
            <a:prstDash val="solid"/>
          </a:ln>
        </p:spPr>
        <p:txBody>
          <a:bodyPr/>
          <a:lstStyle/>
          <a:p>
            <a:endParaRPr sz="2000"/>
          </a:p>
        </p:txBody>
      </p:sp>
      <p:sp>
        <p:nvSpPr>
          <p:cNvPr id="22" name="Text 20"/>
          <p:cNvSpPr/>
          <p:nvPr/>
        </p:nvSpPr>
        <p:spPr>
          <a:xfrm>
            <a:off x="6473952" y="3328416"/>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3" name="Text 21"/>
          <p:cNvSpPr/>
          <p:nvPr/>
        </p:nvSpPr>
        <p:spPr>
          <a:xfrm>
            <a:off x="6931152" y="3310128"/>
            <a:ext cx="3977640" cy="164592"/>
          </a:xfrm>
          <a:prstGeom prst="rect">
            <a:avLst/>
          </a:prstGeom>
          <a:noFill/>
          <a:ln/>
        </p:spPr>
        <p:txBody>
          <a:bodyPr wrap="square" lIns="0" tIns="0" rIns="0" bIns="0" rtlCol="0" anchor="ctr">
            <a:noAutofit/>
          </a:bodyPr>
          <a:lstStyle/>
          <a:p>
            <a:r>
              <a:rPr sz="1600"/>
              <a:t>Select two priority interventions and justify their sequence.</a:t>
            </a:r>
          </a:p>
        </p:txBody>
      </p:sp>
      <p:sp>
        <p:nvSpPr>
          <p:cNvPr id="24" name="Shape 22"/>
          <p:cNvSpPr/>
          <p:nvPr/>
        </p:nvSpPr>
        <p:spPr>
          <a:xfrm>
            <a:off x="6473952" y="3840480"/>
            <a:ext cx="347472" cy="347472"/>
          </a:xfrm>
          <a:prstGeom prst="ellipse">
            <a:avLst/>
          </a:prstGeom>
          <a:solidFill>
            <a:srgbClr val="007C89"/>
          </a:solidFill>
          <a:ln w="12700">
            <a:solidFill>
              <a:srgbClr val="007C89"/>
            </a:solidFill>
            <a:prstDash val="solid"/>
          </a:ln>
        </p:spPr>
        <p:txBody>
          <a:bodyPr/>
          <a:lstStyle/>
          <a:p>
            <a:endParaRPr sz="2000"/>
          </a:p>
        </p:txBody>
      </p:sp>
      <p:sp>
        <p:nvSpPr>
          <p:cNvPr id="25" name="Text 23"/>
          <p:cNvSpPr/>
          <p:nvPr/>
        </p:nvSpPr>
        <p:spPr>
          <a:xfrm>
            <a:off x="6473952" y="3922776"/>
            <a:ext cx="347472" cy="128016"/>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26" name="Text 24"/>
          <p:cNvSpPr/>
          <p:nvPr/>
        </p:nvSpPr>
        <p:spPr>
          <a:xfrm>
            <a:off x="6931152" y="3904488"/>
            <a:ext cx="3977640" cy="164592"/>
          </a:xfrm>
          <a:prstGeom prst="rect">
            <a:avLst/>
          </a:prstGeom>
          <a:noFill/>
          <a:ln/>
        </p:spPr>
        <p:txBody>
          <a:bodyPr wrap="square" lIns="0" tIns="0" rIns="0" bIns="0" rtlCol="0" anchor="ctr">
            <a:noAutofit/>
          </a:bodyPr>
          <a:lstStyle/>
          <a:p>
            <a:r>
              <a:rPr sz="1600"/>
              <a:t>Propose two indicators for monitoring improvement.</a:t>
            </a:r>
          </a:p>
        </p:txBody>
      </p:sp>
      <p:sp>
        <p:nvSpPr>
          <p:cNvPr id="27" name="Shape 25"/>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lstStyle/>
          <a:p>
            <a:endParaRPr sz="2000"/>
          </a:p>
        </p:txBody>
      </p:sp>
      <p:sp>
        <p:nvSpPr>
          <p:cNvPr id="28" name="Text 26"/>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Small groups • 20 minutes • Applied to quality performance</a:t>
            </a:r>
            <a:endParaRPr lang="en-US" sz="1400" dirty="0"/>
          </a:p>
        </p:txBody>
      </p:sp>
      <p:sp>
        <p:nvSpPr>
          <p:cNvPr id="29"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17</a:t>
            </a:fld>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050" b="1" dirty="0">
                <a:solidFill>
                  <a:srgbClr val="007C89"/>
                </a:solidFill>
                <a:latin typeface="Aptos" pitchFamily="34" charset="0"/>
                <a:ea typeface="Aptos" pitchFamily="34" charset="-122"/>
                <a:cs typeface="Aptos" pitchFamily="34" charset="-120"/>
              </a:rPr>
              <a:t>G TQM 511 | Organizational Behavior and Quality</a:t>
            </a:r>
            <a:endParaRPr lang="en-US" sz="105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600" b="1" dirty="0">
                <a:solidFill>
                  <a:srgbClr val="0F2D3A"/>
                </a:solidFill>
                <a:latin typeface="Aptos Display" pitchFamily="34" charset="0"/>
                <a:ea typeface="Aptos Display" pitchFamily="34" charset="-122"/>
                <a:cs typeface="Aptos Display" pitchFamily="34" charset="-120"/>
              </a:rPr>
              <a:t>Debrief Questions</a:t>
            </a:r>
            <a:endParaRPr lang="en-US" sz="36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8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10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1000" dirty="0"/>
          </a:p>
        </p:txBody>
      </p:sp>
      <p:sp>
        <p:nvSpPr>
          <p:cNvPr id="6" name="Shape 4"/>
          <p:cNvSpPr/>
          <p:nvPr/>
        </p:nvSpPr>
        <p:spPr>
          <a:xfrm>
            <a:off x="777240" y="1234440"/>
            <a:ext cx="5074920" cy="713232"/>
          </a:xfrm>
          <a:prstGeom prst="roundRect">
            <a:avLst>
              <a:gd name="adj" fmla="val 10256"/>
            </a:avLst>
          </a:prstGeom>
          <a:solidFill>
            <a:srgbClr val="FFFFFF"/>
          </a:solidFill>
          <a:ln w="12700">
            <a:solidFill>
              <a:srgbClr val="D9E2E5"/>
            </a:solidFill>
            <a:prstDash val="solid"/>
          </a:ln>
        </p:spPr>
        <p:txBody>
          <a:bodyPr/>
          <a:lstStyle/>
          <a:p>
            <a:endParaRPr sz="2800"/>
          </a:p>
        </p:txBody>
      </p:sp>
      <p:sp>
        <p:nvSpPr>
          <p:cNvPr id="7" name="Shape 5"/>
          <p:cNvSpPr/>
          <p:nvPr/>
        </p:nvSpPr>
        <p:spPr>
          <a:xfrm>
            <a:off x="941832" y="1417320"/>
            <a:ext cx="347472" cy="347472"/>
          </a:xfrm>
          <a:prstGeom prst="ellipse">
            <a:avLst/>
          </a:prstGeom>
          <a:solidFill>
            <a:srgbClr val="007C89"/>
          </a:solidFill>
          <a:ln w="12700">
            <a:solidFill>
              <a:srgbClr val="007C89"/>
            </a:solidFill>
            <a:prstDash val="solid"/>
          </a:ln>
        </p:spPr>
        <p:txBody>
          <a:bodyPr/>
          <a:lstStyle/>
          <a:p>
            <a:endParaRPr sz="2800"/>
          </a:p>
        </p:txBody>
      </p:sp>
      <p:sp>
        <p:nvSpPr>
          <p:cNvPr id="8" name="Text 6"/>
          <p:cNvSpPr/>
          <p:nvPr/>
        </p:nvSpPr>
        <p:spPr>
          <a:xfrm>
            <a:off x="941832" y="1499616"/>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9" name="Text 7"/>
          <p:cNvSpPr/>
          <p:nvPr/>
        </p:nvSpPr>
        <p:spPr>
          <a:xfrm>
            <a:off x="1399032" y="1380744"/>
            <a:ext cx="4297680" cy="256032"/>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Which causes were easiest to see? Which were initially overlooked?</a:t>
            </a:r>
            <a:endParaRPr lang="en-US" sz="1600" dirty="0"/>
          </a:p>
        </p:txBody>
      </p:sp>
      <p:sp>
        <p:nvSpPr>
          <p:cNvPr id="10" name="Shape 8"/>
          <p:cNvSpPr/>
          <p:nvPr/>
        </p:nvSpPr>
        <p:spPr>
          <a:xfrm>
            <a:off x="6309360" y="1234440"/>
            <a:ext cx="5074920" cy="713232"/>
          </a:xfrm>
          <a:prstGeom prst="roundRect">
            <a:avLst>
              <a:gd name="adj" fmla="val 10256"/>
            </a:avLst>
          </a:prstGeom>
          <a:solidFill>
            <a:srgbClr val="F2FBFC"/>
          </a:solidFill>
          <a:ln w="12700">
            <a:solidFill>
              <a:srgbClr val="D9E2E5"/>
            </a:solidFill>
            <a:prstDash val="solid"/>
          </a:ln>
        </p:spPr>
        <p:txBody>
          <a:bodyPr/>
          <a:lstStyle/>
          <a:p>
            <a:endParaRPr sz="2800"/>
          </a:p>
        </p:txBody>
      </p:sp>
      <p:sp>
        <p:nvSpPr>
          <p:cNvPr id="11" name="Shape 9"/>
          <p:cNvSpPr/>
          <p:nvPr/>
        </p:nvSpPr>
        <p:spPr>
          <a:xfrm>
            <a:off x="6473952" y="1417320"/>
            <a:ext cx="347472" cy="347472"/>
          </a:xfrm>
          <a:prstGeom prst="ellipse">
            <a:avLst/>
          </a:prstGeom>
          <a:solidFill>
            <a:srgbClr val="007C89"/>
          </a:solidFill>
          <a:ln w="12700">
            <a:solidFill>
              <a:srgbClr val="007C89"/>
            </a:solidFill>
            <a:prstDash val="solid"/>
          </a:ln>
        </p:spPr>
        <p:txBody>
          <a:bodyPr/>
          <a:lstStyle/>
          <a:p>
            <a:endParaRPr sz="2800"/>
          </a:p>
        </p:txBody>
      </p:sp>
      <p:sp>
        <p:nvSpPr>
          <p:cNvPr id="12" name="Text 10"/>
          <p:cNvSpPr/>
          <p:nvPr/>
        </p:nvSpPr>
        <p:spPr>
          <a:xfrm>
            <a:off x="6473952" y="1499616"/>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3" name="Text 11"/>
          <p:cNvSpPr/>
          <p:nvPr/>
        </p:nvSpPr>
        <p:spPr>
          <a:xfrm>
            <a:off x="6931152" y="1380744"/>
            <a:ext cx="4297680" cy="256032"/>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Did the group overemphasize individual blame or organizational systems?</a:t>
            </a:r>
            <a:endParaRPr lang="en-US" sz="1400" dirty="0"/>
          </a:p>
        </p:txBody>
      </p:sp>
      <p:sp>
        <p:nvSpPr>
          <p:cNvPr id="14" name="Shape 12"/>
          <p:cNvSpPr/>
          <p:nvPr/>
        </p:nvSpPr>
        <p:spPr>
          <a:xfrm>
            <a:off x="777240" y="2240280"/>
            <a:ext cx="5074920" cy="713232"/>
          </a:xfrm>
          <a:prstGeom prst="roundRect">
            <a:avLst>
              <a:gd name="adj" fmla="val 10256"/>
            </a:avLst>
          </a:prstGeom>
          <a:solidFill>
            <a:srgbClr val="FFFFFF"/>
          </a:solidFill>
          <a:ln w="12700">
            <a:solidFill>
              <a:srgbClr val="D9E2E5"/>
            </a:solidFill>
            <a:prstDash val="solid"/>
          </a:ln>
        </p:spPr>
        <p:txBody>
          <a:bodyPr/>
          <a:lstStyle/>
          <a:p>
            <a:endParaRPr sz="2800"/>
          </a:p>
        </p:txBody>
      </p:sp>
      <p:sp>
        <p:nvSpPr>
          <p:cNvPr id="15" name="Shape 13"/>
          <p:cNvSpPr/>
          <p:nvPr/>
        </p:nvSpPr>
        <p:spPr>
          <a:xfrm>
            <a:off x="941832" y="2423160"/>
            <a:ext cx="347472" cy="347472"/>
          </a:xfrm>
          <a:prstGeom prst="ellipse">
            <a:avLst/>
          </a:prstGeom>
          <a:solidFill>
            <a:srgbClr val="007C89"/>
          </a:solidFill>
          <a:ln w="12700">
            <a:solidFill>
              <a:srgbClr val="007C89"/>
            </a:solidFill>
            <a:prstDash val="solid"/>
          </a:ln>
        </p:spPr>
        <p:txBody>
          <a:bodyPr/>
          <a:lstStyle/>
          <a:p>
            <a:endParaRPr sz="2800"/>
          </a:p>
        </p:txBody>
      </p:sp>
      <p:sp>
        <p:nvSpPr>
          <p:cNvPr id="16" name="Text 14"/>
          <p:cNvSpPr/>
          <p:nvPr/>
        </p:nvSpPr>
        <p:spPr>
          <a:xfrm>
            <a:off x="941832" y="2505456"/>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17" name="Text 15"/>
          <p:cNvSpPr/>
          <p:nvPr/>
        </p:nvSpPr>
        <p:spPr>
          <a:xfrm>
            <a:off x="1399032" y="2386584"/>
            <a:ext cx="4297680" cy="256032"/>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Which intervention would produce the fastest improvement?</a:t>
            </a:r>
            <a:endParaRPr lang="en-US" dirty="0"/>
          </a:p>
        </p:txBody>
      </p:sp>
      <p:sp>
        <p:nvSpPr>
          <p:cNvPr id="18" name="Shape 16"/>
          <p:cNvSpPr/>
          <p:nvPr/>
        </p:nvSpPr>
        <p:spPr>
          <a:xfrm>
            <a:off x="6309360" y="2240280"/>
            <a:ext cx="5074920" cy="713232"/>
          </a:xfrm>
          <a:prstGeom prst="roundRect">
            <a:avLst>
              <a:gd name="adj" fmla="val 10256"/>
            </a:avLst>
          </a:prstGeom>
          <a:solidFill>
            <a:srgbClr val="F2FBFC"/>
          </a:solidFill>
          <a:ln w="12700">
            <a:solidFill>
              <a:srgbClr val="D9E2E5"/>
            </a:solidFill>
            <a:prstDash val="solid"/>
          </a:ln>
        </p:spPr>
        <p:txBody>
          <a:bodyPr/>
          <a:lstStyle/>
          <a:p>
            <a:endParaRPr sz="2800"/>
          </a:p>
        </p:txBody>
      </p:sp>
      <p:sp>
        <p:nvSpPr>
          <p:cNvPr id="19" name="Shape 17"/>
          <p:cNvSpPr/>
          <p:nvPr/>
        </p:nvSpPr>
        <p:spPr>
          <a:xfrm>
            <a:off x="6473952" y="2423160"/>
            <a:ext cx="347472" cy="347472"/>
          </a:xfrm>
          <a:prstGeom prst="ellipse">
            <a:avLst/>
          </a:prstGeom>
          <a:solidFill>
            <a:srgbClr val="007C89"/>
          </a:solidFill>
          <a:ln w="12700">
            <a:solidFill>
              <a:srgbClr val="007C89"/>
            </a:solidFill>
            <a:prstDash val="solid"/>
          </a:ln>
        </p:spPr>
        <p:txBody>
          <a:bodyPr/>
          <a:lstStyle/>
          <a:p>
            <a:endParaRPr sz="2800"/>
          </a:p>
        </p:txBody>
      </p:sp>
      <p:sp>
        <p:nvSpPr>
          <p:cNvPr id="20" name="Text 18"/>
          <p:cNvSpPr/>
          <p:nvPr/>
        </p:nvSpPr>
        <p:spPr>
          <a:xfrm>
            <a:off x="6473952" y="2505456"/>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21" name="Text 19"/>
          <p:cNvSpPr/>
          <p:nvPr/>
        </p:nvSpPr>
        <p:spPr>
          <a:xfrm>
            <a:off x="6931152" y="2386584"/>
            <a:ext cx="4297680" cy="256032"/>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Which intervention would produce the most sustainable improvement?</a:t>
            </a:r>
            <a:endParaRPr lang="en-US" sz="1600" dirty="0"/>
          </a:p>
        </p:txBody>
      </p:sp>
      <p:sp>
        <p:nvSpPr>
          <p:cNvPr id="22" name="Shape 20"/>
          <p:cNvSpPr/>
          <p:nvPr/>
        </p:nvSpPr>
        <p:spPr>
          <a:xfrm>
            <a:off x="777240" y="3246120"/>
            <a:ext cx="5074920" cy="713232"/>
          </a:xfrm>
          <a:prstGeom prst="roundRect">
            <a:avLst>
              <a:gd name="adj" fmla="val 10256"/>
            </a:avLst>
          </a:prstGeom>
          <a:solidFill>
            <a:srgbClr val="FFFFFF"/>
          </a:solidFill>
          <a:ln w="12700">
            <a:solidFill>
              <a:srgbClr val="D9E2E5"/>
            </a:solidFill>
            <a:prstDash val="solid"/>
          </a:ln>
        </p:spPr>
        <p:txBody>
          <a:bodyPr/>
          <a:lstStyle/>
          <a:p>
            <a:endParaRPr sz="2800"/>
          </a:p>
        </p:txBody>
      </p:sp>
      <p:sp>
        <p:nvSpPr>
          <p:cNvPr id="23" name="Shape 21"/>
          <p:cNvSpPr/>
          <p:nvPr/>
        </p:nvSpPr>
        <p:spPr>
          <a:xfrm>
            <a:off x="941832" y="3429000"/>
            <a:ext cx="347472" cy="347472"/>
          </a:xfrm>
          <a:prstGeom prst="ellipse">
            <a:avLst/>
          </a:prstGeom>
          <a:solidFill>
            <a:srgbClr val="007C89"/>
          </a:solidFill>
          <a:ln w="12700">
            <a:solidFill>
              <a:srgbClr val="007C89"/>
            </a:solidFill>
            <a:prstDash val="solid"/>
          </a:ln>
        </p:spPr>
        <p:txBody>
          <a:bodyPr/>
          <a:lstStyle/>
          <a:p>
            <a:endParaRPr sz="2800"/>
          </a:p>
        </p:txBody>
      </p:sp>
      <p:sp>
        <p:nvSpPr>
          <p:cNvPr id="24" name="Text 22"/>
          <p:cNvSpPr/>
          <p:nvPr/>
        </p:nvSpPr>
        <p:spPr>
          <a:xfrm>
            <a:off x="941832" y="3511296"/>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5</a:t>
            </a:r>
            <a:endParaRPr lang="en-US" sz="1600" dirty="0"/>
          </a:p>
        </p:txBody>
      </p:sp>
      <p:sp>
        <p:nvSpPr>
          <p:cNvPr id="25" name="Text 23"/>
          <p:cNvSpPr/>
          <p:nvPr/>
        </p:nvSpPr>
        <p:spPr>
          <a:xfrm>
            <a:off x="1399032" y="3392424"/>
            <a:ext cx="4297680" cy="256032"/>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What evidence would you collect before making a final decision?</a:t>
            </a:r>
            <a:endParaRPr lang="en-US" dirty="0"/>
          </a:p>
        </p:txBody>
      </p:sp>
      <p:sp>
        <p:nvSpPr>
          <p:cNvPr id="26" name="Shape 24"/>
          <p:cNvSpPr/>
          <p:nvPr/>
        </p:nvSpPr>
        <p:spPr>
          <a:xfrm>
            <a:off x="6309360" y="3246120"/>
            <a:ext cx="5074920" cy="713232"/>
          </a:xfrm>
          <a:prstGeom prst="roundRect">
            <a:avLst>
              <a:gd name="adj" fmla="val 10256"/>
            </a:avLst>
          </a:prstGeom>
          <a:solidFill>
            <a:srgbClr val="F2FBFC"/>
          </a:solidFill>
          <a:ln w="12700">
            <a:solidFill>
              <a:srgbClr val="D9E2E5"/>
            </a:solidFill>
            <a:prstDash val="solid"/>
          </a:ln>
        </p:spPr>
        <p:txBody>
          <a:bodyPr/>
          <a:lstStyle/>
          <a:p>
            <a:endParaRPr sz="2800"/>
          </a:p>
        </p:txBody>
      </p:sp>
      <p:sp>
        <p:nvSpPr>
          <p:cNvPr id="27" name="Shape 25"/>
          <p:cNvSpPr/>
          <p:nvPr/>
        </p:nvSpPr>
        <p:spPr>
          <a:xfrm>
            <a:off x="6473952" y="3429000"/>
            <a:ext cx="347472" cy="347472"/>
          </a:xfrm>
          <a:prstGeom prst="ellipse">
            <a:avLst/>
          </a:prstGeom>
          <a:solidFill>
            <a:srgbClr val="007C89"/>
          </a:solidFill>
          <a:ln w="12700">
            <a:solidFill>
              <a:srgbClr val="007C89"/>
            </a:solidFill>
            <a:prstDash val="solid"/>
          </a:ln>
        </p:spPr>
        <p:txBody>
          <a:bodyPr/>
          <a:lstStyle/>
          <a:p>
            <a:endParaRPr sz="2800"/>
          </a:p>
        </p:txBody>
      </p:sp>
      <p:sp>
        <p:nvSpPr>
          <p:cNvPr id="28" name="Text 26"/>
          <p:cNvSpPr/>
          <p:nvPr/>
        </p:nvSpPr>
        <p:spPr>
          <a:xfrm>
            <a:off x="6473952" y="3511296"/>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6</a:t>
            </a:r>
            <a:endParaRPr lang="en-US" sz="1600" dirty="0"/>
          </a:p>
        </p:txBody>
      </p:sp>
      <p:sp>
        <p:nvSpPr>
          <p:cNvPr id="29" name="Text 27"/>
          <p:cNvSpPr/>
          <p:nvPr/>
        </p:nvSpPr>
        <p:spPr>
          <a:xfrm>
            <a:off x="6931152" y="3392424"/>
            <a:ext cx="4297680" cy="256032"/>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How would you measure the quality outcome?</a:t>
            </a:r>
            <a:endParaRPr lang="en-US" dirty="0"/>
          </a:p>
        </p:txBody>
      </p:sp>
      <p:sp>
        <p:nvSpPr>
          <p:cNvPr id="30" name="Shape 28"/>
          <p:cNvSpPr/>
          <p:nvPr/>
        </p:nvSpPr>
        <p:spPr>
          <a:xfrm>
            <a:off x="658368" y="5349240"/>
            <a:ext cx="10881360" cy="566928"/>
          </a:xfrm>
          <a:prstGeom prst="roundRect">
            <a:avLst>
              <a:gd name="adj" fmla="val 12903"/>
            </a:avLst>
          </a:prstGeom>
          <a:solidFill>
            <a:srgbClr val="F2FBFC"/>
          </a:solidFill>
          <a:ln w="12700">
            <a:solidFill>
              <a:srgbClr val="B9DEE3"/>
            </a:solidFill>
            <a:prstDash val="solid"/>
          </a:ln>
        </p:spPr>
        <p:txBody>
          <a:bodyPr/>
          <a:lstStyle/>
          <a:p>
            <a:endParaRPr sz="2800"/>
          </a:p>
        </p:txBody>
      </p:sp>
      <p:sp>
        <p:nvSpPr>
          <p:cNvPr id="31" name="Text 29"/>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b="1" dirty="0">
                <a:solidFill>
                  <a:srgbClr val="0F2D3A"/>
                </a:solidFill>
                <a:latin typeface="Aptos" pitchFamily="34" charset="0"/>
                <a:ea typeface="Aptos" pitchFamily="34" charset="-122"/>
                <a:cs typeface="Aptos" pitchFamily="34" charset="-120"/>
              </a:rPr>
              <a:t>Facilitator note: Push learners to distinguish symptoms, causes, mechanisms, and outcomes.</a:t>
            </a:r>
            <a:endParaRPr lang="en-US" dirty="0"/>
          </a:p>
        </p:txBody>
      </p:sp>
      <p:sp>
        <p:nvSpPr>
          <p:cNvPr id="32"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50" b="0"/>
              <a:t>18</a:t>
            </a:fld>
            <a:endParaRPr lang="en-US" sz="10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Mini Case: Reporting Errors Without Fear</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143000"/>
            <a:ext cx="5760720" cy="3611880"/>
          </a:xfrm>
          <a:prstGeom prst="roundRect">
            <a:avLst>
              <a:gd name="adj" fmla="val 2025"/>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960120" y="1481328"/>
            <a:ext cx="5166360" cy="160020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A logistics company’s quality unit introduced a “zero-defect” target. Managers praised teams with no reported errors. Within three months, formal error reports fell sharply, yet customer complaints and rework increased. Interviews suggested that employees had learned not to report problems because reporting damaged team reputation and triggered blame.</a:t>
            </a:r>
            <a:endParaRPr lang="en-US" dirty="0"/>
          </a:p>
        </p:txBody>
      </p:sp>
      <p:sp>
        <p:nvSpPr>
          <p:cNvPr id="8" name="Text 6"/>
          <p:cNvSpPr/>
          <p:nvPr/>
        </p:nvSpPr>
        <p:spPr>
          <a:xfrm>
            <a:off x="960120" y="3456432"/>
            <a:ext cx="5166360" cy="438912"/>
          </a:xfrm>
          <a:prstGeom prst="rect">
            <a:avLst/>
          </a:prstGeom>
          <a:noFill/>
          <a:ln/>
        </p:spPr>
        <p:txBody>
          <a:bodyPr wrap="square" lIns="0" tIns="0" rIns="0" bIns="0" rtlCol="0" anchor="ctr">
            <a:noAutofit/>
          </a:bodyPr>
          <a:lstStyle/>
          <a:p>
            <a:pPr marL="0" indent="0">
              <a:buNone/>
            </a:pPr>
            <a:r>
              <a:rPr lang="en-US" b="1" dirty="0">
                <a:solidFill>
                  <a:srgbClr val="0F2D3A"/>
                </a:solidFill>
                <a:latin typeface="Aptos Display" pitchFamily="34" charset="0"/>
                <a:ea typeface="Aptos Display" pitchFamily="34" charset="-122"/>
                <a:cs typeface="Aptos Display" pitchFamily="34" charset="-120"/>
              </a:rPr>
              <a:t>Core lesson: A metric can change behavior in ways that damage the real quality objective.</a:t>
            </a:r>
            <a:endParaRPr lang="en-US" dirty="0"/>
          </a:p>
        </p:txBody>
      </p:sp>
      <p:sp>
        <p:nvSpPr>
          <p:cNvPr id="9" name="Shape 7"/>
          <p:cNvSpPr/>
          <p:nvPr/>
        </p:nvSpPr>
        <p:spPr>
          <a:xfrm>
            <a:off x="6812280" y="1143000"/>
            <a:ext cx="4709160" cy="3611880"/>
          </a:xfrm>
          <a:prstGeom prst="roundRect">
            <a:avLst>
              <a:gd name="adj" fmla="val 2025"/>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0" name="Text 8"/>
          <p:cNvSpPr/>
          <p:nvPr/>
        </p:nvSpPr>
        <p:spPr>
          <a:xfrm>
            <a:off x="7178040" y="1645920"/>
            <a:ext cx="4069080" cy="1627632"/>
          </a:xfrm>
          <a:prstGeom prst="rect">
            <a:avLst/>
          </a:prstGeom>
          <a:noFill/>
          <a:ln/>
        </p:spPr>
        <p:txBody>
          <a:bodyPr wrap="square" lIns="381" tIns="381" rIns="381" bIns="381" rtlCol="0" anchor="t">
            <a:normAutofit fontScale="92500" lnSpcReduction="10000"/>
          </a:bodyPr>
          <a:lstStyle/>
          <a:p>
            <a:r>
              <a:rPr lang="en-US" sz="2000" dirty="0">
                <a:solidFill>
                  <a:srgbClr val="1A1A1A"/>
                </a:solidFill>
                <a:latin typeface="Aptos" pitchFamily="34" charset="0"/>
                <a:ea typeface="Aptos" pitchFamily="34" charset="-122"/>
                <a:cs typeface="Aptos" pitchFamily="34" charset="-120"/>
              </a:rPr>
              <a:t>What individual attitudes or perceptions may explain the behavior?</a:t>
            </a:r>
            <a:endParaRPr lang="en-US" sz="2000" dirty="0"/>
          </a:p>
          <a:p>
            <a:r>
              <a:rPr lang="en-US" sz="2000" dirty="0">
                <a:solidFill>
                  <a:srgbClr val="1A1A1A"/>
                </a:solidFill>
                <a:latin typeface="Aptos" pitchFamily="34" charset="0"/>
                <a:ea typeface="Aptos" pitchFamily="34" charset="-122"/>
                <a:cs typeface="Aptos" pitchFamily="34" charset="-120"/>
              </a:rPr>
              <a:t>What group norms and leadership signals reinforced under-reporting?</a:t>
            </a:r>
            <a:endParaRPr lang="en-US" sz="2000" dirty="0"/>
          </a:p>
          <a:p>
            <a:r>
              <a:rPr lang="en-US" sz="2000" dirty="0">
                <a:solidFill>
                  <a:srgbClr val="1A1A1A"/>
                </a:solidFill>
                <a:latin typeface="Aptos" pitchFamily="34" charset="0"/>
                <a:ea typeface="Aptos" pitchFamily="34" charset="-122"/>
                <a:cs typeface="Aptos" pitchFamily="34" charset="-120"/>
              </a:rPr>
              <a:t>How should the performance and recognition system be redesigned?</a:t>
            </a:r>
            <a:endParaRPr lang="en-US" sz="2000" dirty="0"/>
          </a:p>
        </p:txBody>
      </p:sp>
      <p:sp>
        <p:nvSpPr>
          <p:cNvPr id="11" name="Shape 9"/>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lstStyle/>
          <a:p>
            <a:endParaRPr sz="2000"/>
          </a:p>
        </p:txBody>
      </p:sp>
      <p:sp>
        <p:nvSpPr>
          <p:cNvPr id="12" name="Text 10"/>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400" b="1" dirty="0">
                <a:solidFill>
                  <a:srgbClr val="0F2D3A"/>
                </a:solidFill>
                <a:latin typeface="Aptos" pitchFamily="34" charset="0"/>
                <a:ea typeface="Aptos" pitchFamily="34" charset="-122"/>
                <a:cs typeface="Aptos" pitchFamily="34" charset="-120"/>
              </a:rPr>
              <a:t>Quality principle: A system that hides errors cannot learn from them.</a:t>
            </a:r>
            <a:endParaRPr lang="en-US" sz="1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19</a:t>
            </a:fld>
            <a:endParaRPr lang="en-US"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050" b="1" dirty="0">
                <a:solidFill>
                  <a:srgbClr val="007C89"/>
                </a:solidFill>
                <a:latin typeface="Aptos" pitchFamily="34" charset="0"/>
                <a:ea typeface="Aptos" pitchFamily="34" charset="-122"/>
                <a:cs typeface="Aptos" pitchFamily="34" charset="-120"/>
              </a:rPr>
              <a:t>G TQM 511 | Organizational Behavior and Quality</a:t>
            </a:r>
            <a:endParaRPr lang="en-US" sz="105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600" b="1" dirty="0">
                <a:solidFill>
                  <a:srgbClr val="0F2D3A"/>
                </a:solidFill>
                <a:latin typeface="Aptos Display" pitchFamily="34" charset="0"/>
                <a:ea typeface="Aptos Display" pitchFamily="34" charset="-122"/>
                <a:cs typeface="Aptos Display" pitchFamily="34" charset="-120"/>
              </a:rPr>
              <a:t>Knowledge Check</a:t>
            </a:r>
            <a:endParaRPr lang="en-US" sz="36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8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10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1000" dirty="0"/>
          </a:p>
        </p:txBody>
      </p:sp>
      <p:sp>
        <p:nvSpPr>
          <p:cNvPr id="6" name="Text 4"/>
          <p:cNvSpPr/>
          <p:nvPr/>
        </p:nvSpPr>
        <p:spPr>
          <a:xfrm>
            <a:off x="713232" y="1143000"/>
            <a:ext cx="6400800" cy="219456"/>
          </a:xfrm>
          <a:prstGeom prst="rect">
            <a:avLst/>
          </a:prstGeom>
          <a:noFill/>
          <a:ln/>
        </p:spPr>
        <p:txBody>
          <a:bodyPr wrap="square" lIns="0" tIns="0" rIns="0" bIns="0" rtlCol="0" anchor="ctr"/>
          <a:lstStyle/>
          <a:p>
            <a:pPr marL="0" indent="0">
              <a:buNone/>
            </a:pPr>
            <a:r>
              <a:rPr lang="en-US" sz="2000" dirty="0">
                <a:solidFill>
                  <a:srgbClr val="5A6872"/>
                </a:solidFill>
                <a:latin typeface="Aptos" pitchFamily="34" charset="0"/>
                <a:ea typeface="Aptos" pitchFamily="34" charset="-122"/>
                <a:cs typeface="Aptos" pitchFamily="34" charset="-120"/>
              </a:rPr>
              <a:t>Answer individually, then compare with a partner.</a:t>
            </a:r>
            <a:endParaRPr lang="en-US" sz="2000" dirty="0"/>
          </a:p>
        </p:txBody>
      </p:sp>
      <p:sp>
        <p:nvSpPr>
          <p:cNvPr id="7" name="Shape 5"/>
          <p:cNvSpPr/>
          <p:nvPr/>
        </p:nvSpPr>
        <p:spPr>
          <a:xfrm>
            <a:off x="868680" y="1572768"/>
            <a:ext cx="347472" cy="347472"/>
          </a:xfrm>
          <a:prstGeom prst="ellipse">
            <a:avLst/>
          </a:prstGeom>
          <a:solidFill>
            <a:srgbClr val="007C89"/>
          </a:solidFill>
          <a:ln w="12700">
            <a:solidFill>
              <a:srgbClr val="007C89"/>
            </a:solidFill>
            <a:prstDash val="solid"/>
          </a:ln>
        </p:spPr>
        <p:txBody>
          <a:bodyPr/>
          <a:lstStyle/>
          <a:p>
            <a:endParaRPr sz="2800"/>
          </a:p>
        </p:txBody>
      </p:sp>
      <p:sp>
        <p:nvSpPr>
          <p:cNvPr id="8" name="Text 6"/>
          <p:cNvSpPr/>
          <p:nvPr/>
        </p:nvSpPr>
        <p:spPr>
          <a:xfrm>
            <a:off x="868680" y="1655064"/>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9" name="Text 7"/>
          <p:cNvSpPr/>
          <p:nvPr/>
        </p:nvSpPr>
        <p:spPr>
          <a:xfrm>
            <a:off x="1353312" y="1618488"/>
            <a:ext cx="9875520" cy="18288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Organizational behavior focuses on individuals, groups, and ________.</a:t>
            </a:r>
            <a:endParaRPr lang="en-US" dirty="0"/>
          </a:p>
        </p:txBody>
      </p:sp>
      <p:sp>
        <p:nvSpPr>
          <p:cNvPr id="10" name="Shape 8"/>
          <p:cNvSpPr/>
          <p:nvPr/>
        </p:nvSpPr>
        <p:spPr>
          <a:xfrm>
            <a:off x="868680" y="2231136"/>
            <a:ext cx="347472" cy="347472"/>
          </a:xfrm>
          <a:prstGeom prst="ellipse">
            <a:avLst/>
          </a:prstGeom>
          <a:solidFill>
            <a:srgbClr val="007C89"/>
          </a:solidFill>
          <a:ln w="12700">
            <a:solidFill>
              <a:srgbClr val="007C89"/>
            </a:solidFill>
            <a:prstDash val="solid"/>
          </a:ln>
        </p:spPr>
        <p:txBody>
          <a:bodyPr/>
          <a:lstStyle/>
          <a:p>
            <a:endParaRPr sz="2800"/>
          </a:p>
        </p:txBody>
      </p:sp>
      <p:sp>
        <p:nvSpPr>
          <p:cNvPr id="11" name="Text 9"/>
          <p:cNvSpPr/>
          <p:nvPr/>
        </p:nvSpPr>
        <p:spPr>
          <a:xfrm>
            <a:off x="868680" y="2313432"/>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2" name="Text 10"/>
          <p:cNvSpPr/>
          <p:nvPr/>
        </p:nvSpPr>
        <p:spPr>
          <a:xfrm>
            <a:off x="1353312" y="2276856"/>
            <a:ext cx="9875520" cy="18288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Which managerial skill is the ability to understand and motivate people?</a:t>
            </a:r>
            <a:endParaRPr lang="en-US" dirty="0"/>
          </a:p>
        </p:txBody>
      </p:sp>
      <p:sp>
        <p:nvSpPr>
          <p:cNvPr id="13" name="Shape 11"/>
          <p:cNvSpPr/>
          <p:nvPr/>
        </p:nvSpPr>
        <p:spPr>
          <a:xfrm>
            <a:off x="868680" y="2889504"/>
            <a:ext cx="347472" cy="347472"/>
          </a:xfrm>
          <a:prstGeom prst="ellipse">
            <a:avLst/>
          </a:prstGeom>
          <a:solidFill>
            <a:srgbClr val="007C89"/>
          </a:solidFill>
          <a:ln w="12700">
            <a:solidFill>
              <a:srgbClr val="007C89"/>
            </a:solidFill>
            <a:prstDash val="solid"/>
          </a:ln>
        </p:spPr>
        <p:txBody>
          <a:bodyPr/>
          <a:lstStyle/>
          <a:p>
            <a:endParaRPr sz="2800"/>
          </a:p>
        </p:txBody>
      </p:sp>
      <p:sp>
        <p:nvSpPr>
          <p:cNvPr id="14" name="Text 12"/>
          <p:cNvSpPr/>
          <p:nvPr/>
        </p:nvSpPr>
        <p:spPr>
          <a:xfrm>
            <a:off x="868680" y="2971800"/>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15" name="Text 13"/>
          <p:cNvSpPr/>
          <p:nvPr/>
        </p:nvSpPr>
        <p:spPr>
          <a:xfrm>
            <a:off x="1353312" y="2935224"/>
            <a:ext cx="9875520" cy="18288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What approach bases managerial decisions on the best available scientific evidence?</a:t>
            </a:r>
            <a:endParaRPr lang="en-US" dirty="0"/>
          </a:p>
        </p:txBody>
      </p:sp>
      <p:sp>
        <p:nvSpPr>
          <p:cNvPr id="16" name="Shape 14"/>
          <p:cNvSpPr/>
          <p:nvPr/>
        </p:nvSpPr>
        <p:spPr>
          <a:xfrm>
            <a:off x="868680" y="3547872"/>
            <a:ext cx="347472" cy="347472"/>
          </a:xfrm>
          <a:prstGeom prst="ellipse">
            <a:avLst/>
          </a:prstGeom>
          <a:solidFill>
            <a:srgbClr val="007C89"/>
          </a:solidFill>
          <a:ln w="12700">
            <a:solidFill>
              <a:srgbClr val="007C89"/>
            </a:solidFill>
            <a:prstDash val="solid"/>
          </a:ln>
        </p:spPr>
        <p:txBody>
          <a:bodyPr/>
          <a:lstStyle/>
          <a:p>
            <a:endParaRPr sz="2800"/>
          </a:p>
        </p:txBody>
      </p:sp>
      <p:sp>
        <p:nvSpPr>
          <p:cNvPr id="17" name="Text 15"/>
          <p:cNvSpPr/>
          <p:nvPr/>
        </p:nvSpPr>
        <p:spPr>
          <a:xfrm>
            <a:off x="868680" y="3630168"/>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18" name="Text 16"/>
          <p:cNvSpPr/>
          <p:nvPr/>
        </p:nvSpPr>
        <p:spPr>
          <a:xfrm>
            <a:off x="1353312" y="3593592"/>
            <a:ext cx="9875520" cy="18288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Communication made the largest relative contribution among effective managers: True or False?</a:t>
            </a:r>
            <a:endParaRPr lang="en-US" dirty="0"/>
          </a:p>
        </p:txBody>
      </p:sp>
      <p:sp>
        <p:nvSpPr>
          <p:cNvPr id="19" name="Shape 17"/>
          <p:cNvSpPr/>
          <p:nvPr/>
        </p:nvSpPr>
        <p:spPr>
          <a:xfrm>
            <a:off x="868680" y="4206240"/>
            <a:ext cx="347472" cy="347472"/>
          </a:xfrm>
          <a:prstGeom prst="ellipse">
            <a:avLst/>
          </a:prstGeom>
          <a:solidFill>
            <a:srgbClr val="007C89"/>
          </a:solidFill>
          <a:ln w="12700">
            <a:solidFill>
              <a:srgbClr val="007C89"/>
            </a:solidFill>
            <a:prstDash val="solid"/>
          </a:ln>
        </p:spPr>
        <p:txBody>
          <a:bodyPr/>
          <a:lstStyle/>
          <a:p>
            <a:endParaRPr sz="2800"/>
          </a:p>
        </p:txBody>
      </p:sp>
      <p:sp>
        <p:nvSpPr>
          <p:cNvPr id="20" name="Text 18"/>
          <p:cNvSpPr/>
          <p:nvPr/>
        </p:nvSpPr>
        <p:spPr>
          <a:xfrm>
            <a:off x="868680" y="4288536"/>
            <a:ext cx="347472" cy="128016"/>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5</a:t>
            </a:r>
            <a:endParaRPr lang="en-US" sz="1600" dirty="0"/>
          </a:p>
        </p:txBody>
      </p:sp>
      <p:sp>
        <p:nvSpPr>
          <p:cNvPr id="21" name="Text 19"/>
          <p:cNvSpPr/>
          <p:nvPr/>
        </p:nvSpPr>
        <p:spPr>
          <a:xfrm>
            <a:off x="1353312" y="4251960"/>
            <a:ext cx="9875520" cy="182880"/>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Give one example of an organizational-level input that can influence quality outcomes.</a:t>
            </a:r>
            <a:endParaRPr lang="en-US" dirty="0"/>
          </a:p>
        </p:txBody>
      </p:sp>
      <p:sp>
        <p:nvSpPr>
          <p:cNvPr id="22" name="Shape 20"/>
          <p:cNvSpPr/>
          <p:nvPr/>
        </p:nvSpPr>
        <p:spPr>
          <a:xfrm>
            <a:off x="658368" y="5349240"/>
            <a:ext cx="10881360" cy="566928"/>
          </a:xfrm>
          <a:prstGeom prst="roundRect">
            <a:avLst>
              <a:gd name="adj" fmla="val 12903"/>
            </a:avLst>
          </a:prstGeom>
          <a:solidFill>
            <a:srgbClr val="F2FBFC"/>
          </a:solidFill>
          <a:ln w="12700">
            <a:solidFill>
              <a:srgbClr val="B9DEE3"/>
            </a:solidFill>
            <a:prstDash val="solid"/>
          </a:ln>
        </p:spPr>
        <p:txBody>
          <a:bodyPr/>
          <a:lstStyle/>
          <a:p>
            <a:endParaRPr sz="2800"/>
          </a:p>
        </p:txBody>
      </p:sp>
      <p:sp>
        <p:nvSpPr>
          <p:cNvPr id="23" name="Text 21"/>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b="1" dirty="0">
                <a:solidFill>
                  <a:srgbClr val="0F2D3A"/>
                </a:solidFill>
                <a:latin typeface="Aptos" pitchFamily="34" charset="0"/>
                <a:ea typeface="Aptos" pitchFamily="34" charset="-122"/>
                <a:cs typeface="Aptos" pitchFamily="34" charset="-120"/>
              </a:rPr>
              <a:t>Suggested time: 5 minutes • Use as an exit ticket or Google Forms quiz.</a:t>
            </a:r>
            <a:endParaRPr lang="en-US"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50" b="0"/>
              <a:t>20</a:t>
            </a:fld>
            <a:endParaRPr lang="en-US" sz="10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Week 1 Assignment: OB–Quality Diagnostic Note</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143000"/>
            <a:ext cx="5577840" cy="4160520"/>
          </a:xfrm>
          <a:prstGeom prst="roundRect">
            <a:avLst>
              <a:gd name="adj" fmla="val 1758"/>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960120" y="1417320"/>
            <a:ext cx="914400" cy="182880"/>
          </a:xfrm>
          <a:prstGeom prst="rect">
            <a:avLst/>
          </a:prstGeom>
          <a:noFill/>
          <a:ln/>
        </p:spPr>
        <p:txBody>
          <a:bodyPr wrap="square" lIns="0" tIns="0" rIns="0" bIns="0" rtlCol="0" anchor="ctr">
            <a:normAutofit/>
          </a:bodyPr>
          <a:lstStyle/>
          <a:p>
            <a:pPr marL="0" indent="0">
              <a:buNone/>
            </a:pPr>
            <a:r>
              <a:rPr lang="en-US" sz="1200" b="1" dirty="0">
                <a:solidFill>
                  <a:srgbClr val="007C89"/>
                </a:solidFill>
                <a:latin typeface="Aptos" pitchFamily="34" charset="0"/>
                <a:ea typeface="Aptos" pitchFamily="34" charset="-122"/>
                <a:cs typeface="Aptos" pitchFamily="34" charset="-120"/>
              </a:rPr>
              <a:t>Task</a:t>
            </a:r>
            <a:endParaRPr lang="en-US" sz="1200" dirty="0"/>
          </a:p>
        </p:txBody>
      </p:sp>
      <p:sp>
        <p:nvSpPr>
          <p:cNvPr id="8" name="Text 6"/>
          <p:cNvSpPr/>
          <p:nvPr/>
        </p:nvSpPr>
        <p:spPr>
          <a:xfrm>
            <a:off x="960120" y="1682496"/>
            <a:ext cx="4983480" cy="411480"/>
          </a:xfrm>
          <a:prstGeom prst="rect">
            <a:avLst/>
          </a:prstGeom>
          <a:noFill/>
          <a:ln/>
        </p:spPr>
        <p:txBody>
          <a:bodyPr wrap="square" lIns="0" tIns="0" rIns="0" bIns="0" rtlCol="0" anchor="ctr">
            <a:noAutofit/>
          </a:bodyPr>
          <a:lstStyle/>
          <a:p>
            <a:pPr marL="0" indent="0">
              <a:buNone/>
            </a:pPr>
            <a:r>
              <a:rPr lang="en-US" sz="1600" b="1" dirty="0">
                <a:solidFill>
                  <a:srgbClr val="0F2D3A"/>
                </a:solidFill>
                <a:latin typeface="Aptos Display" pitchFamily="34" charset="0"/>
                <a:ea typeface="Aptos Display" pitchFamily="34" charset="-122"/>
                <a:cs typeface="Aptos Display" pitchFamily="34" charset="-120"/>
              </a:rPr>
              <a:t>Select one real or familiar quality-related problem. Write a 600–800 word diagnostic note that:</a:t>
            </a:r>
            <a:endParaRPr lang="en-US" sz="1600" dirty="0"/>
          </a:p>
        </p:txBody>
      </p:sp>
      <p:sp>
        <p:nvSpPr>
          <p:cNvPr id="9" name="Text 7"/>
          <p:cNvSpPr/>
          <p:nvPr/>
        </p:nvSpPr>
        <p:spPr>
          <a:xfrm>
            <a:off x="1005840" y="2322576"/>
            <a:ext cx="4754880" cy="1627632"/>
          </a:xfrm>
          <a:prstGeom prst="rect">
            <a:avLst/>
          </a:prstGeom>
          <a:noFill/>
          <a:ln/>
        </p:spPr>
        <p:txBody>
          <a:bodyPr wrap="square" lIns="381" tIns="381" rIns="381" bIns="381" rtlCol="0" anchor="t">
            <a:normAutofit fontScale="77500" lnSpcReduction="20000"/>
          </a:bodyPr>
          <a:lstStyle/>
          <a:p>
            <a:r>
              <a:rPr sz="2000"/>
              <a:t>Describe the problem and affected stakeholders.</a:t>
            </a:r>
          </a:p>
          <a:p>
            <a:r>
              <a:rPr sz="2000"/>
              <a:t>Classify causes at individual, group, and organizational levels.</a:t>
            </a:r>
          </a:p>
          <a:p>
            <a:r>
              <a:rPr sz="2000"/>
              <a:t>Apply the inputs–processes–outcomes model.</a:t>
            </a:r>
          </a:p>
          <a:p>
            <a:r>
              <a:rPr sz="2000"/>
              <a:t>Identify evidence needed before action.</a:t>
            </a:r>
          </a:p>
          <a:p>
            <a:r>
              <a:rPr sz="2000"/>
              <a:t>Recommend two feasible interventions.</a:t>
            </a:r>
          </a:p>
          <a:p>
            <a:r>
              <a:rPr sz="2000"/>
              <a:t>Propose two indicators for monitoring improvement.</a:t>
            </a:r>
          </a:p>
        </p:txBody>
      </p:sp>
      <p:sp>
        <p:nvSpPr>
          <p:cNvPr id="10" name="Shape 8"/>
          <p:cNvSpPr/>
          <p:nvPr/>
        </p:nvSpPr>
        <p:spPr>
          <a:xfrm>
            <a:off x="6601968" y="1143000"/>
            <a:ext cx="4919472" cy="4160520"/>
          </a:xfrm>
          <a:prstGeom prst="roundRect">
            <a:avLst>
              <a:gd name="adj" fmla="val 1758"/>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1" name="Text 9"/>
          <p:cNvSpPr/>
          <p:nvPr/>
        </p:nvSpPr>
        <p:spPr>
          <a:xfrm>
            <a:off x="6931151" y="1325880"/>
            <a:ext cx="2471265" cy="274320"/>
          </a:xfrm>
          <a:prstGeom prst="rect">
            <a:avLst/>
          </a:prstGeom>
          <a:noFill/>
          <a:ln/>
        </p:spPr>
        <p:txBody>
          <a:bodyPr wrap="square" lIns="0" tIns="0" rIns="0" bIns="0" rtlCol="0" anchor="ctr">
            <a:normAutofit/>
          </a:bodyPr>
          <a:lstStyle/>
          <a:p>
            <a:pPr marL="0" indent="0">
              <a:buNone/>
            </a:pPr>
            <a:r>
              <a:rPr lang="en-US" sz="1400" b="1" dirty="0">
                <a:solidFill>
                  <a:srgbClr val="C49A3A"/>
                </a:solidFill>
                <a:latin typeface="Aptos" pitchFamily="34" charset="0"/>
                <a:ea typeface="Aptos" pitchFamily="34" charset="-122"/>
                <a:cs typeface="Aptos" pitchFamily="34" charset="-120"/>
              </a:rPr>
              <a:t>Assessment criteria</a:t>
            </a:r>
            <a:endParaRPr lang="en-US" sz="1400" dirty="0"/>
          </a:p>
        </p:txBody>
      </p:sp>
      <p:sp>
        <p:nvSpPr>
          <p:cNvPr id="12" name="Text 10"/>
          <p:cNvSpPr/>
          <p:nvPr/>
        </p:nvSpPr>
        <p:spPr>
          <a:xfrm>
            <a:off x="6931152" y="1783080"/>
            <a:ext cx="4160520" cy="1188720"/>
          </a:xfrm>
          <a:prstGeom prst="rect">
            <a:avLst/>
          </a:prstGeom>
          <a:noFill/>
          <a:ln/>
        </p:spPr>
        <p:txBody>
          <a:bodyPr wrap="square" lIns="381" tIns="381" rIns="381" bIns="381" rtlCol="0" anchor="t">
            <a:normAutofit lnSpcReduction="10000"/>
          </a:bodyPr>
          <a:lstStyle/>
          <a:p>
            <a:r>
              <a:rPr lang="en-US" sz="1600" dirty="0">
                <a:solidFill>
                  <a:srgbClr val="1A1A1A"/>
                </a:solidFill>
                <a:latin typeface="Aptos" pitchFamily="34" charset="0"/>
                <a:ea typeface="Aptos" pitchFamily="34" charset="-122"/>
                <a:cs typeface="Aptos" pitchFamily="34" charset="-120"/>
              </a:rPr>
              <a:t>Conceptual accuracy – 30%</a:t>
            </a:r>
            <a:endParaRPr lang="en-US" sz="1600" dirty="0"/>
          </a:p>
          <a:p>
            <a:r>
              <a:rPr lang="en-US" sz="1600" dirty="0">
                <a:solidFill>
                  <a:srgbClr val="1A1A1A"/>
                </a:solidFill>
                <a:latin typeface="Aptos" pitchFamily="34" charset="0"/>
                <a:ea typeface="Aptos" pitchFamily="34" charset="-122"/>
                <a:cs typeface="Aptos" pitchFamily="34" charset="-120"/>
              </a:rPr>
              <a:t>Quality of diagnosis – 30%</a:t>
            </a:r>
            <a:endParaRPr lang="en-US" sz="1600" dirty="0"/>
          </a:p>
          <a:p>
            <a:r>
              <a:rPr lang="en-US" sz="1600" dirty="0">
                <a:solidFill>
                  <a:srgbClr val="1A1A1A"/>
                </a:solidFill>
                <a:latin typeface="Aptos" pitchFamily="34" charset="0"/>
                <a:ea typeface="Aptos" pitchFamily="34" charset="-122"/>
                <a:cs typeface="Aptos" pitchFamily="34" charset="-120"/>
              </a:rPr>
              <a:t>Application to quality – 20%</a:t>
            </a:r>
            <a:endParaRPr lang="en-US" sz="1600" dirty="0"/>
          </a:p>
          <a:p>
            <a:r>
              <a:rPr lang="en-US" sz="1600" dirty="0">
                <a:solidFill>
                  <a:srgbClr val="1A1A1A"/>
                </a:solidFill>
                <a:latin typeface="Aptos" pitchFamily="34" charset="0"/>
                <a:ea typeface="Aptos" pitchFamily="34" charset="-122"/>
                <a:cs typeface="Aptos" pitchFamily="34" charset="-120"/>
              </a:rPr>
              <a:t>Evidence and feasibility – 10%</a:t>
            </a:r>
            <a:endParaRPr lang="en-US" sz="1600" dirty="0"/>
          </a:p>
          <a:p>
            <a:r>
              <a:rPr lang="en-US" sz="1600" dirty="0">
                <a:solidFill>
                  <a:srgbClr val="1A1A1A"/>
                </a:solidFill>
                <a:latin typeface="Aptos" pitchFamily="34" charset="0"/>
                <a:ea typeface="Aptos" pitchFamily="34" charset="-122"/>
                <a:cs typeface="Aptos" pitchFamily="34" charset="-120"/>
              </a:rPr>
              <a:t>Clarity and professionalism – 10%</a:t>
            </a:r>
            <a:endParaRPr lang="en-US" sz="1600" dirty="0"/>
          </a:p>
        </p:txBody>
      </p:sp>
      <p:sp>
        <p:nvSpPr>
          <p:cNvPr id="13" name="Text 11"/>
          <p:cNvSpPr/>
          <p:nvPr/>
        </p:nvSpPr>
        <p:spPr>
          <a:xfrm>
            <a:off x="6931152" y="3429000"/>
            <a:ext cx="1188720" cy="182880"/>
          </a:xfrm>
          <a:prstGeom prst="rect">
            <a:avLst/>
          </a:prstGeom>
          <a:noFill/>
          <a:ln/>
        </p:spPr>
        <p:txBody>
          <a:bodyPr wrap="square" lIns="0" tIns="0" rIns="0" bIns="0" rtlCol="0" anchor="ctr">
            <a:normAutofit/>
          </a:bodyPr>
          <a:lstStyle/>
          <a:p>
            <a:pPr marL="0" indent="0">
              <a:buNone/>
            </a:pPr>
            <a:r>
              <a:rPr lang="en-US" sz="1050" b="1" dirty="0">
                <a:solidFill>
                  <a:srgbClr val="007C89"/>
                </a:solidFill>
                <a:latin typeface="Aptos" pitchFamily="34" charset="0"/>
                <a:ea typeface="Aptos" pitchFamily="34" charset="-122"/>
                <a:cs typeface="Aptos" pitchFamily="34" charset="-120"/>
              </a:rPr>
              <a:t>Submission</a:t>
            </a:r>
            <a:endParaRPr lang="en-US" sz="1050" dirty="0"/>
          </a:p>
        </p:txBody>
      </p:sp>
      <p:sp>
        <p:nvSpPr>
          <p:cNvPr id="14" name="Text 12"/>
          <p:cNvSpPr/>
          <p:nvPr/>
        </p:nvSpPr>
        <p:spPr>
          <a:xfrm>
            <a:off x="6931152" y="3749040"/>
            <a:ext cx="4160520" cy="502920"/>
          </a:xfrm>
          <a:prstGeom prst="rect">
            <a:avLst/>
          </a:prstGeom>
          <a:noFill/>
          <a:ln/>
        </p:spPr>
        <p:txBody>
          <a:bodyPr wrap="square" lIns="0" tIns="0" rIns="0" bIns="0" rtlCol="0" anchor="ctr">
            <a:noAutofit/>
          </a:bodyPr>
          <a:lstStyle/>
          <a:p>
            <a:pPr marL="0" indent="0">
              <a:buNone/>
            </a:pPr>
            <a:r>
              <a:rPr lang="en-US" sz="1400" dirty="0">
                <a:solidFill>
                  <a:srgbClr val="1A1A1A"/>
                </a:solidFill>
                <a:latin typeface="Aptos" pitchFamily="34" charset="0"/>
                <a:ea typeface="Aptos" pitchFamily="34" charset="-122"/>
                <a:cs typeface="Aptos" pitchFamily="34" charset="-120"/>
              </a:rPr>
              <a:t>Individual work • Submit through Google Classroom • Use headings and concise evidence • Do not disclose confidential names or data</a:t>
            </a:r>
            <a:endParaRPr lang="en-US" sz="1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21</a:t>
            </a:fld>
            <a:endParaRPr lang="en-US" sz="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1000" b="1" dirty="0">
                <a:solidFill>
                  <a:srgbClr val="007C89"/>
                </a:solidFill>
                <a:latin typeface="Aptos" pitchFamily="34" charset="0"/>
                <a:ea typeface="Aptos" pitchFamily="34" charset="-122"/>
                <a:cs typeface="Aptos" pitchFamily="34" charset="-120"/>
              </a:rPr>
              <a:t>G TQM 511 | Organizational Behavior and Quality</a:t>
            </a:r>
            <a:endParaRPr lang="en-US" sz="10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3200" b="1" dirty="0">
                <a:solidFill>
                  <a:srgbClr val="0F2D3A"/>
                </a:solidFill>
                <a:latin typeface="Aptos Display" pitchFamily="34" charset="0"/>
                <a:ea typeface="Aptos Display" pitchFamily="34" charset="-122"/>
                <a:cs typeface="Aptos Display" pitchFamily="34" charset="-120"/>
              </a:rPr>
              <a:t>Key Takeaways</a:t>
            </a:r>
            <a:endParaRPr lang="en-US" sz="32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4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9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900" dirty="0"/>
          </a:p>
        </p:txBody>
      </p:sp>
      <p:sp>
        <p:nvSpPr>
          <p:cNvPr id="6" name="Shape 4"/>
          <p:cNvSpPr/>
          <p:nvPr/>
        </p:nvSpPr>
        <p:spPr>
          <a:xfrm>
            <a:off x="749808" y="1280160"/>
            <a:ext cx="347472" cy="347472"/>
          </a:xfrm>
          <a:prstGeom prst="ellipse">
            <a:avLst/>
          </a:prstGeom>
          <a:solidFill>
            <a:srgbClr val="007C89"/>
          </a:solidFill>
          <a:ln w="12700">
            <a:solidFill>
              <a:srgbClr val="007C89"/>
            </a:solidFill>
            <a:prstDash val="solid"/>
          </a:ln>
        </p:spPr>
        <p:txBody>
          <a:bodyPr/>
          <a:lstStyle/>
          <a:p>
            <a:endParaRPr sz="2400"/>
          </a:p>
        </p:txBody>
      </p:sp>
      <p:sp>
        <p:nvSpPr>
          <p:cNvPr id="7" name="Text 5"/>
          <p:cNvSpPr/>
          <p:nvPr/>
        </p:nvSpPr>
        <p:spPr>
          <a:xfrm>
            <a:off x="749808" y="1362456"/>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8" name="Text 6"/>
          <p:cNvSpPr/>
          <p:nvPr/>
        </p:nvSpPr>
        <p:spPr>
          <a:xfrm>
            <a:off x="1252728" y="1307591"/>
            <a:ext cx="4663440" cy="365759"/>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Organizational performance depends on how people behave—not only on formal processes.</a:t>
            </a:r>
            <a:endParaRPr lang="en-US" sz="1600" dirty="0"/>
          </a:p>
        </p:txBody>
      </p:sp>
      <p:sp>
        <p:nvSpPr>
          <p:cNvPr id="9" name="Shape 7"/>
          <p:cNvSpPr/>
          <p:nvPr/>
        </p:nvSpPr>
        <p:spPr>
          <a:xfrm>
            <a:off x="6236208" y="1280160"/>
            <a:ext cx="347472" cy="347472"/>
          </a:xfrm>
          <a:prstGeom prst="ellipse">
            <a:avLst/>
          </a:prstGeom>
          <a:solidFill>
            <a:srgbClr val="007C89"/>
          </a:solidFill>
          <a:ln w="12700">
            <a:solidFill>
              <a:srgbClr val="007C89"/>
            </a:solidFill>
            <a:prstDash val="solid"/>
          </a:ln>
        </p:spPr>
        <p:txBody>
          <a:bodyPr/>
          <a:lstStyle/>
          <a:p>
            <a:endParaRPr sz="2400"/>
          </a:p>
        </p:txBody>
      </p:sp>
      <p:sp>
        <p:nvSpPr>
          <p:cNvPr id="10" name="Text 8"/>
          <p:cNvSpPr/>
          <p:nvPr/>
        </p:nvSpPr>
        <p:spPr>
          <a:xfrm>
            <a:off x="6236208" y="1362456"/>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1" name="Text 9"/>
          <p:cNvSpPr/>
          <p:nvPr/>
        </p:nvSpPr>
        <p:spPr>
          <a:xfrm>
            <a:off x="6739128" y="1307592"/>
            <a:ext cx="4663440" cy="256032"/>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Managers require technical, human, and conceptual skills.</a:t>
            </a:r>
            <a:endParaRPr lang="en-US" dirty="0"/>
          </a:p>
        </p:txBody>
      </p:sp>
      <p:sp>
        <p:nvSpPr>
          <p:cNvPr id="12" name="Shape 10"/>
          <p:cNvSpPr/>
          <p:nvPr/>
        </p:nvSpPr>
        <p:spPr>
          <a:xfrm>
            <a:off x="749808" y="2212848"/>
            <a:ext cx="347472" cy="347472"/>
          </a:xfrm>
          <a:prstGeom prst="ellipse">
            <a:avLst/>
          </a:prstGeom>
          <a:solidFill>
            <a:srgbClr val="007C89"/>
          </a:solidFill>
          <a:ln w="12700">
            <a:solidFill>
              <a:srgbClr val="007C89"/>
            </a:solidFill>
            <a:prstDash val="solid"/>
          </a:ln>
        </p:spPr>
        <p:txBody>
          <a:bodyPr/>
          <a:lstStyle/>
          <a:p>
            <a:endParaRPr sz="2400"/>
          </a:p>
        </p:txBody>
      </p:sp>
      <p:sp>
        <p:nvSpPr>
          <p:cNvPr id="13" name="Text 11"/>
          <p:cNvSpPr/>
          <p:nvPr/>
        </p:nvSpPr>
        <p:spPr>
          <a:xfrm>
            <a:off x="749808" y="2295144"/>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14" name="Text 12"/>
          <p:cNvSpPr/>
          <p:nvPr/>
        </p:nvSpPr>
        <p:spPr>
          <a:xfrm>
            <a:off x="1252728" y="2240280"/>
            <a:ext cx="4663440" cy="256032"/>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Evidence should inform managerial judgement and reduce bias.</a:t>
            </a:r>
            <a:endParaRPr lang="en-US" sz="1600" dirty="0"/>
          </a:p>
        </p:txBody>
      </p:sp>
      <p:sp>
        <p:nvSpPr>
          <p:cNvPr id="15" name="Shape 13"/>
          <p:cNvSpPr/>
          <p:nvPr/>
        </p:nvSpPr>
        <p:spPr>
          <a:xfrm>
            <a:off x="6236208" y="2212848"/>
            <a:ext cx="347472" cy="347472"/>
          </a:xfrm>
          <a:prstGeom prst="ellipse">
            <a:avLst/>
          </a:prstGeom>
          <a:solidFill>
            <a:srgbClr val="007C89"/>
          </a:solidFill>
          <a:ln w="12700">
            <a:solidFill>
              <a:srgbClr val="007C89"/>
            </a:solidFill>
            <a:prstDash val="solid"/>
          </a:ln>
        </p:spPr>
        <p:txBody>
          <a:bodyPr/>
          <a:lstStyle/>
          <a:p>
            <a:endParaRPr sz="2400"/>
          </a:p>
        </p:txBody>
      </p:sp>
      <p:sp>
        <p:nvSpPr>
          <p:cNvPr id="16" name="Text 14"/>
          <p:cNvSpPr/>
          <p:nvPr/>
        </p:nvSpPr>
        <p:spPr>
          <a:xfrm>
            <a:off x="6236208" y="2295144"/>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17" name="Text 15"/>
          <p:cNvSpPr/>
          <p:nvPr/>
        </p:nvSpPr>
        <p:spPr>
          <a:xfrm>
            <a:off x="6739128" y="2240280"/>
            <a:ext cx="4663440" cy="256032"/>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Behavior must be analyzed at individual, group, and organizational levels.</a:t>
            </a:r>
            <a:endParaRPr lang="en-US" sz="1600" dirty="0"/>
          </a:p>
        </p:txBody>
      </p:sp>
      <p:sp>
        <p:nvSpPr>
          <p:cNvPr id="18" name="Shape 16"/>
          <p:cNvSpPr/>
          <p:nvPr/>
        </p:nvSpPr>
        <p:spPr>
          <a:xfrm>
            <a:off x="749808" y="3145536"/>
            <a:ext cx="347472" cy="347472"/>
          </a:xfrm>
          <a:prstGeom prst="ellipse">
            <a:avLst/>
          </a:prstGeom>
          <a:solidFill>
            <a:srgbClr val="007C89"/>
          </a:solidFill>
          <a:ln w="12700">
            <a:solidFill>
              <a:srgbClr val="007C89"/>
            </a:solidFill>
            <a:prstDash val="solid"/>
          </a:ln>
        </p:spPr>
        <p:txBody>
          <a:bodyPr/>
          <a:lstStyle/>
          <a:p>
            <a:endParaRPr sz="2400"/>
          </a:p>
        </p:txBody>
      </p:sp>
      <p:sp>
        <p:nvSpPr>
          <p:cNvPr id="19" name="Text 17"/>
          <p:cNvSpPr/>
          <p:nvPr/>
        </p:nvSpPr>
        <p:spPr>
          <a:xfrm>
            <a:off x="749808" y="3227832"/>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5</a:t>
            </a:r>
            <a:endParaRPr lang="en-US" sz="1400" dirty="0"/>
          </a:p>
        </p:txBody>
      </p:sp>
      <p:sp>
        <p:nvSpPr>
          <p:cNvPr id="20" name="Text 18"/>
          <p:cNvSpPr/>
          <p:nvPr/>
        </p:nvSpPr>
        <p:spPr>
          <a:xfrm>
            <a:off x="1252728" y="3172968"/>
            <a:ext cx="4663440" cy="256032"/>
          </a:xfrm>
          <a:prstGeom prst="rect">
            <a:avLst/>
          </a:prstGeom>
          <a:noFill/>
          <a:ln/>
        </p:spPr>
        <p:txBody>
          <a:bodyPr wrap="square" lIns="0" tIns="0" rIns="0" bIns="0" rtlCol="0" anchor="ctr">
            <a:noAutofit/>
          </a:bodyPr>
          <a:lstStyle/>
          <a:p>
            <a:pPr marL="0" indent="0">
              <a:buNone/>
            </a:pPr>
            <a:r>
              <a:rPr lang="en-US" dirty="0">
                <a:solidFill>
                  <a:srgbClr val="1A1A1A"/>
                </a:solidFill>
                <a:latin typeface="Aptos" pitchFamily="34" charset="0"/>
                <a:ea typeface="Aptos" pitchFamily="34" charset="-122"/>
                <a:cs typeface="Aptos" pitchFamily="34" charset="-120"/>
              </a:rPr>
              <a:t>Inputs shape processes, and processes shape outcomes.</a:t>
            </a:r>
            <a:endParaRPr lang="en-US" dirty="0"/>
          </a:p>
        </p:txBody>
      </p:sp>
      <p:sp>
        <p:nvSpPr>
          <p:cNvPr id="21" name="Shape 19"/>
          <p:cNvSpPr/>
          <p:nvPr/>
        </p:nvSpPr>
        <p:spPr>
          <a:xfrm>
            <a:off x="6236208" y="3145536"/>
            <a:ext cx="347472" cy="347472"/>
          </a:xfrm>
          <a:prstGeom prst="ellipse">
            <a:avLst/>
          </a:prstGeom>
          <a:solidFill>
            <a:srgbClr val="007C89"/>
          </a:solidFill>
          <a:ln w="12700">
            <a:solidFill>
              <a:srgbClr val="007C89"/>
            </a:solidFill>
            <a:prstDash val="solid"/>
          </a:ln>
        </p:spPr>
        <p:txBody>
          <a:bodyPr/>
          <a:lstStyle/>
          <a:p>
            <a:endParaRPr sz="2400"/>
          </a:p>
        </p:txBody>
      </p:sp>
      <p:sp>
        <p:nvSpPr>
          <p:cNvPr id="22" name="Text 20"/>
          <p:cNvSpPr/>
          <p:nvPr/>
        </p:nvSpPr>
        <p:spPr>
          <a:xfrm>
            <a:off x="6236208" y="3227832"/>
            <a:ext cx="347472" cy="128016"/>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6</a:t>
            </a:r>
            <a:endParaRPr lang="en-US" sz="1400" dirty="0"/>
          </a:p>
        </p:txBody>
      </p:sp>
      <p:sp>
        <p:nvSpPr>
          <p:cNvPr id="23" name="Text 21"/>
          <p:cNvSpPr/>
          <p:nvPr/>
        </p:nvSpPr>
        <p:spPr>
          <a:xfrm>
            <a:off x="6739128" y="3172968"/>
            <a:ext cx="4663440" cy="256032"/>
          </a:xfrm>
          <a:prstGeom prst="rect">
            <a:avLst/>
          </a:prstGeom>
          <a:noFill/>
          <a:ln/>
        </p:spPr>
        <p:txBody>
          <a:bodyPr wrap="square" lIns="0" tIns="0" rIns="0" bIns="0" rtlCol="0" anchor="ctr">
            <a:noAutofit/>
          </a:bodyPr>
          <a:lstStyle/>
          <a:p>
            <a:pPr marL="0" indent="0">
              <a:buNone/>
            </a:pPr>
            <a:r>
              <a:rPr lang="en-US" sz="1600" dirty="0">
                <a:solidFill>
                  <a:srgbClr val="1A1A1A"/>
                </a:solidFill>
                <a:latin typeface="Aptos" pitchFamily="34" charset="0"/>
                <a:ea typeface="Aptos" pitchFamily="34" charset="-122"/>
                <a:cs typeface="Aptos" pitchFamily="34" charset="-120"/>
              </a:rPr>
              <a:t>Quality interventions are stronger when behavioral causes are diagnosed explicitly.</a:t>
            </a:r>
            <a:endParaRPr lang="en-US" sz="1600" dirty="0"/>
          </a:p>
        </p:txBody>
      </p:sp>
      <p:sp>
        <p:nvSpPr>
          <p:cNvPr id="24" name="Shape 22"/>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lstStyle/>
          <a:p>
            <a:endParaRPr sz="2400"/>
          </a:p>
        </p:txBody>
      </p:sp>
      <p:sp>
        <p:nvSpPr>
          <p:cNvPr id="25" name="Text 23"/>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600" b="1" dirty="0">
                <a:solidFill>
                  <a:srgbClr val="0F2D3A"/>
                </a:solidFill>
                <a:latin typeface="Aptos" pitchFamily="34" charset="0"/>
                <a:ea typeface="Aptos" pitchFamily="34" charset="-122"/>
                <a:cs typeface="Aptos" pitchFamily="34" charset="-120"/>
              </a:rPr>
              <a:t>Next week: Diversity in Organizations</a:t>
            </a:r>
            <a:endParaRPr lang="en-US" sz="1600" dirty="0"/>
          </a:p>
        </p:txBody>
      </p:sp>
      <p:sp>
        <p:nvSpPr>
          <p:cNvPr id="26"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1000" b="0"/>
              <a:t>22</a:t>
            </a:fld>
            <a:endParaRPr 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900" b="1" dirty="0">
                <a:solidFill>
                  <a:srgbClr val="007C89"/>
                </a:solidFill>
                <a:latin typeface="Aptos" pitchFamily="34" charset="0"/>
                <a:ea typeface="Aptos" pitchFamily="34" charset="-122"/>
                <a:cs typeface="Aptos" pitchFamily="34" charset="-120"/>
              </a:rPr>
              <a:t>G TQM 511 | Organizational Behavior and Quality</a:t>
            </a:r>
            <a:endParaRPr lang="en-US" sz="900" dirty="0"/>
          </a:p>
        </p:txBody>
      </p:sp>
      <p:sp>
        <p:nvSpPr>
          <p:cNvPr id="3" name="Text 1"/>
          <p:cNvSpPr/>
          <p:nvPr/>
        </p:nvSpPr>
        <p:spPr>
          <a:xfrm>
            <a:off x="502920" y="438912"/>
            <a:ext cx="8778240" cy="384048"/>
          </a:xfrm>
          <a:prstGeom prst="rect">
            <a:avLst/>
          </a:prstGeom>
          <a:noFill/>
          <a:ln/>
        </p:spPr>
        <p:txBody>
          <a:bodyPr wrap="square" lIns="0" tIns="0" rIns="0" bIns="0" rtlCol="0" anchor="ctr">
            <a:noAutofit/>
          </a:bodyPr>
          <a:lstStyle/>
          <a:p>
            <a:pPr marL="0" indent="0">
              <a:buNone/>
            </a:pPr>
            <a:r>
              <a:rPr lang="en-US" sz="2800" b="1" dirty="0">
                <a:solidFill>
                  <a:srgbClr val="0F2D3A"/>
                </a:solidFill>
                <a:latin typeface="Aptos Display" pitchFamily="34" charset="0"/>
                <a:ea typeface="Aptos Display" pitchFamily="34" charset="-122"/>
                <a:cs typeface="Aptos Display" pitchFamily="34" charset="-120"/>
              </a:rPr>
              <a:t>Reference and Preparation for Next Session</a:t>
            </a:r>
            <a:endParaRPr lang="en-US" sz="28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lstStyle/>
          <a:p>
            <a:endParaRPr sz="2000"/>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80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800" dirty="0"/>
          </a:p>
        </p:txBody>
      </p:sp>
      <p:sp>
        <p:nvSpPr>
          <p:cNvPr id="6" name="Shape 4"/>
          <p:cNvSpPr/>
          <p:nvPr/>
        </p:nvSpPr>
        <p:spPr>
          <a:xfrm>
            <a:off x="658368" y="1234440"/>
            <a:ext cx="5120640" cy="3200400"/>
          </a:xfrm>
          <a:prstGeom prst="roundRect">
            <a:avLst>
              <a:gd name="adj" fmla="val 2286"/>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7" name="Text 5"/>
          <p:cNvSpPr/>
          <p:nvPr/>
        </p:nvSpPr>
        <p:spPr>
          <a:xfrm>
            <a:off x="960120" y="1572768"/>
            <a:ext cx="1828800" cy="182880"/>
          </a:xfrm>
          <a:prstGeom prst="rect">
            <a:avLst/>
          </a:prstGeom>
          <a:noFill/>
          <a:ln/>
        </p:spPr>
        <p:txBody>
          <a:bodyPr wrap="square" lIns="0" tIns="0" rIns="0" bIns="0" rtlCol="0" anchor="ctr">
            <a:normAutofit/>
          </a:bodyPr>
          <a:lstStyle/>
          <a:p>
            <a:pPr marL="0" indent="0">
              <a:buNone/>
            </a:pPr>
            <a:r>
              <a:rPr lang="en-US" sz="1050" b="1" dirty="0">
                <a:solidFill>
                  <a:srgbClr val="007C89"/>
                </a:solidFill>
                <a:latin typeface="Aptos" pitchFamily="34" charset="0"/>
                <a:ea typeface="Aptos" pitchFamily="34" charset="-122"/>
                <a:cs typeface="Aptos" pitchFamily="34" charset="-120"/>
              </a:rPr>
              <a:t>Primary reference</a:t>
            </a:r>
            <a:endParaRPr lang="en-US" sz="1050" dirty="0"/>
          </a:p>
        </p:txBody>
      </p:sp>
      <p:sp>
        <p:nvSpPr>
          <p:cNvPr id="8" name="Text 6"/>
          <p:cNvSpPr/>
          <p:nvPr/>
        </p:nvSpPr>
        <p:spPr>
          <a:xfrm>
            <a:off x="960120" y="1920240"/>
            <a:ext cx="4480560" cy="594360"/>
          </a:xfrm>
          <a:prstGeom prst="rect">
            <a:avLst/>
          </a:prstGeom>
          <a:noFill/>
          <a:ln/>
        </p:spPr>
        <p:txBody>
          <a:bodyPr wrap="square" lIns="0" tIns="0" rIns="0" bIns="0" rtlCol="0" anchor="ctr">
            <a:noAutofit/>
          </a:bodyPr>
          <a:lstStyle/>
          <a:p>
            <a:pPr marL="0" indent="0">
              <a:buNone/>
            </a:pPr>
            <a:r>
              <a:rPr lang="en-US" sz="2000" b="1" dirty="0">
                <a:solidFill>
                  <a:srgbClr val="0F2D3A"/>
                </a:solidFill>
                <a:latin typeface="Aptos Display" pitchFamily="34" charset="0"/>
                <a:ea typeface="Aptos Display" pitchFamily="34" charset="-122"/>
                <a:cs typeface="Aptos Display" pitchFamily="34" charset="-120"/>
              </a:rPr>
              <a:t>Robbins, S. P., &amp; Judge, T. A. (2019). Organizational Behavior (18th ed.). Pearson.</a:t>
            </a:r>
            <a:endParaRPr lang="en-US" sz="2000" dirty="0"/>
          </a:p>
        </p:txBody>
      </p:sp>
      <p:sp>
        <p:nvSpPr>
          <p:cNvPr id="9" name="Shape 7"/>
          <p:cNvSpPr/>
          <p:nvPr/>
        </p:nvSpPr>
        <p:spPr>
          <a:xfrm>
            <a:off x="960120" y="2788920"/>
            <a:ext cx="4480560" cy="0"/>
          </a:xfrm>
          <a:prstGeom prst="line">
            <a:avLst/>
          </a:prstGeom>
          <a:noFill/>
          <a:ln w="12700">
            <a:solidFill>
              <a:srgbClr val="D9E2E5"/>
            </a:solidFill>
            <a:prstDash val="solid"/>
          </a:ln>
        </p:spPr>
        <p:txBody>
          <a:bodyPr/>
          <a:lstStyle/>
          <a:p>
            <a:endParaRPr sz="2000"/>
          </a:p>
        </p:txBody>
      </p:sp>
      <p:sp>
        <p:nvSpPr>
          <p:cNvPr id="10" name="Text 8"/>
          <p:cNvSpPr/>
          <p:nvPr/>
        </p:nvSpPr>
        <p:spPr>
          <a:xfrm>
            <a:off x="960120" y="3108960"/>
            <a:ext cx="2194560" cy="182880"/>
          </a:xfrm>
          <a:prstGeom prst="rect">
            <a:avLst/>
          </a:prstGeom>
          <a:noFill/>
          <a:ln/>
        </p:spPr>
        <p:txBody>
          <a:bodyPr wrap="square" lIns="0" tIns="0" rIns="0" bIns="0" rtlCol="0" anchor="ctr">
            <a:normAutofit/>
          </a:bodyPr>
          <a:lstStyle/>
          <a:p>
            <a:pPr marL="0" indent="0">
              <a:buNone/>
            </a:pPr>
            <a:r>
              <a:rPr lang="en-US" sz="1050" b="1" dirty="0">
                <a:solidFill>
                  <a:srgbClr val="C49A3A"/>
                </a:solidFill>
                <a:latin typeface="Aptos" pitchFamily="34" charset="0"/>
                <a:ea typeface="Aptos" pitchFamily="34" charset="-122"/>
                <a:cs typeface="Aptos" pitchFamily="34" charset="-120"/>
              </a:rPr>
              <a:t>Chapter 1 completed</a:t>
            </a:r>
            <a:endParaRPr lang="en-US" sz="1050" dirty="0"/>
          </a:p>
        </p:txBody>
      </p:sp>
      <p:sp>
        <p:nvSpPr>
          <p:cNvPr id="11" name="Text 9"/>
          <p:cNvSpPr/>
          <p:nvPr/>
        </p:nvSpPr>
        <p:spPr>
          <a:xfrm>
            <a:off x="960120" y="3429000"/>
            <a:ext cx="4114800" cy="274320"/>
          </a:xfrm>
          <a:prstGeom prst="rect">
            <a:avLst/>
          </a:prstGeom>
          <a:noFill/>
          <a:ln/>
        </p:spPr>
        <p:txBody>
          <a:bodyPr wrap="square" lIns="0" tIns="0" rIns="0" bIns="0" rtlCol="0" anchor="ctr"/>
          <a:lstStyle/>
          <a:p>
            <a:pPr marL="0" indent="0">
              <a:buNone/>
            </a:pPr>
            <a:r>
              <a:rPr lang="en-US" sz="1600" dirty="0">
                <a:solidFill>
                  <a:srgbClr val="1A1A1A"/>
                </a:solidFill>
                <a:latin typeface="Aptos" pitchFamily="34" charset="0"/>
                <a:ea typeface="Aptos" pitchFamily="34" charset="-122"/>
                <a:cs typeface="Aptos" pitchFamily="34" charset="-120"/>
              </a:rPr>
              <a:t>What Is Organizational Behavior?</a:t>
            </a:r>
            <a:endParaRPr lang="en-US" sz="1600" dirty="0"/>
          </a:p>
        </p:txBody>
      </p:sp>
      <p:sp>
        <p:nvSpPr>
          <p:cNvPr id="12" name="Shape 10"/>
          <p:cNvSpPr/>
          <p:nvPr/>
        </p:nvSpPr>
        <p:spPr>
          <a:xfrm>
            <a:off x="6172200" y="1234440"/>
            <a:ext cx="5349240" cy="3200400"/>
          </a:xfrm>
          <a:prstGeom prst="roundRect">
            <a:avLst>
              <a:gd name="adj" fmla="val 2286"/>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lstStyle/>
          <a:p>
            <a:endParaRPr sz="2000"/>
          </a:p>
        </p:txBody>
      </p:sp>
      <p:sp>
        <p:nvSpPr>
          <p:cNvPr id="13" name="Text 11"/>
          <p:cNvSpPr/>
          <p:nvPr/>
        </p:nvSpPr>
        <p:spPr>
          <a:xfrm>
            <a:off x="6473952" y="1572768"/>
            <a:ext cx="2011680" cy="182880"/>
          </a:xfrm>
          <a:prstGeom prst="rect">
            <a:avLst/>
          </a:prstGeom>
          <a:noFill/>
          <a:ln/>
        </p:spPr>
        <p:txBody>
          <a:bodyPr wrap="square" lIns="0" tIns="0" rIns="0" bIns="0" rtlCol="0" anchor="ctr">
            <a:normAutofit/>
          </a:bodyPr>
          <a:lstStyle/>
          <a:p>
            <a:pPr marL="0" indent="0">
              <a:buNone/>
            </a:pPr>
            <a:r>
              <a:rPr lang="en-US" sz="1050" b="1" dirty="0">
                <a:solidFill>
                  <a:srgbClr val="007C89"/>
                </a:solidFill>
                <a:latin typeface="Aptos" pitchFamily="34" charset="0"/>
                <a:ea typeface="Aptos" pitchFamily="34" charset="-122"/>
                <a:cs typeface="Aptos" pitchFamily="34" charset="-120"/>
              </a:rPr>
              <a:t>Prepare for Week 2</a:t>
            </a:r>
            <a:endParaRPr lang="en-US" sz="1050" dirty="0"/>
          </a:p>
        </p:txBody>
      </p:sp>
      <p:sp>
        <p:nvSpPr>
          <p:cNvPr id="14" name="Text 12"/>
          <p:cNvSpPr/>
          <p:nvPr/>
        </p:nvSpPr>
        <p:spPr>
          <a:xfrm>
            <a:off x="6473952" y="1920240"/>
            <a:ext cx="4526280" cy="1143000"/>
          </a:xfrm>
          <a:prstGeom prst="rect">
            <a:avLst/>
          </a:prstGeom>
          <a:noFill/>
          <a:ln/>
        </p:spPr>
        <p:txBody>
          <a:bodyPr wrap="square" lIns="381" tIns="381" rIns="381" bIns="381" rtlCol="0" anchor="t">
            <a:noAutofit/>
          </a:bodyPr>
          <a:lstStyle/>
          <a:p>
            <a:r>
              <a:rPr lang="en-US" sz="1600" dirty="0">
                <a:solidFill>
                  <a:srgbClr val="1A1A1A"/>
                </a:solidFill>
                <a:latin typeface="Aptos" pitchFamily="34" charset="0"/>
                <a:ea typeface="Aptos" pitchFamily="34" charset="-122"/>
                <a:cs typeface="Aptos" pitchFamily="34" charset="-120"/>
              </a:rPr>
              <a:t>Read Chapter 2: Diversity in Organizations.</a:t>
            </a:r>
            <a:endParaRPr lang="en-US" sz="1600" dirty="0"/>
          </a:p>
          <a:p>
            <a:r>
              <a:rPr lang="en-US" sz="1600" dirty="0">
                <a:solidFill>
                  <a:srgbClr val="1A1A1A"/>
                </a:solidFill>
                <a:latin typeface="Aptos" pitchFamily="34" charset="0"/>
                <a:ea typeface="Aptos" pitchFamily="34" charset="-122"/>
                <a:cs typeface="Aptos" pitchFamily="34" charset="-120"/>
              </a:rPr>
              <a:t>Identify one example of surface-level diversity and one example of deep-level diversity.</a:t>
            </a:r>
            <a:endParaRPr lang="en-US" sz="1600" dirty="0"/>
          </a:p>
          <a:p>
            <a:r>
              <a:rPr lang="en-US" sz="1600" dirty="0">
                <a:solidFill>
                  <a:srgbClr val="1A1A1A"/>
                </a:solidFill>
                <a:latin typeface="Aptos" pitchFamily="34" charset="0"/>
                <a:ea typeface="Aptos" pitchFamily="34" charset="-122"/>
                <a:cs typeface="Aptos" pitchFamily="34" charset="-120"/>
              </a:rPr>
              <a:t>Reflect on how bias or inclusion can influence quality decisions.</a:t>
            </a:r>
            <a:endParaRPr lang="en-US" sz="1600" dirty="0"/>
          </a:p>
        </p:txBody>
      </p:sp>
      <p:sp>
        <p:nvSpPr>
          <p:cNvPr id="15" name="Text 13"/>
          <p:cNvSpPr/>
          <p:nvPr/>
        </p:nvSpPr>
        <p:spPr>
          <a:xfrm>
            <a:off x="658368" y="5166360"/>
            <a:ext cx="10881360" cy="502920"/>
          </a:xfrm>
          <a:prstGeom prst="rect">
            <a:avLst/>
          </a:prstGeom>
          <a:noFill/>
          <a:ln/>
        </p:spPr>
        <p:txBody>
          <a:bodyPr wrap="square" lIns="0" tIns="0" rIns="0" bIns="0" rtlCol="0" anchor="ctr"/>
          <a:lstStyle/>
          <a:p>
            <a:pPr marL="0" indent="0" algn="ctr">
              <a:buNone/>
            </a:pPr>
            <a:r>
              <a:rPr lang="en-US" sz="3600" b="1" dirty="0">
                <a:solidFill>
                  <a:srgbClr val="0F2D3A"/>
                </a:solidFill>
                <a:latin typeface="Aptos Display" pitchFamily="34" charset="0"/>
                <a:ea typeface="Aptos Display" pitchFamily="34" charset="-122"/>
                <a:cs typeface="Aptos Display" pitchFamily="34" charset="-120"/>
              </a:rPr>
              <a:t>Thank you</a:t>
            </a:r>
            <a:endParaRPr lang="en-US" sz="36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sz="900" b="0"/>
              <a:t>23</a:t>
            </a:fld>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2634</Words>
  <Application>Microsoft Office PowerPoint</Application>
  <PresentationFormat>Widescreen</PresentationFormat>
  <Paragraphs>389</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Sudan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Introduction to Organizational Behavior and Quality Performance</dc:title>
  <dc:subject>G TQM 511 Week 1 - Organizational Behavior and Quality</dc:subject>
  <dc:creator>Dr. Abdelmutalab Adam</dc:creator>
  <cp:lastModifiedBy>Abdelmutalab Talabose</cp:lastModifiedBy>
  <cp:revision>6</cp:revision>
  <dcterms:created xsi:type="dcterms:W3CDTF">2026-07-31T11:08:23Z</dcterms:created>
  <dcterms:modified xsi:type="dcterms:W3CDTF">2026-08-04T19:24:13Z</dcterms:modified>
</cp:coreProperties>
</file>