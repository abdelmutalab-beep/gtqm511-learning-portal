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2286000" cy="347472"/>
          </a:xfrm>
          <a:prstGeom prst="rect">
            <a:avLst/>
          </a:prstGeom>
          <a:noFill/>
        </p:spPr>
        <p:txBody>
          <a:bodyPr wrap="none" lIns="73152" tIns="73152" rIns="73152" bIns="73152">
            <a:spAutoFit/>
          </a:bodyPr>
          <a:lstStyle/>
          <a:p>
            <a:pPr algn="l">
              <a:defRPr sz="1700" b="1">
                <a:solidFill>
                  <a:srgbClr val="225C8C"/>
                </a:solidFill>
                <a:latin typeface="Aptos"/>
              </a:defRPr>
            </a:pPr>
            <a:r>
              <a:t>G TQM 511</a:t>
            </a:r>
          </a:p>
        </p:txBody>
      </p:sp>
      <p:sp>
        <p:nvSpPr>
          <p:cNvPr id="4" name="TextBox 3"/>
          <p:cNvSpPr txBox="1"/>
          <p:nvPr/>
        </p:nvSpPr>
        <p:spPr>
          <a:xfrm>
            <a:off x="8842248" y="502920"/>
            <a:ext cx="1920240" cy="347472"/>
          </a:xfrm>
          <a:prstGeom prst="rect">
            <a:avLst/>
          </a:prstGeom>
          <a:noFill/>
        </p:spPr>
        <p:txBody>
          <a:bodyPr wrap="none" lIns="73152" tIns="73152" rIns="73152" bIns="73152">
            <a:spAutoFit/>
          </a:bodyPr>
          <a:lstStyle/>
          <a:p>
            <a:pPr algn="r">
              <a:defRPr sz="1700" b="1">
                <a:solidFill>
                  <a:srgbClr val="225C8C"/>
                </a:solidFill>
                <a:latin typeface="Aptos"/>
              </a:defRPr>
            </a:pPr>
            <a:r>
              <a:rPr dirty="0"/>
              <a:t>WEEK 3</a:t>
            </a:r>
          </a:p>
        </p:txBody>
      </p:sp>
      <p:sp>
        <p:nvSpPr>
          <p:cNvPr id="5" name="TextBox 4"/>
          <p:cNvSpPr txBox="1"/>
          <p:nvPr/>
        </p:nvSpPr>
        <p:spPr>
          <a:xfrm>
            <a:off x="640080" y="1417320"/>
            <a:ext cx="10972800" cy="1371600"/>
          </a:xfrm>
          <a:prstGeom prst="rect">
            <a:avLst/>
          </a:prstGeom>
          <a:noFill/>
        </p:spPr>
        <p:txBody>
          <a:bodyPr wrap="none" lIns="73152" tIns="73152" rIns="73152" bIns="73152">
            <a:spAutoFit/>
          </a:bodyPr>
          <a:lstStyle/>
          <a:p>
            <a:pPr algn="l">
              <a:defRPr sz="4000" b="1">
                <a:solidFill>
                  <a:srgbClr val="12304C"/>
                </a:solidFill>
                <a:latin typeface="Aptos"/>
              </a:defRPr>
            </a:pPr>
            <a:r>
              <a:t>Attitudes, Job Satisfaction</a:t>
            </a:r>
            <a:br/>
            <a:r>
              <a:t>and Quality Performance</a:t>
            </a:r>
          </a:p>
        </p:txBody>
      </p:sp>
      <p:sp>
        <p:nvSpPr>
          <p:cNvPr id="6" name="TextBox 5"/>
          <p:cNvSpPr txBox="1"/>
          <p:nvPr/>
        </p:nvSpPr>
        <p:spPr>
          <a:xfrm>
            <a:off x="685800" y="2907792"/>
            <a:ext cx="10789920" cy="365760"/>
          </a:xfrm>
          <a:prstGeom prst="rect">
            <a:avLst/>
          </a:prstGeom>
          <a:noFill/>
        </p:spPr>
        <p:txBody>
          <a:bodyPr wrap="none" lIns="73152" tIns="73152" rIns="73152" bIns="73152">
            <a:spAutoFit/>
          </a:bodyPr>
          <a:lstStyle/>
          <a:p>
            <a:pPr algn="l">
              <a:defRPr sz="1500" b="0">
                <a:solidFill>
                  <a:srgbClr val="5A5A5A"/>
                </a:solidFill>
                <a:latin typeface="Aptos"/>
              </a:defRPr>
            </a:pPr>
            <a:r>
              <a:t>Chapter 3: Attitudes and Job Satisfaction | Robbins &amp; Judge, Organizational Behavior, 18th ed.</a:t>
            </a:r>
          </a:p>
        </p:txBody>
      </p:sp>
      <p:sp>
        <p:nvSpPr>
          <p:cNvPr id="7" name="Rounded Rectangle 6"/>
          <p:cNvSpPr/>
          <p:nvPr/>
        </p:nvSpPr>
        <p:spPr>
          <a:xfrm>
            <a:off x="777240" y="3886200"/>
            <a:ext cx="10561320" cy="822960"/>
          </a:xfrm>
          <a:prstGeom prst="roundRect">
            <a:avLst/>
          </a:prstGeom>
          <a:solidFill>
            <a:srgbClr val="E8F1F8"/>
          </a:solidFill>
          <a:ln>
            <a:solidFill>
              <a:srgbClr val="225C8C"/>
            </a:solidFill>
          </a:ln>
        </p:spPr>
        <p:style>
          <a:lnRef idx="1">
            <a:schemeClr val="accent1"/>
          </a:lnRef>
          <a:fillRef idx="3">
            <a:schemeClr val="accent1"/>
          </a:fillRef>
          <a:effectRef idx="2">
            <a:schemeClr val="accent1"/>
          </a:effectRef>
          <a:fontRef idx="minor">
            <a:schemeClr val="lt1"/>
          </a:fontRef>
        </p:style>
        <p:txBody>
          <a:bodyPr lIns="128016" tIns="109728" rIns="128016" bIns="109728" rtlCol="0" anchor="ctr"/>
          <a:lstStyle/>
          <a:p>
            <a:pPr algn="ctr">
              <a:defRPr sz="1800" b="0">
                <a:solidFill>
                  <a:srgbClr val="232323"/>
                </a:solidFill>
                <a:latin typeface="Aptos"/>
              </a:defRPr>
            </a:pPr>
            <a:r>
              <a:t>Core message: Employee attitudes shape quality behavior, service reliability, learning, and continuous improvement.</a:t>
            </a:r>
          </a:p>
        </p:txBody>
      </p:sp>
      <p:sp>
        <p:nvSpPr>
          <p:cNvPr id="8" name="TextBox 7"/>
          <p:cNvSpPr txBox="1"/>
          <p:nvPr/>
        </p:nvSpPr>
        <p:spPr>
          <a:xfrm>
            <a:off x="685800" y="6172200"/>
            <a:ext cx="7772400" cy="274320"/>
          </a:xfrm>
          <a:prstGeom prst="rect">
            <a:avLst/>
          </a:prstGeom>
          <a:noFill/>
        </p:spPr>
        <p:txBody>
          <a:bodyPr wrap="none" lIns="73152" tIns="73152" rIns="73152" bIns="73152">
            <a:spAutoFit/>
          </a:bodyPr>
          <a:lstStyle/>
          <a:p>
            <a:pPr algn="l">
              <a:defRPr sz="1100" b="0">
                <a:solidFill>
                  <a:srgbClr val="5A5A5A"/>
                </a:solidFill>
                <a:latin typeface="Aptos"/>
              </a:defRPr>
            </a:pPr>
            <a:r>
              <a:t>Postgraduate Diploma Program in Total Quality Management</a:t>
            </a:r>
          </a:p>
        </p:txBody>
      </p:sp>
      <p:sp>
        <p:nvSpPr>
          <p:cNvPr id="9" name="TextBox 8"/>
          <p:cNvSpPr txBox="1"/>
          <p:nvPr/>
        </p:nvSpPr>
        <p:spPr>
          <a:xfrm>
            <a:off x="11292840" y="6172200"/>
            <a:ext cx="274320" cy="228600"/>
          </a:xfrm>
          <a:prstGeom prst="rect">
            <a:avLst/>
          </a:prstGeom>
          <a:noFill/>
        </p:spPr>
        <p:txBody>
          <a:bodyPr wrap="none" lIns="73152" tIns="73152" rIns="73152" bIns="73152">
            <a:spAutoFit/>
          </a:bodyPr>
          <a:lstStyle/>
          <a:p>
            <a:pPr algn="r">
              <a:defRPr sz="850" b="0">
                <a:solidFill>
                  <a:srgbClr val="5A5A5A"/>
                </a:solidFill>
                <a:latin typeface="Aptos"/>
              </a:defRPr>
            </a:pPr>
            <a:r>
              <a:t>1</a:t>
            </a:r>
          </a:p>
        </p:txBody>
      </p:sp>
      <p:pic>
        <p:nvPicPr>
          <p:cNvPr id="11" name="Picture 10" descr="upi3297_0">
            <a:extLst>
              <a:ext uri="{FF2B5EF4-FFF2-40B4-BE49-F238E27FC236}">
                <a16:creationId xmlns:a16="http://schemas.microsoft.com/office/drawing/2014/main" id="{FB547C9E-0C5B-A114-10C8-17BA037B5974}"/>
              </a:ext>
            </a:extLst>
          </p:cNvPr>
          <p:cNvPicPr/>
          <p:nvPr/>
        </p:nvPicPr>
        <p:blipFill>
          <a:blip r:embed="rId2" cstate="print"/>
          <a:srcRect l="10001" r="10001"/>
          <a:stretch>
            <a:fillRect/>
          </a:stretch>
        </p:blipFill>
        <p:spPr bwMode="auto">
          <a:xfrm>
            <a:off x="11180329" y="185166"/>
            <a:ext cx="773662" cy="800100"/>
          </a:xfrm>
          <a:prstGeom prst="rect">
            <a:avLst/>
          </a:prstGeom>
          <a:noFill/>
        </p:spPr>
      </p:pic>
      <p:sp>
        <p:nvSpPr>
          <p:cNvPr id="13" name="Text 16">
            <a:extLst>
              <a:ext uri="{FF2B5EF4-FFF2-40B4-BE49-F238E27FC236}">
                <a16:creationId xmlns:a16="http://schemas.microsoft.com/office/drawing/2014/main" id="{439B256A-3508-E896-74B0-C0F20F25D178}"/>
              </a:ext>
            </a:extLst>
          </p:cNvPr>
          <p:cNvSpPr/>
          <p:nvPr/>
        </p:nvSpPr>
        <p:spPr>
          <a:xfrm>
            <a:off x="713232" y="5833872"/>
            <a:ext cx="4572000" cy="228600"/>
          </a:xfrm>
          <a:prstGeom prst="rect">
            <a:avLst/>
          </a:prstGeom>
          <a:noFill/>
          <a:ln/>
        </p:spPr>
        <p:txBody>
          <a:bodyPr wrap="square" lIns="0" tIns="0" rIns="0" bIns="0" rtlCol="0" anchor="ctr"/>
          <a:lstStyle/>
          <a:p>
            <a:pPr marL="0" indent="0">
              <a:buNone/>
            </a:pPr>
            <a:r>
              <a:rPr lang="en-US" sz="1650" b="1" dirty="0">
                <a:solidFill>
                  <a:srgbClr val="0B1F3A"/>
                </a:solidFill>
              </a:rPr>
              <a:t>Dr. Abdelmutalab Adam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3452292" cy="594009"/>
          </a:xfrm>
          <a:prstGeom prst="rect">
            <a:avLst/>
          </a:prstGeom>
          <a:noFill/>
        </p:spPr>
        <p:txBody>
          <a:bodyPr wrap="none" lIns="73152" tIns="73152" rIns="73152" bIns="73152">
            <a:spAutoFit/>
          </a:bodyPr>
          <a:lstStyle/>
          <a:p>
            <a:pPr algn="l">
              <a:defRPr sz="2900" b="1">
                <a:solidFill>
                  <a:srgbClr val="12304C"/>
                </a:solidFill>
                <a:latin typeface="Aptos"/>
              </a:defRPr>
            </a:pPr>
            <a:r>
              <a:t>Learning Outcomes</a:t>
            </a:r>
          </a:p>
        </p:txBody>
      </p:sp>
      <p:sp>
        <p:nvSpPr>
          <p:cNvPr id="3" name="TextBox 2"/>
          <p:cNvSpPr txBox="1"/>
          <p:nvPr/>
        </p:nvSpPr>
        <p:spPr>
          <a:xfrm>
            <a:off x="548640" y="859536"/>
            <a:ext cx="4151008" cy="355482"/>
          </a:xfrm>
          <a:prstGeom prst="rect">
            <a:avLst/>
          </a:prstGeom>
          <a:noFill/>
        </p:spPr>
        <p:txBody>
          <a:bodyPr wrap="none" lIns="73152" tIns="73152" rIns="73152" bIns="73152">
            <a:spAutoFit/>
          </a:bodyPr>
          <a:lstStyle/>
          <a:p>
            <a:pPr algn="l">
              <a:defRPr sz="1350" b="0">
                <a:solidFill>
                  <a:srgbClr val="5A5A5A"/>
                </a:solidFill>
                <a:latin typeface="Aptos"/>
              </a:defRPr>
            </a:pPr>
            <a:r>
              <a:t>By the end of this session, students should be able to:</a:t>
            </a:r>
          </a:p>
        </p:txBody>
      </p:sp>
      <p:sp>
        <p:nvSpPr>
          <p:cNvPr id="4" name="Rectangle 3"/>
          <p:cNvSpPr/>
          <p:nvPr/>
        </p:nvSpPr>
        <p:spPr>
          <a:xfrm>
            <a:off x="548640" y="1234440"/>
            <a:ext cx="11064240" cy="27432"/>
          </a:xfrm>
          <a:prstGeom prst="rect">
            <a:avLst/>
          </a:prstGeom>
          <a:solidFill>
            <a:srgbClr val="D9E6F2"/>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73952"/>
            <a:ext cx="2839175" cy="278538"/>
          </a:xfrm>
          <a:prstGeom prst="rect">
            <a:avLst/>
          </a:prstGeom>
          <a:noFill/>
        </p:spPr>
        <p:txBody>
          <a:bodyPr wrap="none" lIns="73152" tIns="73152" rIns="73152" bIns="73152">
            <a:spAutoFit/>
          </a:bodyPr>
          <a:lstStyle/>
          <a:p>
            <a:pPr algn="l">
              <a:defRPr sz="850" b="0">
                <a:solidFill>
                  <a:srgbClr val="5A5A5A"/>
                </a:solidFill>
                <a:latin typeface="Aptos"/>
              </a:defRPr>
            </a:pPr>
            <a:r>
              <a:t>G TQM 511 | Organizational Behavior and Quality | Week 3</a:t>
            </a:r>
          </a:p>
        </p:txBody>
      </p:sp>
      <p:sp>
        <p:nvSpPr>
          <p:cNvPr id="6" name="TextBox 5"/>
          <p:cNvSpPr txBox="1"/>
          <p:nvPr/>
        </p:nvSpPr>
        <p:spPr>
          <a:xfrm>
            <a:off x="11407439" y="6473952"/>
            <a:ext cx="205441" cy="278538"/>
          </a:xfrm>
          <a:prstGeom prst="rect">
            <a:avLst/>
          </a:prstGeom>
          <a:noFill/>
        </p:spPr>
        <p:txBody>
          <a:bodyPr wrap="none" lIns="73152" tIns="73152" rIns="73152" bIns="73152">
            <a:spAutoFit/>
          </a:bodyPr>
          <a:lstStyle/>
          <a:p>
            <a:pPr algn="r">
              <a:defRPr sz="850" b="0">
                <a:solidFill>
                  <a:srgbClr val="5A5A5A"/>
                </a:solidFill>
                <a:latin typeface="Aptos"/>
              </a:defRPr>
            </a:pPr>
            <a:r>
              <a:t>2</a:t>
            </a:r>
          </a:p>
        </p:txBody>
      </p:sp>
      <p:sp>
        <p:nvSpPr>
          <p:cNvPr id="7" name="Rounded Rectangle 6"/>
          <p:cNvSpPr/>
          <p:nvPr/>
        </p:nvSpPr>
        <p:spPr>
          <a:xfrm>
            <a:off x="731520" y="1508760"/>
            <a:ext cx="5029200" cy="86868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508760"/>
            <a:ext cx="73152" cy="868680"/>
          </a:xfrm>
          <a:prstGeom prst="rect">
            <a:avLst/>
          </a:prstGeom>
          <a:solidFill>
            <a:srgbClr val="225C8C"/>
          </a:solidFill>
          <a:ln>
            <a:solidFill>
              <a:srgbClr val="22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1627631"/>
            <a:ext cx="283989" cy="455509"/>
          </a:xfrm>
          <a:prstGeom prst="rect">
            <a:avLst/>
          </a:prstGeom>
          <a:noFill/>
        </p:spPr>
        <p:txBody>
          <a:bodyPr wrap="none" lIns="73152" tIns="73152" rIns="73152" bIns="73152">
            <a:spAutoFit/>
          </a:bodyPr>
          <a:lstStyle/>
          <a:p>
            <a:pPr algn="l">
              <a:defRPr sz="2000" b="1">
                <a:solidFill>
                  <a:srgbClr val="12304C"/>
                </a:solidFill>
                <a:latin typeface="Aptos"/>
              </a:defRPr>
            </a:pPr>
            <a:r>
              <a:t>1</a:t>
            </a:r>
          </a:p>
        </p:txBody>
      </p:sp>
      <p:sp>
        <p:nvSpPr>
          <p:cNvPr id="10" name="TextBox 9"/>
          <p:cNvSpPr txBox="1"/>
          <p:nvPr/>
        </p:nvSpPr>
        <p:spPr>
          <a:xfrm>
            <a:off x="1161669" y="1577720"/>
            <a:ext cx="4580763" cy="547842"/>
          </a:xfrm>
          <a:prstGeom prst="rect">
            <a:avLst/>
          </a:prstGeom>
          <a:noFill/>
        </p:spPr>
        <p:txBody>
          <a:bodyPr wrap="square" lIns="73152" tIns="73152" rIns="73152" bIns="73152">
            <a:spAutoFit/>
          </a:bodyPr>
          <a:lstStyle/>
          <a:p>
            <a:pPr algn="l">
              <a:defRPr sz="1300" b="0">
                <a:solidFill>
                  <a:srgbClr val="232323"/>
                </a:solidFill>
                <a:latin typeface="Aptos"/>
              </a:defRPr>
            </a:pPr>
            <a:r>
              <a:t>Explain the components of attitudes and their relevance to work behavior.</a:t>
            </a:r>
          </a:p>
        </p:txBody>
      </p:sp>
      <p:sp>
        <p:nvSpPr>
          <p:cNvPr id="11" name="Rounded Rectangle 10"/>
          <p:cNvSpPr/>
          <p:nvPr/>
        </p:nvSpPr>
        <p:spPr>
          <a:xfrm>
            <a:off x="6217920" y="1508760"/>
            <a:ext cx="5029200" cy="86868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508760"/>
            <a:ext cx="73152" cy="868680"/>
          </a:xfrm>
          <a:prstGeom prst="rect">
            <a:avLst/>
          </a:prstGeom>
          <a:solidFill>
            <a:srgbClr val="225C8C"/>
          </a:solidFill>
          <a:ln>
            <a:solidFill>
              <a:srgbClr val="22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38887" y="1652403"/>
            <a:ext cx="474345" cy="455509"/>
          </a:xfrm>
          <a:prstGeom prst="rect">
            <a:avLst/>
          </a:prstGeom>
          <a:noFill/>
        </p:spPr>
        <p:txBody>
          <a:bodyPr wrap="square" lIns="73152" tIns="73152" rIns="73152" bIns="73152">
            <a:spAutoFit/>
          </a:bodyPr>
          <a:lstStyle/>
          <a:p>
            <a:pPr algn="l">
              <a:defRPr sz="2000" b="1">
                <a:solidFill>
                  <a:srgbClr val="12304C"/>
                </a:solidFill>
                <a:latin typeface="Aptos"/>
              </a:defRPr>
            </a:pPr>
            <a:r>
              <a:rPr dirty="0"/>
              <a:t>2</a:t>
            </a:r>
          </a:p>
        </p:txBody>
      </p:sp>
      <p:sp>
        <p:nvSpPr>
          <p:cNvPr id="14" name="TextBox 13"/>
          <p:cNvSpPr txBox="1"/>
          <p:nvPr/>
        </p:nvSpPr>
        <p:spPr>
          <a:xfrm>
            <a:off x="6594348" y="1652403"/>
            <a:ext cx="4864608" cy="747897"/>
          </a:xfrm>
          <a:prstGeom prst="rect">
            <a:avLst/>
          </a:prstGeom>
          <a:noFill/>
        </p:spPr>
        <p:txBody>
          <a:bodyPr wrap="square" lIns="73152" tIns="73152" rIns="73152" bIns="73152">
            <a:spAutoFit/>
          </a:bodyPr>
          <a:lstStyle/>
          <a:p>
            <a:pPr algn="l">
              <a:defRPr sz="1300" b="0">
                <a:solidFill>
                  <a:srgbClr val="232323"/>
                </a:solidFill>
                <a:latin typeface="Aptos"/>
              </a:defRPr>
            </a:pPr>
            <a:r>
              <a:rPr lang="en-US" dirty="0"/>
              <a:t>Differentiate job satisfaction, organizational commitment, perceived organizational support, and employee engagement.</a:t>
            </a:r>
          </a:p>
          <a:p>
            <a:pPr algn="l">
              <a:defRPr sz="1300" b="0">
                <a:solidFill>
                  <a:srgbClr val="232323"/>
                </a:solidFill>
                <a:latin typeface="Aptos"/>
              </a:defRPr>
            </a:pPr>
            <a:endParaRPr dirty="0"/>
          </a:p>
        </p:txBody>
      </p:sp>
      <p:sp>
        <p:nvSpPr>
          <p:cNvPr id="15" name="Rounded Rectangle 14"/>
          <p:cNvSpPr/>
          <p:nvPr/>
        </p:nvSpPr>
        <p:spPr>
          <a:xfrm>
            <a:off x="731520" y="2651760"/>
            <a:ext cx="5029200" cy="86868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1520" y="2651760"/>
            <a:ext cx="73152" cy="868680"/>
          </a:xfrm>
          <a:prstGeom prst="rect">
            <a:avLst/>
          </a:prstGeom>
          <a:solidFill>
            <a:srgbClr val="225C8C"/>
          </a:solidFill>
          <a:ln>
            <a:solidFill>
              <a:srgbClr val="22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6112" y="2770632"/>
            <a:ext cx="283989" cy="455509"/>
          </a:xfrm>
          <a:prstGeom prst="rect">
            <a:avLst/>
          </a:prstGeom>
          <a:noFill/>
        </p:spPr>
        <p:txBody>
          <a:bodyPr wrap="none" lIns="73152" tIns="73152" rIns="73152" bIns="73152">
            <a:spAutoFit/>
          </a:bodyPr>
          <a:lstStyle/>
          <a:p>
            <a:pPr algn="l">
              <a:defRPr sz="2000" b="1">
                <a:solidFill>
                  <a:srgbClr val="12304C"/>
                </a:solidFill>
                <a:latin typeface="Aptos"/>
              </a:defRPr>
            </a:pPr>
            <a:r>
              <a:t>3</a:t>
            </a:r>
          </a:p>
        </p:txBody>
      </p:sp>
      <p:sp>
        <p:nvSpPr>
          <p:cNvPr id="18" name="TextBox 17"/>
          <p:cNvSpPr txBox="1"/>
          <p:nvPr/>
        </p:nvSpPr>
        <p:spPr>
          <a:xfrm>
            <a:off x="1161669" y="2734455"/>
            <a:ext cx="4523613" cy="547842"/>
          </a:xfrm>
          <a:prstGeom prst="rect">
            <a:avLst/>
          </a:prstGeom>
          <a:noFill/>
        </p:spPr>
        <p:txBody>
          <a:bodyPr wrap="square" lIns="73152" tIns="73152" rIns="73152" bIns="73152">
            <a:spAutoFit/>
          </a:bodyPr>
          <a:lstStyle/>
          <a:p>
            <a:pPr algn="l">
              <a:defRPr sz="1300" b="0">
                <a:solidFill>
                  <a:srgbClr val="232323"/>
                </a:solidFill>
                <a:latin typeface="Aptos"/>
              </a:defRPr>
            </a:pPr>
            <a:r>
              <a:rPr dirty="0"/>
              <a:t>Analyze how job satisfaction influences quality performance, service behavior, and withdrawal.</a:t>
            </a:r>
          </a:p>
        </p:txBody>
      </p:sp>
      <p:sp>
        <p:nvSpPr>
          <p:cNvPr id="19" name="Rounded Rectangle 18"/>
          <p:cNvSpPr/>
          <p:nvPr/>
        </p:nvSpPr>
        <p:spPr>
          <a:xfrm>
            <a:off x="6217920" y="2651760"/>
            <a:ext cx="5029200" cy="86868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2651760"/>
            <a:ext cx="73152" cy="868680"/>
          </a:xfrm>
          <a:prstGeom prst="rect">
            <a:avLst/>
          </a:prstGeom>
          <a:solidFill>
            <a:srgbClr val="457E5A"/>
          </a:solidFill>
          <a:ln>
            <a:solidFill>
              <a:srgbClr val="457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82512" y="2770632"/>
            <a:ext cx="283989" cy="455509"/>
          </a:xfrm>
          <a:prstGeom prst="rect">
            <a:avLst/>
          </a:prstGeom>
          <a:noFill/>
        </p:spPr>
        <p:txBody>
          <a:bodyPr wrap="none" lIns="73152" tIns="73152" rIns="73152" bIns="73152">
            <a:spAutoFit/>
          </a:bodyPr>
          <a:lstStyle/>
          <a:p>
            <a:pPr algn="l">
              <a:defRPr sz="2000" b="1">
                <a:solidFill>
                  <a:srgbClr val="12304C"/>
                </a:solidFill>
                <a:latin typeface="Aptos"/>
              </a:defRPr>
            </a:pPr>
            <a:r>
              <a:t>4</a:t>
            </a:r>
          </a:p>
        </p:txBody>
      </p:sp>
      <p:sp>
        <p:nvSpPr>
          <p:cNvPr id="22" name="TextBox 21"/>
          <p:cNvSpPr txBox="1"/>
          <p:nvPr/>
        </p:nvSpPr>
        <p:spPr>
          <a:xfrm>
            <a:off x="6649212" y="2830068"/>
            <a:ext cx="4247253" cy="347788"/>
          </a:xfrm>
          <a:prstGeom prst="rect">
            <a:avLst/>
          </a:prstGeom>
          <a:noFill/>
        </p:spPr>
        <p:txBody>
          <a:bodyPr wrap="none" lIns="73152" tIns="73152" rIns="73152" bIns="73152">
            <a:spAutoFit/>
          </a:bodyPr>
          <a:lstStyle/>
          <a:p>
            <a:pPr algn="l">
              <a:defRPr sz="1300" b="0">
                <a:solidFill>
                  <a:srgbClr val="232323"/>
                </a:solidFill>
                <a:latin typeface="Aptos"/>
              </a:defRPr>
            </a:pPr>
            <a:r>
              <a:rPr dirty="0"/>
              <a:t>Interpret practical indicators of employee dissatisfaction.</a:t>
            </a:r>
          </a:p>
        </p:txBody>
      </p:sp>
      <p:sp>
        <p:nvSpPr>
          <p:cNvPr id="23" name="Rounded Rectangle 22"/>
          <p:cNvSpPr/>
          <p:nvPr/>
        </p:nvSpPr>
        <p:spPr>
          <a:xfrm>
            <a:off x="731520" y="3794760"/>
            <a:ext cx="5029200" cy="86868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31520" y="3794760"/>
            <a:ext cx="73152" cy="868680"/>
          </a:xfrm>
          <a:prstGeom prst="rect">
            <a:avLst/>
          </a:prstGeom>
          <a:solidFill>
            <a:srgbClr val="457E5A"/>
          </a:solidFill>
          <a:ln>
            <a:solidFill>
              <a:srgbClr val="457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96112" y="3913632"/>
            <a:ext cx="283989" cy="455509"/>
          </a:xfrm>
          <a:prstGeom prst="rect">
            <a:avLst/>
          </a:prstGeom>
          <a:noFill/>
        </p:spPr>
        <p:txBody>
          <a:bodyPr wrap="none" lIns="73152" tIns="73152" rIns="73152" bIns="73152">
            <a:spAutoFit/>
          </a:bodyPr>
          <a:lstStyle/>
          <a:p>
            <a:pPr algn="l">
              <a:defRPr sz="2000" b="1">
                <a:solidFill>
                  <a:srgbClr val="12304C"/>
                </a:solidFill>
                <a:latin typeface="Aptos"/>
              </a:defRPr>
            </a:pPr>
            <a:r>
              <a:t>5</a:t>
            </a:r>
          </a:p>
        </p:txBody>
      </p:sp>
      <p:sp>
        <p:nvSpPr>
          <p:cNvPr id="26" name="TextBox 25"/>
          <p:cNvSpPr txBox="1"/>
          <p:nvPr/>
        </p:nvSpPr>
        <p:spPr>
          <a:xfrm>
            <a:off x="1117854" y="3941463"/>
            <a:ext cx="4533138" cy="547842"/>
          </a:xfrm>
          <a:prstGeom prst="rect">
            <a:avLst/>
          </a:prstGeom>
          <a:noFill/>
        </p:spPr>
        <p:txBody>
          <a:bodyPr wrap="square" lIns="73152" tIns="73152" rIns="73152" bIns="73152">
            <a:spAutoFit/>
          </a:bodyPr>
          <a:lstStyle/>
          <a:p>
            <a:pPr algn="l">
              <a:defRPr sz="1300" b="0">
                <a:solidFill>
                  <a:srgbClr val="232323"/>
                </a:solidFill>
                <a:latin typeface="Aptos"/>
              </a:defRPr>
            </a:pPr>
            <a:r>
              <a:rPr dirty="0"/>
              <a:t>Recommend management actions that strengthen attitudes supportive of quality.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none" lIns="73152" tIns="73152" rIns="73152" bIns="73152">
            <a:spAutoFit/>
          </a:bodyPr>
          <a:lstStyle/>
          <a:p>
            <a:pPr algn="l">
              <a:defRPr sz="2900" b="1">
                <a:solidFill>
                  <a:srgbClr val="12304C"/>
                </a:solidFill>
                <a:latin typeface="Aptos"/>
              </a:defRPr>
            </a:pPr>
            <a:r>
              <a:t>Opening Case: When Attitudes Become a Quality Issue</a:t>
            </a:r>
          </a:p>
        </p:txBody>
      </p:sp>
      <p:sp>
        <p:nvSpPr>
          <p:cNvPr id="3" name="Rectangle 2"/>
          <p:cNvSpPr/>
          <p:nvPr/>
        </p:nvSpPr>
        <p:spPr>
          <a:xfrm>
            <a:off x="548640" y="1234440"/>
            <a:ext cx="11064240" cy="27432"/>
          </a:xfrm>
          <a:prstGeom prst="rect">
            <a:avLst/>
          </a:prstGeom>
          <a:solidFill>
            <a:srgbClr val="D9E6F2"/>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73952"/>
            <a:ext cx="8046720" cy="228600"/>
          </a:xfrm>
          <a:prstGeom prst="rect">
            <a:avLst/>
          </a:prstGeom>
          <a:noFill/>
        </p:spPr>
        <p:txBody>
          <a:bodyPr wrap="none" lIns="73152" tIns="73152" rIns="73152" bIns="73152">
            <a:spAutoFit/>
          </a:bodyPr>
          <a:lstStyle/>
          <a:p>
            <a:pPr algn="l">
              <a:defRPr sz="850" b="0">
                <a:solidFill>
                  <a:srgbClr val="5A5A5A"/>
                </a:solidFill>
                <a:latin typeface="Aptos"/>
              </a:defRPr>
            </a:pPr>
            <a:r>
              <a:t>G TQM 511 | Organizational Behavior and Quality | Week 3</a:t>
            </a:r>
          </a:p>
        </p:txBody>
      </p:sp>
      <p:sp>
        <p:nvSpPr>
          <p:cNvPr id="5" name="TextBox 4"/>
          <p:cNvSpPr txBox="1"/>
          <p:nvPr/>
        </p:nvSpPr>
        <p:spPr>
          <a:xfrm>
            <a:off x="11338560" y="6473952"/>
            <a:ext cx="274320" cy="228600"/>
          </a:xfrm>
          <a:prstGeom prst="rect">
            <a:avLst/>
          </a:prstGeom>
          <a:noFill/>
        </p:spPr>
        <p:txBody>
          <a:bodyPr wrap="none" lIns="73152" tIns="73152" rIns="73152" bIns="73152">
            <a:spAutoFit/>
          </a:bodyPr>
          <a:lstStyle/>
          <a:p>
            <a:pPr algn="r">
              <a:defRPr sz="850" b="0">
                <a:solidFill>
                  <a:srgbClr val="5A5A5A"/>
                </a:solidFill>
                <a:latin typeface="Aptos"/>
              </a:defRPr>
            </a:pPr>
            <a:r>
              <a:t>3</a:t>
            </a:r>
          </a:p>
        </p:txBody>
      </p:sp>
      <p:sp>
        <p:nvSpPr>
          <p:cNvPr id="6" name="Rounded Rectangle 5"/>
          <p:cNvSpPr/>
          <p:nvPr/>
        </p:nvSpPr>
        <p:spPr>
          <a:xfrm>
            <a:off x="731520" y="1508760"/>
            <a:ext cx="10698480" cy="1143000"/>
          </a:xfrm>
          <a:prstGeom prst="roundRect">
            <a:avLst/>
          </a:prstGeom>
          <a:solidFill>
            <a:srgbClr val="E8F1F8"/>
          </a:solidFill>
          <a:ln>
            <a:solidFill>
              <a:srgbClr val="225C8C"/>
            </a:solidFill>
          </a:ln>
        </p:spPr>
        <p:style>
          <a:lnRef idx="1">
            <a:schemeClr val="accent1"/>
          </a:lnRef>
          <a:fillRef idx="3">
            <a:schemeClr val="accent1"/>
          </a:fillRef>
          <a:effectRef idx="2">
            <a:schemeClr val="accent1"/>
          </a:effectRef>
          <a:fontRef idx="minor">
            <a:schemeClr val="lt1"/>
          </a:fontRef>
        </p:style>
        <p:txBody>
          <a:bodyPr lIns="128016" tIns="109728" rIns="128016" bIns="109728" rtlCol="0" anchor="ctr"/>
          <a:lstStyle/>
          <a:p>
            <a:pPr>
              <a:defRPr sz="1600" b="0">
                <a:solidFill>
                  <a:srgbClr val="232323"/>
                </a:solidFill>
                <a:latin typeface="Aptos"/>
              </a:defRPr>
            </a:pPr>
            <a:r>
              <a:rPr dirty="0"/>
              <a:t>A service unit has clear procedures, but customer complaints are rising. Employees say the work is unfairly distributed, supervisors rarely listen, and improvement suggestions are ignored. Some staff follow procedures carefully, while others do only the minimum. Absenteeism has increased.</a:t>
            </a:r>
          </a:p>
        </p:txBody>
      </p:sp>
      <p:sp>
        <p:nvSpPr>
          <p:cNvPr id="7" name="Rectangle 6"/>
          <p:cNvSpPr/>
          <p:nvPr/>
        </p:nvSpPr>
        <p:spPr>
          <a:xfrm>
            <a:off x="731520" y="2944368"/>
            <a:ext cx="1280160" cy="320040"/>
          </a:xfrm>
          <a:prstGeom prst="rect">
            <a:avLst/>
          </a:prstGeom>
          <a:solidFill>
            <a:srgbClr val="225C8C"/>
          </a:solidFill>
          <a:ln>
            <a:solidFill>
              <a:srgbClr val="225C8C"/>
            </a:solidFill>
          </a:ln>
        </p:spPr>
        <p:style>
          <a:lnRef idx="1">
            <a:schemeClr val="accent1"/>
          </a:lnRef>
          <a:fillRef idx="3">
            <a:schemeClr val="accent1"/>
          </a:fillRef>
          <a:effectRef idx="2">
            <a:schemeClr val="accent1"/>
          </a:effectRef>
          <a:fontRef idx="minor">
            <a:schemeClr val="lt1"/>
          </a:fontRef>
        </p:style>
        <p:txBody>
          <a:bodyPr lIns="82296" tIns="27432" rtlCol="0" anchor="ctr"/>
          <a:lstStyle/>
          <a:p>
            <a:pPr algn="ctr">
              <a:defRPr sz="1000" b="1">
                <a:solidFill>
                  <a:srgbClr val="FFFFFF"/>
                </a:solidFill>
                <a:latin typeface="Aptos"/>
              </a:defRPr>
            </a:pPr>
            <a:r>
              <a:t>DISCUSS</a:t>
            </a:r>
          </a:p>
        </p:txBody>
      </p:sp>
      <p:sp>
        <p:nvSpPr>
          <p:cNvPr id="8" name="TextBox 7"/>
          <p:cNvSpPr txBox="1"/>
          <p:nvPr/>
        </p:nvSpPr>
        <p:spPr>
          <a:xfrm>
            <a:off x="868680" y="3383280"/>
            <a:ext cx="5120640" cy="2057400"/>
          </a:xfrm>
          <a:prstGeom prst="rect">
            <a:avLst/>
          </a:prstGeom>
          <a:noFill/>
        </p:spPr>
        <p:txBody>
          <a:bodyPr wrap="none" lIns="73152" rIns="73152">
            <a:spAutoFit/>
          </a:bodyPr>
          <a:lstStyle/>
          <a:p>
            <a:pPr>
              <a:spcAft>
                <a:spcPts val="300"/>
              </a:spcAft>
              <a:defRPr sz="1700">
                <a:solidFill>
                  <a:srgbClr val="232323"/>
                </a:solidFill>
                <a:latin typeface="Aptos"/>
              </a:defRPr>
            </a:pPr>
            <a:r>
              <a:t>What attitudes are visible in this situation?</a:t>
            </a:r>
          </a:p>
          <a:p>
            <a:pPr>
              <a:spcAft>
                <a:spcPts val="300"/>
              </a:spcAft>
              <a:defRPr sz="1700">
                <a:solidFill>
                  <a:srgbClr val="232323"/>
                </a:solidFill>
                <a:latin typeface="Aptos"/>
              </a:defRPr>
            </a:pPr>
            <a:r>
              <a:t>How could these attitudes affect service quality?</a:t>
            </a:r>
          </a:p>
          <a:p>
            <a:pPr>
              <a:spcAft>
                <a:spcPts val="300"/>
              </a:spcAft>
              <a:defRPr sz="1700">
                <a:solidFill>
                  <a:srgbClr val="232323"/>
                </a:solidFill>
                <a:latin typeface="Aptos"/>
              </a:defRPr>
            </a:pPr>
            <a:r>
              <a:t>Which quality problem is behavioral rather than technical?</a:t>
            </a:r>
          </a:p>
          <a:p>
            <a:pPr>
              <a:spcAft>
                <a:spcPts val="300"/>
              </a:spcAft>
              <a:defRPr sz="1700">
                <a:solidFill>
                  <a:srgbClr val="232323"/>
                </a:solidFill>
                <a:latin typeface="Aptos"/>
              </a:defRPr>
            </a:pPr>
            <a:r>
              <a:t>What evidence should managers collect before acting?</a:t>
            </a:r>
          </a:p>
        </p:txBody>
      </p:sp>
      <p:sp>
        <p:nvSpPr>
          <p:cNvPr id="9" name="Rounded Rectangle 8"/>
          <p:cNvSpPr/>
          <p:nvPr/>
        </p:nvSpPr>
        <p:spPr>
          <a:xfrm>
            <a:off x="6400800" y="3337560"/>
            <a:ext cx="4572000" cy="137160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0" y="3337560"/>
            <a:ext cx="73152" cy="1371600"/>
          </a:xfrm>
          <a:prstGeom prst="rect">
            <a:avLst/>
          </a:prstGeom>
          <a:solidFill>
            <a:srgbClr val="C87A34"/>
          </a:solidFill>
          <a:ln>
            <a:solidFill>
              <a:srgbClr val="C87A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65392" y="3456432"/>
            <a:ext cx="4297680" cy="246888"/>
          </a:xfrm>
          <a:prstGeom prst="rect">
            <a:avLst/>
          </a:prstGeom>
          <a:noFill/>
        </p:spPr>
        <p:txBody>
          <a:bodyPr wrap="none" lIns="73152" tIns="73152" rIns="73152" bIns="73152">
            <a:spAutoFit/>
          </a:bodyPr>
          <a:lstStyle/>
          <a:p>
            <a:pPr algn="l">
              <a:defRPr sz="1500" b="1">
                <a:solidFill>
                  <a:srgbClr val="12304C"/>
                </a:solidFill>
                <a:latin typeface="Aptos"/>
              </a:defRPr>
            </a:pPr>
            <a:r>
              <a:t>Quality insight</a:t>
            </a:r>
          </a:p>
        </p:txBody>
      </p:sp>
      <p:sp>
        <p:nvSpPr>
          <p:cNvPr id="12" name="TextBox 11"/>
          <p:cNvSpPr txBox="1"/>
          <p:nvPr/>
        </p:nvSpPr>
        <p:spPr>
          <a:xfrm>
            <a:off x="6565392" y="3776472"/>
            <a:ext cx="4159758" cy="840230"/>
          </a:xfrm>
          <a:prstGeom prst="rect">
            <a:avLst/>
          </a:prstGeom>
          <a:noFill/>
        </p:spPr>
        <p:txBody>
          <a:bodyPr wrap="square" lIns="73152" tIns="73152" rIns="73152" bIns="73152">
            <a:spAutoFit/>
          </a:bodyPr>
          <a:lstStyle/>
          <a:p>
            <a:pPr algn="l">
              <a:defRPr sz="1500" b="0">
                <a:solidFill>
                  <a:srgbClr val="232323"/>
                </a:solidFill>
                <a:latin typeface="Aptos"/>
              </a:defRPr>
            </a:pPr>
            <a:r>
              <a:rPr dirty="0"/>
              <a:t>Quality systems do not work consistently when employees are disengaged, dissatisfied, or unwilling to speak up.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none" lIns="73152" tIns="73152" rIns="73152" bIns="73152">
            <a:spAutoFit/>
          </a:bodyPr>
          <a:lstStyle/>
          <a:p>
            <a:pPr algn="l">
              <a:defRPr sz="2900" b="1">
                <a:solidFill>
                  <a:srgbClr val="12304C"/>
                </a:solidFill>
                <a:latin typeface="Aptos"/>
              </a:defRPr>
            </a:pPr>
            <a:r>
              <a:rPr dirty="0"/>
              <a:t>What Are Attitudes?</a:t>
            </a:r>
          </a:p>
        </p:txBody>
      </p:sp>
      <p:sp>
        <p:nvSpPr>
          <p:cNvPr id="3" name="Rectangle 2"/>
          <p:cNvSpPr/>
          <p:nvPr/>
        </p:nvSpPr>
        <p:spPr>
          <a:xfrm>
            <a:off x="548640" y="1234440"/>
            <a:ext cx="11064240" cy="27432"/>
          </a:xfrm>
          <a:prstGeom prst="rect">
            <a:avLst/>
          </a:prstGeom>
          <a:solidFill>
            <a:srgbClr val="D9E6F2"/>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73952"/>
            <a:ext cx="8046720" cy="228600"/>
          </a:xfrm>
          <a:prstGeom prst="rect">
            <a:avLst/>
          </a:prstGeom>
          <a:noFill/>
        </p:spPr>
        <p:txBody>
          <a:bodyPr wrap="none" lIns="73152" tIns="73152" rIns="73152" bIns="73152">
            <a:spAutoFit/>
          </a:bodyPr>
          <a:lstStyle/>
          <a:p>
            <a:pPr algn="l">
              <a:defRPr sz="850" b="0">
                <a:solidFill>
                  <a:srgbClr val="5A5A5A"/>
                </a:solidFill>
                <a:latin typeface="Aptos"/>
              </a:defRPr>
            </a:pPr>
            <a:r>
              <a:t>G TQM 511 | Organizational Behavior and Quality | Week 3</a:t>
            </a:r>
          </a:p>
        </p:txBody>
      </p:sp>
      <p:sp>
        <p:nvSpPr>
          <p:cNvPr id="5" name="TextBox 4"/>
          <p:cNvSpPr txBox="1"/>
          <p:nvPr/>
        </p:nvSpPr>
        <p:spPr>
          <a:xfrm>
            <a:off x="11338560" y="6473952"/>
            <a:ext cx="274320" cy="228600"/>
          </a:xfrm>
          <a:prstGeom prst="rect">
            <a:avLst/>
          </a:prstGeom>
          <a:noFill/>
        </p:spPr>
        <p:txBody>
          <a:bodyPr wrap="none" lIns="73152" tIns="73152" rIns="73152" bIns="73152">
            <a:spAutoFit/>
          </a:bodyPr>
          <a:lstStyle/>
          <a:p>
            <a:pPr algn="r">
              <a:defRPr sz="850" b="0">
                <a:solidFill>
                  <a:srgbClr val="5A5A5A"/>
                </a:solidFill>
                <a:latin typeface="Aptos"/>
              </a:defRPr>
            </a:pPr>
            <a:r>
              <a:t>4</a:t>
            </a:r>
          </a:p>
        </p:txBody>
      </p:sp>
      <p:sp>
        <p:nvSpPr>
          <p:cNvPr id="6" name="Rounded Rectangle 5"/>
          <p:cNvSpPr/>
          <p:nvPr/>
        </p:nvSpPr>
        <p:spPr>
          <a:xfrm>
            <a:off x="731520" y="1481328"/>
            <a:ext cx="10698480" cy="822960"/>
          </a:xfrm>
          <a:prstGeom prst="roundRect">
            <a:avLst/>
          </a:prstGeom>
          <a:solidFill>
            <a:srgbClr val="E8F1F8"/>
          </a:solidFill>
          <a:ln>
            <a:solidFill>
              <a:srgbClr val="225C8C"/>
            </a:solidFill>
          </a:ln>
        </p:spPr>
        <p:style>
          <a:lnRef idx="1">
            <a:schemeClr val="accent1"/>
          </a:lnRef>
          <a:fillRef idx="3">
            <a:schemeClr val="accent1"/>
          </a:fillRef>
          <a:effectRef idx="2">
            <a:schemeClr val="accent1"/>
          </a:effectRef>
          <a:fontRef idx="minor">
            <a:schemeClr val="lt1"/>
          </a:fontRef>
        </p:style>
        <p:txBody>
          <a:bodyPr lIns="128016" tIns="109728" rIns="128016" bIns="109728" rtlCol="0" anchor="ctr"/>
          <a:lstStyle/>
          <a:p>
            <a:pPr algn="ctr">
              <a:defRPr sz="1700" b="0">
                <a:solidFill>
                  <a:srgbClr val="232323"/>
                </a:solidFill>
                <a:latin typeface="Aptos"/>
              </a:defRPr>
            </a:pPr>
            <a:r>
              <a:rPr dirty="0"/>
              <a:t>Attitudes are evaluative statements or judgments about objects, people, or events. In organizations, attitudes influence how people interpret situations and choose behaviors.</a:t>
            </a:r>
          </a:p>
        </p:txBody>
      </p:sp>
      <p:sp>
        <p:nvSpPr>
          <p:cNvPr id="7" name="Rounded Rectangle 6"/>
          <p:cNvSpPr/>
          <p:nvPr/>
        </p:nvSpPr>
        <p:spPr>
          <a:xfrm>
            <a:off x="822960" y="2788920"/>
            <a:ext cx="3474720" cy="132588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22960" y="2788920"/>
            <a:ext cx="73152" cy="1325880"/>
          </a:xfrm>
          <a:prstGeom prst="rect">
            <a:avLst/>
          </a:prstGeom>
          <a:solidFill>
            <a:srgbClr val="225C8C"/>
          </a:solidFill>
          <a:ln>
            <a:solidFill>
              <a:srgbClr val="22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7552" y="2907791"/>
            <a:ext cx="3200400" cy="246888"/>
          </a:xfrm>
          <a:prstGeom prst="rect">
            <a:avLst/>
          </a:prstGeom>
          <a:noFill/>
        </p:spPr>
        <p:txBody>
          <a:bodyPr wrap="none" lIns="73152" tIns="73152" rIns="73152" bIns="73152">
            <a:spAutoFit/>
          </a:bodyPr>
          <a:lstStyle/>
          <a:p>
            <a:pPr algn="l">
              <a:defRPr sz="1500" b="1">
                <a:solidFill>
                  <a:srgbClr val="12304C"/>
                </a:solidFill>
                <a:latin typeface="Aptos"/>
              </a:defRPr>
            </a:pPr>
            <a:r>
              <a:rPr lang="en-US" dirty="0"/>
              <a:t>Cognitive component</a:t>
            </a:r>
          </a:p>
        </p:txBody>
      </p:sp>
      <p:sp>
        <p:nvSpPr>
          <p:cNvPr id="10" name="TextBox 9"/>
          <p:cNvSpPr txBox="1"/>
          <p:nvPr/>
        </p:nvSpPr>
        <p:spPr>
          <a:xfrm>
            <a:off x="987552" y="3227832"/>
            <a:ext cx="3200400" cy="777240"/>
          </a:xfrm>
          <a:prstGeom prst="rect">
            <a:avLst/>
          </a:prstGeom>
          <a:noFill/>
        </p:spPr>
        <p:txBody>
          <a:bodyPr wrap="none" lIns="73152" tIns="73152" rIns="73152" bIns="73152">
            <a:spAutoFit/>
          </a:bodyPr>
          <a:lstStyle/>
          <a:p>
            <a:pPr algn="l">
              <a:defRPr sz="1350" b="0">
                <a:solidFill>
                  <a:srgbClr val="232323"/>
                </a:solidFill>
                <a:latin typeface="Aptos"/>
              </a:defRPr>
            </a:pPr>
            <a:r>
              <a:t>Belief or opinion</a:t>
            </a:r>
            <a:br/>
            <a:r>
              <a:t>Example: “The quality procedure is useful.”</a:t>
            </a:r>
          </a:p>
        </p:txBody>
      </p:sp>
      <p:sp>
        <p:nvSpPr>
          <p:cNvPr id="11" name="Rounded Rectangle 10"/>
          <p:cNvSpPr/>
          <p:nvPr/>
        </p:nvSpPr>
        <p:spPr>
          <a:xfrm>
            <a:off x="4434840" y="2788920"/>
            <a:ext cx="3474720" cy="132588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2788920"/>
            <a:ext cx="73152" cy="1325880"/>
          </a:xfrm>
          <a:prstGeom prst="rect">
            <a:avLst/>
          </a:prstGeom>
          <a:solidFill>
            <a:srgbClr val="457E5A"/>
          </a:solidFill>
          <a:ln>
            <a:solidFill>
              <a:srgbClr val="457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9431" y="2907791"/>
            <a:ext cx="3200400" cy="246888"/>
          </a:xfrm>
          <a:prstGeom prst="rect">
            <a:avLst/>
          </a:prstGeom>
          <a:noFill/>
        </p:spPr>
        <p:txBody>
          <a:bodyPr wrap="none" lIns="73152" tIns="73152" rIns="73152" bIns="73152">
            <a:spAutoFit/>
          </a:bodyPr>
          <a:lstStyle/>
          <a:p>
            <a:pPr algn="l">
              <a:defRPr sz="1500" b="1">
                <a:solidFill>
                  <a:srgbClr val="12304C"/>
                </a:solidFill>
                <a:latin typeface="Aptos"/>
              </a:defRPr>
            </a:pPr>
            <a:r>
              <a:t>Affective component</a:t>
            </a:r>
          </a:p>
        </p:txBody>
      </p:sp>
      <p:sp>
        <p:nvSpPr>
          <p:cNvPr id="14" name="TextBox 13"/>
          <p:cNvSpPr txBox="1"/>
          <p:nvPr/>
        </p:nvSpPr>
        <p:spPr>
          <a:xfrm>
            <a:off x="4599431" y="3227832"/>
            <a:ext cx="3084579" cy="777240"/>
          </a:xfrm>
          <a:prstGeom prst="rect">
            <a:avLst/>
          </a:prstGeom>
          <a:noFill/>
        </p:spPr>
        <p:txBody>
          <a:bodyPr wrap="square" lIns="73152" tIns="73152" rIns="73152" bIns="73152">
            <a:spAutoFit/>
          </a:bodyPr>
          <a:lstStyle/>
          <a:p>
            <a:pPr algn="l">
              <a:defRPr sz="1350" b="0">
                <a:solidFill>
                  <a:srgbClr val="232323"/>
                </a:solidFill>
                <a:latin typeface="Aptos"/>
              </a:defRPr>
            </a:pPr>
            <a:r>
              <a:rPr dirty="0"/>
              <a:t>Feeling or emotion</a:t>
            </a:r>
            <a:br>
              <a:rPr dirty="0"/>
            </a:br>
            <a:r>
              <a:rPr dirty="0"/>
              <a:t>Example: “I feel proud when we reduce errors.”</a:t>
            </a:r>
          </a:p>
        </p:txBody>
      </p:sp>
      <p:sp>
        <p:nvSpPr>
          <p:cNvPr id="15" name="Rounded Rectangle 14"/>
          <p:cNvSpPr/>
          <p:nvPr/>
        </p:nvSpPr>
        <p:spPr>
          <a:xfrm>
            <a:off x="8046720" y="2788920"/>
            <a:ext cx="3474720" cy="132588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2788920"/>
            <a:ext cx="73152" cy="1325880"/>
          </a:xfrm>
          <a:prstGeom prst="rect">
            <a:avLst/>
          </a:prstGeom>
          <a:solidFill>
            <a:srgbClr val="C87A34"/>
          </a:solidFill>
          <a:ln>
            <a:solidFill>
              <a:srgbClr val="C87A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11312" y="2907791"/>
            <a:ext cx="3200400" cy="246888"/>
          </a:xfrm>
          <a:prstGeom prst="rect">
            <a:avLst/>
          </a:prstGeom>
          <a:noFill/>
        </p:spPr>
        <p:txBody>
          <a:bodyPr wrap="none" lIns="73152" tIns="73152" rIns="73152" bIns="73152">
            <a:spAutoFit/>
          </a:bodyPr>
          <a:lstStyle/>
          <a:p>
            <a:pPr algn="l">
              <a:defRPr sz="1500" b="1">
                <a:solidFill>
                  <a:srgbClr val="12304C"/>
                </a:solidFill>
                <a:latin typeface="Aptos"/>
              </a:defRPr>
            </a:pPr>
            <a:r>
              <a:t>Behavioral component</a:t>
            </a:r>
          </a:p>
        </p:txBody>
      </p:sp>
      <p:sp>
        <p:nvSpPr>
          <p:cNvPr id="18" name="TextBox 17"/>
          <p:cNvSpPr txBox="1"/>
          <p:nvPr/>
        </p:nvSpPr>
        <p:spPr>
          <a:xfrm>
            <a:off x="8211312" y="3227832"/>
            <a:ext cx="3200400" cy="777240"/>
          </a:xfrm>
          <a:prstGeom prst="rect">
            <a:avLst/>
          </a:prstGeom>
          <a:noFill/>
        </p:spPr>
        <p:txBody>
          <a:bodyPr wrap="none" lIns="73152" tIns="73152" rIns="73152" bIns="73152">
            <a:spAutoFit/>
          </a:bodyPr>
          <a:lstStyle/>
          <a:p>
            <a:pPr algn="l">
              <a:defRPr sz="1350" b="0">
                <a:solidFill>
                  <a:srgbClr val="232323"/>
                </a:solidFill>
                <a:latin typeface="Aptos"/>
              </a:defRPr>
            </a:pPr>
            <a:r>
              <a:rPr dirty="0"/>
              <a:t>Intention to act</a:t>
            </a:r>
            <a:br>
              <a:rPr dirty="0"/>
            </a:br>
            <a:r>
              <a:rPr dirty="0"/>
              <a:t>Example: “I will report a nonconformity.”</a:t>
            </a:r>
          </a:p>
        </p:txBody>
      </p:sp>
      <p:sp>
        <p:nvSpPr>
          <p:cNvPr id="19" name="TextBox 18"/>
          <p:cNvSpPr txBox="1"/>
          <p:nvPr/>
        </p:nvSpPr>
        <p:spPr>
          <a:xfrm>
            <a:off x="1005840" y="4892040"/>
            <a:ext cx="9893808" cy="701731"/>
          </a:xfrm>
          <a:prstGeom prst="rect">
            <a:avLst/>
          </a:prstGeom>
          <a:noFill/>
        </p:spPr>
        <p:txBody>
          <a:bodyPr wrap="square" lIns="73152" tIns="73152" rIns="73152" bIns="73152">
            <a:spAutoFit/>
          </a:bodyPr>
          <a:lstStyle/>
          <a:p>
            <a:pPr algn="l">
              <a:defRPr sz="1800" b="1">
                <a:solidFill>
                  <a:srgbClr val="12304C"/>
                </a:solidFill>
                <a:latin typeface="Aptos"/>
              </a:defRPr>
            </a:pPr>
            <a:r>
              <a:rPr dirty="0"/>
              <a:t>Quality application: To change quality behavior, managers must address beliefs, feelings, and intended actions—not only issue instructions.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none" lIns="73152" tIns="73152" rIns="73152" bIns="73152">
            <a:spAutoFit/>
          </a:bodyPr>
          <a:lstStyle/>
          <a:p>
            <a:pPr algn="l">
              <a:defRPr sz="2900" b="1">
                <a:solidFill>
                  <a:srgbClr val="12304C"/>
                </a:solidFill>
                <a:latin typeface="Aptos"/>
              </a:defRPr>
            </a:pPr>
            <a:r>
              <a:rPr dirty="0"/>
              <a:t>Attitudes and Behavior: Cognitive Dissonance</a:t>
            </a:r>
          </a:p>
        </p:txBody>
      </p:sp>
      <p:sp>
        <p:nvSpPr>
          <p:cNvPr id="3" name="Rectangle 2"/>
          <p:cNvSpPr/>
          <p:nvPr/>
        </p:nvSpPr>
        <p:spPr>
          <a:xfrm>
            <a:off x="548640" y="1234440"/>
            <a:ext cx="11064240" cy="27432"/>
          </a:xfrm>
          <a:prstGeom prst="rect">
            <a:avLst/>
          </a:prstGeom>
          <a:solidFill>
            <a:srgbClr val="D9E6F2"/>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73952"/>
            <a:ext cx="8046720" cy="228600"/>
          </a:xfrm>
          <a:prstGeom prst="rect">
            <a:avLst/>
          </a:prstGeom>
          <a:noFill/>
        </p:spPr>
        <p:txBody>
          <a:bodyPr wrap="none" lIns="73152" tIns="73152" rIns="73152" bIns="73152">
            <a:spAutoFit/>
          </a:bodyPr>
          <a:lstStyle/>
          <a:p>
            <a:pPr algn="l">
              <a:defRPr sz="850" b="0">
                <a:solidFill>
                  <a:srgbClr val="5A5A5A"/>
                </a:solidFill>
                <a:latin typeface="Aptos"/>
              </a:defRPr>
            </a:pPr>
            <a:r>
              <a:t>G TQM 511 | Organizational Behavior and Quality | Week 3</a:t>
            </a:r>
          </a:p>
        </p:txBody>
      </p:sp>
      <p:sp>
        <p:nvSpPr>
          <p:cNvPr id="5" name="TextBox 4"/>
          <p:cNvSpPr txBox="1"/>
          <p:nvPr/>
        </p:nvSpPr>
        <p:spPr>
          <a:xfrm>
            <a:off x="11338560" y="6473952"/>
            <a:ext cx="274320" cy="228600"/>
          </a:xfrm>
          <a:prstGeom prst="rect">
            <a:avLst/>
          </a:prstGeom>
          <a:noFill/>
        </p:spPr>
        <p:txBody>
          <a:bodyPr wrap="none" lIns="73152" tIns="73152" rIns="73152" bIns="73152">
            <a:spAutoFit/>
          </a:bodyPr>
          <a:lstStyle/>
          <a:p>
            <a:pPr algn="r">
              <a:defRPr sz="850" b="0">
                <a:solidFill>
                  <a:srgbClr val="5A5A5A"/>
                </a:solidFill>
                <a:latin typeface="Aptos"/>
              </a:defRPr>
            </a:pPr>
            <a:r>
              <a:t>5</a:t>
            </a:r>
          </a:p>
        </p:txBody>
      </p:sp>
      <p:sp>
        <p:nvSpPr>
          <p:cNvPr id="6" name="Rounded Rectangle 5"/>
          <p:cNvSpPr/>
          <p:nvPr/>
        </p:nvSpPr>
        <p:spPr>
          <a:xfrm>
            <a:off x="731520" y="1463040"/>
            <a:ext cx="10698480" cy="685800"/>
          </a:xfrm>
          <a:prstGeom prst="roundRect">
            <a:avLst/>
          </a:prstGeom>
          <a:solidFill>
            <a:srgbClr val="E8F1F8"/>
          </a:solidFill>
          <a:ln>
            <a:solidFill>
              <a:srgbClr val="225C8C"/>
            </a:solidFill>
          </a:ln>
        </p:spPr>
        <p:style>
          <a:lnRef idx="1">
            <a:schemeClr val="accent1"/>
          </a:lnRef>
          <a:fillRef idx="3">
            <a:schemeClr val="accent1"/>
          </a:fillRef>
          <a:effectRef idx="2">
            <a:schemeClr val="accent1"/>
          </a:effectRef>
          <a:fontRef idx="minor">
            <a:schemeClr val="lt1"/>
          </a:fontRef>
        </p:style>
        <p:txBody>
          <a:bodyPr lIns="128016" tIns="109728" rIns="128016" bIns="109728" rtlCol="0" anchor="ctr"/>
          <a:lstStyle/>
          <a:p>
            <a:pPr algn="ctr">
              <a:defRPr sz="1700" b="0">
                <a:solidFill>
                  <a:srgbClr val="232323"/>
                </a:solidFill>
                <a:latin typeface="Aptos"/>
              </a:defRPr>
            </a:pPr>
            <a:r>
              <a:t>Cognitive dissonance occurs when a person experiences inconsistency between attitudes and behavior, or between two attitudes.</a:t>
            </a:r>
          </a:p>
        </p:txBody>
      </p:sp>
      <p:sp>
        <p:nvSpPr>
          <p:cNvPr id="7" name="Rounded Rectangle 6"/>
          <p:cNvSpPr/>
          <p:nvPr/>
        </p:nvSpPr>
        <p:spPr>
          <a:xfrm>
            <a:off x="868680" y="2606040"/>
            <a:ext cx="4572000" cy="118872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8680" y="2606040"/>
            <a:ext cx="73152" cy="1188720"/>
          </a:xfrm>
          <a:prstGeom prst="rect">
            <a:avLst/>
          </a:prstGeom>
          <a:solidFill>
            <a:srgbClr val="AA4646"/>
          </a:solidFill>
          <a:ln>
            <a:solidFill>
              <a:srgbClr val="AA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3271" y="2724912"/>
            <a:ext cx="4297680" cy="246888"/>
          </a:xfrm>
          <a:prstGeom prst="rect">
            <a:avLst/>
          </a:prstGeom>
          <a:noFill/>
        </p:spPr>
        <p:txBody>
          <a:bodyPr wrap="none" lIns="73152" tIns="73152" rIns="73152" bIns="73152">
            <a:spAutoFit/>
          </a:bodyPr>
          <a:lstStyle/>
          <a:p>
            <a:pPr algn="l">
              <a:defRPr sz="1500" b="1">
                <a:solidFill>
                  <a:srgbClr val="12304C"/>
                </a:solidFill>
                <a:latin typeface="Aptos"/>
              </a:defRPr>
            </a:pPr>
            <a:r>
              <a:t>Example</a:t>
            </a:r>
          </a:p>
        </p:txBody>
      </p:sp>
      <p:sp>
        <p:nvSpPr>
          <p:cNvPr id="10" name="TextBox 9"/>
          <p:cNvSpPr txBox="1"/>
          <p:nvPr/>
        </p:nvSpPr>
        <p:spPr>
          <a:xfrm>
            <a:off x="1033271" y="3044952"/>
            <a:ext cx="4224529" cy="609398"/>
          </a:xfrm>
          <a:prstGeom prst="rect">
            <a:avLst/>
          </a:prstGeom>
          <a:noFill/>
        </p:spPr>
        <p:txBody>
          <a:bodyPr wrap="square" lIns="73152" tIns="73152" rIns="73152" bIns="73152">
            <a:spAutoFit/>
          </a:bodyPr>
          <a:lstStyle/>
          <a:p>
            <a:pPr algn="l">
              <a:defRPr sz="1500" b="0">
                <a:solidFill>
                  <a:srgbClr val="232323"/>
                </a:solidFill>
                <a:latin typeface="Aptos"/>
              </a:defRPr>
            </a:pPr>
            <a:r>
              <a:rPr dirty="0"/>
              <a:t>An employee believes that safety and quality matter, but skips a verification step to save time.</a:t>
            </a:r>
          </a:p>
        </p:txBody>
      </p:sp>
      <p:sp>
        <p:nvSpPr>
          <p:cNvPr id="11" name="Rounded Rectangle 10"/>
          <p:cNvSpPr/>
          <p:nvPr/>
        </p:nvSpPr>
        <p:spPr>
          <a:xfrm>
            <a:off x="5989320" y="2606040"/>
            <a:ext cx="4572000" cy="118872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89320" y="2606040"/>
            <a:ext cx="73152" cy="1188720"/>
          </a:xfrm>
          <a:prstGeom prst="rect">
            <a:avLst/>
          </a:prstGeom>
          <a:solidFill>
            <a:srgbClr val="C87A34"/>
          </a:solidFill>
          <a:ln>
            <a:solidFill>
              <a:srgbClr val="C87A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53912" y="2724912"/>
            <a:ext cx="4297680" cy="246888"/>
          </a:xfrm>
          <a:prstGeom prst="rect">
            <a:avLst/>
          </a:prstGeom>
          <a:noFill/>
        </p:spPr>
        <p:txBody>
          <a:bodyPr wrap="none" lIns="73152" tIns="73152" rIns="73152" bIns="73152">
            <a:spAutoFit/>
          </a:bodyPr>
          <a:lstStyle/>
          <a:p>
            <a:pPr algn="l">
              <a:defRPr sz="1500" b="1">
                <a:solidFill>
                  <a:srgbClr val="12304C"/>
                </a:solidFill>
                <a:latin typeface="Aptos"/>
              </a:defRPr>
            </a:pPr>
            <a:r>
              <a:t>Possible reactions</a:t>
            </a:r>
          </a:p>
        </p:txBody>
      </p:sp>
      <p:sp>
        <p:nvSpPr>
          <p:cNvPr id="14" name="TextBox 13"/>
          <p:cNvSpPr txBox="1"/>
          <p:nvPr/>
        </p:nvSpPr>
        <p:spPr>
          <a:xfrm>
            <a:off x="6153912" y="3044952"/>
            <a:ext cx="4180713" cy="840230"/>
          </a:xfrm>
          <a:prstGeom prst="rect">
            <a:avLst/>
          </a:prstGeom>
          <a:noFill/>
        </p:spPr>
        <p:txBody>
          <a:bodyPr wrap="square" lIns="73152" tIns="73152" rIns="73152" bIns="73152">
            <a:spAutoFit/>
          </a:bodyPr>
          <a:lstStyle/>
          <a:p>
            <a:pPr algn="l">
              <a:defRPr sz="1500" b="0">
                <a:solidFill>
                  <a:srgbClr val="232323"/>
                </a:solidFill>
                <a:latin typeface="Aptos"/>
              </a:defRPr>
            </a:pPr>
            <a:r>
              <a:rPr dirty="0"/>
              <a:t>Change behavior, justify the behavior, reduce the importance of the issue, or seek support from others.</a:t>
            </a:r>
          </a:p>
        </p:txBody>
      </p:sp>
      <p:sp>
        <p:nvSpPr>
          <p:cNvPr id="15" name="TextBox 14"/>
          <p:cNvSpPr txBox="1"/>
          <p:nvPr/>
        </p:nvSpPr>
        <p:spPr>
          <a:xfrm>
            <a:off x="914400" y="4343400"/>
            <a:ext cx="10058400" cy="1234440"/>
          </a:xfrm>
          <a:prstGeom prst="rect">
            <a:avLst/>
          </a:prstGeom>
          <a:noFill/>
        </p:spPr>
        <p:txBody>
          <a:bodyPr wrap="none" lIns="73152" rIns="73152">
            <a:spAutoFit/>
          </a:bodyPr>
          <a:lstStyle/>
          <a:p>
            <a:pPr>
              <a:spcAft>
                <a:spcPts val="300"/>
              </a:spcAft>
              <a:defRPr sz="1600">
                <a:solidFill>
                  <a:srgbClr val="232323"/>
                </a:solidFill>
                <a:latin typeface="Aptos"/>
              </a:defRPr>
            </a:pPr>
            <a:r>
              <a:t>Managers should reduce pressures that push employees to act against quality values.</a:t>
            </a:r>
          </a:p>
          <a:p>
            <a:pPr>
              <a:spcAft>
                <a:spcPts val="300"/>
              </a:spcAft>
              <a:defRPr sz="1600">
                <a:solidFill>
                  <a:srgbClr val="232323"/>
                </a:solidFill>
                <a:latin typeface="Aptos"/>
              </a:defRPr>
            </a:pPr>
            <a:r>
              <a:t>Quality culture is stronger when procedures, incentives, and leadership messages are consistent.</a:t>
            </a:r>
          </a:p>
          <a:p>
            <a:pPr>
              <a:spcAft>
                <a:spcPts val="300"/>
              </a:spcAft>
              <a:defRPr sz="1600">
                <a:solidFill>
                  <a:srgbClr val="232323"/>
                </a:solidFill>
                <a:latin typeface="Aptos"/>
              </a:defRPr>
            </a:pPr>
            <a:r>
              <a:t>Do not ask people to “prioritize quality” while rewarding only speed or volume.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6185924" cy="594009"/>
          </a:xfrm>
          <a:prstGeom prst="rect">
            <a:avLst/>
          </a:prstGeom>
          <a:noFill/>
        </p:spPr>
        <p:txBody>
          <a:bodyPr wrap="none" lIns="73152" tIns="73152" rIns="73152" bIns="73152">
            <a:spAutoFit/>
          </a:bodyPr>
          <a:lstStyle/>
          <a:p>
            <a:pPr algn="l">
              <a:defRPr sz="2900" b="1">
                <a:solidFill>
                  <a:srgbClr val="12304C"/>
                </a:solidFill>
                <a:latin typeface="Aptos"/>
              </a:defRPr>
            </a:pPr>
            <a:r>
              <a:rPr sz="2900" dirty="0"/>
              <a:t>Major Job Attitudes in Organizations</a:t>
            </a:r>
          </a:p>
        </p:txBody>
      </p:sp>
      <p:sp>
        <p:nvSpPr>
          <p:cNvPr id="3" name="Rectangle 2"/>
          <p:cNvSpPr/>
          <p:nvPr/>
        </p:nvSpPr>
        <p:spPr>
          <a:xfrm>
            <a:off x="548640" y="1234440"/>
            <a:ext cx="11064240" cy="27432"/>
          </a:xfrm>
          <a:prstGeom prst="rect">
            <a:avLst/>
          </a:prstGeom>
          <a:solidFill>
            <a:srgbClr val="D9E6F2"/>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 name="TextBox 3"/>
          <p:cNvSpPr txBox="1"/>
          <p:nvPr/>
        </p:nvSpPr>
        <p:spPr>
          <a:xfrm>
            <a:off x="548640" y="6473952"/>
            <a:ext cx="2997872" cy="286232"/>
          </a:xfrm>
          <a:prstGeom prst="rect">
            <a:avLst/>
          </a:prstGeom>
          <a:noFill/>
        </p:spPr>
        <p:txBody>
          <a:bodyPr wrap="none" lIns="73152" tIns="73152" rIns="73152" bIns="73152">
            <a:spAutoFit/>
          </a:bodyPr>
          <a:lstStyle/>
          <a:p>
            <a:pPr algn="l">
              <a:defRPr sz="850" b="0">
                <a:solidFill>
                  <a:srgbClr val="5A5A5A"/>
                </a:solidFill>
                <a:latin typeface="Aptos"/>
              </a:defRPr>
            </a:pPr>
            <a:r>
              <a:rPr sz="900"/>
              <a:t>G TQM 511 | Organizational Behavior and Quality | Week 3</a:t>
            </a:r>
          </a:p>
        </p:txBody>
      </p:sp>
      <p:sp>
        <p:nvSpPr>
          <p:cNvPr id="5" name="TextBox 4"/>
          <p:cNvSpPr txBox="1"/>
          <p:nvPr/>
        </p:nvSpPr>
        <p:spPr>
          <a:xfrm>
            <a:off x="11404233" y="6473952"/>
            <a:ext cx="208647" cy="286232"/>
          </a:xfrm>
          <a:prstGeom prst="rect">
            <a:avLst/>
          </a:prstGeom>
          <a:noFill/>
        </p:spPr>
        <p:txBody>
          <a:bodyPr wrap="none" lIns="73152" tIns="73152" rIns="73152" bIns="73152">
            <a:spAutoFit/>
          </a:bodyPr>
          <a:lstStyle/>
          <a:p>
            <a:pPr algn="r">
              <a:defRPr sz="850" b="0">
                <a:solidFill>
                  <a:srgbClr val="5A5A5A"/>
                </a:solidFill>
                <a:latin typeface="Aptos"/>
              </a:defRPr>
            </a:pPr>
            <a:r>
              <a:rPr sz="900"/>
              <a:t>6</a:t>
            </a:r>
          </a:p>
        </p:txBody>
      </p:sp>
      <p:sp>
        <p:nvSpPr>
          <p:cNvPr id="6" name="Rounded Rectangle 5"/>
          <p:cNvSpPr/>
          <p:nvPr/>
        </p:nvSpPr>
        <p:spPr>
          <a:xfrm>
            <a:off x="685800" y="1508760"/>
            <a:ext cx="3520440" cy="105156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 name="Rectangle 6"/>
          <p:cNvSpPr/>
          <p:nvPr/>
        </p:nvSpPr>
        <p:spPr>
          <a:xfrm>
            <a:off x="685800" y="1508760"/>
            <a:ext cx="73152" cy="1051560"/>
          </a:xfrm>
          <a:prstGeom prst="rect">
            <a:avLst/>
          </a:prstGeom>
          <a:solidFill>
            <a:srgbClr val="225C8C"/>
          </a:solidFill>
          <a:ln>
            <a:solidFill>
              <a:srgbClr val="22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7"/>
          <p:cNvSpPr txBox="1"/>
          <p:nvPr/>
        </p:nvSpPr>
        <p:spPr>
          <a:xfrm>
            <a:off x="850392" y="1627631"/>
            <a:ext cx="1429237" cy="363176"/>
          </a:xfrm>
          <a:prstGeom prst="rect">
            <a:avLst/>
          </a:prstGeom>
          <a:noFill/>
        </p:spPr>
        <p:txBody>
          <a:bodyPr wrap="none" lIns="73152" tIns="73152" rIns="73152" bIns="73152">
            <a:spAutoFit/>
          </a:bodyPr>
          <a:lstStyle/>
          <a:p>
            <a:pPr algn="l">
              <a:defRPr sz="1500" b="1">
                <a:solidFill>
                  <a:srgbClr val="12304C"/>
                </a:solidFill>
                <a:latin typeface="Aptos"/>
              </a:defRPr>
            </a:pPr>
            <a:r>
              <a:rPr sz="1400"/>
              <a:t>Job satisfaction</a:t>
            </a:r>
          </a:p>
        </p:txBody>
      </p:sp>
      <p:sp>
        <p:nvSpPr>
          <p:cNvPr id="9" name="TextBox 8"/>
          <p:cNvSpPr txBox="1"/>
          <p:nvPr/>
        </p:nvSpPr>
        <p:spPr>
          <a:xfrm>
            <a:off x="850392" y="1947672"/>
            <a:ext cx="3172968" cy="578620"/>
          </a:xfrm>
          <a:prstGeom prst="rect">
            <a:avLst/>
          </a:prstGeom>
          <a:noFill/>
        </p:spPr>
        <p:txBody>
          <a:bodyPr wrap="square" lIns="73152" tIns="73152" rIns="73152" bIns="73152">
            <a:spAutoFit/>
          </a:bodyPr>
          <a:lstStyle/>
          <a:p>
            <a:pPr algn="l">
              <a:defRPr sz="1300" b="0">
                <a:solidFill>
                  <a:srgbClr val="232323"/>
                </a:solidFill>
                <a:latin typeface="Aptos"/>
              </a:defRPr>
            </a:pPr>
            <a:r>
              <a:rPr sz="1400" dirty="0"/>
              <a:t>Positive feeling about a job resulting from evaluation of its characteristics.</a:t>
            </a:r>
          </a:p>
        </p:txBody>
      </p:sp>
      <p:sp>
        <p:nvSpPr>
          <p:cNvPr id="10" name="Rounded Rectangle 9"/>
          <p:cNvSpPr/>
          <p:nvPr/>
        </p:nvSpPr>
        <p:spPr>
          <a:xfrm>
            <a:off x="4343400" y="1508760"/>
            <a:ext cx="3520440" cy="105156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Rectangle 10"/>
          <p:cNvSpPr/>
          <p:nvPr/>
        </p:nvSpPr>
        <p:spPr>
          <a:xfrm>
            <a:off x="4343400" y="1508760"/>
            <a:ext cx="73152" cy="1051560"/>
          </a:xfrm>
          <a:prstGeom prst="rect">
            <a:avLst/>
          </a:prstGeom>
          <a:solidFill>
            <a:srgbClr val="457E5A"/>
          </a:solidFill>
          <a:ln>
            <a:solidFill>
              <a:srgbClr val="457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TextBox 11"/>
          <p:cNvSpPr txBox="1"/>
          <p:nvPr/>
        </p:nvSpPr>
        <p:spPr>
          <a:xfrm>
            <a:off x="4507992" y="1627631"/>
            <a:ext cx="1465851" cy="363176"/>
          </a:xfrm>
          <a:prstGeom prst="rect">
            <a:avLst/>
          </a:prstGeom>
          <a:noFill/>
        </p:spPr>
        <p:txBody>
          <a:bodyPr wrap="none" lIns="73152" tIns="73152" rIns="73152" bIns="73152">
            <a:spAutoFit/>
          </a:bodyPr>
          <a:lstStyle/>
          <a:p>
            <a:pPr algn="l">
              <a:defRPr sz="1500" b="1">
                <a:solidFill>
                  <a:srgbClr val="12304C"/>
                </a:solidFill>
                <a:latin typeface="Aptos"/>
              </a:defRPr>
            </a:pPr>
            <a:r>
              <a:rPr sz="1400"/>
              <a:t>Job involvement</a:t>
            </a:r>
          </a:p>
        </p:txBody>
      </p:sp>
      <p:sp>
        <p:nvSpPr>
          <p:cNvPr id="13" name="TextBox 12"/>
          <p:cNvSpPr txBox="1"/>
          <p:nvPr/>
        </p:nvSpPr>
        <p:spPr>
          <a:xfrm>
            <a:off x="4507992" y="1837555"/>
            <a:ext cx="3246120" cy="794064"/>
          </a:xfrm>
          <a:prstGeom prst="rect">
            <a:avLst/>
          </a:prstGeom>
          <a:noFill/>
        </p:spPr>
        <p:txBody>
          <a:bodyPr wrap="square" lIns="73152" tIns="73152" rIns="73152" bIns="73152">
            <a:spAutoFit/>
          </a:bodyPr>
          <a:lstStyle/>
          <a:p>
            <a:pPr algn="l">
              <a:defRPr sz="1300" b="0">
                <a:solidFill>
                  <a:srgbClr val="232323"/>
                </a:solidFill>
                <a:latin typeface="Aptos"/>
              </a:defRPr>
            </a:pPr>
            <a:r>
              <a:rPr sz="1400" dirty="0"/>
              <a:t>Degree to which people identify psychologically with their job and performance.</a:t>
            </a:r>
          </a:p>
        </p:txBody>
      </p:sp>
      <p:sp>
        <p:nvSpPr>
          <p:cNvPr id="14" name="Rounded Rectangle 13"/>
          <p:cNvSpPr/>
          <p:nvPr/>
        </p:nvSpPr>
        <p:spPr>
          <a:xfrm>
            <a:off x="8001000" y="1508760"/>
            <a:ext cx="3520440" cy="105156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5" name="Rectangle 14"/>
          <p:cNvSpPr/>
          <p:nvPr/>
        </p:nvSpPr>
        <p:spPr>
          <a:xfrm>
            <a:off x="8001000" y="1508760"/>
            <a:ext cx="73152" cy="1051560"/>
          </a:xfrm>
          <a:prstGeom prst="rect">
            <a:avLst/>
          </a:prstGeom>
          <a:solidFill>
            <a:srgbClr val="C87A34"/>
          </a:solidFill>
          <a:ln>
            <a:solidFill>
              <a:srgbClr val="C87A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8165592" y="1627631"/>
            <a:ext cx="2435090" cy="363176"/>
          </a:xfrm>
          <a:prstGeom prst="rect">
            <a:avLst/>
          </a:prstGeom>
          <a:noFill/>
        </p:spPr>
        <p:txBody>
          <a:bodyPr wrap="none" lIns="73152" tIns="73152" rIns="73152" bIns="73152">
            <a:spAutoFit/>
          </a:bodyPr>
          <a:lstStyle/>
          <a:p>
            <a:pPr algn="l">
              <a:defRPr sz="1500" b="1">
                <a:solidFill>
                  <a:srgbClr val="12304C"/>
                </a:solidFill>
                <a:latin typeface="Aptos"/>
              </a:defRPr>
            </a:pPr>
            <a:r>
              <a:rPr sz="1400"/>
              <a:t>Organizational commitment</a:t>
            </a:r>
          </a:p>
        </p:txBody>
      </p:sp>
      <p:sp>
        <p:nvSpPr>
          <p:cNvPr id="17" name="TextBox 16"/>
          <p:cNvSpPr txBox="1"/>
          <p:nvPr/>
        </p:nvSpPr>
        <p:spPr>
          <a:xfrm>
            <a:off x="8165592" y="1947672"/>
            <a:ext cx="3246120" cy="578620"/>
          </a:xfrm>
          <a:prstGeom prst="rect">
            <a:avLst/>
          </a:prstGeom>
          <a:noFill/>
        </p:spPr>
        <p:txBody>
          <a:bodyPr wrap="square" lIns="73152" tIns="73152" rIns="73152" bIns="73152">
            <a:spAutoFit/>
          </a:bodyPr>
          <a:lstStyle/>
          <a:p>
            <a:pPr algn="l">
              <a:defRPr sz="1300" b="0">
                <a:solidFill>
                  <a:srgbClr val="232323"/>
                </a:solidFill>
                <a:latin typeface="Aptos"/>
              </a:defRPr>
            </a:pPr>
            <a:r>
              <a:rPr sz="1400" dirty="0"/>
              <a:t>Identification with the organization and desire to remain part of it.</a:t>
            </a:r>
          </a:p>
        </p:txBody>
      </p:sp>
      <p:sp>
        <p:nvSpPr>
          <p:cNvPr id="18" name="Rounded Rectangle 17"/>
          <p:cNvSpPr/>
          <p:nvPr/>
        </p:nvSpPr>
        <p:spPr>
          <a:xfrm>
            <a:off x="685800" y="2971800"/>
            <a:ext cx="3520440" cy="118872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 name="Rectangle 18"/>
          <p:cNvSpPr/>
          <p:nvPr/>
        </p:nvSpPr>
        <p:spPr>
          <a:xfrm>
            <a:off x="685800" y="2971800"/>
            <a:ext cx="73152" cy="1188720"/>
          </a:xfrm>
          <a:prstGeom prst="rect">
            <a:avLst/>
          </a:prstGeom>
          <a:solidFill>
            <a:srgbClr val="225C8C"/>
          </a:solidFill>
          <a:ln>
            <a:solidFill>
              <a:srgbClr val="22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TextBox 19"/>
          <p:cNvSpPr txBox="1"/>
          <p:nvPr/>
        </p:nvSpPr>
        <p:spPr>
          <a:xfrm>
            <a:off x="850392" y="3090672"/>
            <a:ext cx="2824619" cy="363176"/>
          </a:xfrm>
          <a:prstGeom prst="rect">
            <a:avLst/>
          </a:prstGeom>
          <a:noFill/>
        </p:spPr>
        <p:txBody>
          <a:bodyPr wrap="none" lIns="73152" tIns="73152" rIns="73152" bIns="73152">
            <a:spAutoFit/>
          </a:bodyPr>
          <a:lstStyle/>
          <a:p>
            <a:pPr algn="l">
              <a:defRPr sz="1500" b="1">
                <a:solidFill>
                  <a:srgbClr val="12304C"/>
                </a:solidFill>
                <a:latin typeface="Aptos"/>
              </a:defRPr>
            </a:pPr>
            <a:r>
              <a:rPr sz="1400"/>
              <a:t>Perceived organizational support</a:t>
            </a:r>
          </a:p>
        </p:txBody>
      </p:sp>
      <p:sp>
        <p:nvSpPr>
          <p:cNvPr id="21" name="TextBox 20"/>
          <p:cNvSpPr txBox="1"/>
          <p:nvPr/>
        </p:nvSpPr>
        <p:spPr>
          <a:xfrm>
            <a:off x="850392" y="3410712"/>
            <a:ext cx="3145536" cy="794064"/>
          </a:xfrm>
          <a:prstGeom prst="rect">
            <a:avLst/>
          </a:prstGeom>
          <a:noFill/>
        </p:spPr>
        <p:txBody>
          <a:bodyPr wrap="square" lIns="73152" tIns="73152" rIns="73152" bIns="73152">
            <a:spAutoFit/>
          </a:bodyPr>
          <a:lstStyle/>
          <a:p>
            <a:pPr algn="l">
              <a:defRPr sz="1280" b="0">
                <a:solidFill>
                  <a:srgbClr val="232323"/>
                </a:solidFill>
                <a:latin typeface="Aptos"/>
              </a:defRPr>
            </a:pPr>
            <a:r>
              <a:rPr sz="1400"/>
              <a:t>Employees’ belief that the organization values their contribution and cares about their well-being.</a:t>
            </a:r>
          </a:p>
        </p:txBody>
      </p:sp>
      <p:sp>
        <p:nvSpPr>
          <p:cNvPr id="22" name="Rounded Rectangle 21"/>
          <p:cNvSpPr/>
          <p:nvPr/>
        </p:nvSpPr>
        <p:spPr>
          <a:xfrm>
            <a:off x="4343400" y="2971800"/>
            <a:ext cx="3520440" cy="118872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Rectangle 22"/>
          <p:cNvSpPr/>
          <p:nvPr/>
        </p:nvSpPr>
        <p:spPr>
          <a:xfrm>
            <a:off x="4343400" y="2971800"/>
            <a:ext cx="73152" cy="1188720"/>
          </a:xfrm>
          <a:prstGeom prst="rect">
            <a:avLst/>
          </a:prstGeom>
          <a:solidFill>
            <a:srgbClr val="457E5A"/>
          </a:solidFill>
          <a:ln>
            <a:solidFill>
              <a:srgbClr val="457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p:cNvSpPr txBox="1"/>
          <p:nvPr/>
        </p:nvSpPr>
        <p:spPr>
          <a:xfrm>
            <a:off x="4507992" y="3090672"/>
            <a:ext cx="2000997" cy="363176"/>
          </a:xfrm>
          <a:prstGeom prst="rect">
            <a:avLst/>
          </a:prstGeom>
          <a:noFill/>
        </p:spPr>
        <p:txBody>
          <a:bodyPr wrap="none" lIns="73152" tIns="73152" rIns="73152" bIns="73152">
            <a:spAutoFit/>
          </a:bodyPr>
          <a:lstStyle/>
          <a:p>
            <a:pPr algn="l">
              <a:defRPr sz="1500" b="1">
                <a:solidFill>
                  <a:srgbClr val="12304C"/>
                </a:solidFill>
                <a:latin typeface="Aptos"/>
              </a:defRPr>
            </a:pPr>
            <a:r>
              <a:rPr sz="1400"/>
              <a:t>Employee engagement</a:t>
            </a:r>
          </a:p>
        </p:txBody>
      </p:sp>
      <p:sp>
        <p:nvSpPr>
          <p:cNvPr id="25" name="TextBox 24"/>
          <p:cNvSpPr txBox="1"/>
          <p:nvPr/>
        </p:nvSpPr>
        <p:spPr>
          <a:xfrm>
            <a:off x="4507992" y="3410712"/>
            <a:ext cx="3136392" cy="578620"/>
          </a:xfrm>
          <a:prstGeom prst="rect">
            <a:avLst/>
          </a:prstGeom>
          <a:noFill/>
        </p:spPr>
        <p:txBody>
          <a:bodyPr wrap="square" lIns="73152" tIns="73152" rIns="73152" bIns="73152">
            <a:spAutoFit/>
          </a:bodyPr>
          <a:lstStyle/>
          <a:p>
            <a:pPr algn="l">
              <a:defRPr sz="1280" b="0">
                <a:solidFill>
                  <a:srgbClr val="232323"/>
                </a:solidFill>
                <a:latin typeface="Aptos"/>
              </a:defRPr>
            </a:pPr>
            <a:r>
              <a:rPr sz="1400" dirty="0"/>
              <a:t>Involvement, satisfaction, and enthusiasm for the work performed.</a:t>
            </a:r>
          </a:p>
        </p:txBody>
      </p:sp>
      <p:sp>
        <p:nvSpPr>
          <p:cNvPr id="26" name="Rounded Rectangle 25"/>
          <p:cNvSpPr/>
          <p:nvPr/>
        </p:nvSpPr>
        <p:spPr>
          <a:xfrm>
            <a:off x="8001000" y="2971800"/>
            <a:ext cx="3520440" cy="118872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7" name="Rectangle 26"/>
          <p:cNvSpPr/>
          <p:nvPr/>
        </p:nvSpPr>
        <p:spPr>
          <a:xfrm>
            <a:off x="8001000" y="2971800"/>
            <a:ext cx="73152" cy="1188720"/>
          </a:xfrm>
          <a:prstGeom prst="rect">
            <a:avLst/>
          </a:prstGeom>
          <a:solidFill>
            <a:srgbClr val="C87A34"/>
          </a:solidFill>
          <a:ln>
            <a:solidFill>
              <a:srgbClr val="C87A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8" name="TextBox 27"/>
          <p:cNvSpPr txBox="1"/>
          <p:nvPr/>
        </p:nvSpPr>
        <p:spPr>
          <a:xfrm>
            <a:off x="8165592" y="3090672"/>
            <a:ext cx="1675587" cy="363176"/>
          </a:xfrm>
          <a:prstGeom prst="rect">
            <a:avLst/>
          </a:prstGeom>
          <a:noFill/>
        </p:spPr>
        <p:txBody>
          <a:bodyPr wrap="none" lIns="73152" tIns="73152" rIns="73152" bIns="73152">
            <a:spAutoFit/>
          </a:bodyPr>
          <a:lstStyle/>
          <a:p>
            <a:pPr algn="l">
              <a:defRPr sz="1500" b="1">
                <a:solidFill>
                  <a:srgbClr val="12304C"/>
                </a:solidFill>
                <a:latin typeface="Aptos"/>
              </a:defRPr>
            </a:pPr>
            <a:r>
              <a:rPr sz="1400"/>
              <a:t>Quality orientation</a:t>
            </a:r>
          </a:p>
        </p:txBody>
      </p:sp>
      <p:sp>
        <p:nvSpPr>
          <p:cNvPr id="29" name="TextBox 28"/>
          <p:cNvSpPr txBox="1"/>
          <p:nvPr/>
        </p:nvSpPr>
        <p:spPr>
          <a:xfrm>
            <a:off x="8165592" y="3410712"/>
            <a:ext cx="3099816" cy="794064"/>
          </a:xfrm>
          <a:prstGeom prst="rect">
            <a:avLst/>
          </a:prstGeom>
          <a:noFill/>
        </p:spPr>
        <p:txBody>
          <a:bodyPr wrap="square" lIns="73152" tIns="73152" rIns="73152" bIns="73152">
            <a:spAutoFit/>
          </a:bodyPr>
          <a:lstStyle/>
          <a:p>
            <a:pPr algn="l">
              <a:defRPr sz="1280" b="0">
                <a:solidFill>
                  <a:srgbClr val="232323"/>
                </a:solidFill>
                <a:latin typeface="Aptos"/>
              </a:defRPr>
            </a:pPr>
            <a:r>
              <a:rPr sz="1400" dirty="0"/>
              <a:t>Practical tendency to follow standards, report problems, learn, and improve.</a:t>
            </a:r>
          </a:p>
        </p:txBody>
      </p:sp>
      <p:sp>
        <p:nvSpPr>
          <p:cNvPr id="30" name="Rounded Rectangle 29"/>
          <p:cNvSpPr/>
          <p:nvPr/>
        </p:nvSpPr>
        <p:spPr>
          <a:xfrm>
            <a:off x="1097280" y="4937760"/>
            <a:ext cx="9966960" cy="594360"/>
          </a:xfrm>
          <a:prstGeom prst="roundRect">
            <a:avLst/>
          </a:prstGeom>
          <a:solidFill>
            <a:srgbClr val="E8F1F8"/>
          </a:solidFill>
          <a:ln>
            <a:solidFill>
              <a:srgbClr val="225C8C"/>
            </a:solidFill>
          </a:ln>
        </p:spPr>
        <p:style>
          <a:lnRef idx="1">
            <a:schemeClr val="accent1"/>
          </a:lnRef>
          <a:fillRef idx="3">
            <a:schemeClr val="accent1"/>
          </a:fillRef>
          <a:effectRef idx="2">
            <a:schemeClr val="accent1"/>
          </a:effectRef>
          <a:fontRef idx="minor">
            <a:schemeClr val="lt1"/>
          </a:fontRef>
        </p:style>
        <p:txBody>
          <a:bodyPr lIns="128016" tIns="109728" rIns="128016" bIns="109728" rtlCol="0" anchor="ctr"/>
          <a:lstStyle/>
          <a:p>
            <a:pPr algn="ctr">
              <a:defRPr sz="1700" b="1">
                <a:solidFill>
                  <a:srgbClr val="232323"/>
                </a:solidFill>
                <a:latin typeface="Aptos"/>
              </a:defRPr>
            </a:pPr>
            <a:r>
              <a:rPr sz="1600"/>
              <a:t>Quality managers should monitor attitudes because they are early signals of future quality behavior.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4927375" cy="640175"/>
          </a:xfrm>
          <a:prstGeom prst="rect">
            <a:avLst/>
          </a:prstGeom>
          <a:noFill/>
        </p:spPr>
        <p:txBody>
          <a:bodyPr wrap="none" lIns="73152" tIns="73152" rIns="73152" bIns="73152">
            <a:spAutoFit/>
          </a:bodyPr>
          <a:lstStyle/>
          <a:p>
            <a:pPr algn="l">
              <a:defRPr sz="2900" b="1">
                <a:solidFill>
                  <a:srgbClr val="12304C"/>
                </a:solidFill>
                <a:latin typeface="Aptos"/>
              </a:defRPr>
            </a:pPr>
            <a:r>
              <a:rPr sz="3200" dirty="0"/>
              <a:t>Measuring Job </a:t>
            </a:r>
            <a:r>
              <a:rPr sz="2900" dirty="0"/>
              <a:t>Satisfaction</a:t>
            </a:r>
          </a:p>
        </p:txBody>
      </p:sp>
      <p:sp>
        <p:nvSpPr>
          <p:cNvPr id="3" name="Rectangle 2"/>
          <p:cNvSpPr/>
          <p:nvPr/>
        </p:nvSpPr>
        <p:spPr>
          <a:xfrm>
            <a:off x="548640" y="1234440"/>
            <a:ext cx="11064240" cy="27432"/>
          </a:xfrm>
          <a:prstGeom prst="rect">
            <a:avLst/>
          </a:prstGeom>
          <a:solidFill>
            <a:srgbClr val="D9E6F2"/>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 name="TextBox 3"/>
          <p:cNvSpPr txBox="1"/>
          <p:nvPr/>
        </p:nvSpPr>
        <p:spPr>
          <a:xfrm>
            <a:off x="548640" y="6473952"/>
            <a:ext cx="2997872" cy="286232"/>
          </a:xfrm>
          <a:prstGeom prst="rect">
            <a:avLst/>
          </a:prstGeom>
          <a:noFill/>
        </p:spPr>
        <p:txBody>
          <a:bodyPr wrap="none" lIns="73152" tIns="73152" rIns="73152" bIns="73152">
            <a:spAutoFit/>
          </a:bodyPr>
          <a:lstStyle/>
          <a:p>
            <a:pPr algn="l">
              <a:defRPr sz="850" b="0">
                <a:solidFill>
                  <a:srgbClr val="5A5A5A"/>
                </a:solidFill>
                <a:latin typeface="Aptos"/>
              </a:defRPr>
            </a:pPr>
            <a:r>
              <a:rPr sz="900"/>
              <a:t>G TQM 511 | Organizational Behavior and Quality | Week 3</a:t>
            </a:r>
          </a:p>
        </p:txBody>
      </p:sp>
      <p:sp>
        <p:nvSpPr>
          <p:cNvPr id="5" name="TextBox 4"/>
          <p:cNvSpPr txBox="1"/>
          <p:nvPr/>
        </p:nvSpPr>
        <p:spPr>
          <a:xfrm>
            <a:off x="11404233" y="6473952"/>
            <a:ext cx="208647" cy="286232"/>
          </a:xfrm>
          <a:prstGeom prst="rect">
            <a:avLst/>
          </a:prstGeom>
          <a:noFill/>
        </p:spPr>
        <p:txBody>
          <a:bodyPr wrap="none" lIns="73152" tIns="73152" rIns="73152" bIns="73152">
            <a:spAutoFit/>
          </a:bodyPr>
          <a:lstStyle/>
          <a:p>
            <a:pPr algn="r">
              <a:defRPr sz="850" b="0">
                <a:solidFill>
                  <a:srgbClr val="5A5A5A"/>
                </a:solidFill>
                <a:latin typeface="Aptos"/>
              </a:defRPr>
            </a:pPr>
            <a:r>
              <a:rPr sz="900"/>
              <a:t>7</a:t>
            </a:r>
          </a:p>
        </p:txBody>
      </p:sp>
      <p:sp>
        <p:nvSpPr>
          <p:cNvPr id="6" name="Rounded Rectangle 5"/>
          <p:cNvSpPr/>
          <p:nvPr/>
        </p:nvSpPr>
        <p:spPr>
          <a:xfrm>
            <a:off x="731520" y="1463040"/>
            <a:ext cx="10698480" cy="685800"/>
          </a:xfrm>
          <a:prstGeom prst="roundRect">
            <a:avLst/>
          </a:prstGeom>
          <a:solidFill>
            <a:srgbClr val="E8F1F8"/>
          </a:solidFill>
          <a:ln>
            <a:solidFill>
              <a:srgbClr val="225C8C"/>
            </a:solidFill>
          </a:ln>
        </p:spPr>
        <p:style>
          <a:lnRef idx="1">
            <a:schemeClr val="accent1"/>
          </a:lnRef>
          <a:fillRef idx="3">
            <a:schemeClr val="accent1"/>
          </a:fillRef>
          <a:effectRef idx="2">
            <a:schemeClr val="accent1"/>
          </a:effectRef>
          <a:fontRef idx="minor">
            <a:schemeClr val="lt1"/>
          </a:fontRef>
        </p:style>
        <p:txBody>
          <a:bodyPr lIns="128016" tIns="109728" rIns="128016" bIns="109728" rtlCol="0" anchor="ctr"/>
          <a:lstStyle/>
          <a:p>
            <a:pPr algn="ctr">
              <a:defRPr sz="1700" b="0">
                <a:solidFill>
                  <a:srgbClr val="232323"/>
                </a:solidFill>
                <a:latin typeface="Aptos"/>
              </a:defRPr>
            </a:pPr>
            <a:r>
              <a:rPr dirty="0"/>
              <a:t>Job satisfaction can be measured globally or through multiple job facets. Both approaches are useful, but each answers a different question.</a:t>
            </a:r>
          </a:p>
        </p:txBody>
      </p:sp>
      <p:sp>
        <p:nvSpPr>
          <p:cNvPr id="7" name="Rounded Rectangle 6"/>
          <p:cNvSpPr/>
          <p:nvPr/>
        </p:nvSpPr>
        <p:spPr>
          <a:xfrm>
            <a:off x="822960" y="2606040"/>
            <a:ext cx="4754880" cy="132588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Rectangle 7"/>
          <p:cNvSpPr/>
          <p:nvPr/>
        </p:nvSpPr>
        <p:spPr>
          <a:xfrm>
            <a:off x="822960" y="2606040"/>
            <a:ext cx="73152" cy="1325880"/>
          </a:xfrm>
          <a:prstGeom prst="rect">
            <a:avLst/>
          </a:prstGeom>
          <a:solidFill>
            <a:srgbClr val="225C8C"/>
          </a:solidFill>
          <a:ln>
            <a:solidFill>
              <a:srgbClr val="22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 name="TextBox 8"/>
          <p:cNvSpPr txBox="1"/>
          <p:nvPr/>
        </p:nvSpPr>
        <p:spPr>
          <a:xfrm>
            <a:off x="987552" y="2724912"/>
            <a:ext cx="1916487" cy="393954"/>
          </a:xfrm>
          <a:prstGeom prst="rect">
            <a:avLst/>
          </a:prstGeom>
          <a:noFill/>
        </p:spPr>
        <p:txBody>
          <a:bodyPr wrap="none" lIns="73152" tIns="73152" rIns="73152" bIns="73152">
            <a:spAutoFit/>
          </a:bodyPr>
          <a:lstStyle/>
          <a:p>
            <a:pPr algn="l">
              <a:defRPr sz="1500" b="1">
                <a:solidFill>
                  <a:srgbClr val="12304C"/>
                </a:solidFill>
                <a:latin typeface="Aptos"/>
              </a:defRPr>
            </a:pPr>
            <a:r>
              <a:rPr sz="1600"/>
              <a:t>Single global rating</a:t>
            </a:r>
          </a:p>
        </p:txBody>
      </p:sp>
      <p:sp>
        <p:nvSpPr>
          <p:cNvPr id="10" name="TextBox 9"/>
          <p:cNvSpPr txBox="1"/>
          <p:nvPr/>
        </p:nvSpPr>
        <p:spPr>
          <a:xfrm>
            <a:off x="987552" y="3044952"/>
            <a:ext cx="4279393" cy="886397"/>
          </a:xfrm>
          <a:prstGeom prst="rect">
            <a:avLst/>
          </a:prstGeom>
          <a:noFill/>
        </p:spPr>
        <p:txBody>
          <a:bodyPr wrap="square" lIns="73152" tIns="73152" rIns="73152" bIns="73152">
            <a:spAutoFit/>
          </a:bodyPr>
          <a:lstStyle/>
          <a:p>
            <a:pPr algn="l">
              <a:defRPr sz="1450" b="0">
                <a:solidFill>
                  <a:srgbClr val="232323"/>
                </a:solidFill>
                <a:latin typeface="Aptos"/>
              </a:defRPr>
            </a:pPr>
            <a:r>
              <a:rPr sz="1600" dirty="0"/>
              <a:t>One overall question.</a:t>
            </a:r>
            <a:br>
              <a:rPr sz="1600" dirty="0"/>
            </a:br>
            <a:r>
              <a:rPr sz="1600" dirty="0"/>
              <a:t>Example: “Overall, how satisfied are you with your job?”</a:t>
            </a:r>
          </a:p>
        </p:txBody>
      </p:sp>
      <p:sp>
        <p:nvSpPr>
          <p:cNvPr id="11" name="Rounded Rectangle 10"/>
          <p:cNvSpPr/>
          <p:nvPr/>
        </p:nvSpPr>
        <p:spPr>
          <a:xfrm>
            <a:off x="5989320" y="2606040"/>
            <a:ext cx="4754880" cy="132588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Rectangle 11"/>
          <p:cNvSpPr/>
          <p:nvPr/>
        </p:nvSpPr>
        <p:spPr>
          <a:xfrm>
            <a:off x="5989320" y="2606040"/>
            <a:ext cx="73152" cy="1325880"/>
          </a:xfrm>
          <a:prstGeom prst="rect">
            <a:avLst/>
          </a:prstGeom>
          <a:solidFill>
            <a:srgbClr val="457E5A"/>
          </a:solidFill>
          <a:ln>
            <a:solidFill>
              <a:srgbClr val="457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TextBox 12"/>
          <p:cNvSpPr txBox="1"/>
          <p:nvPr/>
        </p:nvSpPr>
        <p:spPr>
          <a:xfrm>
            <a:off x="6153912" y="2724912"/>
            <a:ext cx="2175532" cy="393954"/>
          </a:xfrm>
          <a:prstGeom prst="rect">
            <a:avLst/>
          </a:prstGeom>
          <a:noFill/>
        </p:spPr>
        <p:txBody>
          <a:bodyPr wrap="none" lIns="73152" tIns="73152" rIns="73152" bIns="73152">
            <a:spAutoFit/>
          </a:bodyPr>
          <a:lstStyle/>
          <a:p>
            <a:pPr algn="l">
              <a:defRPr sz="1500" b="1">
                <a:solidFill>
                  <a:srgbClr val="12304C"/>
                </a:solidFill>
                <a:latin typeface="Aptos"/>
              </a:defRPr>
            </a:pPr>
            <a:r>
              <a:rPr sz="1600"/>
              <a:t>Facet-based measure</a:t>
            </a:r>
          </a:p>
        </p:txBody>
      </p:sp>
      <p:sp>
        <p:nvSpPr>
          <p:cNvPr id="14" name="TextBox 13"/>
          <p:cNvSpPr txBox="1"/>
          <p:nvPr/>
        </p:nvSpPr>
        <p:spPr>
          <a:xfrm>
            <a:off x="6153912" y="3044952"/>
            <a:ext cx="4389120" cy="886397"/>
          </a:xfrm>
          <a:prstGeom prst="rect">
            <a:avLst/>
          </a:prstGeom>
          <a:noFill/>
        </p:spPr>
        <p:txBody>
          <a:bodyPr wrap="square" lIns="73152" tIns="73152" rIns="73152" bIns="73152">
            <a:spAutoFit/>
          </a:bodyPr>
          <a:lstStyle/>
          <a:p>
            <a:pPr algn="l">
              <a:defRPr sz="1450" b="0">
                <a:solidFill>
                  <a:srgbClr val="232323"/>
                </a:solidFill>
                <a:latin typeface="Aptos"/>
              </a:defRPr>
            </a:pPr>
            <a:r>
              <a:rPr sz="1600" dirty="0"/>
              <a:t>Several dimensions: pay, supervision, work conditions, colleagues, workload, growth, recognition.</a:t>
            </a:r>
          </a:p>
        </p:txBody>
      </p:sp>
      <p:sp>
        <p:nvSpPr>
          <p:cNvPr id="15" name="TextBox 14"/>
          <p:cNvSpPr txBox="1"/>
          <p:nvPr/>
        </p:nvSpPr>
        <p:spPr>
          <a:xfrm>
            <a:off x="914400" y="4343400"/>
            <a:ext cx="10058400" cy="1154162"/>
          </a:xfrm>
          <a:prstGeom prst="rect">
            <a:avLst/>
          </a:prstGeom>
          <a:noFill/>
        </p:spPr>
        <p:txBody>
          <a:bodyPr wrap="square" lIns="73152" rIns="73152">
            <a:spAutoFit/>
          </a:bodyPr>
          <a:lstStyle/>
          <a:p>
            <a:pPr>
              <a:spcAft>
                <a:spcPts val="300"/>
              </a:spcAft>
              <a:defRPr sz="1600">
                <a:solidFill>
                  <a:srgbClr val="232323"/>
                </a:solidFill>
                <a:latin typeface="Aptos"/>
              </a:defRPr>
            </a:pPr>
            <a:r>
              <a:rPr dirty="0"/>
              <a:t>For quality improvement, facet measures are often more diagnostic.</a:t>
            </a:r>
          </a:p>
          <a:p>
            <a:pPr>
              <a:spcAft>
                <a:spcPts val="300"/>
              </a:spcAft>
              <a:defRPr sz="1600">
                <a:solidFill>
                  <a:srgbClr val="232323"/>
                </a:solidFill>
                <a:latin typeface="Aptos"/>
              </a:defRPr>
            </a:pPr>
            <a:r>
              <a:rPr dirty="0"/>
              <a:t>Measure employee experience together with quality outcomes: complaints, rework, errors, waiting time, and customer satisfaction.</a:t>
            </a:r>
          </a:p>
          <a:p>
            <a:pPr>
              <a:spcAft>
                <a:spcPts val="300"/>
              </a:spcAft>
              <a:defRPr sz="1600">
                <a:solidFill>
                  <a:srgbClr val="232323"/>
                </a:solidFill>
                <a:latin typeface="Aptos"/>
              </a:defRPr>
            </a:pPr>
            <a:r>
              <a:rPr dirty="0"/>
              <a:t>Combine survey data with interviews, turnover, absenteeism, and process indicators.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6273641" cy="763286"/>
          </a:xfrm>
          <a:prstGeom prst="rect">
            <a:avLst/>
          </a:prstGeom>
          <a:noFill/>
        </p:spPr>
        <p:txBody>
          <a:bodyPr wrap="none" lIns="73152" tIns="73152" rIns="73152" bIns="73152">
            <a:spAutoFit/>
          </a:bodyPr>
          <a:lstStyle/>
          <a:p>
            <a:pPr algn="l">
              <a:defRPr sz="2900" b="1">
                <a:solidFill>
                  <a:srgbClr val="12304C"/>
                </a:solidFill>
                <a:latin typeface="Aptos"/>
              </a:defRPr>
            </a:pPr>
            <a:r>
              <a:rPr sz="4000" dirty="0"/>
              <a:t>What Drives Job </a:t>
            </a:r>
            <a:r>
              <a:rPr sz="2900" dirty="0"/>
              <a:t>Satisfaction</a:t>
            </a:r>
            <a:r>
              <a:rPr sz="4000" dirty="0"/>
              <a:t>?</a:t>
            </a:r>
          </a:p>
        </p:txBody>
      </p:sp>
      <p:sp>
        <p:nvSpPr>
          <p:cNvPr id="3" name="Rectangle 2"/>
          <p:cNvSpPr/>
          <p:nvPr/>
        </p:nvSpPr>
        <p:spPr>
          <a:xfrm>
            <a:off x="548640" y="1234440"/>
            <a:ext cx="11064240" cy="27432"/>
          </a:xfrm>
          <a:prstGeom prst="rect">
            <a:avLst/>
          </a:prstGeom>
          <a:solidFill>
            <a:srgbClr val="D9E6F2"/>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 name="TextBox 3"/>
          <p:cNvSpPr txBox="1"/>
          <p:nvPr/>
        </p:nvSpPr>
        <p:spPr>
          <a:xfrm>
            <a:off x="548640" y="6473952"/>
            <a:ext cx="3940694" cy="332399"/>
          </a:xfrm>
          <a:prstGeom prst="rect">
            <a:avLst/>
          </a:prstGeom>
          <a:noFill/>
        </p:spPr>
        <p:txBody>
          <a:bodyPr wrap="none" lIns="73152" tIns="73152" rIns="73152" bIns="73152">
            <a:spAutoFit/>
          </a:bodyPr>
          <a:lstStyle/>
          <a:p>
            <a:pPr algn="l">
              <a:defRPr sz="850" b="0">
                <a:solidFill>
                  <a:srgbClr val="5A5A5A"/>
                </a:solidFill>
                <a:latin typeface="Aptos"/>
              </a:defRPr>
            </a:pPr>
            <a:r>
              <a:rPr sz="1200"/>
              <a:t>G TQM 511 | Organizational Behavior and Quality | Week 3</a:t>
            </a:r>
          </a:p>
        </p:txBody>
      </p:sp>
      <p:sp>
        <p:nvSpPr>
          <p:cNvPr id="5" name="TextBox 4"/>
          <p:cNvSpPr txBox="1"/>
          <p:nvPr/>
        </p:nvSpPr>
        <p:spPr>
          <a:xfrm>
            <a:off x="11383394" y="6473952"/>
            <a:ext cx="229486" cy="332399"/>
          </a:xfrm>
          <a:prstGeom prst="rect">
            <a:avLst/>
          </a:prstGeom>
          <a:noFill/>
        </p:spPr>
        <p:txBody>
          <a:bodyPr wrap="none" lIns="73152" tIns="73152" rIns="73152" bIns="73152">
            <a:spAutoFit/>
          </a:bodyPr>
          <a:lstStyle/>
          <a:p>
            <a:pPr algn="r">
              <a:defRPr sz="850" b="0">
                <a:solidFill>
                  <a:srgbClr val="5A5A5A"/>
                </a:solidFill>
                <a:latin typeface="Aptos"/>
              </a:defRPr>
            </a:pPr>
            <a:r>
              <a:rPr sz="1200"/>
              <a:t>8</a:t>
            </a:r>
          </a:p>
        </p:txBody>
      </p:sp>
      <p:sp>
        <p:nvSpPr>
          <p:cNvPr id="6" name="Rounded Rectangle 5"/>
          <p:cNvSpPr/>
          <p:nvPr/>
        </p:nvSpPr>
        <p:spPr>
          <a:xfrm>
            <a:off x="731520" y="1508760"/>
            <a:ext cx="3474720" cy="109728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 name="Rectangle 6"/>
          <p:cNvSpPr/>
          <p:nvPr/>
        </p:nvSpPr>
        <p:spPr>
          <a:xfrm>
            <a:off x="731520" y="1508760"/>
            <a:ext cx="73152" cy="1097280"/>
          </a:xfrm>
          <a:prstGeom prst="rect">
            <a:avLst/>
          </a:prstGeom>
          <a:solidFill>
            <a:srgbClr val="225C8C"/>
          </a:solidFill>
          <a:ln>
            <a:solidFill>
              <a:srgbClr val="22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8" name="TextBox 7"/>
          <p:cNvSpPr txBox="1"/>
          <p:nvPr/>
        </p:nvSpPr>
        <p:spPr>
          <a:xfrm>
            <a:off x="896112" y="1627631"/>
            <a:ext cx="1153393" cy="393954"/>
          </a:xfrm>
          <a:prstGeom prst="rect">
            <a:avLst/>
          </a:prstGeom>
          <a:noFill/>
        </p:spPr>
        <p:txBody>
          <a:bodyPr wrap="none" lIns="73152" tIns="73152" rIns="73152" bIns="73152">
            <a:spAutoFit/>
          </a:bodyPr>
          <a:lstStyle/>
          <a:p>
            <a:pPr algn="l">
              <a:defRPr sz="1500" b="1">
                <a:solidFill>
                  <a:srgbClr val="12304C"/>
                </a:solidFill>
                <a:latin typeface="Aptos"/>
              </a:defRPr>
            </a:pPr>
            <a:r>
              <a:rPr sz="1600"/>
              <a:t>Work itself</a:t>
            </a:r>
          </a:p>
        </p:txBody>
      </p:sp>
      <p:sp>
        <p:nvSpPr>
          <p:cNvPr id="9" name="TextBox 8"/>
          <p:cNvSpPr txBox="1"/>
          <p:nvPr/>
        </p:nvSpPr>
        <p:spPr>
          <a:xfrm>
            <a:off x="896112" y="1947672"/>
            <a:ext cx="3240025" cy="640175"/>
          </a:xfrm>
          <a:prstGeom prst="rect">
            <a:avLst/>
          </a:prstGeom>
          <a:noFill/>
        </p:spPr>
        <p:txBody>
          <a:bodyPr wrap="square" lIns="73152" tIns="73152" rIns="73152" bIns="73152">
            <a:spAutoFit/>
          </a:bodyPr>
          <a:lstStyle/>
          <a:p>
            <a:pPr algn="l">
              <a:defRPr sz="1350" b="0">
                <a:solidFill>
                  <a:srgbClr val="232323"/>
                </a:solidFill>
                <a:latin typeface="Aptos"/>
              </a:defRPr>
            </a:pPr>
            <a:r>
              <a:rPr sz="1600"/>
              <a:t>Meaningful tasks, autonomy, role clarity, manageable workload.</a:t>
            </a:r>
          </a:p>
        </p:txBody>
      </p:sp>
      <p:sp>
        <p:nvSpPr>
          <p:cNvPr id="10" name="Rounded Rectangle 9"/>
          <p:cNvSpPr/>
          <p:nvPr/>
        </p:nvSpPr>
        <p:spPr>
          <a:xfrm>
            <a:off x="4343400" y="1508760"/>
            <a:ext cx="3474720" cy="109728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1" name="Rectangle 10"/>
          <p:cNvSpPr/>
          <p:nvPr/>
        </p:nvSpPr>
        <p:spPr>
          <a:xfrm>
            <a:off x="4343400" y="1508760"/>
            <a:ext cx="73152" cy="1097280"/>
          </a:xfrm>
          <a:prstGeom prst="rect">
            <a:avLst/>
          </a:prstGeom>
          <a:solidFill>
            <a:srgbClr val="457E5A"/>
          </a:solidFill>
          <a:ln>
            <a:solidFill>
              <a:srgbClr val="457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2" name="TextBox 11"/>
          <p:cNvSpPr txBox="1"/>
          <p:nvPr/>
        </p:nvSpPr>
        <p:spPr>
          <a:xfrm>
            <a:off x="4507992" y="1627631"/>
            <a:ext cx="1253677" cy="393954"/>
          </a:xfrm>
          <a:prstGeom prst="rect">
            <a:avLst/>
          </a:prstGeom>
          <a:noFill/>
        </p:spPr>
        <p:txBody>
          <a:bodyPr wrap="none" lIns="73152" tIns="73152" rIns="73152" bIns="73152">
            <a:spAutoFit/>
          </a:bodyPr>
          <a:lstStyle/>
          <a:p>
            <a:pPr algn="l">
              <a:defRPr sz="1500" b="1">
                <a:solidFill>
                  <a:srgbClr val="12304C"/>
                </a:solidFill>
                <a:latin typeface="Aptos"/>
              </a:defRPr>
            </a:pPr>
            <a:r>
              <a:rPr sz="1600"/>
              <a:t>Supervision</a:t>
            </a:r>
          </a:p>
        </p:txBody>
      </p:sp>
      <p:sp>
        <p:nvSpPr>
          <p:cNvPr id="13" name="TextBox 12"/>
          <p:cNvSpPr txBox="1"/>
          <p:nvPr/>
        </p:nvSpPr>
        <p:spPr>
          <a:xfrm>
            <a:off x="4507992" y="2027830"/>
            <a:ext cx="3240024" cy="640175"/>
          </a:xfrm>
          <a:prstGeom prst="rect">
            <a:avLst/>
          </a:prstGeom>
          <a:noFill/>
        </p:spPr>
        <p:txBody>
          <a:bodyPr wrap="square" lIns="73152" tIns="73152" rIns="73152" bIns="73152">
            <a:spAutoFit/>
          </a:bodyPr>
          <a:lstStyle/>
          <a:p>
            <a:pPr algn="l">
              <a:defRPr sz="1350" b="0">
                <a:solidFill>
                  <a:srgbClr val="232323"/>
                </a:solidFill>
                <a:latin typeface="Aptos"/>
              </a:defRPr>
            </a:pPr>
            <a:r>
              <a:rPr sz="1600" dirty="0"/>
              <a:t>Respect, fairness, feedback, coaching, and listening.</a:t>
            </a:r>
          </a:p>
        </p:txBody>
      </p:sp>
      <p:sp>
        <p:nvSpPr>
          <p:cNvPr id="14" name="Rounded Rectangle 13"/>
          <p:cNvSpPr/>
          <p:nvPr/>
        </p:nvSpPr>
        <p:spPr>
          <a:xfrm>
            <a:off x="7955279" y="1508760"/>
            <a:ext cx="3474720" cy="109728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Rectangle 14"/>
          <p:cNvSpPr/>
          <p:nvPr/>
        </p:nvSpPr>
        <p:spPr>
          <a:xfrm>
            <a:off x="7955279" y="1508760"/>
            <a:ext cx="73152" cy="1097280"/>
          </a:xfrm>
          <a:prstGeom prst="rect">
            <a:avLst/>
          </a:prstGeom>
          <a:solidFill>
            <a:srgbClr val="C87A34"/>
          </a:solidFill>
          <a:ln>
            <a:solidFill>
              <a:srgbClr val="C87A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6" name="TextBox 15"/>
          <p:cNvSpPr txBox="1"/>
          <p:nvPr/>
        </p:nvSpPr>
        <p:spPr>
          <a:xfrm>
            <a:off x="8119871" y="1627631"/>
            <a:ext cx="1150443" cy="393954"/>
          </a:xfrm>
          <a:prstGeom prst="rect">
            <a:avLst/>
          </a:prstGeom>
          <a:noFill/>
        </p:spPr>
        <p:txBody>
          <a:bodyPr wrap="none" lIns="73152" tIns="73152" rIns="73152" bIns="73152">
            <a:spAutoFit/>
          </a:bodyPr>
          <a:lstStyle/>
          <a:p>
            <a:pPr algn="l">
              <a:defRPr sz="1500" b="1">
                <a:solidFill>
                  <a:srgbClr val="12304C"/>
                </a:solidFill>
                <a:latin typeface="Aptos"/>
              </a:defRPr>
            </a:pPr>
            <a:r>
              <a:rPr sz="1600"/>
              <a:t>Coworkers</a:t>
            </a:r>
          </a:p>
        </p:txBody>
      </p:sp>
      <p:sp>
        <p:nvSpPr>
          <p:cNvPr id="17" name="TextBox 16"/>
          <p:cNvSpPr txBox="1"/>
          <p:nvPr/>
        </p:nvSpPr>
        <p:spPr>
          <a:xfrm>
            <a:off x="8119871" y="1947672"/>
            <a:ext cx="3102865" cy="640175"/>
          </a:xfrm>
          <a:prstGeom prst="rect">
            <a:avLst/>
          </a:prstGeom>
          <a:noFill/>
        </p:spPr>
        <p:txBody>
          <a:bodyPr wrap="square" lIns="73152" tIns="73152" rIns="73152" bIns="73152">
            <a:spAutoFit/>
          </a:bodyPr>
          <a:lstStyle/>
          <a:p>
            <a:pPr algn="l">
              <a:defRPr sz="1350" b="0">
                <a:solidFill>
                  <a:srgbClr val="232323"/>
                </a:solidFill>
                <a:latin typeface="Aptos"/>
              </a:defRPr>
            </a:pPr>
            <a:r>
              <a:rPr sz="1600" dirty="0"/>
              <a:t>Support, cooperation, trust, and shared responsibility.</a:t>
            </a:r>
          </a:p>
        </p:txBody>
      </p:sp>
      <p:sp>
        <p:nvSpPr>
          <p:cNvPr id="18" name="Rounded Rectangle 17"/>
          <p:cNvSpPr/>
          <p:nvPr/>
        </p:nvSpPr>
        <p:spPr>
          <a:xfrm>
            <a:off x="731520" y="3063239"/>
            <a:ext cx="3474720" cy="1325309"/>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Rectangle 18"/>
          <p:cNvSpPr/>
          <p:nvPr/>
        </p:nvSpPr>
        <p:spPr>
          <a:xfrm>
            <a:off x="731520" y="3063240"/>
            <a:ext cx="73152" cy="1097280"/>
          </a:xfrm>
          <a:prstGeom prst="rect">
            <a:avLst/>
          </a:prstGeom>
          <a:solidFill>
            <a:srgbClr val="225C8C"/>
          </a:solidFill>
          <a:ln>
            <a:solidFill>
              <a:srgbClr val="22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0" name="TextBox 19"/>
          <p:cNvSpPr txBox="1"/>
          <p:nvPr/>
        </p:nvSpPr>
        <p:spPr>
          <a:xfrm>
            <a:off x="896112" y="3182112"/>
            <a:ext cx="956865" cy="393954"/>
          </a:xfrm>
          <a:prstGeom prst="rect">
            <a:avLst/>
          </a:prstGeom>
          <a:noFill/>
        </p:spPr>
        <p:txBody>
          <a:bodyPr wrap="none" lIns="73152" tIns="73152" rIns="73152" bIns="73152">
            <a:spAutoFit/>
          </a:bodyPr>
          <a:lstStyle/>
          <a:p>
            <a:pPr algn="l">
              <a:defRPr sz="1500" b="1">
                <a:solidFill>
                  <a:srgbClr val="12304C"/>
                </a:solidFill>
                <a:latin typeface="Aptos"/>
              </a:defRPr>
            </a:pPr>
            <a:r>
              <a:rPr sz="1600"/>
              <a:t>Rewards</a:t>
            </a:r>
          </a:p>
        </p:txBody>
      </p:sp>
      <p:sp>
        <p:nvSpPr>
          <p:cNvPr id="21" name="TextBox 20"/>
          <p:cNvSpPr txBox="1"/>
          <p:nvPr/>
        </p:nvSpPr>
        <p:spPr>
          <a:xfrm>
            <a:off x="896113" y="3502152"/>
            <a:ext cx="3163824" cy="886397"/>
          </a:xfrm>
          <a:prstGeom prst="rect">
            <a:avLst/>
          </a:prstGeom>
          <a:noFill/>
        </p:spPr>
        <p:txBody>
          <a:bodyPr wrap="square" lIns="73152" tIns="73152" rIns="73152" bIns="73152">
            <a:spAutoFit/>
          </a:bodyPr>
          <a:lstStyle/>
          <a:p>
            <a:pPr algn="l">
              <a:defRPr sz="1350" b="0">
                <a:solidFill>
                  <a:srgbClr val="232323"/>
                </a:solidFill>
                <a:latin typeface="Aptos"/>
              </a:defRPr>
            </a:pPr>
            <a:r>
              <a:rPr sz="1600"/>
              <a:t>Fair pay, recognition, and credible link between contribution and reward.</a:t>
            </a:r>
          </a:p>
        </p:txBody>
      </p:sp>
      <p:sp>
        <p:nvSpPr>
          <p:cNvPr id="22" name="Rounded Rectangle 21"/>
          <p:cNvSpPr/>
          <p:nvPr/>
        </p:nvSpPr>
        <p:spPr>
          <a:xfrm>
            <a:off x="4343400" y="3063240"/>
            <a:ext cx="3474720" cy="131954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Rectangle 22"/>
          <p:cNvSpPr/>
          <p:nvPr/>
        </p:nvSpPr>
        <p:spPr>
          <a:xfrm>
            <a:off x="4343400" y="3063240"/>
            <a:ext cx="73152" cy="1097280"/>
          </a:xfrm>
          <a:prstGeom prst="rect">
            <a:avLst/>
          </a:prstGeom>
          <a:solidFill>
            <a:srgbClr val="457E5A"/>
          </a:solidFill>
          <a:ln>
            <a:solidFill>
              <a:srgbClr val="457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4" name="TextBox 23"/>
          <p:cNvSpPr txBox="1"/>
          <p:nvPr/>
        </p:nvSpPr>
        <p:spPr>
          <a:xfrm>
            <a:off x="4507992" y="3182112"/>
            <a:ext cx="834139" cy="393954"/>
          </a:xfrm>
          <a:prstGeom prst="rect">
            <a:avLst/>
          </a:prstGeom>
          <a:noFill/>
        </p:spPr>
        <p:txBody>
          <a:bodyPr wrap="none" lIns="73152" tIns="73152" rIns="73152" bIns="73152">
            <a:spAutoFit/>
          </a:bodyPr>
          <a:lstStyle/>
          <a:p>
            <a:pPr algn="l">
              <a:defRPr sz="1500" b="1">
                <a:solidFill>
                  <a:srgbClr val="12304C"/>
                </a:solidFill>
                <a:latin typeface="Aptos"/>
              </a:defRPr>
            </a:pPr>
            <a:r>
              <a:rPr sz="1600"/>
              <a:t>Growth</a:t>
            </a:r>
          </a:p>
        </p:txBody>
      </p:sp>
      <p:sp>
        <p:nvSpPr>
          <p:cNvPr id="25" name="TextBox 24"/>
          <p:cNvSpPr txBox="1"/>
          <p:nvPr/>
        </p:nvSpPr>
        <p:spPr>
          <a:xfrm>
            <a:off x="4507993" y="3502151"/>
            <a:ext cx="3154680" cy="886397"/>
          </a:xfrm>
          <a:prstGeom prst="rect">
            <a:avLst/>
          </a:prstGeom>
          <a:noFill/>
        </p:spPr>
        <p:txBody>
          <a:bodyPr wrap="square" lIns="73152" tIns="73152" rIns="73152" bIns="73152">
            <a:spAutoFit/>
          </a:bodyPr>
          <a:lstStyle/>
          <a:p>
            <a:pPr algn="l">
              <a:defRPr sz="1350" b="0">
                <a:solidFill>
                  <a:srgbClr val="232323"/>
                </a:solidFill>
                <a:latin typeface="Aptos"/>
              </a:defRPr>
            </a:pPr>
            <a:r>
              <a:rPr sz="1600" dirty="0"/>
              <a:t>Training, career development, learning and participation in improvement.</a:t>
            </a:r>
          </a:p>
        </p:txBody>
      </p:sp>
      <p:sp>
        <p:nvSpPr>
          <p:cNvPr id="26" name="Rounded Rectangle 25"/>
          <p:cNvSpPr/>
          <p:nvPr/>
        </p:nvSpPr>
        <p:spPr>
          <a:xfrm>
            <a:off x="7955279" y="3063239"/>
            <a:ext cx="3474720" cy="1325309"/>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Rectangle 26"/>
          <p:cNvSpPr/>
          <p:nvPr/>
        </p:nvSpPr>
        <p:spPr>
          <a:xfrm>
            <a:off x="7955279" y="3063240"/>
            <a:ext cx="73152" cy="1097280"/>
          </a:xfrm>
          <a:prstGeom prst="rect">
            <a:avLst/>
          </a:prstGeom>
          <a:solidFill>
            <a:srgbClr val="C87A34"/>
          </a:solidFill>
          <a:ln>
            <a:solidFill>
              <a:srgbClr val="C87A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8" name="TextBox 27"/>
          <p:cNvSpPr txBox="1"/>
          <p:nvPr/>
        </p:nvSpPr>
        <p:spPr>
          <a:xfrm>
            <a:off x="8119871" y="3182112"/>
            <a:ext cx="1572097" cy="393954"/>
          </a:xfrm>
          <a:prstGeom prst="rect">
            <a:avLst/>
          </a:prstGeom>
          <a:noFill/>
        </p:spPr>
        <p:txBody>
          <a:bodyPr wrap="none" lIns="73152" tIns="73152" rIns="73152" bIns="73152">
            <a:spAutoFit/>
          </a:bodyPr>
          <a:lstStyle/>
          <a:p>
            <a:pPr algn="l">
              <a:defRPr sz="1500" b="1">
                <a:solidFill>
                  <a:srgbClr val="12304C"/>
                </a:solidFill>
                <a:latin typeface="Aptos"/>
              </a:defRPr>
            </a:pPr>
            <a:r>
              <a:rPr sz="1600"/>
              <a:t>Quality climate</a:t>
            </a:r>
          </a:p>
        </p:txBody>
      </p:sp>
      <p:sp>
        <p:nvSpPr>
          <p:cNvPr id="29" name="TextBox 28"/>
          <p:cNvSpPr txBox="1"/>
          <p:nvPr/>
        </p:nvSpPr>
        <p:spPr>
          <a:xfrm>
            <a:off x="8119871" y="3502152"/>
            <a:ext cx="3269935" cy="640175"/>
          </a:xfrm>
          <a:prstGeom prst="rect">
            <a:avLst/>
          </a:prstGeom>
          <a:noFill/>
        </p:spPr>
        <p:txBody>
          <a:bodyPr wrap="square" lIns="73152" tIns="73152" rIns="73152" bIns="73152">
            <a:spAutoFit/>
          </a:bodyPr>
          <a:lstStyle/>
          <a:p>
            <a:pPr algn="l">
              <a:defRPr sz="1350" b="0">
                <a:solidFill>
                  <a:srgbClr val="232323"/>
                </a:solidFill>
                <a:latin typeface="Aptos"/>
              </a:defRPr>
            </a:pPr>
            <a:r>
              <a:rPr sz="1600" dirty="0"/>
              <a:t>Psychological safety, process support, and non-blame reporting.</a:t>
            </a:r>
          </a:p>
        </p:txBody>
      </p:sp>
      <p:sp>
        <p:nvSpPr>
          <p:cNvPr id="30" name="TextBox 29"/>
          <p:cNvSpPr txBox="1"/>
          <p:nvPr/>
        </p:nvSpPr>
        <p:spPr>
          <a:xfrm>
            <a:off x="868680" y="5029200"/>
            <a:ext cx="8793946" cy="409343"/>
          </a:xfrm>
          <a:prstGeom prst="rect">
            <a:avLst/>
          </a:prstGeom>
          <a:noFill/>
        </p:spPr>
        <p:txBody>
          <a:bodyPr wrap="none" lIns="73152" tIns="73152" rIns="73152" bIns="73152">
            <a:spAutoFit/>
          </a:bodyPr>
          <a:lstStyle/>
          <a:p>
            <a:pPr algn="l">
              <a:defRPr sz="1700" b="1">
                <a:solidFill>
                  <a:srgbClr val="12304C"/>
                </a:solidFill>
                <a:latin typeface="Aptos"/>
              </a:defRPr>
            </a:pPr>
            <a:r>
              <a:t>Implication: Satisfaction is influenced by system design, not only individual personality.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5863528" cy="594009"/>
          </a:xfrm>
          <a:prstGeom prst="rect">
            <a:avLst/>
          </a:prstGeom>
          <a:noFill/>
        </p:spPr>
        <p:txBody>
          <a:bodyPr wrap="none" lIns="73152" tIns="73152" rIns="73152" bIns="73152">
            <a:spAutoFit/>
          </a:bodyPr>
          <a:lstStyle/>
          <a:p>
            <a:pPr algn="l">
              <a:defRPr sz="2900" b="1">
                <a:solidFill>
                  <a:srgbClr val="12304C"/>
                </a:solidFill>
                <a:latin typeface="Aptos"/>
              </a:defRPr>
            </a:pPr>
            <a:r>
              <a:rPr sz="2900" dirty="0"/>
              <a:t>Consequences of Job Satisfaction</a:t>
            </a:r>
          </a:p>
        </p:txBody>
      </p:sp>
      <p:sp>
        <p:nvSpPr>
          <p:cNvPr id="3" name="Rectangle 2"/>
          <p:cNvSpPr/>
          <p:nvPr/>
        </p:nvSpPr>
        <p:spPr>
          <a:xfrm>
            <a:off x="548640" y="1234440"/>
            <a:ext cx="11064240" cy="27432"/>
          </a:xfrm>
          <a:prstGeom prst="rect">
            <a:avLst/>
          </a:prstGeom>
          <a:solidFill>
            <a:srgbClr val="D9E6F2"/>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 name="TextBox 3"/>
          <p:cNvSpPr txBox="1"/>
          <p:nvPr/>
        </p:nvSpPr>
        <p:spPr>
          <a:xfrm>
            <a:off x="548640" y="6473952"/>
            <a:ext cx="3940694" cy="332399"/>
          </a:xfrm>
          <a:prstGeom prst="rect">
            <a:avLst/>
          </a:prstGeom>
          <a:noFill/>
        </p:spPr>
        <p:txBody>
          <a:bodyPr wrap="none" lIns="73152" tIns="73152" rIns="73152" bIns="73152">
            <a:spAutoFit/>
          </a:bodyPr>
          <a:lstStyle/>
          <a:p>
            <a:pPr algn="l">
              <a:defRPr sz="850" b="0">
                <a:solidFill>
                  <a:srgbClr val="5A5A5A"/>
                </a:solidFill>
                <a:latin typeface="Aptos"/>
              </a:defRPr>
            </a:pPr>
            <a:r>
              <a:rPr sz="1200"/>
              <a:t>G TQM 511 | Organizational Behavior and Quality | Week 3</a:t>
            </a:r>
          </a:p>
        </p:txBody>
      </p:sp>
      <p:sp>
        <p:nvSpPr>
          <p:cNvPr id="5" name="TextBox 4"/>
          <p:cNvSpPr txBox="1"/>
          <p:nvPr/>
        </p:nvSpPr>
        <p:spPr>
          <a:xfrm>
            <a:off x="11383394" y="6473952"/>
            <a:ext cx="229486" cy="332399"/>
          </a:xfrm>
          <a:prstGeom prst="rect">
            <a:avLst/>
          </a:prstGeom>
          <a:noFill/>
        </p:spPr>
        <p:txBody>
          <a:bodyPr wrap="none" lIns="73152" tIns="73152" rIns="73152" bIns="73152">
            <a:spAutoFit/>
          </a:bodyPr>
          <a:lstStyle/>
          <a:p>
            <a:pPr algn="r">
              <a:defRPr sz="850" b="0">
                <a:solidFill>
                  <a:srgbClr val="5A5A5A"/>
                </a:solidFill>
                <a:latin typeface="Aptos"/>
              </a:defRPr>
            </a:pPr>
            <a:r>
              <a:rPr sz="1200"/>
              <a:t>9</a:t>
            </a:r>
          </a:p>
        </p:txBody>
      </p:sp>
      <p:sp>
        <p:nvSpPr>
          <p:cNvPr id="6" name="Rounded Rectangle 5"/>
          <p:cNvSpPr/>
          <p:nvPr/>
        </p:nvSpPr>
        <p:spPr>
          <a:xfrm>
            <a:off x="731520" y="1417320"/>
            <a:ext cx="10698480" cy="658368"/>
          </a:xfrm>
          <a:prstGeom prst="roundRect">
            <a:avLst/>
          </a:prstGeom>
          <a:solidFill>
            <a:srgbClr val="E8F1F8"/>
          </a:solidFill>
          <a:ln>
            <a:solidFill>
              <a:srgbClr val="225C8C"/>
            </a:solidFill>
          </a:ln>
        </p:spPr>
        <p:style>
          <a:lnRef idx="1">
            <a:schemeClr val="accent1"/>
          </a:lnRef>
          <a:fillRef idx="3">
            <a:schemeClr val="accent1"/>
          </a:fillRef>
          <a:effectRef idx="2">
            <a:schemeClr val="accent1"/>
          </a:effectRef>
          <a:fontRef idx="minor">
            <a:schemeClr val="lt1"/>
          </a:fontRef>
        </p:style>
        <p:txBody>
          <a:bodyPr lIns="128016" tIns="109728" rIns="128016" bIns="109728" rtlCol="0" anchor="ctr"/>
          <a:lstStyle/>
          <a:p>
            <a:pPr algn="ctr">
              <a:defRPr sz="1700" b="0">
                <a:solidFill>
                  <a:srgbClr val="232323"/>
                </a:solidFill>
                <a:latin typeface="Aptos"/>
              </a:defRPr>
            </a:pPr>
            <a:r>
              <a:rPr dirty="0"/>
              <a:t>Satisfied employees are more likely to contribute positively to performance and less likely to withdraw from work.</a:t>
            </a:r>
          </a:p>
        </p:txBody>
      </p:sp>
      <p:sp>
        <p:nvSpPr>
          <p:cNvPr id="7" name="Rounded Rectangle 6"/>
          <p:cNvSpPr/>
          <p:nvPr/>
        </p:nvSpPr>
        <p:spPr>
          <a:xfrm>
            <a:off x="822960" y="2560319"/>
            <a:ext cx="3474720" cy="1325309"/>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8" name="Rectangle 7"/>
          <p:cNvSpPr/>
          <p:nvPr/>
        </p:nvSpPr>
        <p:spPr>
          <a:xfrm>
            <a:off x="822960" y="2560320"/>
            <a:ext cx="73152" cy="1143000"/>
          </a:xfrm>
          <a:prstGeom prst="rect">
            <a:avLst/>
          </a:prstGeom>
          <a:solidFill>
            <a:srgbClr val="225C8C"/>
          </a:solidFill>
          <a:ln>
            <a:solidFill>
              <a:srgbClr val="22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9" name="TextBox 8"/>
          <p:cNvSpPr txBox="1"/>
          <p:nvPr/>
        </p:nvSpPr>
        <p:spPr>
          <a:xfrm>
            <a:off x="987552" y="2679191"/>
            <a:ext cx="1356782" cy="393954"/>
          </a:xfrm>
          <a:prstGeom prst="rect">
            <a:avLst/>
          </a:prstGeom>
          <a:noFill/>
        </p:spPr>
        <p:txBody>
          <a:bodyPr wrap="none" lIns="73152" tIns="73152" rIns="73152" bIns="73152">
            <a:spAutoFit/>
          </a:bodyPr>
          <a:lstStyle/>
          <a:p>
            <a:pPr algn="l">
              <a:defRPr sz="1500" b="1">
                <a:solidFill>
                  <a:srgbClr val="12304C"/>
                </a:solidFill>
                <a:latin typeface="Aptos"/>
              </a:defRPr>
            </a:pPr>
            <a:r>
              <a:rPr sz="1600"/>
              <a:t>Performance</a:t>
            </a:r>
          </a:p>
        </p:txBody>
      </p:sp>
      <p:sp>
        <p:nvSpPr>
          <p:cNvPr id="10" name="TextBox 9"/>
          <p:cNvSpPr txBox="1"/>
          <p:nvPr/>
        </p:nvSpPr>
        <p:spPr>
          <a:xfrm>
            <a:off x="987553" y="2999232"/>
            <a:ext cx="3194306" cy="640175"/>
          </a:xfrm>
          <a:prstGeom prst="rect">
            <a:avLst/>
          </a:prstGeom>
          <a:noFill/>
        </p:spPr>
        <p:txBody>
          <a:bodyPr wrap="square" lIns="73152" tIns="73152" rIns="73152" bIns="73152">
            <a:spAutoFit/>
          </a:bodyPr>
          <a:lstStyle/>
          <a:p>
            <a:pPr algn="l">
              <a:defRPr sz="1350" b="0">
                <a:solidFill>
                  <a:srgbClr val="232323"/>
                </a:solidFill>
                <a:latin typeface="Aptos"/>
              </a:defRPr>
            </a:pPr>
            <a:r>
              <a:rPr sz="1600" dirty="0"/>
              <a:t>Higher motivation, service effort, attention to detail, and reliability.</a:t>
            </a:r>
          </a:p>
        </p:txBody>
      </p:sp>
      <p:sp>
        <p:nvSpPr>
          <p:cNvPr id="11" name="Rounded Rectangle 10"/>
          <p:cNvSpPr/>
          <p:nvPr/>
        </p:nvSpPr>
        <p:spPr>
          <a:xfrm>
            <a:off x="4389120" y="2560319"/>
            <a:ext cx="3474720" cy="1325309"/>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2" name="Rectangle 11"/>
          <p:cNvSpPr/>
          <p:nvPr/>
        </p:nvSpPr>
        <p:spPr>
          <a:xfrm>
            <a:off x="4389120" y="2560320"/>
            <a:ext cx="73152" cy="1143000"/>
          </a:xfrm>
          <a:prstGeom prst="rect">
            <a:avLst/>
          </a:prstGeom>
          <a:solidFill>
            <a:srgbClr val="457E5A"/>
          </a:solidFill>
          <a:ln>
            <a:solidFill>
              <a:srgbClr val="457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3" name="TextBox 12"/>
          <p:cNvSpPr txBox="1"/>
          <p:nvPr/>
        </p:nvSpPr>
        <p:spPr>
          <a:xfrm>
            <a:off x="4553712" y="2679191"/>
            <a:ext cx="2567369" cy="393954"/>
          </a:xfrm>
          <a:prstGeom prst="rect">
            <a:avLst/>
          </a:prstGeom>
          <a:noFill/>
        </p:spPr>
        <p:txBody>
          <a:bodyPr wrap="none" lIns="73152" tIns="73152" rIns="73152" bIns="73152">
            <a:spAutoFit/>
          </a:bodyPr>
          <a:lstStyle/>
          <a:p>
            <a:pPr algn="l">
              <a:defRPr sz="1500" b="1">
                <a:solidFill>
                  <a:srgbClr val="12304C"/>
                </a:solidFill>
                <a:latin typeface="Aptos"/>
              </a:defRPr>
            </a:pPr>
            <a:r>
              <a:rPr sz="1600"/>
              <a:t>Organizational citizenship</a:t>
            </a:r>
          </a:p>
        </p:txBody>
      </p:sp>
      <p:sp>
        <p:nvSpPr>
          <p:cNvPr id="14" name="TextBox 13"/>
          <p:cNvSpPr txBox="1"/>
          <p:nvPr/>
        </p:nvSpPr>
        <p:spPr>
          <a:xfrm>
            <a:off x="4553712" y="2999232"/>
            <a:ext cx="3176018" cy="886397"/>
          </a:xfrm>
          <a:prstGeom prst="rect">
            <a:avLst/>
          </a:prstGeom>
          <a:noFill/>
        </p:spPr>
        <p:txBody>
          <a:bodyPr wrap="square" lIns="73152" tIns="73152" rIns="73152" bIns="73152">
            <a:spAutoFit/>
          </a:bodyPr>
          <a:lstStyle/>
          <a:p>
            <a:pPr algn="l">
              <a:defRPr sz="1350" b="0">
                <a:solidFill>
                  <a:srgbClr val="232323"/>
                </a:solidFill>
                <a:latin typeface="Aptos"/>
              </a:defRPr>
            </a:pPr>
            <a:r>
              <a:rPr sz="1600" dirty="0"/>
              <a:t>Helping, cooperation, voluntary problem solving, and support for improvement.</a:t>
            </a:r>
          </a:p>
        </p:txBody>
      </p:sp>
      <p:sp>
        <p:nvSpPr>
          <p:cNvPr id="15" name="Rounded Rectangle 14"/>
          <p:cNvSpPr/>
          <p:nvPr/>
        </p:nvSpPr>
        <p:spPr>
          <a:xfrm>
            <a:off x="7955279" y="2560320"/>
            <a:ext cx="3474720" cy="1325309"/>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6" name="Rectangle 15"/>
          <p:cNvSpPr/>
          <p:nvPr/>
        </p:nvSpPr>
        <p:spPr>
          <a:xfrm>
            <a:off x="7955279" y="2560320"/>
            <a:ext cx="73152" cy="1143000"/>
          </a:xfrm>
          <a:prstGeom prst="rect">
            <a:avLst/>
          </a:prstGeom>
          <a:solidFill>
            <a:srgbClr val="C87A34"/>
          </a:solidFill>
          <a:ln>
            <a:solidFill>
              <a:srgbClr val="C87A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8119871" y="2679191"/>
            <a:ext cx="2225802" cy="393954"/>
          </a:xfrm>
          <a:prstGeom prst="rect">
            <a:avLst/>
          </a:prstGeom>
          <a:noFill/>
        </p:spPr>
        <p:txBody>
          <a:bodyPr wrap="none" lIns="73152" tIns="73152" rIns="73152" bIns="73152">
            <a:spAutoFit/>
          </a:bodyPr>
          <a:lstStyle/>
          <a:p>
            <a:pPr algn="l">
              <a:defRPr sz="1500" b="1">
                <a:solidFill>
                  <a:srgbClr val="12304C"/>
                </a:solidFill>
                <a:latin typeface="Aptos"/>
              </a:defRPr>
            </a:pPr>
            <a:r>
              <a:rPr sz="1600"/>
              <a:t>Customer satisfaction</a:t>
            </a:r>
          </a:p>
        </p:txBody>
      </p:sp>
      <p:sp>
        <p:nvSpPr>
          <p:cNvPr id="18" name="TextBox 17"/>
          <p:cNvSpPr txBox="1"/>
          <p:nvPr/>
        </p:nvSpPr>
        <p:spPr>
          <a:xfrm>
            <a:off x="8119870" y="2999232"/>
            <a:ext cx="3194307" cy="640175"/>
          </a:xfrm>
          <a:prstGeom prst="rect">
            <a:avLst/>
          </a:prstGeom>
          <a:noFill/>
        </p:spPr>
        <p:txBody>
          <a:bodyPr wrap="square" lIns="73152" tIns="73152" rIns="73152" bIns="73152">
            <a:spAutoFit/>
          </a:bodyPr>
          <a:lstStyle/>
          <a:p>
            <a:pPr algn="l">
              <a:defRPr sz="1350" b="0">
                <a:solidFill>
                  <a:srgbClr val="232323"/>
                </a:solidFill>
                <a:latin typeface="Aptos"/>
              </a:defRPr>
            </a:pPr>
            <a:r>
              <a:rPr sz="1600" dirty="0"/>
              <a:t>Employee attitudes shape service climate and customer experience.</a:t>
            </a:r>
          </a:p>
        </p:txBody>
      </p:sp>
      <p:sp>
        <p:nvSpPr>
          <p:cNvPr id="19" name="Rounded Rectangle 18"/>
          <p:cNvSpPr/>
          <p:nvPr/>
        </p:nvSpPr>
        <p:spPr>
          <a:xfrm>
            <a:off x="1828800" y="4069080"/>
            <a:ext cx="3931920" cy="1325308"/>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0" name="Rectangle 19"/>
          <p:cNvSpPr/>
          <p:nvPr/>
        </p:nvSpPr>
        <p:spPr>
          <a:xfrm>
            <a:off x="1828800" y="4069080"/>
            <a:ext cx="73152" cy="1143000"/>
          </a:xfrm>
          <a:prstGeom prst="rect">
            <a:avLst/>
          </a:prstGeom>
          <a:solidFill>
            <a:srgbClr val="225C8C"/>
          </a:solidFill>
          <a:ln>
            <a:solidFill>
              <a:srgbClr val="22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1993392" y="4187952"/>
            <a:ext cx="2051139" cy="393954"/>
          </a:xfrm>
          <a:prstGeom prst="rect">
            <a:avLst/>
          </a:prstGeom>
          <a:noFill/>
        </p:spPr>
        <p:txBody>
          <a:bodyPr wrap="none" lIns="73152" tIns="73152" rIns="73152" bIns="73152">
            <a:spAutoFit/>
          </a:bodyPr>
          <a:lstStyle/>
          <a:p>
            <a:pPr algn="l">
              <a:defRPr sz="1500" b="1">
                <a:solidFill>
                  <a:srgbClr val="12304C"/>
                </a:solidFill>
                <a:latin typeface="Aptos"/>
              </a:defRPr>
            </a:pPr>
            <a:r>
              <a:rPr sz="1600"/>
              <a:t>Reduced withdrawal</a:t>
            </a:r>
          </a:p>
        </p:txBody>
      </p:sp>
      <p:sp>
        <p:nvSpPr>
          <p:cNvPr id="22" name="TextBox 21"/>
          <p:cNvSpPr txBox="1"/>
          <p:nvPr/>
        </p:nvSpPr>
        <p:spPr>
          <a:xfrm>
            <a:off x="1993392" y="4507992"/>
            <a:ext cx="3410712" cy="886397"/>
          </a:xfrm>
          <a:prstGeom prst="rect">
            <a:avLst/>
          </a:prstGeom>
          <a:noFill/>
        </p:spPr>
        <p:txBody>
          <a:bodyPr wrap="square" lIns="73152" tIns="73152" rIns="73152" bIns="73152">
            <a:spAutoFit/>
          </a:bodyPr>
          <a:lstStyle/>
          <a:p>
            <a:pPr algn="l">
              <a:defRPr sz="1350" b="0">
                <a:solidFill>
                  <a:srgbClr val="232323"/>
                </a:solidFill>
                <a:latin typeface="Aptos"/>
              </a:defRPr>
            </a:pPr>
            <a:r>
              <a:rPr sz="1600" dirty="0"/>
              <a:t>Lower absenteeism, turnover intentions, and counterproductive behavior.</a:t>
            </a:r>
          </a:p>
        </p:txBody>
      </p:sp>
      <p:sp>
        <p:nvSpPr>
          <p:cNvPr id="23" name="Rounded Rectangle 22"/>
          <p:cNvSpPr/>
          <p:nvPr/>
        </p:nvSpPr>
        <p:spPr>
          <a:xfrm>
            <a:off x="6400800" y="4069079"/>
            <a:ext cx="3931920" cy="1325309"/>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4" name="Rectangle 23"/>
          <p:cNvSpPr/>
          <p:nvPr/>
        </p:nvSpPr>
        <p:spPr>
          <a:xfrm>
            <a:off x="6400800" y="4069080"/>
            <a:ext cx="73152" cy="1143000"/>
          </a:xfrm>
          <a:prstGeom prst="rect">
            <a:avLst/>
          </a:prstGeom>
          <a:solidFill>
            <a:srgbClr val="457E5A"/>
          </a:solidFill>
          <a:ln>
            <a:solidFill>
              <a:srgbClr val="457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6565392" y="4187952"/>
            <a:ext cx="1622495" cy="393954"/>
          </a:xfrm>
          <a:prstGeom prst="rect">
            <a:avLst/>
          </a:prstGeom>
          <a:noFill/>
        </p:spPr>
        <p:txBody>
          <a:bodyPr wrap="none" lIns="73152" tIns="73152" rIns="73152" bIns="73152">
            <a:spAutoFit/>
          </a:bodyPr>
          <a:lstStyle/>
          <a:p>
            <a:pPr algn="l">
              <a:defRPr sz="1500" b="1">
                <a:solidFill>
                  <a:srgbClr val="12304C"/>
                </a:solidFill>
                <a:latin typeface="Aptos"/>
              </a:defRPr>
            </a:pPr>
            <a:r>
              <a:rPr sz="1600"/>
              <a:t>Quality learning</a:t>
            </a:r>
          </a:p>
        </p:txBody>
      </p:sp>
      <p:sp>
        <p:nvSpPr>
          <p:cNvPr id="26" name="TextBox 25"/>
          <p:cNvSpPr txBox="1"/>
          <p:nvPr/>
        </p:nvSpPr>
        <p:spPr>
          <a:xfrm>
            <a:off x="6565392" y="4507992"/>
            <a:ext cx="3694176" cy="886397"/>
          </a:xfrm>
          <a:prstGeom prst="rect">
            <a:avLst/>
          </a:prstGeom>
          <a:noFill/>
        </p:spPr>
        <p:txBody>
          <a:bodyPr wrap="square" lIns="73152" tIns="73152" rIns="73152" bIns="73152">
            <a:spAutoFit/>
          </a:bodyPr>
          <a:lstStyle/>
          <a:p>
            <a:pPr algn="l">
              <a:defRPr sz="1350" b="0">
                <a:solidFill>
                  <a:srgbClr val="232323"/>
                </a:solidFill>
                <a:latin typeface="Aptos"/>
              </a:defRPr>
            </a:pPr>
            <a:r>
              <a:rPr sz="1600" dirty="0"/>
              <a:t>More willingness to report errors, discuss problems, and participate in improvement.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7516481" cy="640175"/>
          </a:xfrm>
          <a:prstGeom prst="rect">
            <a:avLst/>
          </a:prstGeom>
          <a:noFill/>
        </p:spPr>
        <p:txBody>
          <a:bodyPr wrap="none" lIns="73152" tIns="73152" rIns="73152" bIns="73152">
            <a:spAutoFit/>
          </a:bodyPr>
          <a:lstStyle/>
          <a:p>
            <a:pPr algn="l">
              <a:defRPr sz="2900" b="1">
                <a:solidFill>
                  <a:srgbClr val="12304C"/>
                </a:solidFill>
                <a:latin typeface="Aptos"/>
              </a:defRPr>
            </a:pPr>
            <a:r>
              <a:rPr sz="3200" dirty="0"/>
              <a:t>Employee Responses to Dissatisfaction</a:t>
            </a:r>
          </a:p>
        </p:txBody>
      </p:sp>
      <p:sp>
        <p:nvSpPr>
          <p:cNvPr id="3" name="Rectangle 2"/>
          <p:cNvSpPr/>
          <p:nvPr/>
        </p:nvSpPr>
        <p:spPr>
          <a:xfrm>
            <a:off x="548640" y="1234440"/>
            <a:ext cx="11064240" cy="27432"/>
          </a:xfrm>
          <a:prstGeom prst="rect">
            <a:avLst/>
          </a:prstGeom>
          <a:solidFill>
            <a:srgbClr val="D9E6F2"/>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 name="TextBox 3"/>
          <p:cNvSpPr txBox="1"/>
          <p:nvPr/>
        </p:nvSpPr>
        <p:spPr>
          <a:xfrm>
            <a:off x="548640" y="6473952"/>
            <a:ext cx="2997872" cy="286232"/>
          </a:xfrm>
          <a:prstGeom prst="rect">
            <a:avLst/>
          </a:prstGeom>
          <a:noFill/>
        </p:spPr>
        <p:txBody>
          <a:bodyPr wrap="none" lIns="73152" tIns="73152" rIns="73152" bIns="73152">
            <a:spAutoFit/>
          </a:bodyPr>
          <a:lstStyle/>
          <a:p>
            <a:pPr algn="l">
              <a:defRPr sz="850" b="0">
                <a:solidFill>
                  <a:srgbClr val="5A5A5A"/>
                </a:solidFill>
                <a:latin typeface="Aptos"/>
              </a:defRPr>
            </a:pPr>
            <a:r>
              <a:rPr sz="900"/>
              <a:t>G TQM 511 | Organizational Behavior and Quality | Week 3</a:t>
            </a:r>
          </a:p>
        </p:txBody>
      </p:sp>
      <p:sp>
        <p:nvSpPr>
          <p:cNvPr id="5" name="TextBox 4"/>
          <p:cNvSpPr txBox="1"/>
          <p:nvPr/>
        </p:nvSpPr>
        <p:spPr>
          <a:xfrm>
            <a:off x="11343319" y="6473952"/>
            <a:ext cx="269561" cy="286232"/>
          </a:xfrm>
          <a:prstGeom prst="rect">
            <a:avLst/>
          </a:prstGeom>
          <a:noFill/>
        </p:spPr>
        <p:txBody>
          <a:bodyPr wrap="none" lIns="73152" tIns="73152" rIns="73152" bIns="73152">
            <a:spAutoFit/>
          </a:bodyPr>
          <a:lstStyle/>
          <a:p>
            <a:pPr algn="r">
              <a:defRPr sz="850" b="0">
                <a:solidFill>
                  <a:srgbClr val="5A5A5A"/>
                </a:solidFill>
                <a:latin typeface="Aptos"/>
              </a:defRPr>
            </a:pPr>
            <a:r>
              <a:rPr sz="900"/>
              <a:t>10</a:t>
            </a:r>
          </a:p>
        </p:txBody>
      </p:sp>
      <p:sp>
        <p:nvSpPr>
          <p:cNvPr id="6" name="Rounded Rectangle 5"/>
          <p:cNvSpPr/>
          <p:nvPr/>
        </p:nvSpPr>
        <p:spPr>
          <a:xfrm>
            <a:off x="731520" y="1417320"/>
            <a:ext cx="10698480" cy="658368"/>
          </a:xfrm>
          <a:prstGeom prst="roundRect">
            <a:avLst/>
          </a:prstGeom>
          <a:solidFill>
            <a:srgbClr val="E8F1F8"/>
          </a:solidFill>
          <a:ln>
            <a:solidFill>
              <a:srgbClr val="225C8C"/>
            </a:solidFill>
          </a:ln>
        </p:spPr>
        <p:style>
          <a:lnRef idx="1">
            <a:schemeClr val="accent1"/>
          </a:lnRef>
          <a:fillRef idx="3">
            <a:schemeClr val="accent1"/>
          </a:fillRef>
          <a:effectRef idx="2">
            <a:schemeClr val="accent1"/>
          </a:effectRef>
          <a:fontRef idx="minor">
            <a:schemeClr val="lt1"/>
          </a:fontRef>
        </p:style>
        <p:txBody>
          <a:bodyPr lIns="128016" tIns="109728" rIns="128016" bIns="109728" rtlCol="0" anchor="ctr"/>
          <a:lstStyle/>
          <a:p>
            <a:pPr algn="ctr">
              <a:defRPr sz="1700" b="0">
                <a:solidFill>
                  <a:srgbClr val="232323"/>
                </a:solidFill>
                <a:latin typeface="Aptos"/>
              </a:defRPr>
            </a:pPr>
            <a:r>
              <a:rPr dirty="0"/>
              <a:t>The exit–voice–loyalty–neglect model helps managers interpret how employees respond when they are dissatisfied.</a:t>
            </a:r>
          </a:p>
        </p:txBody>
      </p:sp>
      <p:sp>
        <p:nvSpPr>
          <p:cNvPr id="7" name="Rounded Rectangle 6"/>
          <p:cNvSpPr/>
          <p:nvPr/>
        </p:nvSpPr>
        <p:spPr>
          <a:xfrm>
            <a:off x="914400" y="2468880"/>
            <a:ext cx="2331720" cy="123444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Rectangle 7"/>
          <p:cNvSpPr/>
          <p:nvPr/>
        </p:nvSpPr>
        <p:spPr>
          <a:xfrm>
            <a:off x="914400" y="2468880"/>
            <a:ext cx="73152" cy="1234440"/>
          </a:xfrm>
          <a:prstGeom prst="rect">
            <a:avLst/>
          </a:prstGeom>
          <a:solidFill>
            <a:srgbClr val="AA4646"/>
          </a:solidFill>
          <a:ln>
            <a:solidFill>
              <a:srgbClr val="AA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 name="TextBox 8"/>
          <p:cNvSpPr txBox="1"/>
          <p:nvPr/>
        </p:nvSpPr>
        <p:spPr>
          <a:xfrm>
            <a:off x="1078992" y="2587752"/>
            <a:ext cx="493981" cy="393954"/>
          </a:xfrm>
          <a:prstGeom prst="rect">
            <a:avLst/>
          </a:prstGeom>
          <a:noFill/>
        </p:spPr>
        <p:txBody>
          <a:bodyPr wrap="none" lIns="73152" tIns="73152" rIns="73152" bIns="73152">
            <a:spAutoFit/>
          </a:bodyPr>
          <a:lstStyle/>
          <a:p>
            <a:pPr algn="l">
              <a:defRPr sz="1500" b="1">
                <a:solidFill>
                  <a:srgbClr val="12304C"/>
                </a:solidFill>
                <a:latin typeface="Aptos"/>
              </a:defRPr>
            </a:pPr>
            <a:r>
              <a:rPr sz="1600"/>
              <a:t>Exit</a:t>
            </a:r>
          </a:p>
        </p:txBody>
      </p:sp>
      <p:sp>
        <p:nvSpPr>
          <p:cNvPr id="10" name="TextBox 9"/>
          <p:cNvSpPr txBox="1"/>
          <p:nvPr/>
        </p:nvSpPr>
        <p:spPr>
          <a:xfrm>
            <a:off x="1078992" y="2907792"/>
            <a:ext cx="2057400" cy="886397"/>
          </a:xfrm>
          <a:prstGeom prst="rect">
            <a:avLst/>
          </a:prstGeom>
          <a:noFill/>
        </p:spPr>
        <p:txBody>
          <a:bodyPr wrap="square" lIns="73152" tIns="73152" rIns="73152" bIns="73152">
            <a:spAutoFit/>
          </a:bodyPr>
          <a:lstStyle/>
          <a:p>
            <a:pPr algn="l">
              <a:defRPr sz="1500" b="0">
                <a:solidFill>
                  <a:srgbClr val="232323"/>
                </a:solidFill>
                <a:latin typeface="Aptos"/>
              </a:defRPr>
            </a:pPr>
            <a:r>
              <a:rPr sz="1600" dirty="0"/>
              <a:t>Leaving the organization or seeking transfer.</a:t>
            </a:r>
          </a:p>
        </p:txBody>
      </p:sp>
      <p:sp>
        <p:nvSpPr>
          <p:cNvPr id="11" name="Rounded Rectangle 10"/>
          <p:cNvSpPr/>
          <p:nvPr/>
        </p:nvSpPr>
        <p:spPr>
          <a:xfrm>
            <a:off x="3520440" y="2468880"/>
            <a:ext cx="2331720" cy="123444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Rectangle 11"/>
          <p:cNvSpPr/>
          <p:nvPr/>
        </p:nvSpPr>
        <p:spPr>
          <a:xfrm>
            <a:off x="3520440" y="2468880"/>
            <a:ext cx="73152" cy="1234440"/>
          </a:xfrm>
          <a:prstGeom prst="rect">
            <a:avLst/>
          </a:prstGeom>
          <a:solidFill>
            <a:srgbClr val="457E5A"/>
          </a:solidFill>
          <a:ln>
            <a:solidFill>
              <a:srgbClr val="457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TextBox 12"/>
          <p:cNvSpPr txBox="1"/>
          <p:nvPr/>
        </p:nvSpPr>
        <p:spPr>
          <a:xfrm>
            <a:off x="3685032" y="2587752"/>
            <a:ext cx="662297" cy="393954"/>
          </a:xfrm>
          <a:prstGeom prst="rect">
            <a:avLst/>
          </a:prstGeom>
          <a:noFill/>
        </p:spPr>
        <p:txBody>
          <a:bodyPr wrap="none" lIns="73152" tIns="73152" rIns="73152" bIns="73152">
            <a:spAutoFit/>
          </a:bodyPr>
          <a:lstStyle/>
          <a:p>
            <a:pPr algn="l">
              <a:defRPr sz="1500" b="1">
                <a:solidFill>
                  <a:srgbClr val="12304C"/>
                </a:solidFill>
                <a:latin typeface="Aptos"/>
              </a:defRPr>
            </a:pPr>
            <a:r>
              <a:rPr sz="1600" dirty="0"/>
              <a:t>Voice</a:t>
            </a:r>
          </a:p>
        </p:txBody>
      </p:sp>
      <p:sp>
        <p:nvSpPr>
          <p:cNvPr id="14" name="TextBox 13"/>
          <p:cNvSpPr txBox="1"/>
          <p:nvPr/>
        </p:nvSpPr>
        <p:spPr>
          <a:xfrm>
            <a:off x="3685032" y="2907792"/>
            <a:ext cx="2148840" cy="640175"/>
          </a:xfrm>
          <a:prstGeom prst="rect">
            <a:avLst/>
          </a:prstGeom>
          <a:noFill/>
        </p:spPr>
        <p:txBody>
          <a:bodyPr wrap="square" lIns="73152" tIns="73152" rIns="73152" bIns="73152">
            <a:spAutoFit/>
          </a:bodyPr>
          <a:lstStyle/>
          <a:p>
            <a:pPr algn="l">
              <a:defRPr sz="1500" b="0">
                <a:solidFill>
                  <a:srgbClr val="232323"/>
                </a:solidFill>
                <a:latin typeface="Aptos"/>
              </a:defRPr>
            </a:pPr>
            <a:r>
              <a:rPr sz="1600" dirty="0"/>
              <a:t>Constructive attempt to improve conditions.</a:t>
            </a:r>
          </a:p>
        </p:txBody>
      </p:sp>
      <p:sp>
        <p:nvSpPr>
          <p:cNvPr id="15" name="Rounded Rectangle 14"/>
          <p:cNvSpPr/>
          <p:nvPr/>
        </p:nvSpPr>
        <p:spPr>
          <a:xfrm>
            <a:off x="6126480" y="2468880"/>
            <a:ext cx="2331720" cy="123444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Rectangle 15"/>
          <p:cNvSpPr/>
          <p:nvPr/>
        </p:nvSpPr>
        <p:spPr>
          <a:xfrm>
            <a:off x="6126480" y="2468880"/>
            <a:ext cx="73152" cy="1234440"/>
          </a:xfrm>
          <a:prstGeom prst="rect">
            <a:avLst/>
          </a:prstGeom>
          <a:solidFill>
            <a:srgbClr val="225C8C"/>
          </a:solidFill>
          <a:ln>
            <a:solidFill>
              <a:srgbClr val="22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7" name="TextBox 16"/>
          <p:cNvSpPr txBox="1"/>
          <p:nvPr/>
        </p:nvSpPr>
        <p:spPr>
          <a:xfrm>
            <a:off x="6291072" y="2587752"/>
            <a:ext cx="818237" cy="393954"/>
          </a:xfrm>
          <a:prstGeom prst="rect">
            <a:avLst/>
          </a:prstGeom>
          <a:noFill/>
        </p:spPr>
        <p:txBody>
          <a:bodyPr wrap="none" lIns="73152" tIns="73152" rIns="73152" bIns="73152">
            <a:spAutoFit/>
          </a:bodyPr>
          <a:lstStyle/>
          <a:p>
            <a:pPr algn="l">
              <a:defRPr sz="1500" b="1">
                <a:solidFill>
                  <a:srgbClr val="12304C"/>
                </a:solidFill>
                <a:latin typeface="Aptos"/>
              </a:defRPr>
            </a:pPr>
            <a:r>
              <a:rPr sz="1600"/>
              <a:t>Loyalty</a:t>
            </a:r>
          </a:p>
        </p:txBody>
      </p:sp>
      <p:sp>
        <p:nvSpPr>
          <p:cNvPr id="18" name="TextBox 17"/>
          <p:cNvSpPr txBox="1"/>
          <p:nvPr/>
        </p:nvSpPr>
        <p:spPr>
          <a:xfrm>
            <a:off x="6291072" y="2907792"/>
            <a:ext cx="2057400" cy="640175"/>
          </a:xfrm>
          <a:prstGeom prst="rect">
            <a:avLst/>
          </a:prstGeom>
          <a:noFill/>
        </p:spPr>
        <p:txBody>
          <a:bodyPr wrap="square" lIns="73152" tIns="73152" rIns="73152" bIns="73152">
            <a:spAutoFit/>
          </a:bodyPr>
          <a:lstStyle/>
          <a:p>
            <a:pPr algn="l">
              <a:defRPr sz="1500" b="0">
                <a:solidFill>
                  <a:srgbClr val="232323"/>
                </a:solidFill>
                <a:latin typeface="Aptos"/>
              </a:defRPr>
            </a:pPr>
            <a:r>
              <a:rPr sz="1600" dirty="0"/>
              <a:t>Waiting optimistically for improvement.</a:t>
            </a:r>
          </a:p>
        </p:txBody>
      </p:sp>
      <p:sp>
        <p:nvSpPr>
          <p:cNvPr id="19" name="Rounded Rectangle 18"/>
          <p:cNvSpPr/>
          <p:nvPr/>
        </p:nvSpPr>
        <p:spPr>
          <a:xfrm>
            <a:off x="8732520" y="2468880"/>
            <a:ext cx="2331720" cy="123444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Rectangle 19"/>
          <p:cNvSpPr/>
          <p:nvPr/>
        </p:nvSpPr>
        <p:spPr>
          <a:xfrm>
            <a:off x="8732520" y="2468880"/>
            <a:ext cx="73152" cy="1234440"/>
          </a:xfrm>
          <a:prstGeom prst="rect">
            <a:avLst/>
          </a:prstGeom>
          <a:solidFill>
            <a:srgbClr val="C87A34"/>
          </a:solidFill>
          <a:ln>
            <a:solidFill>
              <a:srgbClr val="C87A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1" name="TextBox 20"/>
          <p:cNvSpPr txBox="1"/>
          <p:nvPr/>
        </p:nvSpPr>
        <p:spPr>
          <a:xfrm>
            <a:off x="8897112" y="2587752"/>
            <a:ext cx="875496" cy="393954"/>
          </a:xfrm>
          <a:prstGeom prst="rect">
            <a:avLst/>
          </a:prstGeom>
          <a:noFill/>
        </p:spPr>
        <p:txBody>
          <a:bodyPr wrap="none" lIns="73152" tIns="73152" rIns="73152" bIns="73152">
            <a:spAutoFit/>
          </a:bodyPr>
          <a:lstStyle/>
          <a:p>
            <a:pPr algn="l">
              <a:defRPr sz="1500" b="1">
                <a:solidFill>
                  <a:srgbClr val="12304C"/>
                </a:solidFill>
                <a:latin typeface="Aptos"/>
              </a:defRPr>
            </a:pPr>
            <a:r>
              <a:rPr sz="1600"/>
              <a:t>Neglect</a:t>
            </a:r>
          </a:p>
        </p:txBody>
      </p:sp>
      <p:sp>
        <p:nvSpPr>
          <p:cNvPr id="22" name="TextBox 21"/>
          <p:cNvSpPr txBox="1"/>
          <p:nvPr/>
        </p:nvSpPr>
        <p:spPr>
          <a:xfrm>
            <a:off x="8897112" y="2907792"/>
            <a:ext cx="2215896" cy="886397"/>
          </a:xfrm>
          <a:prstGeom prst="rect">
            <a:avLst/>
          </a:prstGeom>
          <a:noFill/>
        </p:spPr>
        <p:txBody>
          <a:bodyPr wrap="square" lIns="73152" tIns="73152" rIns="73152" bIns="73152">
            <a:spAutoFit/>
          </a:bodyPr>
          <a:lstStyle/>
          <a:p>
            <a:pPr algn="l">
              <a:defRPr sz="1500" b="0">
                <a:solidFill>
                  <a:srgbClr val="232323"/>
                </a:solidFill>
                <a:latin typeface="Aptos"/>
              </a:defRPr>
            </a:pPr>
            <a:r>
              <a:rPr sz="1600" dirty="0"/>
              <a:t>Reduced effort, lateness, absenteeism, or errors.</a:t>
            </a:r>
          </a:p>
        </p:txBody>
      </p:sp>
      <p:sp>
        <p:nvSpPr>
          <p:cNvPr id="23" name="TextBox 22"/>
          <p:cNvSpPr txBox="1"/>
          <p:nvPr/>
        </p:nvSpPr>
        <p:spPr>
          <a:xfrm>
            <a:off x="1005840" y="4572000"/>
            <a:ext cx="10259475" cy="455509"/>
          </a:xfrm>
          <a:prstGeom prst="rect">
            <a:avLst/>
          </a:prstGeom>
          <a:noFill/>
        </p:spPr>
        <p:txBody>
          <a:bodyPr wrap="none" lIns="73152" tIns="73152" rIns="73152" bIns="73152">
            <a:spAutoFit/>
          </a:bodyPr>
          <a:lstStyle/>
          <a:p>
            <a:pPr algn="l">
              <a:defRPr sz="1900" b="1">
                <a:solidFill>
                  <a:srgbClr val="12304C"/>
                </a:solidFill>
                <a:latin typeface="Aptos"/>
              </a:defRPr>
            </a:pPr>
            <a:r>
              <a:rPr sz="2000"/>
              <a:t>Quality goal: Build conditions where employees choose voice instead of exit or neglect.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6929397" cy="594009"/>
          </a:xfrm>
          <a:prstGeom prst="rect">
            <a:avLst/>
          </a:prstGeom>
          <a:noFill/>
        </p:spPr>
        <p:txBody>
          <a:bodyPr wrap="none" lIns="73152" tIns="73152" rIns="73152" bIns="73152">
            <a:spAutoFit/>
          </a:bodyPr>
          <a:lstStyle/>
          <a:p>
            <a:pPr algn="l">
              <a:defRPr sz="2900" b="1">
                <a:solidFill>
                  <a:srgbClr val="12304C"/>
                </a:solidFill>
                <a:latin typeface="Aptos"/>
              </a:defRPr>
            </a:pPr>
            <a:r>
              <a:rPr sz="2900" dirty="0"/>
              <a:t>The Attitude–Quality Performance Chain</a:t>
            </a:r>
          </a:p>
        </p:txBody>
      </p:sp>
      <p:sp>
        <p:nvSpPr>
          <p:cNvPr id="3" name="Rectangle 2"/>
          <p:cNvSpPr/>
          <p:nvPr/>
        </p:nvSpPr>
        <p:spPr>
          <a:xfrm>
            <a:off x="548640" y="1234440"/>
            <a:ext cx="11064240" cy="27432"/>
          </a:xfrm>
          <a:prstGeom prst="rect">
            <a:avLst/>
          </a:prstGeom>
          <a:solidFill>
            <a:srgbClr val="D9E6F2"/>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 name="TextBox 3"/>
          <p:cNvSpPr txBox="1"/>
          <p:nvPr/>
        </p:nvSpPr>
        <p:spPr>
          <a:xfrm>
            <a:off x="548640" y="6473952"/>
            <a:ext cx="2997872" cy="286232"/>
          </a:xfrm>
          <a:prstGeom prst="rect">
            <a:avLst/>
          </a:prstGeom>
          <a:noFill/>
        </p:spPr>
        <p:txBody>
          <a:bodyPr wrap="none" lIns="73152" tIns="73152" rIns="73152" bIns="73152">
            <a:spAutoFit/>
          </a:bodyPr>
          <a:lstStyle/>
          <a:p>
            <a:pPr algn="l">
              <a:defRPr sz="850" b="0">
                <a:solidFill>
                  <a:srgbClr val="5A5A5A"/>
                </a:solidFill>
                <a:latin typeface="Aptos"/>
              </a:defRPr>
            </a:pPr>
            <a:r>
              <a:rPr sz="900"/>
              <a:t>G TQM 511 | Organizational Behavior and Quality | Week 3</a:t>
            </a:r>
          </a:p>
        </p:txBody>
      </p:sp>
      <p:sp>
        <p:nvSpPr>
          <p:cNvPr id="5" name="TextBox 4"/>
          <p:cNvSpPr txBox="1"/>
          <p:nvPr/>
        </p:nvSpPr>
        <p:spPr>
          <a:xfrm>
            <a:off x="11343319" y="6473952"/>
            <a:ext cx="269561" cy="286232"/>
          </a:xfrm>
          <a:prstGeom prst="rect">
            <a:avLst/>
          </a:prstGeom>
          <a:noFill/>
        </p:spPr>
        <p:txBody>
          <a:bodyPr wrap="none" lIns="73152" tIns="73152" rIns="73152" bIns="73152">
            <a:spAutoFit/>
          </a:bodyPr>
          <a:lstStyle/>
          <a:p>
            <a:pPr algn="r">
              <a:defRPr sz="850" b="0">
                <a:solidFill>
                  <a:srgbClr val="5A5A5A"/>
                </a:solidFill>
                <a:latin typeface="Aptos"/>
              </a:defRPr>
            </a:pPr>
            <a:r>
              <a:rPr sz="900"/>
              <a:t>11</a:t>
            </a:r>
          </a:p>
        </p:txBody>
      </p:sp>
      <p:sp>
        <p:nvSpPr>
          <p:cNvPr id="6" name="Rounded Rectangle 5"/>
          <p:cNvSpPr/>
          <p:nvPr/>
        </p:nvSpPr>
        <p:spPr>
          <a:xfrm>
            <a:off x="822960" y="1965960"/>
            <a:ext cx="2194560" cy="777240"/>
          </a:xfrm>
          <a:prstGeom prst="roundRect">
            <a:avLst/>
          </a:prstGeom>
          <a:solidFill>
            <a:srgbClr val="FFFFFF"/>
          </a:solidFill>
          <a:ln>
            <a:solidFill>
              <a:srgbClr val="225C8C"/>
            </a:solidFill>
          </a:ln>
        </p:spPr>
        <p:style>
          <a:lnRef idx="1">
            <a:schemeClr val="accent1"/>
          </a:lnRef>
          <a:fillRef idx="3">
            <a:schemeClr val="accent1"/>
          </a:fillRef>
          <a:effectRef idx="2">
            <a:schemeClr val="accent1"/>
          </a:effectRef>
          <a:fontRef idx="minor">
            <a:schemeClr val="lt1"/>
          </a:fontRef>
        </p:style>
        <p:txBody>
          <a:bodyPr lIns="128016" tIns="109728" rIns="128016" bIns="109728" rtlCol="0" anchor="ctr"/>
          <a:lstStyle/>
          <a:p>
            <a:pPr algn="ctr">
              <a:defRPr sz="1500" b="1">
                <a:solidFill>
                  <a:srgbClr val="12304C"/>
                </a:solidFill>
                <a:latin typeface="Aptos"/>
              </a:defRPr>
            </a:pPr>
            <a:r>
              <a:rPr sz="1600"/>
              <a:t>Fairness and support</a:t>
            </a:r>
          </a:p>
        </p:txBody>
      </p:sp>
      <p:sp>
        <p:nvSpPr>
          <p:cNvPr id="7" name="Right Arrow 6"/>
          <p:cNvSpPr/>
          <p:nvPr/>
        </p:nvSpPr>
        <p:spPr>
          <a:xfrm>
            <a:off x="3063239" y="2185415"/>
            <a:ext cx="228600" cy="256032"/>
          </a:xfrm>
          <a:prstGeom prst="rightArrow">
            <a:avLst/>
          </a:prstGeom>
          <a:solidFill>
            <a:srgbClr val="225C8C"/>
          </a:solidFill>
          <a:ln>
            <a:solidFill>
              <a:srgbClr val="22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Rounded Rectangle 7"/>
          <p:cNvSpPr/>
          <p:nvPr/>
        </p:nvSpPr>
        <p:spPr>
          <a:xfrm>
            <a:off x="3337560" y="1965960"/>
            <a:ext cx="2194560" cy="777240"/>
          </a:xfrm>
          <a:prstGeom prst="roundRect">
            <a:avLst/>
          </a:prstGeom>
          <a:solidFill>
            <a:srgbClr val="FFFFFF"/>
          </a:solidFill>
          <a:ln>
            <a:solidFill>
              <a:srgbClr val="457E5A"/>
            </a:solidFill>
          </a:ln>
        </p:spPr>
        <p:style>
          <a:lnRef idx="1">
            <a:schemeClr val="accent1"/>
          </a:lnRef>
          <a:fillRef idx="3">
            <a:schemeClr val="accent1"/>
          </a:fillRef>
          <a:effectRef idx="2">
            <a:schemeClr val="accent1"/>
          </a:effectRef>
          <a:fontRef idx="minor">
            <a:schemeClr val="lt1"/>
          </a:fontRef>
        </p:style>
        <p:txBody>
          <a:bodyPr lIns="128016" tIns="109728" rIns="128016" bIns="109728" rtlCol="0" anchor="ctr"/>
          <a:lstStyle/>
          <a:p>
            <a:pPr algn="ctr">
              <a:defRPr sz="1500" b="1">
                <a:solidFill>
                  <a:srgbClr val="12304C"/>
                </a:solidFill>
                <a:latin typeface="Aptos"/>
              </a:defRPr>
            </a:pPr>
            <a:r>
              <a:rPr sz="1600"/>
              <a:t>Satisfaction and engagement</a:t>
            </a:r>
          </a:p>
        </p:txBody>
      </p:sp>
      <p:sp>
        <p:nvSpPr>
          <p:cNvPr id="9" name="Right Arrow 8"/>
          <p:cNvSpPr/>
          <p:nvPr/>
        </p:nvSpPr>
        <p:spPr>
          <a:xfrm>
            <a:off x="5577840" y="2185415"/>
            <a:ext cx="228600" cy="256032"/>
          </a:xfrm>
          <a:prstGeom prst="rightArrow">
            <a:avLst/>
          </a:prstGeom>
          <a:solidFill>
            <a:srgbClr val="457E5A"/>
          </a:solidFill>
          <a:ln>
            <a:solidFill>
              <a:srgbClr val="457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 name="Rounded Rectangle 9"/>
          <p:cNvSpPr/>
          <p:nvPr/>
        </p:nvSpPr>
        <p:spPr>
          <a:xfrm>
            <a:off x="5852160" y="1965960"/>
            <a:ext cx="2194560" cy="777240"/>
          </a:xfrm>
          <a:prstGeom prst="roundRect">
            <a:avLst/>
          </a:prstGeom>
          <a:solidFill>
            <a:srgbClr val="FFFFFF"/>
          </a:solidFill>
          <a:ln>
            <a:solidFill>
              <a:srgbClr val="C87A34"/>
            </a:solidFill>
          </a:ln>
        </p:spPr>
        <p:style>
          <a:lnRef idx="1">
            <a:schemeClr val="accent1"/>
          </a:lnRef>
          <a:fillRef idx="3">
            <a:schemeClr val="accent1"/>
          </a:fillRef>
          <a:effectRef idx="2">
            <a:schemeClr val="accent1"/>
          </a:effectRef>
          <a:fontRef idx="minor">
            <a:schemeClr val="lt1"/>
          </a:fontRef>
        </p:style>
        <p:txBody>
          <a:bodyPr lIns="128016" tIns="109728" rIns="128016" bIns="109728" rtlCol="0" anchor="ctr"/>
          <a:lstStyle/>
          <a:p>
            <a:pPr algn="ctr">
              <a:defRPr sz="1500" b="1">
                <a:solidFill>
                  <a:srgbClr val="12304C"/>
                </a:solidFill>
                <a:latin typeface="Aptos"/>
              </a:defRPr>
            </a:pPr>
            <a:r>
              <a:rPr sz="1600"/>
              <a:t>Quality behavior</a:t>
            </a:r>
          </a:p>
        </p:txBody>
      </p:sp>
      <p:sp>
        <p:nvSpPr>
          <p:cNvPr id="11" name="Right Arrow 10"/>
          <p:cNvSpPr/>
          <p:nvPr/>
        </p:nvSpPr>
        <p:spPr>
          <a:xfrm>
            <a:off x="8092440" y="2185415"/>
            <a:ext cx="228600" cy="256032"/>
          </a:xfrm>
          <a:prstGeom prst="rightArrow">
            <a:avLst/>
          </a:prstGeom>
          <a:solidFill>
            <a:srgbClr val="C87A34"/>
          </a:solidFill>
          <a:ln>
            <a:solidFill>
              <a:srgbClr val="C87A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Rounded Rectangle 11"/>
          <p:cNvSpPr/>
          <p:nvPr/>
        </p:nvSpPr>
        <p:spPr>
          <a:xfrm>
            <a:off x="8366760" y="1965960"/>
            <a:ext cx="2194560" cy="777240"/>
          </a:xfrm>
          <a:prstGeom prst="roundRect">
            <a:avLst/>
          </a:prstGeom>
          <a:solidFill>
            <a:srgbClr val="FFFFFF"/>
          </a:solidFill>
          <a:ln>
            <a:solidFill>
              <a:srgbClr val="12304C"/>
            </a:solidFill>
          </a:ln>
        </p:spPr>
        <p:style>
          <a:lnRef idx="1">
            <a:schemeClr val="accent1"/>
          </a:lnRef>
          <a:fillRef idx="3">
            <a:schemeClr val="accent1"/>
          </a:fillRef>
          <a:effectRef idx="2">
            <a:schemeClr val="accent1"/>
          </a:effectRef>
          <a:fontRef idx="minor">
            <a:schemeClr val="lt1"/>
          </a:fontRef>
        </p:style>
        <p:txBody>
          <a:bodyPr lIns="128016" tIns="109728" rIns="128016" bIns="109728" rtlCol="0" anchor="ctr"/>
          <a:lstStyle/>
          <a:p>
            <a:pPr algn="ctr">
              <a:defRPr sz="1500" b="1">
                <a:solidFill>
                  <a:srgbClr val="12304C"/>
                </a:solidFill>
                <a:latin typeface="Aptos"/>
              </a:defRPr>
            </a:pPr>
            <a:r>
              <a:rPr sz="1600"/>
              <a:t>Customer and process outcomes</a:t>
            </a:r>
          </a:p>
        </p:txBody>
      </p:sp>
      <p:sp>
        <p:nvSpPr>
          <p:cNvPr id="13" name="TextBox 12"/>
          <p:cNvSpPr txBox="1"/>
          <p:nvPr/>
        </p:nvSpPr>
        <p:spPr>
          <a:xfrm>
            <a:off x="923663" y="3657600"/>
            <a:ext cx="9856994" cy="1092607"/>
          </a:xfrm>
          <a:prstGeom prst="rect">
            <a:avLst/>
          </a:prstGeom>
          <a:noFill/>
        </p:spPr>
        <p:txBody>
          <a:bodyPr wrap="none" lIns="73152" rIns="73152">
            <a:spAutoFit/>
          </a:bodyPr>
          <a:lstStyle/>
          <a:p>
            <a:pPr>
              <a:spcAft>
                <a:spcPts val="300"/>
              </a:spcAft>
              <a:defRPr sz="1800">
                <a:solidFill>
                  <a:srgbClr val="232323"/>
                </a:solidFill>
                <a:latin typeface="Aptos"/>
              </a:defRPr>
            </a:pPr>
            <a:r>
              <a:rPr sz="2000" dirty="0"/>
              <a:t>People who feel respected and supported are more willing to contribute effort and ideas.</a:t>
            </a:r>
          </a:p>
          <a:p>
            <a:pPr>
              <a:spcAft>
                <a:spcPts val="300"/>
              </a:spcAft>
              <a:defRPr sz="1800">
                <a:solidFill>
                  <a:srgbClr val="232323"/>
                </a:solidFill>
                <a:latin typeface="Aptos"/>
              </a:defRPr>
            </a:pPr>
            <a:r>
              <a:rPr sz="2000" dirty="0"/>
              <a:t>Engaged employees are more likely to follow standards and solve problems.</a:t>
            </a:r>
          </a:p>
          <a:p>
            <a:pPr>
              <a:spcAft>
                <a:spcPts val="300"/>
              </a:spcAft>
              <a:defRPr sz="1800">
                <a:solidFill>
                  <a:srgbClr val="232323"/>
                </a:solidFill>
                <a:latin typeface="Aptos"/>
              </a:defRPr>
            </a:pPr>
            <a:r>
              <a:rPr sz="2000" dirty="0"/>
              <a:t>Quality outcomes improve when the system supports desired behavior consistently.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648941" cy="594009"/>
          </a:xfrm>
          <a:prstGeom prst="rect">
            <a:avLst/>
          </a:prstGeom>
          <a:noFill/>
        </p:spPr>
        <p:txBody>
          <a:bodyPr wrap="none" lIns="73152" tIns="73152" rIns="73152" bIns="73152">
            <a:spAutoFit/>
          </a:bodyPr>
          <a:lstStyle/>
          <a:p>
            <a:pPr algn="l">
              <a:defRPr sz="2900" b="1">
                <a:solidFill>
                  <a:srgbClr val="12304C"/>
                </a:solidFill>
                <a:latin typeface="Aptos"/>
              </a:defRPr>
            </a:pPr>
            <a:r>
              <a:rPr sz="2900" dirty="0"/>
              <a:t>Managerial Actions to Strengthen Quality-Supportive Attitudes</a:t>
            </a:r>
          </a:p>
        </p:txBody>
      </p:sp>
      <p:sp>
        <p:nvSpPr>
          <p:cNvPr id="3" name="Rectangle 2"/>
          <p:cNvSpPr/>
          <p:nvPr/>
        </p:nvSpPr>
        <p:spPr>
          <a:xfrm>
            <a:off x="548640" y="1234440"/>
            <a:ext cx="11064240" cy="27432"/>
          </a:xfrm>
          <a:prstGeom prst="rect">
            <a:avLst/>
          </a:prstGeom>
          <a:solidFill>
            <a:srgbClr val="D9E6F2"/>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p:cNvSpPr txBox="1"/>
          <p:nvPr/>
        </p:nvSpPr>
        <p:spPr>
          <a:xfrm>
            <a:off x="548640" y="6473952"/>
            <a:ext cx="3316870" cy="301621"/>
          </a:xfrm>
          <a:prstGeom prst="rect">
            <a:avLst/>
          </a:prstGeom>
          <a:noFill/>
        </p:spPr>
        <p:txBody>
          <a:bodyPr wrap="none" lIns="73152" tIns="73152" rIns="73152" bIns="73152">
            <a:spAutoFit/>
          </a:bodyPr>
          <a:lstStyle/>
          <a:p>
            <a:pPr algn="l">
              <a:defRPr sz="850" b="0">
                <a:solidFill>
                  <a:srgbClr val="5A5A5A"/>
                </a:solidFill>
                <a:latin typeface="Aptos"/>
              </a:defRPr>
            </a:pPr>
            <a:r>
              <a:rPr sz="1000"/>
              <a:t>G TQM 511 | Organizational Behavior and Quality | Week 3</a:t>
            </a:r>
          </a:p>
        </p:txBody>
      </p:sp>
      <p:sp>
        <p:nvSpPr>
          <p:cNvPr id="5" name="TextBox 4"/>
          <p:cNvSpPr txBox="1"/>
          <p:nvPr/>
        </p:nvSpPr>
        <p:spPr>
          <a:xfrm>
            <a:off x="11327288" y="6473952"/>
            <a:ext cx="285592" cy="301621"/>
          </a:xfrm>
          <a:prstGeom prst="rect">
            <a:avLst/>
          </a:prstGeom>
          <a:noFill/>
        </p:spPr>
        <p:txBody>
          <a:bodyPr wrap="none" lIns="73152" tIns="73152" rIns="73152" bIns="73152">
            <a:spAutoFit/>
          </a:bodyPr>
          <a:lstStyle/>
          <a:p>
            <a:pPr algn="r">
              <a:defRPr sz="850" b="0">
                <a:solidFill>
                  <a:srgbClr val="5A5A5A"/>
                </a:solidFill>
                <a:latin typeface="Aptos"/>
              </a:defRPr>
            </a:pPr>
            <a:r>
              <a:rPr sz="1000"/>
              <a:t>12</a:t>
            </a:r>
          </a:p>
        </p:txBody>
      </p:sp>
      <p:sp>
        <p:nvSpPr>
          <p:cNvPr id="6" name="Rounded Rectangle 5"/>
          <p:cNvSpPr/>
          <p:nvPr/>
        </p:nvSpPr>
        <p:spPr>
          <a:xfrm>
            <a:off x="731520" y="1508760"/>
            <a:ext cx="3474720" cy="1188718"/>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Rectangle 6"/>
          <p:cNvSpPr/>
          <p:nvPr/>
        </p:nvSpPr>
        <p:spPr>
          <a:xfrm>
            <a:off x="731520" y="1508760"/>
            <a:ext cx="73152" cy="1051560"/>
          </a:xfrm>
          <a:prstGeom prst="rect">
            <a:avLst/>
          </a:prstGeom>
          <a:solidFill>
            <a:srgbClr val="225C8C"/>
          </a:solidFill>
          <a:ln>
            <a:solidFill>
              <a:srgbClr val="22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896112" y="1627631"/>
            <a:ext cx="1806905" cy="378565"/>
          </a:xfrm>
          <a:prstGeom prst="rect">
            <a:avLst/>
          </a:prstGeom>
          <a:noFill/>
        </p:spPr>
        <p:txBody>
          <a:bodyPr wrap="none" lIns="73152" tIns="73152" rIns="73152" bIns="73152">
            <a:spAutoFit/>
          </a:bodyPr>
          <a:lstStyle/>
          <a:p>
            <a:pPr algn="l">
              <a:defRPr sz="1500" b="1">
                <a:solidFill>
                  <a:srgbClr val="12304C"/>
                </a:solidFill>
                <a:latin typeface="Aptos"/>
              </a:defRPr>
            </a:pPr>
            <a:r>
              <a:t>Listen and respond</a:t>
            </a:r>
          </a:p>
        </p:txBody>
      </p:sp>
      <p:sp>
        <p:nvSpPr>
          <p:cNvPr id="9" name="TextBox 8"/>
          <p:cNvSpPr txBox="1"/>
          <p:nvPr/>
        </p:nvSpPr>
        <p:spPr>
          <a:xfrm>
            <a:off x="896112" y="1947672"/>
            <a:ext cx="3267458" cy="640175"/>
          </a:xfrm>
          <a:prstGeom prst="rect">
            <a:avLst/>
          </a:prstGeom>
          <a:noFill/>
        </p:spPr>
        <p:txBody>
          <a:bodyPr wrap="square" lIns="73152" tIns="73152" rIns="73152" bIns="73152">
            <a:spAutoFit/>
          </a:bodyPr>
          <a:lstStyle/>
          <a:p>
            <a:pPr algn="l">
              <a:defRPr sz="1320" b="0">
                <a:solidFill>
                  <a:srgbClr val="232323"/>
                </a:solidFill>
                <a:latin typeface="Aptos"/>
              </a:defRPr>
            </a:pPr>
            <a:r>
              <a:rPr sz="1600" dirty="0"/>
              <a:t>Use employee feedback to identify friction points in the quality system.</a:t>
            </a:r>
          </a:p>
        </p:txBody>
      </p:sp>
      <p:sp>
        <p:nvSpPr>
          <p:cNvPr id="10" name="Rounded Rectangle 9"/>
          <p:cNvSpPr/>
          <p:nvPr/>
        </p:nvSpPr>
        <p:spPr>
          <a:xfrm>
            <a:off x="4343400" y="1508760"/>
            <a:ext cx="3474720" cy="1188718"/>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Rectangle 10"/>
          <p:cNvSpPr/>
          <p:nvPr/>
        </p:nvSpPr>
        <p:spPr>
          <a:xfrm>
            <a:off x="4343400" y="1508760"/>
            <a:ext cx="73152" cy="1051560"/>
          </a:xfrm>
          <a:prstGeom prst="rect">
            <a:avLst/>
          </a:prstGeom>
          <a:solidFill>
            <a:srgbClr val="457E5A"/>
          </a:solidFill>
          <a:ln>
            <a:solidFill>
              <a:srgbClr val="457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1"/>
          <p:cNvSpPr txBox="1"/>
          <p:nvPr/>
        </p:nvSpPr>
        <p:spPr>
          <a:xfrm>
            <a:off x="4507992" y="1627631"/>
            <a:ext cx="2489399" cy="378565"/>
          </a:xfrm>
          <a:prstGeom prst="rect">
            <a:avLst/>
          </a:prstGeom>
          <a:noFill/>
        </p:spPr>
        <p:txBody>
          <a:bodyPr wrap="none" lIns="73152" tIns="73152" rIns="73152" bIns="73152">
            <a:spAutoFit/>
          </a:bodyPr>
          <a:lstStyle/>
          <a:p>
            <a:pPr algn="l">
              <a:defRPr sz="1500" b="1">
                <a:solidFill>
                  <a:srgbClr val="12304C"/>
                </a:solidFill>
                <a:latin typeface="Aptos"/>
              </a:defRPr>
            </a:pPr>
            <a:r>
              <a:t>Recognize quality behavior</a:t>
            </a:r>
          </a:p>
        </p:txBody>
      </p:sp>
      <p:sp>
        <p:nvSpPr>
          <p:cNvPr id="13" name="TextBox 12"/>
          <p:cNvSpPr txBox="1"/>
          <p:nvPr/>
        </p:nvSpPr>
        <p:spPr>
          <a:xfrm>
            <a:off x="4507992" y="1947672"/>
            <a:ext cx="3267458" cy="886397"/>
          </a:xfrm>
          <a:prstGeom prst="rect">
            <a:avLst/>
          </a:prstGeom>
          <a:noFill/>
        </p:spPr>
        <p:txBody>
          <a:bodyPr wrap="square" lIns="73152" tIns="73152" rIns="73152" bIns="73152">
            <a:spAutoFit/>
          </a:bodyPr>
          <a:lstStyle/>
          <a:p>
            <a:pPr algn="l">
              <a:defRPr sz="1320" b="0">
                <a:solidFill>
                  <a:srgbClr val="232323"/>
                </a:solidFill>
                <a:latin typeface="Aptos"/>
              </a:defRPr>
            </a:pPr>
            <a:r>
              <a:rPr sz="1600" dirty="0"/>
              <a:t>Reward error reporting, teamwork, learning, and customer focus—not only output volume.</a:t>
            </a:r>
          </a:p>
        </p:txBody>
      </p:sp>
      <p:sp>
        <p:nvSpPr>
          <p:cNvPr id="14" name="Rounded Rectangle 13"/>
          <p:cNvSpPr/>
          <p:nvPr/>
        </p:nvSpPr>
        <p:spPr>
          <a:xfrm>
            <a:off x="7955279" y="1508759"/>
            <a:ext cx="3474720" cy="1188719"/>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Rectangle 14"/>
          <p:cNvSpPr/>
          <p:nvPr/>
        </p:nvSpPr>
        <p:spPr>
          <a:xfrm>
            <a:off x="7955279" y="1508760"/>
            <a:ext cx="73152" cy="1051560"/>
          </a:xfrm>
          <a:prstGeom prst="rect">
            <a:avLst/>
          </a:prstGeom>
          <a:solidFill>
            <a:srgbClr val="C87A34"/>
          </a:solidFill>
          <a:ln>
            <a:solidFill>
              <a:srgbClr val="C87A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8119871" y="1627631"/>
            <a:ext cx="1781193" cy="378565"/>
          </a:xfrm>
          <a:prstGeom prst="rect">
            <a:avLst/>
          </a:prstGeom>
          <a:noFill/>
        </p:spPr>
        <p:txBody>
          <a:bodyPr wrap="none" lIns="73152" tIns="73152" rIns="73152" bIns="73152">
            <a:spAutoFit/>
          </a:bodyPr>
          <a:lstStyle/>
          <a:p>
            <a:pPr algn="l">
              <a:defRPr sz="1500" b="1">
                <a:solidFill>
                  <a:srgbClr val="12304C"/>
                </a:solidFill>
                <a:latin typeface="Aptos"/>
              </a:defRPr>
            </a:pPr>
            <a:r>
              <a:t>Reduce unfairness</a:t>
            </a:r>
          </a:p>
        </p:txBody>
      </p:sp>
      <p:sp>
        <p:nvSpPr>
          <p:cNvPr id="17" name="TextBox 16"/>
          <p:cNvSpPr txBox="1"/>
          <p:nvPr/>
        </p:nvSpPr>
        <p:spPr>
          <a:xfrm>
            <a:off x="8119871" y="1947672"/>
            <a:ext cx="3176018" cy="640175"/>
          </a:xfrm>
          <a:prstGeom prst="rect">
            <a:avLst/>
          </a:prstGeom>
          <a:noFill/>
        </p:spPr>
        <p:txBody>
          <a:bodyPr wrap="square" lIns="73152" tIns="73152" rIns="73152" bIns="73152">
            <a:spAutoFit/>
          </a:bodyPr>
          <a:lstStyle/>
          <a:p>
            <a:pPr algn="l">
              <a:defRPr sz="1320" b="0">
                <a:solidFill>
                  <a:srgbClr val="232323"/>
                </a:solidFill>
                <a:latin typeface="Aptos"/>
              </a:defRPr>
            </a:pPr>
            <a:r>
              <a:rPr sz="1600" dirty="0"/>
              <a:t>Clarify roles, workload, decision rules, and opportunities.</a:t>
            </a:r>
          </a:p>
        </p:txBody>
      </p:sp>
      <p:sp>
        <p:nvSpPr>
          <p:cNvPr id="18" name="Rounded Rectangle 17"/>
          <p:cNvSpPr/>
          <p:nvPr/>
        </p:nvSpPr>
        <p:spPr>
          <a:xfrm>
            <a:off x="731520" y="2971799"/>
            <a:ext cx="3474720" cy="1325879"/>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Rectangle 18"/>
          <p:cNvSpPr/>
          <p:nvPr/>
        </p:nvSpPr>
        <p:spPr>
          <a:xfrm>
            <a:off x="731520" y="2971800"/>
            <a:ext cx="73152" cy="1051560"/>
          </a:xfrm>
          <a:prstGeom prst="rect">
            <a:avLst/>
          </a:prstGeom>
          <a:solidFill>
            <a:srgbClr val="225C8C"/>
          </a:solidFill>
          <a:ln>
            <a:solidFill>
              <a:srgbClr val="22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896112" y="3090672"/>
            <a:ext cx="2428614" cy="378565"/>
          </a:xfrm>
          <a:prstGeom prst="rect">
            <a:avLst/>
          </a:prstGeom>
          <a:noFill/>
        </p:spPr>
        <p:txBody>
          <a:bodyPr wrap="none" lIns="73152" tIns="73152" rIns="73152" bIns="73152">
            <a:spAutoFit/>
          </a:bodyPr>
          <a:lstStyle/>
          <a:p>
            <a:pPr algn="l">
              <a:defRPr sz="1500" b="1">
                <a:solidFill>
                  <a:srgbClr val="12304C"/>
                </a:solidFill>
                <a:latin typeface="Aptos"/>
              </a:defRPr>
            </a:pPr>
            <a:r>
              <a:t>Build psychological safety</a:t>
            </a:r>
          </a:p>
        </p:txBody>
      </p:sp>
      <p:sp>
        <p:nvSpPr>
          <p:cNvPr id="21" name="TextBox 20"/>
          <p:cNvSpPr txBox="1"/>
          <p:nvPr/>
        </p:nvSpPr>
        <p:spPr>
          <a:xfrm>
            <a:off x="896112" y="3410712"/>
            <a:ext cx="3163824" cy="640175"/>
          </a:xfrm>
          <a:prstGeom prst="rect">
            <a:avLst/>
          </a:prstGeom>
          <a:noFill/>
        </p:spPr>
        <p:txBody>
          <a:bodyPr wrap="square" lIns="73152" tIns="73152" rIns="73152" bIns="73152">
            <a:spAutoFit/>
          </a:bodyPr>
          <a:lstStyle/>
          <a:p>
            <a:pPr algn="l">
              <a:defRPr sz="1320" b="0">
                <a:solidFill>
                  <a:srgbClr val="232323"/>
                </a:solidFill>
                <a:latin typeface="Aptos"/>
              </a:defRPr>
            </a:pPr>
            <a:r>
              <a:rPr sz="1600" dirty="0"/>
              <a:t>Make it safe to report problems and challenge weak processes.</a:t>
            </a:r>
          </a:p>
        </p:txBody>
      </p:sp>
      <p:sp>
        <p:nvSpPr>
          <p:cNvPr id="22" name="Rounded Rectangle 21"/>
          <p:cNvSpPr/>
          <p:nvPr/>
        </p:nvSpPr>
        <p:spPr>
          <a:xfrm>
            <a:off x="4343400" y="2971800"/>
            <a:ext cx="3474720" cy="132588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Rectangle 22"/>
          <p:cNvSpPr/>
          <p:nvPr/>
        </p:nvSpPr>
        <p:spPr>
          <a:xfrm>
            <a:off x="4343400" y="2971800"/>
            <a:ext cx="73152" cy="1051560"/>
          </a:xfrm>
          <a:prstGeom prst="rect">
            <a:avLst/>
          </a:prstGeom>
          <a:solidFill>
            <a:srgbClr val="457E5A"/>
          </a:solidFill>
          <a:ln>
            <a:solidFill>
              <a:srgbClr val="457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4507992" y="3090672"/>
            <a:ext cx="2344231" cy="378565"/>
          </a:xfrm>
          <a:prstGeom prst="rect">
            <a:avLst/>
          </a:prstGeom>
          <a:noFill/>
        </p:spPr>
        <p:txBody>
          <a:bodyPr wrap="none" lIns="73152" tIns="73152" rIns="73152" bIns="73152">
            <a:spAutoFit/>
          </a:bodyPr>
          <a:lstStyle/>
          <a:p>
            <a:pPr algn="l">
              <a:defRPr sz="1500" b="1">
                <a:solidFill>
                  <a:srgbClr val="12304C"/>
                </a:solidFill>
                <a:latin typeface="Aptos"/>
              </a:defRPr>
            </a:pPr>
            <a:r>
              <a:t>Connect work to purpose</a:t>
            </a:r>
          </a:p>
        </p:txBody>
      </p:sp>
      <p:sp>
        <p:nvSpPr>
          <p:cNvPr id="25" name="TextBox 24"/>
          <p:cNvSpPr txBox="1"/>
          <p:nvPr/>
        </p:nvSpPr>
        <p:spPr>
          <a:xfrm>
            <a:off x="4507992" y="3410712"/>
            <a:ext cx="3127247" cy="886397"/>
          </a:xfrm>
          <a:prstGeom prst="rect">
            <a:avLst/>
          </a:prstGeom>
          <a:noFill/>
        </p:spPr>
        <p:txBody>
          <a:bodyPr wrap="square" lIns="73152" tIns="73152" rIns="73152" bIns="73152">
            <a:spAutoFit/>
          </a:bodyPr>
          <a:lstStyle/>
          <a:p>
            <a:pPr algn="l">
              <a:defRPr sz="1320" b="0">
                <a:solidFill>
                  <a:srgbClr val="232323"/>
                </a:solidFill>
                <a:latin typeface="Aptos"/>
              </a:defRPr>
            </a:pPr>
            <a:r>
              <a:rPr sz="1600" dirty="0"/>
              <a:t>Show how each role affects service users and quality outcomes.</a:t>
            </a:r>
          </a:p>
        </p:txBody>
      </p:sp>
      <p:sp>
        <p:nvSpPr>
          <p:cNvPr id="26" name="Rounded Rectangle 25"/>
          <p:cNvSpPr/>
          <p:nvPr/>
        </p:nvSpPr>
        <p:spPr>
          <a:xfrm>
            <a:off x="7955279" y="2971799"/>
            <a:ext cx="3474720" cy="1325881"/>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Rectangle 26"/>
          <p:cNvSpPr/>
          <p:nvPr/>
        </p:nvSpPr>
        <p:spPr>
          <a:xfrm>
            <a:off x="7955279" y="2971800"/>
            <a:ext cx="73152" cy="1051560"/>
          </a:xfrm>
          <a:prstGeom prst="rect">
            <a:avLst/>
          </a:prstGeom>
          <a:solidFill>
            <a:srgbClr val="C87A34"/>
          </a:solidFill>
          <a:ln>
            <a:solidFill>
              <a:srgbClr val="C87A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TextBox 27"/>
          <p:cNvSpPr txBox="1"/>
          <p:nvPr/>
        </p:nvSpPr>
        <p:spPr>
          <a:xfrm>
            <a:off x="8119871" y="3090672"/>
            <a:ext cx="1323054" cy="378565"/>
          </a:xfrm>
          <a:prstGeom prst="rect">
            <a:avLst/>
          </a:prstGeom>
          <a:noFill/>
        </p:spPr>
        <p:txBody>
          <a:bodyPr wrap="none" lIns="73152" tIns="73152" rIns="73152" bIns="73152">
            <a:spAutoFit/>
          </a:bodyPr>
          <a:lstStyle/>
          <a:p>
            <a:pPr algn="l">
              <a:defRPr sz="1500" b="1">
                <a:solidFill>
                  <a:srgbClr val="12304C"/>
                </a:solidFill>
                <a:latin typeface="Aptos"/>
              </a:defRPr>
            </a:pPr>
            <a:r>
              <a:t>Use evidence</a:t>
            </a:r>
          </a:p>
        </p:txBody>
      </p:sp>
      <p:sp>
        <p:nvSpPr>
          <p:cNvPr id="29" name="TextBox 28"/>
          <p:cNvSpPr txBox="1"/>
          <p:nvPr/>
        </p:nvSpPr>
        <p:spPr>
          <a:xfrm>
            <a:off x="8119871" y="3410712"/>
            <a:ext cx="3200400" cy="886397"/>
          </a:xfrm>
          <a:prstGeom prst="rect">
            <a:avLst/>
          </a:prstGeom>
          <a:noFill/>
        </p:spPr>
        <p:txBody>
          <a:bodyPr wrap="square" lIns="73152" tIns="73152" rIns="73152" bIns="73152">
            <a:spAutoFit/>
          </a:bodyPr>
          <a:lstStyle/>
          <a:p>
            <a:pPr algn="l">
              <a:defRPr sz="1320" b="0">
                <a:solidFill>
                  <a:srgbClr val="232323"/>
                </a:solidFill>
                <a:latin typeface="Aptos"/>
              </a:defRPr>
            </a:pPr>
            <a:r>
              <a:rPr sz="1600" dirty="0"/>
              <a:t>Track satisfaction, engagement, complaints, errors, absenteeism, and improvement participation.</a:t>
            </a:r>
          </a:p>
        </p:txBody>
      </p:sp>
      <p:sp>
        <p:nvSpPr>
          <p:cNvPr id="30" name="Rounded Rectangle 29"/>
          <p:cNvSpPr/>
          <p:nvPr/>
        </p:nvSpPr>
        <p:spPr>
          <a:xfrm>
            <a:off x="1097280" y="4892040"/>
            <a:ext cx="9966960" cy="566928"/>
          </a:xfrm>
          <a:prstGeom prst="roundRect">
            <a:avLst/>
          </a:prstGeom>
          <a:solidFill>
            <a:srgbClr val="E8F1F8"/>
          </a:solidFill>
          <a:ln>
            <a:solidFill>
              <a:srgbClr val="225C8C"/>
            </a:solidFill>
          </a:ln>
        </p:spPr>
        <p:style>
          <a:lnRef idx="1">
            <a:schemeClr val="accent1"/>
          </a:lnRef>
          <a:fillRef idx="3">
            <a:schemeClr val="accent1"/>
          </a:fillRef>
          <a:effectRef idx="2">
            <a:schemeClr val="accent1"/>
          </a:effectRef>
          <a:fontRef idx="minor">
            <a:schemeClr val="lt1"/>
          </a:fontRef>
        </p:style>
        <p:txBody>
          <a:bodyPr lIns="128016" tIns="109728" rIns="128016" bIns="109728" rtlCol="0" anchor="ctr"/>
          <a:lstStyle/>
          <a:p>
            <a:pPr algn="ctr">
              <a:defRPr sz="1700" b="1">
                <a:solidFill>
                  <a:srgbClr val="232323"/>
                </a:solidFill>
                <a:latin typeface="Aptos"/>
              </a:defRPr>
            </a:pPr>
            <a:r>
              <a:t>Do not treat attitudes as “soft issues”: they are leading indicators of system performance.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564559" cy="594009"/>
          </a:xfrm>
          <a:prstGeom prst="rect">
            <a:avLst/>
          </a:prstGeom>
          <a:noFill/>
        </p:spPr>
        <p:txBody>
          <a:bodyPr wrap="none" lIns="73152" tIns="73152" rIns="73152" bIns="73152">
            <a:spAutoFit/>
          </a:bodyPr>
          <a:lstStyle/>
          <a:p>
            <a:pPr algn="l">
              <a:defRPr sz="2900" b="1">
                <a:solidFill>
                  <a:srgbClr val="12304C"/>
                </a:solidFill>
                <a:latin typeface="Aptos"/>
              </a:defRPr>
            </a:pPr>
            <a:r>
              <a:rPr sz="2900" dirty="0"/>
              <a:t>In-Class Activity: Diagnose Attitudes Behind Quality Problems</a:t>
            </a:r>
          </a:p>
        </p:txBody>
      </p:sp>
      <p:sp>
        <p:nvSpPr>
          <p:cNvPr id="3" name="Rectangle 2"/>
          <p:cNvSpPr/>
          <p:nvPr/>
        </p:nvSpPr>
        <p:spPr>
          <a:xfrm>
            <a:off x="548640" y="1234440"/>
            <a:ext cx="11064240" cy="27432"/>
          </a:xfrm>
          <a:prstGeom prst="rect">
            <a:avLst/>
          </a:prstGeom>
          <a:solidFill>
            <a:srgbClr val="D9E6F2"/>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 name="TextBox 3"/>
          <p:cNvSpPr txBox="1"/>
          <p:nvPr/>
        </p:nvSpPr>
        <p:spPr>
          <a:xfrm>
            <a:off x="548640" y="6473952"/>
            <a:ext cx="3634265" cy="317010"/>
          </a:xfrm>
          <a:prstGeom prst="rect">
            <a:avLst/>
          </a:prstGeom>
          <a:noFill/>
        </p:spPr>
        <p:txBody>
          <a:bodyPr wrap="none" lIns="73152" tIns="73152" rIns="73152" bIns="73152">
            <a:spAutoFit/>
          </a:bodyPr>
          <a:lstStyle/>
          <a:p>
            <a:pPr algn="l">
              <a:defRPr sz="850" b="0">
                <a:solidFill>
                  <a:srgbClr val="5A5A5A"/>
                </a:solidFill>
                <a:latin typeface="Aptos"/>
              </a:defRPr>
            </a:pPr>
            <a:r>
              <a:rPr sz="1100"/>
              <a:t>G TQM 511 | Organizational Behavior and Quality | Week 3</a:t>
            </a:r>
          </a:p>
        </p:txBody>
      </p:sp>
      <p:sp>
        <p:nvSpPr>
          <p:cNvPr id="5" name="TextBox 4"/>
          <p:cNvSpPr txBox="1"/>
          <p:nvPr/>
        </p:nvSpPr>
        <p:spPr>
          <a:xfrm>
            <a:off x="11314464" y="6473952"/>
            <a:ext cx="298416" cy="317010"/>
          </a:xfrm>
          <a:prstGeom prst="rect">
            <a:avLst/>
          </a:prstGeom>
          <a:noFill/>
        </p:spPr>
        <p:txBody>
          <a:bodyPr wrap="none" lIns="73152" tIns="73152" rIns="73152" bIns="73152">
            <a:spAutoFit/>
          </a:bodyPr>
          <a:lstStyle/>
          <a:p>
            <a:pPr algn="r">
              <a:defRPr sz="850" b="0">
                <a:solidFill>
                  <a:srgbClr val="5A5A5A"/>
                </a:solidFill>
                <a:latin typeface="Aptos"/>
              </a:defRPr>
            </a:pPr>
            <a:r>
              <a:rPr sz="1100"/>
              <a:t>13</a:t>
            </a:r>
          </a:p>
        </p:txBody>
      </p:sp>
      <p:sp>
        <p:nvSpPr>
          <p:cNvPr id="6" name="Rounded Rectangle 5"/>
          <p:cNvSpPr/>
          <p:nvPr/>
        </p:nvSpPr>
        <p:spPr>
          <a:xfrm>
            <a:off x="731520" y="1417320"/>
            <a:ext cx="10698480" cy="502920"/>
          </a:xfrm>
          <a:prstGeom prst="roundRect">
            <a:avLst/>
          </a:prstGeom>
          <a:solidFill>
            <a:srgbClr val="E8F1F8"/>
          </a:solidFill>
          <a:ln>
            <a:solidFill>
              <a:srgbClr val="225C8C"/>
            </a:solidFill>
          </a:ln>
        </p:spPr>
        <p:style>
          <a:lnRef idx="1">
            <a:schemeClr val="accent1"/>
          </a:lnRef>
          <a:fillRef idx="3">
            <a:schemeClr val="accent1"/>
          </a:fillRef>
          <a:effectRef idx="2">
            <a:schemeClr val="accent1"/>
          </a:effectRef>
          <a:fontRef idx="minor">
            <a:schemeClr val="lt1"/>
          </a:fontRef>
        </p:style>
        <p:txBody>
          <a:bodyPr lIns="128016" tIns="109728" rIns="128016" bIns="109728" rtlCol="0" anchor="ctr"/>
          <a:lstStyle/>
          <a:p>
            <a:pPr algn="ctr">
              <a:defRPr sz="1700" b="1">
                <a:solidFill>
                  <a:srgbClr val="232323"/>
                </a:solidFill>
                <a:latin typeface="Aptos"/>
              </a:defRPr>
            </a:pPr>
            <a:r>
              <a:t>Small groups | 20 minutes</a:t>
            </a:r>
          </a:p>
        </p:txBody>
      </p:sp>
      <p:sp>
        <p:nvSpPr>
          <p:cNvPr id="7" name="TextBox 6"/>
          <p:cNvSpPr txBox="1"/>
          <p:nvPr/>
        </p:nvSpPr>
        <p:spPr>
          <a:xfrm>
            <a:off x="914400" y="2286000"/>
            <a:ext cx="10515600" cy="1477328"/>
          </a:xfrm>
          <a:prstGeom prst="rect">
            <a:avLst/>
          </a:prstGeom>
          <a:noFill/>
        </p:spPr>
        <p:txBody>
          <a:bodyPr wrap="square" lIns="73152" rIns="73152">
            <a:spAutoFit/>
          </a:bodyPr>
          <a:lstStyle/>
          <a:p>
            <a:pPr>
              <a:spcAft>
                <a:spcPts val="300"/>
              </a:spcAft>
              <a:defRPr sz="1600">
                <a:solidFill>
                  <a:srgbClr val="232323"/>
                </a:solidFill>
                <a:latin typeface="Aptos"/>
              </a:defRPr>
            </a:pPr>
            <a:r>
              <a:rPr dirty="0"/>
              <a:t>Select one quality problem: complaints, rework, waiting time, nonconformities, absenteeism, or poor cooperation.</a:t>
            </a:r>
          </a:p>
          <a:p>
            <a:pPr>
              <a:spcAft>
                <a:spcPts val="300"/>
              </a:spcAft>
              <a:defRPr sz="1600">
                <a:solidFill>
                  <a:srgbClr val="232323"/>
                </a:solidFill>
                <a:latin typeface="Aptos"/>
              </a:defRPr>
            </a:pPr>
            <a:r>
              <a:rPr dirty="0"/>
              <a:t>Identify the visible employee attitudes and dissatisfaction responses.</a:t>
            </a:r>
          </a:p>
          <a:p>
            <a:pPr>
              <a:spcAft>
                <a:spcPts val="300"/>
              </a:spcAft>
              <a:defRPr sz="1600">
                <a:solidFill>
                  <a:srgbClr val="232323"/>
                </a:solidFill>
                <a:latin typeface="Aptos"/>
              </a:defRPr>
            </a:pPr>
            <a:r>
              <a:rPr dirty="0"/>
              <a:t>Classify causes: job satisfaction, commitment, perceived support, engagement, fairness, or workload.</a:t>
            </a:r>
          </a:p>
          <a:p>
            <a:pPr>
              <a:spcAft>
                <a:spcPts val="300"/>
              </a:spcAft>
              <a:defRPr sz="1600">
                <a:solidFill>
                  <a:srgbClr val="232323"/>
                </a:solidFill>
                <a:latin typeface="Aptos"/>
              </a:defRPr>
            </a:pPr>
            <a:r>
              <a:rPr dirty="0"/>
              <a:t>Explain how attitudes affect quality behavior and outcomes.</a:t>
            </a:r>
          </a:p>
          <a:p>
            <a:pPr>
              <a:spcAft>
                <a:spcPts val="300"/>
              </a:spcAft>
              <a:defRPr sz="1600">
                <a:solidFill>
                  <a:srgbClr val="232323"/>
                </a:solidFill>
                <a:latin typeface="Aptos"/>
              </a:defRPr>
            </a:pPr>
            <a:r>
              <a:rPr dirty="0"/>
              <a:t>Recommend two management actions and one indicator to monitor improvement.</a:t>
            </a:r>
          </a:p>
        </p:txBody>
      </p:sp>
      <p:sp>
        <p:nvSpPr>
          <p:cNvPr id="8" name="Rounded Rectangle 7"/>
          <p:cNvSpPr/>
          <p:nvPr/>
        </p:nvSpPr>
        <p:spPr>
          <a:xfrm>
            <a:off x="1097280" y="4800600"/>
            <a:ext cx="10332720" cy="82296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 name="Rectangle 8"/>
          <p:cNvSpPr/>
          <p:nvPr/>
        </p:nvSpPr>
        <p:spPr>
          <a:xfrm>
            <a:off x="1097280" y="4800600"/>
            <a:ext cx="73152" cy="822960"/>
          </a:xfrm>
          <a:prstGeom prst="rect">
            <a:avLst/>
          </a:prstGeom>
          <a:solidFill>
            <a:srgbClr val="457E5A"/>
          </a:solidFill>
          <a:ln>
            <a:solidFill>
              <a:srgbClr val="457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0" name="TextBox 9"/>
          <p:cNvSpPr txBox="1"/>
          <p:nvPr/>
        </p:nvSpPr>
        <p:spPr>
          <a:xfrm>
            <a:off x="1261872" y="4919472"/>
            <a:ext cx="1148456" cy="378565"/>
          </a:xfrm>
          <a:prstGeom prst="rect">
            <a:avLst/>
          </a:prstGeom>
          <a:noFill/>
        </p:spPr>
        <p:txBody>
          <a:bodyPr wrap="none" lIns="73152" tIns="73152" rIns="73152" bIns="73152">
            <a:spAutoFit/>
          </a:bodyPr>
          <a:lstStyle/>
          <a:p>
            <a:pPr algn="l">
              <a:defRPr sz="1500" b="1">
                <a:solidFill>
                  <a:srgbClr val="12304C"/>
                </a:solidFill>
                <a:latin typeface="Aptos"/>
              </a:defRPr>
            </a:pPr>
            <a:r>
              <a:t>Deliverable</a:t>
            </a:r>
          </a:p>
        </p:txBody>
      </p:sp>
      <p:sp>
        <p:nvSpPr>
          <p:cNvPr id="11" name="TextBox 10"/>
          <p:cNvSpPr txBox="1"/>
          <p:nvPr/>
        </p:nvSpPr>
        <p:spPr>
          <a:xfrm>
            <a:off x="1261872" y="5239512"/>
            <a:ext cx="8808693" cy="393954"/>
          </a:xfrm>
          <a:prstGeom prst="rect">
            <a:avLst/>
          </a:prstGeom>
          <a:noFill/>
        </p:spPr>
        <p:txBody>
          <a:bodyPr wrap="none" lIns="73152" tIns="73152" rIns="73152" bIns="73152">
            <a:spAutoFit/>
          </a:bodyPr>
          <a:lstStyle/>
          <a:p>
            <a:pPr algn="l">
              <a:defRPr sz="1550" b="0">
                <a:solidFill>
                  <a:srgbClr val="232323"/>
                </a:solidFill>
                <a:latin typeface="Aptos"/>
              </a:defRPr>
            </a:pPr>
            <a:r>
              <a:rPr dirty="0"/>
              <a:t>A one-page diagnostic map: Attitude issue → Behavior → Quality outcome → Intervention → Indicator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none" lIns="73152" tIns="73152" rIns="73152" bIns="73152">
            <a:spAutoFit/>
          </a:bodyPr>
          <a:lstStyle/>
          <a:p>
            <a:pPr algn="l">
              <a:defRPr sz="2900" b="1">
                <a:solidFill>
                  <a:srgbClr val="12304C"/>
                </a:solidFill>
                <a:latin typeface="Aptos"/>
              </a:defRPr>
            </a:pPr>
            <a:r>
              <a:t>Mini Case: The Silent Quality Team</a:t>
            </a:r>
          </a:p>
        </p:txBody>
      </p:sp>
      <p:sp>
        <p:nvSpPr>
          <p:cNvPr id="3" name="Rectangle 2"/>
          <p:cNvSpPr/>
          <p:nvPr/>
        </p:nvSpPr>
        <p:spPr>
          <a:xfrm>
            <a:off x="548640" y="1234440"/>
            <a:ext cx="11064240" cy="27432"/>
          </a:xfrm>
          <a:prstGeom prst="rect">
            <a:avLst/>
          </a:prstGeom>
          <a:solidFill>
            <a:srgbClr val="D9E6F2"/>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73952"/>
            <a:ext cx="8046720" cy="228600"/>
          </a:xfrm>
          <a:prstGeom prst="rect">
            <a:avLst/>
          </a:prstGeom>
          <a:noFill/>
        </p:spPr>
        <p:txBody>
          <a:bodyPr wrap="none" lIns="73152" tIns="73152" rIns="73152" bIns="73152">
            <a:spAutoFit/>
          </a:bodyPr>
          <a:lstStyle/>
          <a:p>
            <a:pPr algn="l">
              <a:defRPr sz="850" b="0">
                <a:solidFill>
                  <a:srgbClr val="5A5A5A"/>
                </a:solidFill>
                <a:latin typeface="Aptos"/>
              </a:defRPr>
            </a:pPr>
            <a:r>
              <a:t>G TQM 511 | Organizational Behavior and Quality | Week 3</a:t>
            </a:r>
          </a:p>
        </p:txBody>
      </p:sp>
      <p:sp>
        <p:nvSpPr>
          <p:cNvPr id="5" name="TextBox 4"/>
          <p:cNvSpPr txBox="1"/>
          <p:nvPr/>
        </p:nvSpPr>
        <p:spPr>
          <a:xfrm>
            <a:off x="11338560" y="6473952"/>
            <a:ext cx="274320" cy="228600"/>
          </a:xfrm>
          <a:prstGeom prst="rect">
            <a:avLst/>
          </a:prstGeom>
          <a:noFill/>
        </p:spPr>
        <p:txBody>
          <a:bodyPr wrap="none" lIns="73152" tIns="73152" rIns="73152" bIns="73152">
            <a:spAutoFit/>
          </a:bodyPr>
          <a:lstStyle/>
          <a:p>
            <a:pPr algn="r">
              <a:defRPr sz="850" b="0">
                <a:solidFill>
                  <a:srgbClr val="5A5A5A"/>
                </a:solidFill>
                <a:latin typeface="Aptos"/>
              </a:defRPr>
            </a:pPr>
            <a:r>
              <a:t>14</a:t>
            </a:r>
          </a:p>
        </p:txBody>
      </p:sp>
      <p:sp>
        <p:nvSpPr>
          <p:cNvPr id="6" name="Rounded Rectangle 5"/>
          <p:cNvSpPr/>
          <p:nvPr/>
        </p:nvSpPr>
        <p:spPr>
          <a:xfrm>
            <a:off x="731520" y="1417320"/>
            <a:ext cx="10698480" cy="1234440"/>
          </a:xfrm>
          <a:prstGeom prst="roundRect">
            <a:avLst/>
          </a:prstGeom>
          <a:solidFill>
            <a:srgbClr val="E8F1F8"/>
          </a:solidFill>
          <a:ln>
            <a:solidFill>
              <a:srgbClr val="225C8C"/>
            </a:solidFill>
          </a:ln>
        </p:spPr>
        <p:style>
          <a:lnRef idx="1">
            <a:schemeClr val="accent1"/>
          </a:lnRef>
          <a:fillRef idx="3">
            <a:schemeClr val="accent1"/>
          </a:fillRef>
          <a:effectRef idx="2">
            <a:schemeClr val="accent1"/>
          </a:effectRef>
          <a:fontRef idx="minor">
            <a:schemeClr val="lt1"/>
          </a:fontRef>
        </p:style>
        <p:txBody>
          <a:bodyPr lIns="128016" tIns="109728" rIns="128016" bIns="109728" rtlCol="0" anchor="ctr"/>
          <a:lstStyle/>
          <a:p>
            <a:pPr algn="ctr">
              <a:defRPr sz="1550" b="0">
                <a:solidFill>
                  <a:srgbClr val="232323"/>
                </a:solidFill>
                <a:latin typeface="Aptos"/>
              </a:defRPr>
            </a:pPr>
            <a:r>
              <a:rPr sz="1600" dirty="0"/>
              <a:t>A quality improvement team meets weekly, but few members speak openly. Several employees believe management already made the decision. They attend meetings but rarely contribute. Complaints continue, and the team reports “no major barriers.” Informally, staff say they are tired of improvement initiatives that create more work but no recognition.</a:t>
            </a:r>
          </a:p>
        </p:txBody>
      </p:sp>
      <p:sp>
        <p:nvSpPr>
          <p:cNvPr id="7" name="TextBox 6"/>
          <p:cNvSpPr txBox="1"/>
          <p:nvPr/>
        </p:nvSpPr>
        <p:spPr>
          <a:xfrm>
            <a:off x="914400" y="3063240"/>
            <a:ext cx="10058400" cy="1828800"/>
          </a:xfrm>
          <a:prstGeom prst="rect">
            <a:avLst/>
          </a:prstGeom>
          <a:noFill/>
        </p:spPr>
        <p:txBody>
          <a:bodyPr wrap="none" lIns="73152" rIns="73152">
            <a:spAutoFit/>
          </a:bodyPr>
          <a:lstStyle/>
          <a:p>
            <a:pPr>
              <a:spcAft>
                <a:spcPts val="300"/>
              </a:spcAft>
              <a:defRPr sz="1650">
                <a:solidFill>
                  <a:srgbClr val="232323"/>
                </a:solidFill>
                <a:latin typeface="Aptos"/>
              </a:defRPr>
            </a:pPr>
            <a:r>
              <a:rPr dirty="0"/>
              <a:t>Which job attitudes are likely present?</a:t>
            </a:r>
          </a:p>
          <a:p>
            <a:pPr>
              <a:spcAft>
                <a:spcPts val="300"/>
              </a:spcAft>
              <a:defRPr sz="1650">
                <a:solidFill>
                  <a:srgbClr val="232323"/>
                </a:solidFill>
                <a:latin typeface="Aptos"/>
              </a:defRPr>
            </a:pPr>
            <a:r>
              <a:rPr dirty="0"/>
              <a:t>Which response to dissatisfaction is most visible: exit, voice, loyalty, or neglect?</a:t>
            </a:r>
          </a:p>
          <a:p>
            <a:pPr>
              <a:spcAft>
                <a:spcPts val="300"/>
              </a:spcAft>
              <a:defRPr sz="1650">
                <a:solidFill>
                  <a:srgbClr val="232323"/>
                </a:solidFill>
                <a:latin typeface="Aptos"/>
              </a:defRPr>
            </a:pPr>
            <a:r>
              <a:rPr dirty="0"/>
              <a:t>What is the quality risk of silence?</a:t>
            </a:r>
          </a:p>
          <a:p>
            <a:pPr>
              <a:spcAft>
                <a:spcPts val="300"/>
              </a:spcAft>
              <a:defRPr sz="1650">
                <a:solidFill>
                  <a:srgbClr val="232323"/>
                </a:solidFill>
                <a:latin typeface="Aptos"/>
              </a:defRPr>
            </a:pPr>
            <a:r>
              <a:rPr dirty="0"/>
              <a:t>What should the team leader change immediately?</a:t>
            </a:r>
          </a:p>
          <a:p>
            <a:pPr>
              <a:spcAft>
                <a:spcPts val="300"/>
              </a:spcAft>
              <a:defRPr sz="1650">
                <a:solidFill>
                  <a:srgbClr val="232323"/>
                </a:solidFill>
                <a:latin typeface="Aptos"/>
              </a:defRPr>
            </a:pPr>
            <a:r>
              <a:rPr dirty="0"/>
              <a:t>What evidence would confirm your diagnosis?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none" lIns="73152" tIns="73152" rIns="73152" bIns="73152">
            <a:spAutoFit/>
          </a:bodyPr>
          <a:lstStyle/>
          <a:p>
            <a:pPr algn="l">
              <a:defRPr sz="2900" b="1">
                <a:solidFill>
                  <a:srgbClr val="12304C"/>
                </a:solidFill>
                <a:latin typeface="Aptos"/>
              </a:defRPr>
            </a:pPr>
            <a:r>
              <a:t>Knowledge Check</a:t>
            </a:r>
          </a:p>
        </p:txBody>
      </p:sp>
      <p:sp>
        <p:nvSpPr>
          <p:cNvPr id="3" name="Rectangle 2"/>
          <p:cNvSpPr/>
          <p:nvPr/>
        </p:nvSpPr>
        <p:spPr>
          <a:xfrm>
            <a:off x="548640" y="1234440"/>
            <a:ext cx="11064240" cy="27432"/>
          </a:xfrm>
          <a:prstGeom prst="rect">
            <a:avLst/>
          </a:prstGeom>
          <a:solidFill>
            <a:srgbClr val="D9E6F2"/>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73952"/>
            <a:ext cx="8046720" cy="228600"/>
          </a:xfrm>
          <a:prstGeom prst="rect">
            <a:avLst/>
          </a:prstGeom>
          <a:noFill/>
        </p:spPr>
        <p:txBody>
          <a:bodyPr wrap="none" lIns="73152" tIns="73152" rIns="73152" bIns="73152">
            <a:spAutoFit/>
          </a:bodyPr>
          <a:lstStyle/>
          <a:p>
            <a:pPr algn="l">
              <a:defRPr sz="850" b="0">
                <a:solidFill>
                  <a:srgbClr val="5A5A5A"/>
                </a:solidFill>
                <a:latin typeface="Aptos"/>
              </a:defRPr>
            </a:pPr>
            <a:r>
              <a:t>G TQM 511 | Organizational Behavior and Quality | Week 3</a:t>
            </a:r>
          </a:p>
        </p:txBody>
      </p:sp>
      <p:sp>
        <p:nvSpPr>
          <p:cNvPr id="5" name="TextBox 4"/>
          <p:cNvSpPr txBox="1"/>
          <p:nvPr/>
        </p:nvSpPr>
        <p:spPr>
          <a:xfrm>
            <a:off x="11338560" y="6473952"/>
            <a:ext cx="274320" cy="228600"/>
          </a:xfrm>
          <a:prstGeom prst="rect">
            <a:avLst/>
          </a:prstGeom>
          <a:noFill/>
        </p:spPr>
        <p:txBody>
          <a:bodyPr wrap="none" lIns="73152" tIns="73152" rIns="73152" bIns="73152">
            <a:spAutoFit/>
          </a:bodyPr>
          <a:lstStyle/>
          <a:p>
            <a:pPr algn="r">
              <a:defRPr sz="850" b="0">
                <a:solidFill>
                  <a:srgbClr val="5A5A5A"/>
                </a:solidFill>
                <a:latin typeface="Aptos"/>
              </a:defRPr>
            </a:pPr>
            <a:r>
              <a:t>15</a:t>
            </a:r>
          </a:p>
        </p:txBody>
      </p:sp>
      <p:sp>
        <p:nvSpPr>
          <p:cNvPr id="6" name="TextBox 5"/>
          <p:cNvSpPr txBox="1"/>
          <p:nvPr/>
        </p:nvSpPr>
        <p:spPr>
          <a:xfrm>
            <a:off x="914400" y="1600200"/>
            <a:ext cx="10058400" cy="2103120"/>
          </a:xfrm>
          <a:prstGeom prst="rect">
            <a:avLst/>
          </a:prstGeom>
          <a:noFill/>
        </p:spPr>
        <p:txBody>
          <a:bodyPr wrap="none" lIns="73152" rIns="73152">
            <a:spAutoFit/>
          </a:bodyPr>
          <a:lstStyle/>
          <a:p>
            <a:pPr>
              <a:spcAft>
                <a:spcPts val="300"/>
              </a:spcAft>
              <a:defRPr sz="1800">
                <a:solidFill>
                  <a:srgbClr val="232323"/>
                </a:solidFill>
                <a:latin typeface="Aptos"/>
              </a:defRPr>
            </a:pPr>
            <a:r>
              <a:rPr dirty="0"/>
              <a:t>1. Attitudes include cognitive, affective, and ______ components.</a:t>
            </a:r>
          </a:p>
          <a:p>
            <a:pPr>
              <a:spcAft>
                <a:spcPts val="300"/>
              </a:spcAft>
              <a:defRPr sz="1800">
                <a:solidFill>
                  <a:srgbClr val="232323"/>
                </a:solidFill>
                <a:latin typeface="Aptos"/>
              </a:defRPr>
            </a:pPr>
            <a:r>
              <a:rPr dirty="0"/>
              <a:t>2. Which job attitude reflects enthusiasm and involvement in work?</a:t>
            </a:r>
          </a:p>
          <a:p>
            <a:pPr>
              <a:spcAft>
                <a:spcPts val="300"/>
              </a:spcAft>
              <a:defRPr sz="1800">
                <a:solidFill>
                  <a:srgbClr val="232323"/>
                </a:solidFill>
                <a:latin typeface="Aptos"/>
              </a:defRPr>
            </a:pPr>
            <a:r>
              <a:rPr dirty="0"/>
              <a:t>3. What is one quality risk of employee neglect?</a:t>
            </a:r>
          </a:p>
          <a:p>
            <a:pPr>
              <a:spcAft>
                <a:spcPts val="300"/>
              </a:spcAft>
              <a:defRPr sz="1800">
                <a:solidFill>
                  <a:srgbClr val="232323"/>
                </a:solidFill>
                <a:latin typeface="Aptos"/>
              </a:defRPr>
            </a:pPr>
            <a:r>
              <a:rPr dirty="0"/>
              <a:t>4. Give one indicator that may signal dissatisfaction.</a:t>
            </a:r>
          </a:p>
          <a:p>
            <a:pPr>
              <a:spcAft>
                <a:spcPts val="300"/>
              </a:spcAft>
              <a:defRPr sz="1800">
                <a:solidFill>
                  <a:srgbClr val="232323"/>
                </a:solidFill>
                <a:latin typeface="Aptos"/>
              </a:defRPr>
            </a:pPr>
            <a:r>
              <a:rPr dirty="0"/>
              <a:t>5. Why is employee voice important for quality improvement?</a:t>
            </a:r>
          </a:p>
        </p:txBody>
      </p:sp>
      <p:sp>
        <p:nvSpPr>
          <p:cNvPr id="7" name="Rounded Rectangle 6"/>
          <p:cNvSpPr/>
          <p:nvPr/>
        </p:nvSpPr>
        <p:spPr>
          <a:xfrm>
            <a:off x="1097280" y="4572000"/>
            <a:ext cx="9601200" cy="685800"/>
          </a:xfrm>
          <a:prstGeom prst="roundRect">
            <a:avLst/>
          </a:prstGeom>
          <a:solidFill>
            <a:srgbClr val="E8F1F8"/>
          </a:solidFill>
          <a:ln>
            <a:solidFill>
              <a:srgbClr val="225C8C"/>
            </a:solidFill>
          </a:ln>
        </p:spPr>
        <p:style>
          <a:lnRef idx="1">
            <a:schemeClr val="accent1"/>
          </a:lnRef>
          <a:fillRef idx="3">
            <a:schemeClr val="accent1"/>
          </a:fillRef>
          <a:effectRef idx="2">
            <a:schemeClr val="accent1"/>
          </a:effectRef>
          <a:fontRef idx="minor">
            <a:schemeClr val="lt1"/>
          </a:fontRef>
        </p:style>
        <p:txBody>
          <a:bodyPr lIns="128016" tIns="109728" rIns="128016" bIns="109728" rtlCol="0" anchor="ctr"/>
          <a:lstStyle/>
          <a:p>
            <a:pPr algn="ctr">
              <a:defRPr sz="1800" b="1">
                <a:solidFill>
                  <a:srgbClr val="232323"/>
                </a:solidFill>
                <a:latin typeface="Aptos"/>
              </a:defRPr>
            </a:pPr>
            <a:r>
              <a:t>Use as a quick oral check, poll, or Google Forms quiz after the live session.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none" lIns="73152" tIns="73152" rIns="73152" bIns="73152">
            <a:spAutoFit/>
          </a:bodyPr>
          <a:lstStyle/>
          <a:p>
            <a:pPr algn="l">
              <a:defRPr sz="2900" b="1">
                <a:solidFill>
                  <a:srgbClr val="12304C"/>
                </a:solidFill>
                <a:latin typeface="Aptos"/>
              </a:defRPr>
            </a:pPr>
            <a:r>
              <a:t>Week 3 Assignment: Attitude–Quality Diagnostic Note</a:t>
            </a:r>
          </a:p>
        </p:txBody>
      </p:sp>
      <p:sp>
        <p:nvSpPr>
          <p:cNvPr id="3" name="Rectangle 2"/>
          <p:cNvSpPr/>
          <p:nvPr/>
        </p:nvSpPr>
        <p:spPr>
          <a:xfrm>
            <a:off x="548640" y="1234440"/>
            <a:ext cx="11064240" cy="27432"/>
          </a:xfrm>
          <a:prstGeom prst="rect">
            <a:avLst/>
          </a:prstGeom>
          <a:solidFill>
            <a:srgbClr val="D9E6F2"/>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73952"/>
            <a:ext cx="8046720" cy="228600"/>
          </a:xfrm>
          <a:prstGeom prst="rect">
            <a:avLst/>
          </a:prstGeom>
          <a:noFill/>
        </p:spPr>
        <p:txBody>
          <a:bodyPr wrap="none" lIns="73152" tIns="73152" rIns="73152" bIns="73152">
            <a:spAutoFit/>
          </a:bodyPr>
          <a:lstStyle/>
          <a:p>
            <a:pPr algn="l">
              <a:defRPr sz="850" b="0">
                <a:solidFill>
                  <a:srgbClr val="5A5A5A"/>
                </a:solidFill>
                <a:latin typeface="Aptos"/>
              </a:defRPr>
            </a:pPr>
            <a:r>
              <a:t>G TQM 511 | Organizational Behavior and Quality | Week 3</a:t>
            </a:r>
          </a:p>
        </p:txBody>
      </p:sp>
      <p:sp>
        <p:nvSpPr>
          <p:cNvPr id="5" name="TextBox 4"/>
          <p:cNvSpPr txBox="1"/>
          <p:nvPr/>
        </p:nvSpPr>
        <p:spPr>
          <a:xfrm>
            <a:off x="11338560" y="6473952"/>
            <a:ext cx="274320" cy="228600"/>
          </a:xfrm>
          <a:prstGeom prst="rect">
            <a:avLst/>
          </a:prstGeom>
          <a:noFill/>
        </p:spPr>
        <p:txBody>
          <a:bodyPr wrap="none" lIns="73152" tIns="73152" rIns="73152" bIns="73152">
            <a:spAutoFit/>
          </a:bodyPr>
          <a:lstStyle/>
          <a:p>
            <a:pPr algn="r">
              <a:defRPr sz="850" b="0">
                <a:solidFill>
                  <a:srgbClr val="5A5A5A"/>
                </a:solidFill>
                <a:latin typeface="Aptos"/>
              </a:defRPr>
            </a:pPr>
            <a:r>
              <a:t>16</a:t>
            </a:r>
          </a:p>
        </p:txBody>
      </p:sp>
      <p:sp>
        <p:nvSpPr>
          <p:cNvPr id="6" name="Rounded Rectangle 5"/>
          <p:cNvSpPr/>
          <p:nvPr/>
        </p:nvSpPr>
        <p:spPr>
          <a:xfrm>
            <a:off x="731520" y="1417320"/>
            <a:ext cx="10698480" cy="502920"/>
          </a:xfrm>
          <a:prstGeom prst="roundRect">
            <a:avLst/>
          </a:prstGeom>
          <a:solidFill>
            <a:srgbClr val="E8F1F8"/>
          </a:solidFill>
          <a:ln>
            <a:solidFill>
              <a:srgbClr val="225C8C"/>
            </a:solidFill>
          </a:ln>
        </p:spPr>
        <p:style>
          <a:lnRef idx="1">
            <a:schemeClr val="accent1"/>
          </a:lnRef>
          <a:fillRef idx="3">
            <a:schemeClr val="accent1"/>
          </a:fillRef>
          <a:effectRef idx="2">
            <a:schemeClr val="accent1"/>
          </a:effectRef>
          <a:fontRef idx="minor">
            <a:schemeClr val="lt1"/>
          </a:fontRef>
        </p:style>
        <p:txBody>
          <a:bodyPr lIns="128016" tIns="109728" rIns="128016" bIns="109728" rtlCol="0" anchor="ctr"/>
          <a:lstStyle/>
          <a:p>
            <a:pPr algn="ctr">
              <a:defRPr sz="1700" b="1">
                <a:solidFill>
                  <a:srgbClr val="232323"/>
                </a:solidFill>
                <a:latin typeface="Aptos"/>
              </a:defRPr>
            </a:pPr>
            <a:r>
              <a:t>Individual assignment | 500–700 words</a:t>
            </a:r>
          </a:p>
        </p:txBody>
      </p:sp>
      <p:sp>
        <p:nvSpPr>
          <p:cNvPr id="7" name="TextBox 6"/>
          <p:cNvSpPr txBox="1"/>
          <p:nvPr/>
        </p:nvSpPr>
        <p:spPr>
          <a:xfrm>
            <a:off x="914400" y="2240280"/>
            <a:ext cx="10058400" cy="1691640"/>
          </a:xfrm>
          <a:prstGeom prst="rect">
            <a:avLst/>
          </a:prstGeom>
          <a:noFill/>
        </p:spPr>
        <p:txBody>
          <a:bodyPr wrap="none" lIns="73152" rIns="73152">
            <a:spAutoFit/>
          </a:bodyPr>
          <a:lstStyle/>
          <a:p>
            <a:pPr>
              <a:spcAft>
                <a:spcPts val="300"/>
              </a:spcAft>
              <a:defRPr sz="1700">
                <a:solidFill>
                  <a:srgbClr val="232323"/>
                </a:solidFill>
                <a:latin typeface="Aptos"/>
              </a:defRPr>
            </a:pPr>
            <a:r>
              <a:t>Select a real or familiar workplace quality problem.</a:t>
            </a:r>
          </a:p>
          <a:p>
            <a:pPr>
              <a:spcAft>
                <a:spcPts val="300"/>
              </a:spcAft>
              <a:defRPr sz="1700">
                <a:solidFill>
                  <a:srgbClr val="232323"/>
                </a:solidFill>
                <a:latin typeface="Aptos"/>
              </a:defRPr>
            </a:pPr>
            <a:r>
              <a:t>Identify the employee attitude issue most relevant to the problem.</a:t>
            </a:r>
          </a:p>
          <a:p>
            <a:pPr>
              <a:spcAft>
                <a:spcPts val="300"/>
              </a:spcAft>
              <a:defRPr sz="1700">
                <a:solidFill>
                  <a:srgbClr val="232323"/>
                </a:solidFill>
                <a:latin typeface="Aptos"/>
              </a:defRPr>
            </a:pPr>
            <a:r>
              <a:t>Explain the behavior and quality outcome it may produce.</a:t>
            </a:r>
          </a:p>
          <a:p>
            <a:pPr>
              <a:spcAft>
                <a:spcPts val="300"/>
              </a:spcAft>
              <a:defRPr sz="1700">
                <a:solidFill>
                  <a:srgbClr val="232323"/>
                </a:solidFill>
                <a:latin typeface="Aptos"/>
              </a:defRPr>
            </a:pPr>
            <a:r>
              <a:t>Use at least two Chapter 3 concepts.</a:t>
            </a:r>
          </a:p>
          <a:p>
            <a:pPr>
              <a:spcAft>
                <a:spcPts val="300"/>
              </a:spcAft>
              <a:defRPr sz="1700">
                <a:solidFill>
                  <a:srgbClr val="232323"/>
                </a:solidFill>
                <a:latin typeface="Aptos"/>
              </a:defRPr>
            </a:pPr>
            <a:r>
              <a:t>Recommend two management actions and one measurable indicator.</a:t>
            </a:r>
          </a:p>
        </p:txBody>
      </p:sp>
      <p:sp>
        <p:nvSpPr>
          <p:cNvPr id="8" name="Rounded Rectangle 7"/>
          <p:cNvSpPr/>
          <p:nvPr/>
        </p:nvSpPr>
        <p:spPr>
          <a:xfrm>
            <a:off x="1097280" y="4617720"/>
            <a:ext cx="9601200" cy="86868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7280" y="4617720"/>
            <a:ext cx="73152" cy="868680"/>
          </a:xfrm>
          <a:prstGeom prst="rect">
            <a:avLst/>
          </a:prstGeom>
          <a:solidFill>
            <a:srgbClr val="C87A34"/>
          </a:solidFill>
          <a:ln>
            <a:solidFill>
              <a:srgbClr val="C87A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61872" y="4736592"/>
            <a:ext cx="9326880" cy="246888"/>
          </a:xfrm>
          <a:prstGeom prst="rect">
            <a:avLst/>
          </a:prstGeom>
          <a:noFill/>
        </p:spPr>
        <p:txBody>
          <a:bodyPr wrap="none" lIns="73152" tIns="73152" rIns="73152" bIns="73152">
            <a:spAutoFit/>
          </a:bodyPr>
          <a:lstStyle/>
          <a:p>
            <a:pPr algn="l">
              <a:defRPr sz="1500" b="1">
                <a:solidFill>
                  <a:srgbClr val="12304C"/>
                </a:solidFill>
                <a:latin typeface="Aptos"/>
              </a:defRPr>
            </a:pPr>
            <a:r>
              <a:t>Assessment focus</a:t>
            </a:r>
          </a:p>
        </p:txBody>
      </p:sp>
      <p:sp>
        <p:nvSpPr>
          <p:cNvPr id="11" name="TextBox 10"/>
          <p:cNvSpPr txBox="1"/>
          <p:nvPr/>
        </p:nvSpPr>
        <p:spPr>
          <a:xfrm>
            <a:off x="1261872" y="5056631"/>
            <a:ext cx="9326880" cy="320040"/>
          </a:xfrm>
          <a:prstGeom prst="rect">
            <a:avLst/>
          </a:prstGeom>
          <a:noFill/>
        </p:spPr>
        <p:txBody>
          <a:bodyPr wrap="none" lIns="73152" tIns="73152" rIns="73152" bIns="73152">
            <a:spAutoFit/>
          </a:bodyPr>
          <a:lstStyle/>
          <a:p>
            <a:pPr algn="l">
              <a:defRPr sz="1600" b="0">
                <a:solidFill>
                  <a:srgbClr val="232323"/>
                </a:solidFill>
                <a:latin typeface="Aptos"/>
              </a:defRPr>
            </a:pPr>
            <a:r>
              <a:t>Conceptual accuracy • quality connection • practical diagnosis • feasibility • academic clarity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2823337" cy="701731"/>
          </a:xfrm>
          <a:prstGeom prst="rect">
            <a:avLst/>
          </a:prstGeom>
          <a:noFill/>
        </p:spPr>
        <p:txBody>
          <a:bodyPr wrap="none" lIns="73152" tIns="73152" rIns="73152" bIns="73152">
            <a:spAutoFit/>
          </a:bodyPr>
          <a:lstStyle/>
          <a:p>
            <a:pPr algn="l">
              <a:defRPr sz="2900" b="1">
                <a:solidFill>
                  <a:srgbClr val="12304C"/>
                </a:solidFill>
                <a:latin typeface="Aptos"/>
              </a:defRPr>
            </a:pPr>
            <a:r>
              <a:rPr sz="3600" dirty="0"/>
              <a:t>Key </a:t>
            </a:r>
            <a:r>
              <a:rPr sz="2900" dirty="0"/>
              <a:t>Takeaways</a:t>
            </a:r>
          </a:p>
        </p:txBody>
      </p:sp>
      <p:sp>
        <p:nvSpPr>
          <p:cNvPr id="3" name="Rectangle 2"/>
          <p:cNvSpPr/>
          <p:nvPr/>
        </p:nvSpPr>
        <p:spPr>
          <a:xfrm>
            <a:off x="548640" y="1234440"/>
            <a:ext cx="11064240" cy="27432"/>
          </a:xfrm>
          <a:prstGeom prst="rect">
            <a:avLst/>
          </a:prstGeom>
          <a:solidFill>
            <a:srgbClr val="D9E6F2"/>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p:cNvSpPr txBox="1"/>
          <p:nvPr/>
        </p:nvSpPr>
        <p:spPr>
          <a:xfrm>
            <a:off x="548640" y="6473952"/>
            <a:ext cx="3316870" cy="301621"/>
          </a:xfrm>
          <a:prstGeom prst="rect">
            <a:avLst/>
          </a:prstGeom>
          <a:noFill/>
        </p:spPr>
        <p:txBody>
          <a:bodyPr wrap="none" lIns="73152" tIns="73152" rIns="73152" bIns="73152">
            <a:spAutoFit/>
          </a:bodyPr>
          <a:lstStyle/>
          <a:p>
            <a:pPr algn="l">
              <a:defRPr sz="850" b="0">
                <a:solidFill>
                  <a:srgbClr val="5A5A5A"/>
                </a:solidFill>
                <a:latin typeface="Aptos"/>
              </a:defRPr>
            </a:pPr>
            <a:r>
              <a:rPr sz="1000"/>
              <a:t>G TQM 511 | Organizational Behavior and Quality | Week 3</a:t>
            </a:r>
          </a:p>
        </p:txBody>
      </p:sp>
      <p:sp>
        <p:nvSpPr>
          <p:cNvPr id="5" name="TextBox 4"/>
          <p:cNvSpPr txBox="1"/>
          <p:nvPr/>
        </p:nvSpPr>
        <p:spPr>
          <a:xfrm>
            <a:off x="11327288" y="6473952"/>
            <a:ext cx="285592" cy="301621"/>
          </a:xfrm>
          <a:prstGeom prst="rect">
            <a:avLst/>
          </a:prstGeom>
          <a:noFill/>
        </p:spPr>
        <p:txBody>
          <a:bodyPr wrap="none" lIns="73152" tIns="73152" rIns="73152" bIns="73152">
            <a:spAutoFit/>
          </a:bodyPr>
          <a:lstStyle/>
          <a:p>
            <a:pPr algn="r">
              <a:defRPr sz="850" b="0">
                <a:solidFill>
                  <a:srgbClr val="5A5A5A"/>
                </a:solidFill>
                <a:latin typeface="Aptos"/>
              </a:defRPr>
            </a:pPr>
            <a:r>
              <a:rPr sz="1000"/>
              <a:t>17</a:t>
            </a:r>
          </a:p>
        </p:txBody>
      </p:sp>
      <p:sp>
        <p:nvSpPr>
          <p:cNvPr id="6" name="Rounded Rectangle 5"/>
          <p:cNvSpPr/>
          <p:nvPr/>
        </p:nvSpPr>
        <p:spPr>
          <a:xfrm>
            <a:off x="777240" y="1508760"/>
            <a:ext cx="5029200" cy="82296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Rectangle 6"/>
          <p:cNvSpPr/>
          <p:nvPr/>
        </p:nvSpPr>
        <p:spPr>
          <a:xfrm>
            <a:off x="777240" y="1508760"/>
            <a:ext cx="73152" cy="822960"/>
          </a:xfrm>
          <a:prstGeom prst="rect">
            <a:avLst/>
          </a:prstGeom>
          <a:solidFill>
            <a:srgbClr val="225C8C"/>
          </a:solidFill>
          <a:ln>
            <a:solidFill>
              <a:srgbClr val="22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941832" y="1627631"/>
            <a:ext cx="312843" cy="517065"/>
          </a:xfrm>
          <a:prstGeom prst="rect">
            <a:avLst/>
          </a:prstGeom>
          <a:noFill/>
        </p:spPr>
        <p:txBody>
          <a:bodyPr wrap="none" lIns="73152" tIns="73152" rIns="73152" bIns="73152">
            <a:spAutoFit/>
          </a:bodyPr>
          <a:lstStyle/>
          <a:p>
            <a:pPr algn="l">
              <a:defRPr sz="1800" b="1">
                <a:solidFill>
                  <a:srgbClr val="12304C"/>
                </a:solidFill>
                <a:latin typeface="Aptos"/>
              </a:defRPr>
            </a:pPr>
            <a:r>
              <a:rPr sz="2400"/>
              <a:t>1</a:t>
            </a:r>
          </a:p>
        </p:txBody>
      </p:sp>
      <p:sp>
        <p:nvSpPr>
          <p:cNvPr id="9" name="TextBox 8"/>
          <p:cNvSpPr txBox="1"/>
          <p:nvPr/>
        </p:nvSpPr>
        <p:spPr>
          <a:xfrm>
            <a:off x="1106424" y="1650491"/>
            <a:ext cx="4462272" cy="640175"/>
          </a:xfrm>
          <a:prstGeom prst="rect">
            <a:avLst/>
          </a:prstGeom>
          <a:noFill/>
        </p:spPr>
        <p:txBody>
          <a:bodyPr wrap="square" lIns="73152" tIns="73152" rIns="73152" bIns="73152">
            <a:spAutoFit/>
          </a:bodyPr>
          <a:lstStyle/>
          <a:p>
            <a:pPr algn="l">
              <a:defRPr sz="1350" b="0">
                <a:solidFill>
                  <a:srgbClr val="232323"/>
                </a:solidFill>
                <a:latin typeface="Aptos"/>
              </a:defRPr>
            </a:pPr>
            <a:r>
              <a:rPr sz="1600" dirty="0"/>
              <a:t>Attitudes are evaluative judgments that influence behavior.</a:t>
            </a:r>
          </a:p>
        </p:txBody>
      </p:sp>
      <p:sp>
        <p:nvSpPr>
          <p:cNvPr id="10" name="Rounded Rectangle 9"/>
          <p:cNvSpPr/>
          <p:nvPr/>
        </p:nvSpPr>
        <p:spPr>
          <a:xfrm>
            <a:off x="6263640" y="1508760"/>
            <a:ext cx="5029200" cy="82296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Rectangle 10"/>
          <p:cNvSpPr/>
          <p:nvPr/>
        </p:nvSpPr>
        <p:spPr>
          <a:xfrm>
            <a:off x="6263640" y="1508760"/>
            <a:ext cx="73152" cy="822960"/>
          </a:xfrm>
          <a:prstGeom prst="rect">
            <a:avLst/>
          </a:prstGeom>
          <a:solidFill>
            <a:srgbClr val="225C8C"/>
          </a:solidFill>
          <a:ln>
            <a:solidFill>
              <a:srgbClr val="22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1"/>
          <p:cNvSpPr txBox="1"/>
          <p:nvPr/>
        </p:nvSpPr>
        <p:spPr>
          <a:xfrm>
            <a:off x="6428231" y="1627631"/>
            <a:ext cx="312843" cy="517065"/>
          </a:xfrm>
          <a:prstGeom prst="rect">
            <a:avLst/>
          </a:prstGeom>
          <a:noFill/>
        </p:spPr>
        <p:txBody>
          <a:bodyPr wrap="none" lIns="73152" tIns="73152" rIns="73152" bIns="73152">
            <a:spAutoFit/>
          </a:bodyPr>
          <a:lstStyle/>
          <a:p>
            <a:pPr algn="l">
              <a:defRPr sz="1800" b="1">
                <a:solidFill>
                  <a:srgbClr val="12304C"/>
                </a:solidFill>
                <a:latin typeface="Aptos"/>
              </a:defRPr>
            </a:pPr>
            <a:r>
              <a:rPr sz="2400"/>
              <a:t>2</a:t>
            </a:r>
          </a:p>
        </p:txBody>
      </p:sp>
      <p:sp>
        <p:nvSpPr>
          <p:cNvPr id="13" name="TextBox 12"/>
          <p:cNvSpPr txBox="1"/>
          <p:nvPr/>
        </p:nvSpPr>
        <p:spPr>
          <a:xfrm>
            <a:off x="6659880" y="1614890"/>
            <a:ext cx="4523231" cy="640175"/>
          </a:xfrm>
          <a:prstGeom prst="rect">
            <a:avLst/>
          </a:prstGeom>
          <a:noFill/>
        </p:spPr>
        <p:txBody>
          <a:bodyPr wrap="square" lIns="73152" tIns="73152" rIns="73152" bIns="73152">
            <a:spAutoFit/>
          </a:bodyPr>
          <a:lstStyle/>
          <a:p>
            <a:pPr algn="l">
              <a:defRPr sz="1350" b="0">
                <a:solidFill>
                  <a:srgbClr val="232323"/>
                </a:solidFill>
                <a:latin typeface="Aptos"/>
              </a:defRPr>
            </a:pPr>
            <a:r>
              <a:rPr sz="1600" dirty="0"/>
              <a:t>Job satisfaction and engagement matter for quality performance.</a:t>
            </a:r>
          </a:p>
        </p:txBody>
      </p:sp>
      <p:sp>
        <p:nvSpPr>
          <p:cNvPr id="14" name="Rounded Rectangle 13"/>
          <p:cNvSpPr/>
          <p:nvPr/>
        </p:nvSpPr>
        <p:spPr>
          <a:xfrm>
            <a:off x="777240" y="2587752"/>
            <a:ext cx="5029200" cy="82296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Rectangle 14"/>
          <p:cNvSpPr/>
          <p:nvPr/>
        </p:nvSpPr>
        <p:spPr>
          <a:xfrm>
            <a:off x="777240" y="2587752"/>
            <a:ext cx="73152" cy="822960"/>
          </a:xfrm>
          <a:prstGeom prst="rect">
            <a:avLst/>
          </a:prstGeom>
          <a:solidFill>
            <a:srgbClr val="225C8C"/>
          </a:solidFill>
          <a:ln>
            <a:solidFill>
              <a:srgbClr val="22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941832" y="2706624"/>
            <a:ext cx="312843" cy="517065"/>
          </a:xfrm>
          <a:prstGeom prst="rect">
            <a:avLst/>
          </a:prstGeom>
          <a:noFill/>
        </p:spPr>
        <p:txBody>
          <a:bodyPr wrap="none" lIns="73152" tIns="73152" rIns="73152" bIns="73152">
            <a:spAutoFit/>
          </a:bodyPr>
          <a:lstStyle/>
          <a:p>
            <a:pPr algn="l">
              <a:defRPr sz="1800" b="1">
                <a:solidFill>
                  <a:srgbClr val="12304C"/>
                </a:solidFill>
                <a:latin typeface="Aptos"/>
              </a:defRPr>
            </a:pPr>
            <a:r>
              <a:rPr sz="2400"/>
              <a:t>3</a:t>
            </a:r>
          </a:p>
        </p:txBody>
      </p:sp>
      <p:sp>
        <p:nvSpPr>
          <p:cNvPr id="17" name="TextBox 16"/>
          <p:cNvSpPr txBox="1"/>
          <p:nvPr/>
        </p:nvSpPr>
        <p:spPr>
          <a:xfrm>
            <a:off x="1173480" y="2782500"/>
            <a:ext cx="4395216" cy="640175"/>
          </a:xfrm>
          <a:prstGeom prst="rect">
            <a:avLst/>
          </a:prstGeom>
          <a:noFill/>
        </p:spPr>
        <p:txBody>
          <a:bodyPr wrap="square" lIns="73152" tIns="73152" rIns="73152" bIns="73152">
            <a:spAutoFit/>
          </a:bodyPr>
          <a:lstStyle/>
          <a:p>
            <a:pPr algn="l">
              <a:defRPr sz="1350" b="0">
                <a:solidFill>
                  <a:srgbClr val="232323"/>
                </a:solidFill>
                <a:latin typeface="Aptos"/>
              </a:defRPr>
            </a:pPr>
            <a:r>
              <a:rPr sz="1600" dirty="0"/>
              <a:t>Dissatisfaction may produce exit, voice, loyalty, or neglect.</a:t>
            </a:r>
          </a:p>
        </p:txBody>
      </p:sp>
      <p:sp>
        <p:nvSpPr>
          <p:cNvPr id="18" name="Rounded Rectangle 17"/>
          <p:cNvSpPr/>
          <p:nvPr/>
        </p:nvSpPr>
        <p:spPr>
          <a:xfrm>
            <a:off x="6263640" y="2587752"/>
            <a:ext cx="5029200" cy="82296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Rectangle 18"/>
          <p:cNvSpPr/>
          <p:nvPr/>
        </p:nvSpPr>
        <p:spPr>
          <a:xfrm>
            <a:off x="6263640" y="2587752"/>
            <a:ext cx="73152" cy="822960"/>
          </a:xfrm>
          <a:prstGeom prst="rect">
            <a:avLst/>
          </a:prstGeom>
          <a:solidFill>
            <a:srgbClr val="457E5A"/>
          </a:solidFill>
          <a:ln>
            <a:solidFill>
              <a:srgbClr val="457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6428231" y="2706624"/>
            <a:ext cx="312843" cy="517065"/>
          </a:xfrm>
          <a:prstGeom prst="rect">
            <a:avLst/>
          </a:prstGeom>
          <a:noFill/>
        </p:spPr>
        <p:txBody>
          <a:bodyPr wrap="none" lIns="73152" tIns="73152" rIns="73152" bIns="73152">
            <a:spAutoFit/>
          </a:bodyPr>
          <a:lstStyle/>
          <a:p>
            <a:pPr algn="l">
              <a:defRPr sz="1800" b="1">
                <a:solidFill>
                  <a:srgbClr val="12304C"/>
                </a:solidFill>
                <a:latin typeface="Aptos"/>
              </a:defRPr>
            </a:pPr>
            <a:r>
              <a:rPr sz="2400"/>
              <a:t>4</a:t>
            </a:r>
          </a:p>
        </p:txBody>
      </p:sp>
      <p:sp>
        <p:nvSpPr>
          <p:cNvPr id="21" name="TextBox 20"/>
          <p:cNvSpPr txBox="1"/>
          <p:nvPr/>
        </p:nvSpPr>
        <p:spPr>
          <a:xfrm>
            <a:off x="6659880" y="2724912"/>
            <a:ext cx="4523231" cy="640175"/>
          </a:xfrm>
          <a:prstGeom prst="rect">
            <a:avLst/>
          </a:prstGeom>
          <a:noFill/>
        </p:spPr>
        <p:txBody>
          <a:bodyPr wrap="square" lIns="73152" tIns="73152" rIns="73152" bIns="73152">
            <a:spAutoFit/>
          </a:bodyPr>
          <a:lstStyle/>
          <a:p>
            <a:pPr algn="l">
              <a:defRPr sz="1350" b="0">
                <a:solidFill>
                  <a:srgbClr val="232323"/>
                </a:solidFill>
                <a:latin typeface="Aptos"/>
              </a:defRPr>
            </a:pPr>
            <a:r>
              <a:rPr sz="1600"/>
              <a:t>Employee voice is a major source of quality learning.</a:t>
            </a:r>
          </a:p>
        </p:txBody>
      </p:sp>
      <p:sp>
        <p:nvSpPr>
          <p:cNvPr id="22" name="Rounded Rectangle 21"/>
          <p:cNvSpPr/>
          <p:nvPr/>
        </p:nvSpPr>
        <p:spPr>
          <a:xfrm>
            <a:off x="777240" y="3666744"/>
            <a:ext cx="5029200" cy="822960"/>
          </a:xfrm>
          <a:prstGeom prst="roundRect">
            <a:avLst/>
          </a:prstGeom>
          <a:solidFill>
            <a:srgbClr val="FFFFFF"/>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Rectangle 22"/>
          <p:cNvSpPr/>
          <p:nvPr/>
        </p:nvSpPr>
        <p:spPr>
          <a:xfrm>
            <a:off x="777240" y="3666744"/>
            <a:ext cx="73152" cy="822960"/>
          </a:xfrm>
          <a:prstGeom prst="rect">
            <a:avLst/>
          </a:prstGeom>
          <a:solidFill>
            <a:srgbClr val="457E5A"/>
          </a:solidFill>
          <a:ln>
            <a:solidFill>
              <a:srgbClr val="457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941832" y="3785615"/>
            <a:ext cx="312843" cy="517065"/>
          </a:xfrm>
          <a:prstGeom prst="rect">
            <a:avLst/>
          </a:prstGeom>
          <a:noFill/>
        </p:spPr>
        <p:txBody>
          <a:bodyPr wrap="none" lIns="73152" tIns="73152" rIns="73152" bIns="73152">
            <a:spAutoFit/>
          </a:bodyPr>
          <a:lstStyle/>
          <a:p>
            <a:pPr algn="l">
              <a:defRPr sz="1800" b="1">
                <a:solidFill>
                  <a:srgbClr val="12304C"/>
                </a:solidFill>
                <a:latin typeface="Aptos"/>
              </a:defRPr>
            </a:pPr>
            <a:r>
              <a:rPr sz="2400"/>
              <a:t>5</a:t>
            </a:r>
          </a:p>
        </p:txBody>
      </p:sp>
      <p:sp>
        <p:nvSpPr>
          <p:cNvPr id="25" name="TextBox 24"/>
          <p:cNvSpPr txBox="1"/>
          <p:nvPr/>
        </p:nvSpPr>
        <p:spPr>
          <a:xfrm>
            <a:off x="1143000" y="3794759"/>
            <a:ext cx="4425696" cy="640175"/>
          </a:xfrm>
          <a:prstGeom prst="rect">
            <a:avLst/>
          </a:prstGeom>
          <a:noFill/>
        </p:spPr>
        <p:txBody>
          <a:bodyPr wrap="square" lIns="73152" tIns="73152" rIns="73152" bIns="73152">
            <a:spAutoFit/>
          </a:bodyPr>
          <a:lstStyle/>
          <a:p>
            <a:pPr algn="l">
              <a:defRPr sz="1350" b="0">
                <a:solidFill>
                  <a:srgbClr val="232323"/>
                </a:solidFill>
                <a:latin typeface="Aptos"/>
              </a:defRPr>
            </a:pPr>
            <a:r>
              <a:rPr sz="1600" dirty="0"/>
              <a:t>Quality managers should use evidence to monitor attitudes and outcomes.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none" lIns="73152" tIns="73152" rIns="73152" bIns="73152">
            <a:spAutoFit/>
          </a:bodyPr>
          <a:lstStyle/>
          <a:p>
            <a:pPr algn="l">
              <a:defRPr sz="2900" b="1">
                <a:solidFill>
                  <a:srgbClr val="12304C"/>
                </a:solidFill>
                <a:latin typeface="Aptos"/>
              </a:defRPr>
            </a:pPr>
            <a:r>
              <a:t>Preparation for Week 4</a:t>
            </a:r>
          </a:p>
        </p:txBody>
      </p:sp>
      <p:sp>
        <p:nvSpPr>
          <p:cNvPr id="3" name="Rectangle 2"/>
          <p:cNvSpPr/>
          <p:nvPr/>
        </p:nvSpPr>
        <p:spPr>
          <a:xfrm>
            <a:off x="548640" y="1234440"/>
            <a:ext cx="11064240" cy="27432"/>
          </a:xfrm>
          <a:prstGeom prst="rect">
            <a:avLst/>
          </a:prstGeom>
          <a:solidFill>
            <a:srgbClr val="D9E6F2"/>
          </a:solidFill>
          <a:ln>
            <a:solidFill>
              <a:srgbClr val="D9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73952"/>
            <a:ext cx="8046720" cy="228600"/>
          </a:xfrm>
          <a:prstGeom prst="rect">
            <a:avLst/>
          </a:prstGeom>
          <a:noFill/>
        </p:spPr>
        <p:txBody>
          <a:bodyPr wrap="none" lIns="73152" tIns="73152" rIns="73152" bIns="73152">
            <a:spAutoFit/>
          </a:bodyPr>
          <a:lstStyle/>
          <a:p>
            <a:pPr algn="l">
              <a:defRPr sz="850" b="0">
                <a:solidFill>
                  <a:srgbClr val="5A5A5A"/>
                </a:solidFill>
                <a:latin typeface="Aptos"/>
              </a:defRPr>
            </a:pPr>
            <a:r>
              <a:t>G TQM 511 | Organizational Behavior and Quality | Week 3</a:t>
            </a:r>
          </a:p>
        </p:txBody>
      </p:sp>
      <p:sp>
        <p:nvSpPr>
          <p:cNvPr id="5" name="TextBox 4"/>
          <p:cNvSpPr txBox="1"/>
          <p:nvPr/>
        </p:nvSpPr>
        <p:spPr>
          <a:xfrm>
            <a:off x="11338560" y="6473952"/>
            <a:ext cx="274320" cy="228600"/>
          </a:xfrm>
          <a:prstGeom prst="rect">
            <a:avLst/>
          </a:prstGeom>
          <a:noFill/>
        </p:spPr>
        <p:txBody>
          <a:bodyPr wrap="none" lIns="73152" tIns="73152" rIns="73152" bIns="73152">
            <a:spAutoFit/>
          </a:bodyPr>
          <a:lstStyle/>
          <a:p>
            <a:pPr algn="r">
              <a:defRPr sz="850" b="0">
                <a:solidFill>
                  <a:srgbClr val="5A5A5A"/>
                </a:solidFill>
                <a:latin typeface="Aptos"/>
              </a:defRPr>
            </a:pPr>
            <a:r>
              <a:t>18</a:t>
            </a:r>
          </a:p>
        </p:txBody>
      </p:sp>
      <p:sp>
        <p:nvSpPr>
          <p:cNvPr id="6" name="Rounded Rectangle 5"/>
          <p:cNvSpPr/>
          <p:nvPr/>
        </p:nvSpPr>
        <p:spPr>
          <a:xfrm>
            <a:off x="731520" y="1508760"/>
            <a:ext cx="10698480" cy="640080"/>
          </a:xfrm>
          <a:prstGeom prst="roundRect">
            <a:avLst/>
          </a:prstGeom>
          <a:solidFill>
            <a:srgbClr val="E8F1F8"/>
          </a:solidFill>
          <a:ln>
            <a:solidFill>
              <a:srgbClr val="225C8C"/>
            </a:solidFill>
          </a:ln>
        </p:spPr>
        <p:style>
          <a:lnRef idx="1">
            <a:schemeClr val="accent1"/>
          </a:lnRef>
          <a:fillRef idx="3">
            <a:schemeClr val="accent1"/>
          </a:fillRef>
          <a:effectRef idx="2">
            <a:schemeClr val="accent1"/>
          </a:effectRef>
          <a:fontRef idx="minor">
            <a:schemeClr val="lt1"/>
          </a:fontRef>
        </p:style>
        <p:txBody>
          <a:bodyPr lIns="128016" tIns="109728" rIns="128016" bIns="109728" rtlCol="0" anchor="ctr"/>
          <a:lstStyle/>
          <a:p>
            <a:pPr algn="ctr">
              <a:defRPr sz="2000" b="1">
                <a:solidFill>
                  <a:srgbClr val="232323"/>
                </a:solidFill>
                <a:latin typeface="Aptos"/>
              </a:defRPr>
            </a:pPr>
            <a:r>
              <a:rPr dirty="0"/>
              <a:t>Next week: Emotions</a:t>
            </a:r>
            <a:r>
              <a:rPr lang="en-US" dirty="0"/>
              <a:t> and </a:t>
            </a:r>
            <a:r>
              <a:rPr dirty="0"/>
              <a:t> Moods</a:t>
            </a:r>
          </a:p>
        </p:txBody>
      </p:sp>
      <p:sp>
        <p:nvSpPr>
          <p:cNvPr id="7" name="TextBox 6"/>
          <p:cNvSpPr txBox="1"/>
          <p:nvPr/>
        </p:nvSpPr>
        <p:spPr>
          <a:xfrm>
            <a:off x="914400" y="2606040"/>
            <a:ext cx="10058400" cy="1737360"/>
          </a:xfrm>
          <a:prstGeom prst="rect">
            <a:avLst/>
          </a:prstGeom>
          <a:noFill/>
        </p:spPr>
        <p:txBody>
          <a:bodyPr wrap="none" lIns="73152" rIns="73152">
            <a:spAutoFit/>
          </a:bodyPr>
          <a:lstStyle/>
          <a:p>
            <a:pPr>
              <a:spcAft>
                <a:spcPts val="300"/>
              </a:spcAft>
              <a:defRPr sz="1800">
                <a:solidFill>
                  <a:srgbClr val="232323"/>
                </a:solidFill>
                <a:latin typeface="Aptos"/>
              </a:defRPr>
            </a:pPr>
            <a:r>
              <a:t>Read Chapter 4: Emotions and Moods.</a:t>
            </a:r>
          </a:p>
          <a:p>
            <a:pPr>
              <a:spcAft>
                <a:spcPts val="300"/>
              </a:spcAft>
              <a:defRPr sz="1800">
                <a:solidFill>
                  <a:srgbClr val="232323"/>
                </a:solidFill>
                <a:latin typeface="Aptos"/>
              </a:defRPr>
            </a:pPr>
            <a:r>
              <a:t>Read selected parts of Chapter 5: Personality and Values.</a:t>
            </a:r>
          </a:p>
          <a:p>
            <a:pPr>
              <a:spcAft>
                <a:spcPts val="300"/>
              </a:spcAft>
              <a:defRPr sz="1800">
                <a:solidFill>
                  <a:srgbClr val="232323"/>
                </a:solidFill>
                <a:latin typeface="Aptos"/>
              </a:defRPr>
            </a:pPr>
            <a:r>
              <a:t>Prepare one example of how emotions affect customer service or quality behavior.</a:t>
            </a:r>
          </a:p>
          <a:p>
            <a:pPr>
              <a:spcAft>
                <a:spcPts val="300"/>
              </a:spcAft>
              <a:defRPr sz="1800">
                <a:solidFill>
                  <a:srgbClr val="232323"/>
                </a:solidFill>
                <a:latin typeface="Aptos"/>
              </a:defRPr>
            </a:pPr>
            <a:r>
              <a:t>Reflect on your own work values and how they influence quality decisions.</a:t>
            </a:r>
          </a:p>
        </p:txBody>
      </p:sp>
      <p:sp>
        <p:nvSpPr>
          <p:cNvPr id="8" name="TextBox 7"/>
          <p:cNvSpPr txBox="1"/>
          <p:nvPr/>
        </p:nvSpPr>
        <p:spPr>
          <a:xfrm>
            <a:off x="822960" y="5166360"/>
            <a:ext cx="10515600" cy="457200"/>
          </a:xfrm>
          <a:prstGeom prst="rect">
            <a:avLst/>
          </a:prstGeom>
          <a:noFill/>
        </p:spPr>
        <p:txBody>
          <a:bodyPr wrap="none" lIns="73152" tIns="73152" rIns="73152" bIns="73152">
            <a:spAutoFit/>
          </a:bodyPr>
          <a:lstStyle/>
          <a:p>
            <a:pPr algn="ctr">
              <a:defRPr sz="2400" b="1">
                <a:solidFill>
                  <a:srgbClr val="12304C"/>
                </a:solidFill>
                <a:latin typeface="Aptos"/>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275</TotalTime>
  <Words>1792</Words>
  <Application>Microsoft Office PowerPoint</Application>
  <PresentationFormat>Widescreen</PresentationFormat>
  <Paragraphs>213</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Abdelmutalab Talabose</cp:lastModifiedBy>
  <cp:revision>5</cp:revision>
  <dcterms:created xsi:type="dcterms:W3CDTF">2013-01-27T09:14:16Z</dcterms:created>
  <dcterms:modified xsi:type="dcterms:W3CDTF">2026-08-15T19:33:15Z</dcterms:modified>
  <cp:category/>
</cp:coreProperties>
</file>