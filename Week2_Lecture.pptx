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5" autoAdjust="0"/>
    <p:restoredTop sz="94404" autoAdjust="0"/>
  </p:normalViewPr>
  <p:slideViewPr>
    <p:cSldViewPr snapToGrid="0" snapToObjects="1">
      <p:cViewPr varScale="1">
        <p:scale>
          <a:sx n="61" d="100"/>
          <a:sy n="61" d="100"/>
        </p:scale>
        <p:origin x="80"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5662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B"/>
          </a:solidFill>
          <a:ln w="12700">
            <a:solidFill>
              <a:srgbClr val="F6F8FB"/>
            </a:solidFill>
            <a:prstDash val="solid"/>
          </a:ln>
        </p:spPr>
        <p:txBody>
          <a:bodyPr/>
          <a:lstStyle/>
          <a:p>
            <a:endParaRPr/>
          </a:p>
        </p:txBody>
      </p:sp>
      <p:sp>
        <p:nvSpPr>
          <p:cNvPr id="3" name="Shape 1"/>
          <p:cNvSpPr/>
          <p:nvPr/>
        </p:nvSpPr>
        <p:spPr>
          <a:xfrm>
            <a:off x="0" y="0"/>
            <a:ext cx="12191695" cy="1005840"/>
          </a:xfrm>
          <a:prstGeom prst="rect">
            <a:avLst/>
          </a:prstGeom>
          <a:solidFill>
            <a:srgbClr val="0B1F3A"/>
          </a:solidFill>
          <a:ln w="12700">
            <a:solidFill>
              <a:srgbClr val="0B1F3A"/>
            </a:solidFill>
            <a:prstDash val="solid"/>
          </a:ln>
        </p:spPr>
        <p:txBody>
          <a:bodyPr/>
          <a:lstStyle/>
          <a:p>
            <a:endParaRPr/>
          </a:p>
        </p:txBody>
      </p:sp>
      <p:sp>
        <p:nvSpPr>
          <p:cNvPr id="4" name="Text 2"/>
          <p:cNvSpPr/>
          <p:nvPr/>
        </p:nvSpPr>
        <p:spPr>
          <a:xfrm>
            <a:off x="621792" y="320040"/>
            <a:ext cx="1828800" cy="256032"/>
          </a:xfrm>
          <a:prstGeom prst="rect">
            <a:avLst/>
          </a:prstGeom>
          <a:noFill/>
          <a:ln/>
        </p:spPr>
        <p:txBody>
          <a:bodyPr wrap="square" lIns="0" tIns="0" rIns="0" bIns="0" rtlCol="0" anchor="ctr"/>
          <a:lstStyle/>
          <a:p>
            <a:pPr marL="0" indent="0">
              <a:buNone/>
            </a:pPr>
            <a:r>
              <a:rPr lang="en-US" sz="2200" b="1" dirty="0">
                <a:solidFill>
                  <a:srgbClr val="FFFFFF"/>
                </a:solidFill>
              </a:rPr>
              <a:t>G TQM 511</a:t>
            </a:r>
            <a:endParaRPr lang="en-US" sz="1600" dirty="0"/>
          </a:p>
        </p:txBody>
      </p:sp>
      <p:sp>
        <p:nvSpPr>
          <p:cNvPr id="5" name="Shape 3"/>
          <p:cNvSpPr/>
          <p:nvPr/>
        </p:nvSpPr>
        <p:spPr>
          <a:xfrm>
            <a:off x="8046720" y="320040"/>
            <a:ext cx="3474720" cy="329184"/>
          </a:xfrm>
          <a:prstGeom prst="roundRect">
            <a:avLst>
              <a:gd name="adj" fmla="val 19444"/>
            </a:avLst>
          </a:prstGeom>
          <a:solidFill>
            <a:srgbClr val="24496B"/>
          </a:solidFill>
          <a:ln w="12700">
            <a:solidFill>
              <a:srgbClr val="24496B">
                <a:alpha val="0"/>
              </a:srgbClr>
            </a:solidFill>
            <a:prstDash val="solid"/>
          </a:ln>
        </p:spPr>
        <p:txBody>
          <a:bodyPr/>
          <a:lstStyle/>
          <a:p>
            <a:endParaRPr/>
          </a:p>
        </p:txBody>
      </p:sp>
      <p:sp>
        <p:nvSpPr>
          <p:cNvPr id="6" name="Text 4"/>
          <p:cNvSpPr/>
          <p:nvPr/>
        </p:nvSpPr>
        <p:spPr>
          <a:xfrm>
            <a:off x="8156448" y="384048"/>
            <a:ext cx="3255264" cy="146304"/>
          </a:xfrm>
          <a:prstGeom prst="rect">
            <a:avLst/>
          </a:prstGeom>
          <a:noFill/>
          <a:ln/>
        </p:spPr>
        <p:txBody>
          <a:bodyPr wrap="square" lIns="0" tIns="0" rIns="0" bIns="0" rtlCol="0" anchor="ctr"/>
          <a:lstStyle/>
          <a:p>
            <a:pPr marL="0" indent="0" algn="ctr">
              <a:buNone/>
            </a:pPr>
            <a:r>
              <a:rPr lang="en-US" sz="1050" b="1" dirty="0">
                <a:solidFill>
                  <a:srgbClr val="FFFFFF"/>
                </a:solidFill>
              </a:rPr>
              <a:t>Postgraduate Diploma in Total Quality Management</a:t>
            </a:r>
            <a:endParaRPr lang="en-US" sz="600" dirty="0"/>
          </a:p>
        </p:txBody>
      </p:sp>
      <p:sp>
        <p:nvSpPr>
          <p:cNvPr id="7" name="Text 5"/>
          <p:cNvSpPr/>
          <p:nvPr/>
        </p:nvSpPr>
        <p:spPr>
          <a:xfrm>
            <a:off x="658368" y="1417320"/>
            <a:ext cx="1828800" cy="411480"/>
          </a:xfrm>
          <a:prstGeom prst="rect">
            <a:avLst/>
          </a:prstGeom>
          <a:noFill/>
          <a:ln/>
        </p:spPr>
        <p:txBody>
          <a:bodyPr wrap="square" lIns="0" tIns="0" rIns="0" bIns="0" rtlCol="0" anchor="ctr"/>
          <a:lstStyle/>
          <a:p>
            <a:pPr marL="0" indent="0">
              <a:buNone/>
            </a:pPr>
            <a:r>
              <a:rPr lang="en-US" sz="2200" b="1" dirty="0">
                <a:solidFill>
                  <a:srgbClr val="00A6A6"/>
                </a:solidFill>
              </a:rPr>
              <a:t>Week 2</a:t>
            </a:r>
            <a:endParaRPr lang="en-US" sz="2200" dirty="0"/>
          </a:p>
        </p:txBody>
      </p:sp>
      <p:sp>
        <p:nvSpPr>
          <p:cNvPr id="8" name="Text 6"/>
          <p:cNvSpPr/>
          <p:nvPr/>
        </p:nvSpPr>
        <p:spPr>
          <a:xfrm>
            <a:off x="658368" y="1874520"/>
            <a:ext cx="7132320" cy="594360"/>
          </a:xfrm>
          <a:prstGeom prst="rect">
            <a:avLst/>
          </a:prstGeom>
          <a:noFill/>
          <a:ln/>
        </p:spPr>
        <p:txBody>
          <a:bodyPr wrap="square" lIns="0" tIns="0" rIns="0" bIns="0" rtlCol="0" anchor="ctr"/>
          <a:lstStyle/>
          <a:p>
            <a:pPr marL="0" indent="0">
              <a:buNone/>
            </a:pPr>
            <a:r>
              <a:rPr lang="en-US" sz="4200" b="1" dirty="0">
                <a:solidFill>
                  <a:srgbClr val="0B1F3A"/>
                </a:solidFill>
              </a:rPr>
              <a:t>Diversity in Organizations</a:t>
            </a:r>
            <a:endParaRPr lang="en-US" sz="3800" dirty="0"/>
          </a:p>
        </p:txBody>
      </p:sp>
      <p:sp>
        <p:nvSpPr>
          <p:cNvPr id="9" name="Text 7"/>
          <p:cNvSpPr/>
          <p:nvPr/>
        </p:nvSpPr>
        <p:spPr>
          <a:xfrm>
            <a:off x="685800" y="2615184"/>
            <a:ext cx="7680960" cy="320040"/>
          </a:xfrm>
          <a:prstGeom prst="rect">
            <a:avLst/>
          </a:prstGeom>
          <a:noFill/>
          <a:ln/>
        </p:spPr>
        <p:txBody>
          <a:bodyPr wrap="square" lIns="0" tIns="0" rIns="0" bIns="0" rtlCol="0" anchor="ctr"/>
          <a:lstStyle/>
          <a:p>
            <a:pPr marL="0" indent="0">
              <a:buNone/>
            </a:pPr>
            <a:r>
              <a:rPr lang="en-US" sz="2200" dirty="0">
                <a:solidFill>
                  <a:srgbClr val="415A77"/>
                </a:solidFill>
              </a:rPr>
              <a:t>Diversity, inclusion and quality decisions</a:t>
            </a:r>
            <a:endParaRPr lang="en-US" sz="1600" dirty="0"/>
          </a:p>
        </p:txBody>
      </p:sp>
      <p:sp>
        <p:nvSpPr>
          <p:cNvPr id="10" name="Shape 8"/>
          <p:cNvSpPr/>
          <p:nvPr/>
        </p:nvSpPr>
        <p:spPr>
          <a:xfrm>
            <a:off x="713232" y="3310128"/>
            <a:ext cx="6400800" cy="1051560"/>
          </a:xfrm>
          <a:prstGeom prst="roundRect">
            <a:avLst>
              <a:gd name="adj" fmla="val 6957"/>
            </a:avLst>
          </a:prstGeom>
          <a:solidFill>
            <a:srgbClr val="E6F6F6"/>
          </a:solidFill>
          <a:ln w="12700">
            <a:solidFill>
              <a:srgbClr val="E6F6F6">
                <a:alpha val="0"/>
              </a:srgbClr>
            </a:solidFill>
            <a:prstDash val="solid"/>
          </a:ln>
        </p:spPr>
        <p:txBody>
          <a:bodyPr/>
          <a:lstStyle/>
          <a:p>
            <a:endParaRPr/>
          </a:p>
        </p:txBody>
      </p:sp>
      <p:sp>
        <p:nvSpPr>
          <p:cNvPr id="11" name="Text 9"/>
          <p:cNvSpPr/>
          <p:nvPr/>
        </p:nvSpPr>
        <p:spPr>
          <a:xfrm>
            <a:off x="941832" y="3474720"/>
            <a:ext cx="5943600" cy="777240"/>
          </a:xfrm>
          <a:prstGeom prst="rect">
            <a:avLst/>
          </a:prstGeom>
          <a:noFill/>
          <a:ln/>
        </p:spPr>
        <p:txBody>
          <a:bodyPr wrap="square" lIns="254" tIns="254" rIns="254" bIns="254" rtlCol="0" anchor="ctr">
            <a:normAutofit fontScale="77500" lnSpcReduction="20000"/>
          </a:bodyPr>
          <a:lstStyle/>
          <a:p>
            <a:pPr marL="0" indent="0">
              <a:buNone/>
            </a:pPr>
            <a:r>
              <a:rPr lang="en-US" sz="2000" b="1" dirty="0">
                <a:solidFill>
                  <a:srgbClr val="0B1F3A"/>
                </a:solidFill>
              </a:rPr>
              <a:t>People differ in visible traits, deeper values and work preferences. Quality systems must convert those differences into better learning, decision-making and service.</a:t>
            </a:r>
            <a:endParaRPr lang="en-US" sz="1400" dirty="0"/>
          </a:p>
        </p:txBody>
      </p:sp>
      <p:sp>
        <p:nvSpPr>
          <p:cNvPr id="12" name="Text 10"/>
          <p:cNvSpPr/>
          <p:nvPr/>
        </p:nvSpPr>
        <p:spPr>
          <a:xfrm>
            <a:off x="713232" y="4892040"/>
            <a:ext cx="7132320" cy="228600"/>
          </a:xfrm>
          <a:prstGeom prst="rect">
            <a:avLst/>
          </a:prstGeom>
          <a:noFill/>
          <a:ln/>
        </p:spPr>
        <p:txBody>
          <a:bodyPr wrap="square" lIns="0" tIns="0" rIns="0" bIns="0" rtlCol="0" anchor="ctr"/>
          <a:lstStyle/>
          <a:p>
            <a:pPr marL="0" indent="0">
              <a:buNone/>
            </a:pPr>
            <a:r>
              <a:rPr lang="en-US" sz="1650" dirty="0">
                <a:solidFill>
                  <a:srgbClr val="6B7280"/>
                </a:solidFill>
              </a:rPr>
              <a:t>Based on Robbins &amp; Judge, Organizational Behavior, 18th ed., Chapter 2</a:t>
            </a:r>
            <a:endParaRPr lang="en-US" sz="1050" dirty="0"/>
          </a:p>
        </p:txBody>
      </p:sp>
      <p:sp>
        <p:nvSpPr>
          <p:cNvPr id="13" name="Text 11"/>
          <p:cNvSpPr/>
          <p:nvPr/>
        </p:nvSpPr>
        <p:spPr>
          <a:xfrm>
            <a:off x="713232" y="5193792"/>
            <a:ext cx="5120640" cy="228600"/>
          </a:xfrm>
          <a:prstGeom prst="rect">
            <a:avLst/>
          </a:prstGeom>
          <a:noFill/>
          <a:ln/>
        </p:spPr>
        <p:txBody>
          <a:bodyPr wrap="square" lIns="0" tIns="0" rIns="0" bIns="0" rtlCol="0" anchor="ctr"/>
          <a:lstStyle/>
          <a:p>
            <a:pPr marL="0" indent="0">
              <a:buNone/>
            </a:pPr>
            <a:r>
              <a:rPr lang="en-US" sz="1650" dirty="0">
                <a:solidFill>
                  <a:srgbClr val="6B7280"/>
                </a:solidFill>
              </a:rPr>
              <a:t>Designed for active, case-based postgraduate learning</a:t>
            </a:r>
            <a:endParaRPr lang="en-US" sz="1050" dirty="0"/>
          </a:p>
        </p:txBody>
      </p:sp>
      <p:sp>
        <p:nvSpPr>
          <p:cNvPr id="14" name="Shape 12"/>
          <p:cNvSpPr/>
          <p:nvPr/>
        </p:nvSpPr>
        <p:spPr>
          <a:xfrm>
            <a:off x="8915400" y="2697480"/>
            <a:ext cx="1005840" cy="1005840"/>
          </a:xfrm>
          <a:prstGeom prst="ellipse">
            <a:avLst/>
          </a:prstGeom>
          <a:solidFill>
            <a:srgbClr val="EAF1FB"/>
          </a:solidFill>
          <a:ln w="12700">
            <a:solidFill>
              <a:srgbClr val="EAF1FB">
                <a:alpha val="0"/>
              </a:srgbClr>
            </a:solidFill>
            <a:prstDash val="solid"/>
          </a:ln>
        </p:spPr>
        <p:txBody>
          <a:bodyPr/>
          <a:lstStyle/>
          <a:p>
            <a:endParaRPr/>
          </a:p>
        </p:txBody>
      </p:sp>
      <p:sp>
        <p:nvSpPr>
          <p:cNvPr id="15" name="Shape 13"/>
          <p:cNvSpPr/>
          <p:nvPr/>
        </p:nvSpPr>
        <p:spPr>
          <a:xfrm>
            <a:off x="10012680" y="3611880"/>
            <a:ext cx="1005840" cy="1005840"/>
          </a:xfrm>
          <a:prstGeom prst="ellipse">
            <a:avLst/>
          </a:prstGeom>
          <a:solidFill>
            <a:srgbClr val="E6F6F6"/>
          </a:solidFill>
          <a:ln w="12700">
            <a:solidFill>
              <a:srgbClr val="E6F6F6">
                <a:alpha val="0"/>
              </a:srgbClr>
            </a:solidFill>
            <a:prstDash val="solid"/>
          </a:ln>
        </p:spPr>
        <p:txBody>
          <a:bodyPr/>
          <a:lstStyle/>
          <a:p>
            <a:endParaRPr/>
          </a:p>
        </p:txBody>
      </p:sp>
      <p:sp>
        <p:nvSpPr>
          <p:cNvPr id="16" name="Text 14"/>
          <p:cNvSpPr/>
          <p:nvPr/>
        </p:nvSpPr>
        <p:spPr>
          <a:xfrm>
            <a:off x="8915400" y="3035808"/>
            <a:ext cx="1005840" cy="164592"/>
          </a:xfrm>
          <a:prstGeom prst="rect">
            <a:avLst/>
          </a:prstGeom>
          <a:noFill/>
          <a:ln/>
        </p:spPr>
        <p:txBody>
          <a:bodyPr wrap="square" lIns="0" tIns="0" rIns="0" bIns="0" rtlCol="0" anchor="ctr"/>
          <a:lstStyle/>
          <a:p>
            <a:pPr marL="0" indent="0" algn="ctr">
              <a:buNone/>
            </a:pPr>
            <a:r>
              <a:rPr lang="en-US" sz="1650" b="1" dirty="0">
                <a:solidFill>
                  <a:srgbClr val="0B1F3A"/>
                </a:solidFill>
              </a:rPr>
              <a:t>surface</a:t>
            </a:r>
            <a:endParaRPr lang="en-US" sz="1000" dirty="0"/>
          </a:p>
        </p:txBody>
      </p:sp>
      <p:sp>
        <p:nvSpPr>
          <p:cNvPr id="17" name="Text 15"/>
          <p:cNvSpPr/>
          <p:nvPr/>
        </p:nvSpPr>
        <p:spPr>
          <a:xfrm>
            <a:off x="10012680" y="3950208"/>
            <a:ext cx="1005840" cy="164592"/>
          </a:xfrm>
          <a:prstGeom prst="rect">
            <a:avLst/>
          </a:prstGeom>
          <a:noFill/>
          <a:ln/>
        </p:spPr>
        <p:txBody>
          <a:bodyPr wrap="square" lIns="0" tIns="0" rIns="0" bIns="0" rtlCol="0" anchor="ctr"/>
          <a:lstStyle/>
          <a:p>
            <a:pPr marL="0" indent="0" algn="ctr">
              <a:buNone/>
            </a:pPr>
            <a:r>
              <a:rPr lang="en-US" sz="1650" b="1" dirty="0">
                <a:solidFill>
                  <a:srgbClr val="00A6A6"/>
                </a:solidFill>
              </a:rPr>
              <a:t>deep</a:t>
            </a:r>
            <a:endParaRPr lang="en-US" sz="1000" dirty="0"/>
          </a:p>
        </p:txBody>
      </p:sp>
      <p:sp>
        <p:nvSpPr>
          <p:cNvPr id="18" name="Text 16"/>
          <p:cNvSpPr/>
          <p:nvPr/>
        </p:nvSpPr>
        <p:spPr>
          <a:xfrm>
            <a:off x="713232" y="5833872"/>
            <a:ext cx="4572000" cy="228600"/>
          </a:xfrm>
          <a:prstGeom prst="rect">
            <a:avLst/>
          </a:prstGeom>
          <a:noFill/>
          <a:ln/>
        </p:spPr>
        <p:txBody>
          <a:bodyPr wrap="square" lIns="0" tIns="0" rIns="0" bIns="0" rtlCol="0" anchor="ctr"/>
          <a:lstStyle/>
          <a:p>
            <a:pPr marL="0" indent="0">
              <a:buNone/>
            </a:pPr>
            <a:r>
              <a:rPr lang="en-US" sz="1650" b="1" dirty="0">
                <a:solidFill>
                  <a:srgbClr val="0B1F3A"/>
                </a:solidFill>
              </a:rPr>
              <a:t>Dr. Abdelmutalab Adam</a:t>
            </a:r>
            <a:endParaRPr lang="en-US" sz="1100" dirty="0"/>
          </a:p>
        </p:txBody>
      </p:sp>
      <p:sp>
        <p:nvSpPr>
          <p:cNvPr id="19" name="Text 17"/>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20" name="Text 18"/>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
        <p:nvSpPr>
          <p:cNvPr id="21" name="Text 19"/>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1</a:t>
            </a:r>
            <a:endParaRPr lang="en-US" sz="850" dirty="0"/>
          </a:p>
        </p:txBody>
      </p:sp>
      <p:pic>
        <p:nvPicPr>
          <p:cNvPr id="23" name="Picture 22" descr="upi3297_0">
            <a:extLst>
              <a:ext uri="{FF2B5EF4-FFF2-40B4-BE49-F238E27FC236}">
                <a16:creationId xmlns:a16="http://schemas.microsoft.com/office/drawing/2014/main" id="{9553D408-C6BD-4367-3DCB-4014FF7500CD}"/>
              </a:ext>
            </a:extLst>
          </p:cNvPr>
          <p:cNvPicPr/>
          <p:nvPr/>
        </p:nvPicPr>
        <p:blipFill>
          <a:blip r:embed="rId3" cstate="print"/>
          <a:srcRect l="10001" r="10001"/>
          <a:stretch>
            <a:fillRect/>
          </a:stretch>
        </p:blipFill>
        <p:spPr bwMode="auto">
          <a:xfrm>
            <a:off x="11366330" y="130302"/>
            <a:ext cx="773662" cy="8001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Learning Outcomes</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By the end of this session, participants will be able to:</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2</a:t>
            </a:r>
            <a:endParaRPr lang="en-US" sz="850" dirty="0"/>
          </a:p>
        </p:txBody>
      </p:sp>
      <p:sp>
        <p:nvSpPr>
          <p:cNvPr id="8" name="Shape 6"/>
          <p:cNvSpPr/>
          <p:nvPr/>
        </p:nvSpPr>
        <p:spPr>
          <a:xfrm>
            <a:off x="685800" y="1417320"/>
            <a:ext cx="3246120" cy="1051560"/>
          </a:xfrm>
          <a:prstGeom prst="roundRect">
            <a:avLst>
              <a:gd name="adj" fmla="val 7826"/>
            </a:avLst>
          </a:prstGeom>
          <a:solidFill>
            <a:srgbClr val="EAF1FB"/>
          </a:solidFill>
          <a:ln w="10160">
            <a:solidFill>
              <a:srgbClr val="DDE5EF"/>
            </a:solidFill>
            <a:prstDash val="solid"/>
          </a:ln>
        </p:spPr>
        <p:txBody>
          <a:bodyPr/>
          <a:lstStyle/>
          <a:p>
            <a:endParaRPr/>
          </a:p>
        </p:txBody>
      </p:sp>
      <p:sp>
        <p:nvSpPr>
          <p:cNvPr id="9" name="Shape 7"/>
          <p:cNvSpPr/>
          <p:nvPr/>
        </p:nvSpPr>
        <p:spPr>
          <a:xfrm>
            <a:off x="685800" y="1417320"/>
            <a:ext cx="82296" cy="1051560"/>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905256" y="1581912"/>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Explain</a:t>
            </a:r>
            <a:endParaRPr lang="en-US" sz="1400" dirty="0"/>
          </a:p>
        </p:txBody>
      </p:sp>
      <p:sp>
        <p:nvSpPr>
          <p:cNvPr id="11" name="Text 9"/>
          <p:cNvSpPr/>
          <p:nvPr/>
        </p:nvSpPr>
        <p:spPr>
          <a:xfrm>
            <a:off x="905256" y="1984248"/>
            <a:ext cx="2916936" cy="365760"/>
          </a:xfrm>
          <a:prstGeom prst="rect">
            <a:avLst/>
          </a:prstGeom>
          <a:noFill/>
          <a:ln/>
        </p:spPr>
        <p:txBody>
          <a:bodyPr wrap="square" lIns="254" tIns="254" rIns="254" bIns="254" rtlCol="0" anchor="ctr">
            <a:normAutofit fontScale="85000" lnSpcReduction="20000"/>
          </a:bodyPr>
          <a:lstStyle/>
          <a:p>
            <a:pPr marL="0" indent="0">
              <a:buNone/>
            </a:pPr>
            <a:r>
              <a:rPr lang="en-US" sz="1650" dirty="0">
                <a:solidFill>
                  <a:srgbClr val="1F2937"/>
                </a:solidFill>
              </a:rPr>
              <a:t>Distinguish surface-level and deep-level diversity.</a:t>
            </a:r>
            <a:endParaRPr lang="en-US" sz="1050" dirty="0"/>
          </a:p>
        </p:txBody>
      </p:sp>
      <p:sp>
        <p:nvSpPr>
          <p:cNvPr id="12" name="Shape 10"/>
          <p:cNvSpPr/>
          <p:nvPr/>
        </p:nvSpPr>
        <p:spPr>
          <a:xfrm>
            <a:off x="4389120" y="1417320"/>
            <a:ext cx="3246120" cy="1051560"/>
          </a:xfrm>
          <a:prstGeom prst="roundRect">
            <a:avLst>
              <a:gd name="adj" fmla="val 7826"/>
            </a:avLst>
          </a:prstGeom>
          <a:solidFill>
            <a:srgbClr val="E6F6F6"/>
          </a:solidFill>
          <a:ln w="10160">
            <a:solidFill>
              <a:srgbClr val="DDE5EF"/>
            </a:solidFill>
            <a:prstDash val="solid"/>
          </a:ln>
        </p:spPr>
        <p:txBody>
          <a:bodyPr/>
          <a:lstStyle/>
          <a:p>
            <a:endParaRPr/>
          </a:p>
        </p:txBody>
      </p:sp>
      <p:sp>
        <p:nvSpPr>
          <p:cNvPr id="13" name="Shape 11"/>
          <p:cNvSpPr/>
          <p:nvPr/>
        </p:nvSpPr>
        <p:spPr>
          <a:xfrm>
            <a:off x="4389120" y="1417320"/>
            <a:ext cx="82296" cy="105156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4608576" y="1581912"/>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Analyze</a:t>
            </a:r>
            <a:endParaRPr lang="en-US" sz="1400" dirty="0"/>
          </a:p>
        </p:txBody>
      </p:sp>
      <p:sp>
        <p:nvSpPr>
          <p:cNvPr id="15" name="Text 13"/>
          <p:cNvSpPr/>
          <p:nvPr/>
        </p:nvSpPr>
        <p:spPr>
          <a:xfrm>
            <a:off x="4608576" y="1984248"/>
            <a:ext cx="2916936" cy="365760"/>
          </a:xfrm>
          <a:prstGeom prst="rect">
            <a:avLst/>
          </a:prstGeom>
          <a:noFill/>
          <a:ln/>
        </p:spPr>
        <p:txBody>
          <a:bodyPr wrap="square" lIns="254" tIns="254" rIns="254" bIns="254" rtlCol="0" anchor="ctr">
            <a:normAutofit fontScale="70000" lnSpcReduction="20000"/>
          </a:bodyPr>
          <a:lstStyle/>
          <a:p>
            <a:pPr marL="0" indent="0">
              <a:buNone/>
            </a:pPr>
            <a:r>
              <a:rPr lang="en-US" sz="1650" dirty="0">
                <a:solidFill>
                  <a:srgbClr val="1F2937"/>
                </a:solidFill>
              </a:rPr>
              <a:t>Explain how discrimination and stereotype threat reduce organizational effectiveness.</a:t>
            </a:r>
            <a:endParaRPr lang="en-US" sz="1050" dirty="0"/>
          </a:p>
        </p:txBody>
      </p:sp>
      <p:sp>
        <p:nvSpPr>
          <p:cNvPr id="16" name="Shape 14"/>
          <p:cNvSpPr/>
          <p:nvPr/>
        </p:nvSpPr>
        <p:spPr>
          <a:xfrm>
            <a:off x="8092440" y="1417320"/>
            <a:ext cx="3246120" cy="1051560"/>
          </a:xfrm>
          <a:prstGeom prst="roundRect">
            <a:avLst>
              <a:gd name="adj" fmla="val 7826"/>
            </a:avLst>
          </a:prstGeom>
          <a:solidFill>
            <a:srgbClr val="EAF6ED"/>
          </a:solidFill>
          <a:ln w="10160">
            <a:solidFill>
              <a:srgbClr val="DDE5EF"/>
            </a:solidFill>
            <a:prstDash val="solid"/>
          </a:ln>
        </p:spPr>
        <p:txBody>
          <a:bodyPr/>
          <a:lstStyle/>
          <a:p>
            <a:endParaRPr/>
          </a:p>
        </p:txBody>
      </p:sp>
      <p:sp>
        <p:nvSpPr>
          <p:cNvPr id="17" name="Shape 15"/>
          <p:cNvSpPr/>
          <p:nvPr/>
        </p:nvSpPr>
        <p:spPr>
          <a:xfrm>
            <a:off x="8092440" y="1417320"/>
            <a:ext cx="82296" cy="1051560"/>
          </a:xfrm>
          <a:prstGeom prst="rect">
            <a:avLst/>
          </a:prstGeom>
          <a:solidFill>
            <a:srgbClr val="2E7D32"/>
          </a:solidFill>
          <a:ln w="12700">
            <a:solidFill>
              <a:srgbClr val="2E7D32">
                <a:alpha val="0"/>
              </a:srgbClr>
            </a:solidFill>
            <a:prstDash val="solid"/>
          </a:ln>
        </p:spPr>
        <p:txBody>
          <a:bodyPr/>
          <a:lstStyle/>
          <a:p>
            <a:endParaRPr/>
          </a:p>
        </p:txBody>
      </p:sp>
      <p:sp>
        <p:nvSpPr>
          <p:cNvPr id="18" name="Text 16"/>
          <p:cNvSpPr/>
          <p:nvPr/>
        </p:nvSpPr>
        <p:spPr>
          <a:xfrm>
            <a:off x="8311896" y="1581912"/>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Assess</a:t>
            </a:r>
            <a:endParaRPr lang="en-US" sz="1400" dirty="0"/>
          </a:p>
        </p:txBody>
      </p:sp>
      <p:sp>
        <p:nvSpPr>
          <p:cNvPr id="19" name="Text 17"/>
          <p:cNvSpPr/>
          <p:nvPr/>
        </p:nvSpPr>
        <p:spPr>
          <a:xfrm>
            <a:off x="8311896" y="1984248"/>
            <a:ext cx="2916936" cy="365760"/>
          </a:xfrm>
          <a:prstGeom prst="rect">
            <a:avLst/>
          </a:prstGeom>
          <a:noFill/>
          <a:ln/>
        </p:spPr>
        <p:txBody>
          <a:bodyPr wrap="square" lIns="254" tIns="254" rIns="254" bIns="254" rtlCol="0" anchor="ctr">
            <a:normAutofit fontScale="70000" lnSpcReduction="20000"/>
          </a:bodyPr>
          <a:lstStyle/>
          <a:p>
            <a:pPr marL="0" indent="0">
              <a:buNone/>
            </a:pPr>
            <a:r>
              <a:rPr lang="en-US" sz="1650" dirty="0">
                <a:solidFill>
                  <a:srgbClr val="1F2937"/>
                </a:solidFill>
              </a:rPr>
              <a:t>Evaluate how biographical characteristics and abilities influence work decisions.</a:t>
            </a:r>
            <a:endParaRPr lang="en-US" sz="1050" dirty="0"/>
          </a:p>
        </p:txBody>
      </p:sp>
      <p:sp>
        <p:nvSpPr>
          <p:cNvPr id="20" name="Shape 18"/>
          <p:cNvSpPr/>
          <p:nvPr/>
        </p:nvSpPr>
        <p:spPr>
          <a:xfrm>
            <a:off x="685800" y="3017520"/>
            <a:ext cx="3246120" cy="1051560"/>
          </a:xfrm>
          <a:prstGeom prst="roundRect">
            <a:avLst>
              <a:gd name="adj" fmla="val 7826"/>
            </a:avLst>
          </a:prstGeom>
          <a:solidFill>
            <a:srgbClr val="FFF7E0"/>
          </a:solidFill>
          <a:ln w="10160">
            <a:solidFill>
              <a:srgbClr val="DDE5EF"/>
            </a:solidFill>
            <a:prstDash val="solid"/>
          </a:ln>
        </p:spPr>
        <p:txBody>
          <a:bodyPr/>
          <a:lstStyle/>
          <a:p>
            <a:endParaRPr/>
          </a:p>
        </p:txBody>
      </p:sp>
      <p:sp>
        <p:nvSpPr>
          <p:cNvPr id="21" name="Shape 19"/>
          <p:cNvSpPr/>
          <p:nvPr/>
        </p:nvSpPr>
        <p:spPr>
          <a:xfrm>
            <a:off x="685800" y="3017520"/>
            <a:ext cx="82296" cy="1051560"/>
          </a:xfrm>
          <a:prstGeom prst="rect">
            <a:avLst/>
          </a:prstGeom>
          <a:solidFill>
            <a:srgbClr val="F4B400"/>
          </a:solidFill>
          <a:ln w="12700">
            <a:solidFill>
              <a:srgbClr val="F4B400">
                <a:alpha val="0"/>
              </a:srgbClr>
            </a:solidFill>
            <a:prstDash val="solid"/>
          </a:ln>
        </p:spPr>
        <p:txBody>
          <a:bodyPr/>
          <a:lstStyle/>
          <a:p>
            <a:endParaRPr/>
          </a:p>
        </p:txBody>
      </p:sp>
      <p:sp>
        <p:nvSpPr>
          <p:cNvPr id="22" name="Text 20"/>
          <p:cNvSpPr/>
          <p:nvPr/>
        </p:nvSpPr>
        <p:spPr>
          <a:xfrm>
            <a:off x="905256" y="3182112"/>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Apply</a:t>
            </a:r>
            <a:endParaRPr lang="en-US" sz="1400" dirty="0"/>
          </a:p>
        </p:txBody>
      </p:sp>
      <p:sp>
        <p:nvSpPr>
          <p:cNvPr id="23" name="Text 21"/>
          <p:cNvSpPr/>
          <p:nvPr/>
        </p:nvSpPr>
        <p:spPr>
          <a:xfrm>
            <a:off x="905256" y="3584448"/>
            <a:ext cx="2916936" cy="365760"/>
          </a:xfrm>
          <a:prstGeom prst="rect">
            <a:avLst/>
          </a:prstGeom>
          <a:noFill/>
          <a:ln/>
        </p:spPr>
        <p:txBody>
          <a:bodyPr wrap="square" lIns="254" tIns="254" rIns="254" bIns="254" rtlCol="0" anchor="ctr">
            <a:normAutofit fontScale="85000" lnSpcReduction="20000"/>
          </a:bodyPr>
          <a:lstStyle/>
          <a:p>
            <a:pPr marL="0" indent="0">
              <a:buNone/>
            </a:pPr>
            <a:r>
              <a:rPr lang="en-US" sz="1650" dirty="0">
                <a:solidFill>
                  <a:srgbClr val="1F2937"/>
                </a:solidFill>
              </a:rPr>
              <a:t>Use diversity concepts to diagnose a quality-related team problem.</a:t>
            </a:r>
            <a:endParaRPr lang="en-US" sz="1050" dirty="0"/>
          </a:p>
        </p:txBody>
      </p:sp>
      <p:sp>
        <p:nvSpPr>
          <p:cNvPr id="24" name="Shape 22"/>
          <p:cNvSpPr/>
          <p:nvPr/>
        </p:nvSpPr>
        <p:spPr>
          <a:xfrm>
            <a:off x="4389120" y="3017520"/>
            <a:ext cx="3246120" cy="1051560"/>
          </a:xfrm>
          <a:prstGeom prst="roundRect">
            <a:avLst>
              <a:gd name="adj" fmla="val 7826"/>
            </a:avLst>
          </a:prstGeom>
          <a:solidFill>
            <a:srgbClr val="FFFFFF"/>
          </a:solidFill>
          <a:ln w="10160">
            <a:solidFill>
              <a:srgbClr val="DDE5EF"/>
            </a:solidFill>
            <a:prstDash val="solid"/>
          </a:ln>
        </p:spPr>
        <p:txBody>
          <a:bodyPr/>
          <a:lstStyle/>
          <a:p>
            <a:endParaRPr/>
          </a:p>
        </p:txBody>
      </p:sp>
      <p:sp>
        <p:nvSpPr>
          <p:cNvPr id="25" name="Shape 23"/>
          <p:cNvSpPr/>
          <p:nvPr/>
        </p:nvSpPr>
        <p:spPr>
          <a:xfrm>
            <a:off x="4389120" y="3017520"/>
            <a:ext cx="82296" cy="1051560"/>
          </a:xfrm>
          <a:prstGeom prst="rect">
            <a:avLst/>
          </a:prstGeom>
          <a:solidFill>
            <a:srgbClr val="415A77"/>
          </a:solidFill>
          <a:ln w="12700">
            <a:solidFill>
              <a:srgbClr val="415A77">
                <a:alpha val="0"/>
              </a:srgbClr>
            </a:solidFill>
            <a:prstDash val="solid"/>
          </a:ln>
        </p:spPr>
        <p:txBody>
          <a:bodyPr/>
          <a:lstStyle/>
          <a:p>
            <a:endParaRPr/>
          </a:p>
        </p:txBody>
      </p:sp>
      <p:sp>
        <p:nvSpPr>
          <p:cNvPr id="26" name="Text 24"/>
          <p:cNvSpPr/>
          <p:nvPr/>
        </p:nvSpPr>
        <p:spPr>
          <a:xfrm>
            <a:off x="4608576" y="3182112"/>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Design</a:t>
            </a:r>
            <a:endParaRPr lang="en-US" sz="1400" dirty="0"/>
          </a:p>
        </p:txBody>
      </p:sp>
      <p:sp>
        <p:nvSpPr>
          <p:cNvPr id="27" name="Text 25"/>
          <p:cNvSpPr/>
          <p:nvPr/>
        </p:nvSpPr>
        <p:spPr>
          <a:xfrm>
            <a:off x="4608576" y="3584448"/>
            <a:ext cx="2916936" cy="365760"/>
          </a:xfrm>
          <a:prstGeom prst="rect">
            <a:avLst/>
          </a:prstGeom>
          <a:noFill/>
          <a:ln/>
        </p:spPr>
        <p:txBody>
          <a:bodyPr wrap="square" lIns="254" tIns="254" rIns="254" bIns="254" rtlCol="0" anchor="ctr">
            <a:noAutofit/>
          </a:bodyPr>
          <a:lstStyle/>
          <a:p>
            <a:pPr marL="0" indent="0">
              <a:buNone/>
            </a:pPr>
            <a:r>
              <a:rPr lang="en-US" sz="1400" dirty="0">
                <a:solidFill>
                  <a:srgbClr val="1F2937"/>
                </a:solidFill>
              </a:rPr>
              <a:t>Recommend practical diversity-management actions that support quality, fairness and inclusion.</a:t>
            </a:r>
            <a:endParaRPr lang="en-US" sz="900" dirty="0"/>
          </a:p>
        </p:txBody>
      </p:sp>
      <p:sp>
        <p:nvSpPr>
          <p:cNvPr id="28" name="Shape 26"/>
          <p:cNvSpPr/>
          <p:nvPr/>
        </p:nvSpPr>
        <p:spPr>
          <a:xfrm>
            <a:off x="1097280" y="4983480"/>
            <a:ext cx="9966960" cy="658368"/>
          </a:xfrm>
          <a:prstGeom prst="roundRect">
            <a:avLst>
              <a:gd name="adj" fmla="val 11111"/>
            </a:avLst>
          </a:prstGeom>
          <a:solidFill>
            <a:srgbClr val="F6F8FB"/>
          </a:solidFill>
          <a:ln w="12700">
            <a:solidFill>
              <a:srgbClr val="F6F8FB">
                <a:alpha val="0"/>
              </a:srgbClr>
            </a:solidFill>
            <a:prstDash val="solid"/>
          </a:ln>
        </p:spPr>
        <p:txBody>
          <a:bodyPr/>
          <a:lstStyle/>
          <a:p>
            <a:endParaRPr/>
          </a:p>
        </p:txBody>
      </p:sp>
      <p:sp>
        <p:nvSpPr>
          <p:cNvPr id="29" name="Text 27"/>
          <p:cNvSpPr/>
          <p:nvPr/>
        </p:nvSpPr>
        <p:spPr>
          <a:xfrm>
            <a:off x="1325880" y="5148072"/>
            <a:ext cx="9509760" cy="384048"/>
          </a:xfrm>
          <a:prstGeom prst="rect">
            <a:avLst/>
          </a:prstGeom>
          <a:noFill/>
          <a:ln/>
        </p:spPr>
        <p:txBody>
          <a:bodyPr wrap="square" lIns="254" tIns="254" rIns="254" bIns="254" rtlCol="0" anchor="ctr">
            <a:normAutofit fontScale="70000" lnSpcReduction="20000"/>
          </a:bodyPr>
          <a:lstStyle/>
          <a:p>
            <a:pPr marL="0" indent="0">
              <a:buNone/>
            </a:pPr>
            <a:r>
              <a:rPr lang="en-US" sz="2000" b="1" dirty="0">
                <a:solidFill>
                  <a:srgbClr val="0B1F3A"/>
                </a:solidFill>
              </a:rPr>
              <a:t>Guiding question: How can diversity be managed so that it strengthens—not weakens—quality decisions and service outcomes?</a:t>
            </a:r>
            <a:endParaRPr lang="en-US" sz="1400" dirty="0"/>
          </a:p>
        </p:txBody>
      </p:sp>
      <p:sp>
        <p:nvSpPr>
          <p:cNvPr id="31" name="Text 18">
            <a:extLst>
              <a:ext uri="{FF2B5EF4-FFF2-40B4-BE49-F238E27FC236}">
                <a16:creationId xmlns:a16="http://schemas.microsoft.com/office/drawing/2014/main" id="{37A17A92-8169-B68C-EF82-41233A141001}"/>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Session Roadmap</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A practical path from concepts to action.</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3</a:t>
            </a:r>
            <a:endParaRPr lang="en-US" sz="850" dirty="0"/>
          </a:p>
        </p:txBody>
      </p:sp>
      <p:sp>
        <p:nvSpPr>
          <p:cNvPr id="8" name="Shape 6"/>
          <p:cNvSpPr/>
          <p:nvPr/>
        </p:nvSpPr>
        <p:spPr>
          <a:xfrm>
            <a:off x="685800" y="1828800"/>
            <a:ext cx="603504" cy="603504"/>
          </a:xfrm>
          <a:prstGeom prst="ellipse">
            <a:avLst/>
          </a:prstGeom>
          <a:solidFill>
            <a:srgbClr val="00A6A6"/>
          </a:solidFill>
          <a:ln w="12700">
            <a:solidFill>
              <a:srgbClr val="00A6A6"/>
            </a:solidFill>
            <a:prstDash val="solid"/>
          </a:ln>
        </p:spPr>
        <p:txBody>
          <a:bodyPr/>
          <a:lstStyle/>
          <a:p>
            <a:endParaRPr/>
          </a:p>
        </p:txBody>
      </p:sp>
      <p:sp>
        <p:nvSpPr>
          <p:cNvPr id="9" name="Text 7"/>
          <p:cNvSpPr/>
          <p:nvPr/>
        </p:nvSpPr>
        <p:spPr>
          <a:xfrm>
            <a:off x="868680" y="1956816"/>
            <a:ext cx="228600" cy="13716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0" name="Text 8"/>
          <p:cNvSpPr/>
          <p:nvPr/>
        </p:nvSpPr>
        <p:spPr>
          <a:xfrm>
            <a:off x="365760" y="2670048"/>
            <a:ext cx="1234440" cy="594360"/>
          </a:xfrm>
          <a:prstGeom prst="rect">
            <a:avLst/>
          </a:prstGeom>
          <a:noFill/>
          <a:ln/>
        </p:spPr>
        <p:txBody>
          <a:bodyPr wrap="square" lIns="0" tIns="0" rIns="0" bIns="0" rtlCol="0" anchor="ctr">
            <a:normAutofit fontScale="85000" lnSpcReduction="10000"/>
          </a:bodyPr>
          <a:lstStyle/>
          <a:p>
            <a:pPr marL="0" indent="0" algn="ctr">
              <a:buNone/>
            </a:pPr>
            <a:r>
              <a:rPr lang="en-US" sz="1800" b="1" dirty="0">
                <a:solidFill>
                  <a:srgbClr val="0B1F3A"/>
                </a:solidFill>
              </a:rPr>
              <a:t>Why diversity matters</a:t>
            </a:r>
            <a:endParaRPr lang="en-US" sz="1200" dirty="0"/>
          </a:p>
        </p:txBody>
      </p:sp>
      <p:sp>
        <p:nvSpPr>
          <p:cNvPr id="11" name="Shape 9"/>
          <p:cNvSpPr/>
          <p:nvPr/>
        </p:nvSpPr>
        <p:spPr>
          <a:xfrm>
            <a:off x="1371600" y="2121408"/>
            <a:ext cx="914400" cy="0"/>
          </a:xfrm>
          <a:prstGeom prst="line">
            <a:avLst/>
          </a:prstGeom>
          <a:noFill/>
          <a:ln w="25400">
            <a:solidFill>
              <a:srgbClr val="C8D2E0"/>
            </a:solidFill>
            <a:prstDash val="solid"/>
            <a:headEnd type="none"/>
            <a:tailEnd type="triangle"/>
          </a:ln>
        </p:spPr>
        <p:txBody>
          <a:bodyPr/>
          <a:lstStyle/>
          <a:p>
            <a:endParaRPr/>
          </a:p>
        </p:txBody>
      </p:sp>
      <p:sp>
        <p:nvSpPr>
          <p:cNvPr id="12" name="Shape 10"/>
          <p:cNvSpPr/>
          <p:nvPr/>
        </p:nvSpPr>
        <p:spPr>
          <a:xfrm>
            <a:off x="2560320" y="1828800"/>
            <a:ext cx="603504" cy="603504"/>
          </a:xfrm>
          <a:prstGeom prst="ellipse">
            <a:avLst/>
          </a:prstGeom>
          <a:solidFill>
            <a:srgbClr val="00A6A6"/>
          </a:solidFill>
          <a:ln w="12700">
            <a:solidFill>
              <a:srgbClr val="00A6A6"/>
            </a:solidFill>
            <a:prstDash val="solid"/>
          </a:ln>
        </p:spPr>
        <p:txBody>
          <a:bodyPr/>
          <a:lstStyle/>
          <a:p>
            <a:endParaRPr/>
          </a:p>
        </p:txBody>
      </p:sp>
      <p:sp>
        <p:nvSpPr>
          <p:cNvPr id="13" name="Text 11"/>
          <p:cNvSpPr/>
          <p:nvPr/>
        </p:nvSpPr>
        <p:spPr>
          <a:xfrm>
            <a:off x="2743200" y="1956816"/>
            <a:ext cx="228600" cy="13716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4" name="Text 12"/>
          <p:cNvSpPr/>
          <p:nvPr/>
        </p:nvSpPr>
        <p:spPr>
          <a:xfrm>
            <a:off x="2240280" y="2670048"/>
            <a:ext cx="1234440" cy="594360"/>
          </a:xfrm>
          <a:prstGeom prst="rect">
            <a:avLst/>
          </a:prstGeom>
          <a:noFill/>
          <a:ln/>
        </p:spPr>
        <p:txBody>
          <a:bodyPr wrap="square" lIns="0" tIns="0" rIns="0" bIns="0" rtlCol="0" anchor="ctr">
            <a:normAutofit fontScale="85000" lnSpcReduction="10000"/>
          </a:bodyPr>
          <a:lstStyle/>
          <a:p>
            <a:pPr marL="0" indent="0" algn="ctr">
              <a:buNone/>
            </a:pPr>
            <a:r>
              <a:rPr lang="en-US" sz="1800" b="1" dirty="0">
                <a:solidFill>
                  <a:srgbClr val="0B1F3A"/>
                </a:solidFill>
              </a:rPr>
              <a:t>Surface vs. deep diversity</a:t>
            </a:r>
            <a:endParaRPr lang="en-US" sz="1200" dirty="0"/>
          </a:p>
        </p:txBody>
      </p:sp>
      <p:sp>
        <p:nvSpPr>
          <p:cNvPr id="15" name="Shape 13"/>
          <p:cNvSpPr/>
          <p:nvPr/>
        </p:nvSpPr>
        <p:spPr>
          <a:xfrm>
            <a:off x="3246120" y="2121408"/>
            <a:ext cx="914400" cy="0"/>
          </a:xfrm>
          <a:prstGeom prst="line">
            <a:avLst/>
          </a:prstGeom>
          <a:noFill/>
          <a:ln w="25400">
            <a:solidFill>
              <a:srgbClr val="C8D2E0"/>
            </a:solidFill>
            <a:prstDash val="solid"/>
            <a:headEnd type="none"/>
            <a:tailEnd type="triangle"/>
          </a:ln>
        </p:spPr>
        <p:txBody>
          <a:bodyPr/>
          <a:lstStyle/>
          <a:p>
            <a:endParaRPr/>
          </a:p>
        </p:txBody>
      </p:sp>
      <p:sp>
        <p:nvSpPr>
          <p:cNvPr id="16" name="Shape 14"/>
          <p:cNvSpPr/>
          <p:nvPr/>
        </p:nvSpPr>
        <p:spPr>
          <a:xfrm>
            <a:off x="4434840" y="1828800"/>
            <a:ext cx="603504" cy="603504"/>
          </a:xfrm>
          <a:prstGeom prst="ellipse">
            <a:avLst/>
          </a:prstGeom>
          <a:solidFill>
            <a:srgbClr val="00A6A6"/>
          </a:solidFill>
          <a:ln w="12700">
            <a:solidFill>
              <a:srgbClr val="00A6A6"/>
            </a:solidFill>
            <a:prstDash val="solid"/>
          </a:ln>
        </p:spPr>
        <p:txBody>
          <a:bodyPr/>
          <a:lstStyle/>
          <a:p>
            <a:endParaRPr/>
          </a:p>
        </p:txBody>
      </p:sp>
      <p:sp>
        <p:nvSpPr>
          <p:cNvPr id="17" name="Text 15"/>
          <p:cNvSpPr/>
          <p:nvPr/>
        </p:nvSpPr>
        <p:spPr>
          <a:xfrm>
            <a:off x="4617720" y="1956816"/>
            <a:ext cx="228600" cy="13716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8" name="Text 16"/>
          <p:cNvSpPr/>
          <p:nvPr/>
        </p:nvSpPr>
        <p:spPr>
          <a:xfrm>
            <a:off x="3758184" y="2670048"/>
            <a:ext cx="1591056" cy="594360"/>
          </a:xfrm>
          <a:prstGeom prst="rect">
            <a:avLst/>
          </a:prstGeom>
          <a:noFill/>
          <a:ln/>
        </p:spPr>
        <p:txBody>
          <a:bodyPr wrap="square" lIns="0" tIns="0" rIns="0" bIns="0" rtlCol="0" anchor="ctr">
            <a:normAutofit/>
          </a:bodyPr>
          <a:lstStyle/>
          <a:p>
            <a:pPr marL="0" indent="0" algn="ctr">
              <a:buNone/>
            </a:pPr>
            <a:r>
              <a:rPr lang="en-US" sz="1800" b="1" dirty="0">
                <a:solidFill>
                  <a:srgbClr val="0B1F3A"/>
                </a:solidFill>
              </a:rPr>
              <a:t>Discrimination and bias</a:t>
            </a:r>
            <a:endParaRPr lang="en-US" sz="1200" dirty="0"/>
          </a:p>
        </p:txBody>
      </p:sp>
      <p:sp>
        <p:nvSpPr>
          <p:cNvPr id="19" name="Shape 17"/>
          <p:cNvSpPr/>
          <p:nvPr/>
        </p:nvSpPr>
        <p:spPr>
          <a:xfrm>
            <a:off x="5120640" y="2121408"/>
            <a:ext cx="914400" cy="0"/>
          </a:xfrm>
          <a:prstGeom prst="line">
            <a:avLst/>
          </a:prstGeom>
          <a:noFill/>
          <a:ln w="25400">
            <a:solidFill>
              <a:srgbClr val="C8D2E0"/>
            </a:solidFill>
            <a:prstDash val="solid"/>
            <a:headEnd type="none"/>
            <a:tailEnd type="triangle"/>
          </a:ln>
        </p:spPr>
        <p:txBody>
          <a:bodyPr/>
          <a:lstStyle/>
          <a:p>
            <a:endParaRPr/>
          </a:p>
        </p:txBody>
      </p:sp>
      <p:sp>
        <p:nvSpPr>
          <p:cNvPr id="20" name="Shape 18"/>
          <p:cNvSpPr/>
          <p:nvPr/>
        </p:nvSpPr>
        <p:spPr>
          <a:xfrm>
            <a:off x="6309360" y="1828800"/>
            <a:ext cx="603504" cy="603504"/>
          </a:xfrm>
          <a:prstGeom prst="ellipse">
            <a:avLst/>
          </a:prstGeom>
          <a:solidFill>
            <a:srgbClr val="0B1F3A"/>
          </a:solidFill>
          <a:ln w="12700">
            <a:solidFill>
              <a:srgbClr val="0B1F3A"/>
            </a:solidFill>
            <a:prstDash val="solid"/>
          </a:ln>
        </p:spPr>
        <p:txBody>
          <a:bodyPr/>
          <a:lstStyle/>
          <a:p>
            <a:endParaRPr/>
          </a:p>
        </p:txBody>
      </p:sp>
      <p:sp>
        <p:nvSpPr>
          <p:cNvPr id="21" name="Text 19"/>
          <p:cNvSpPr/>
          <p:nvPr/>
        </p:nvSpPr>
        <p:spPr>
          <a:xfrm>
            <a:off x="6492240" y="1956816"/>
            <a:ext cx="228600" cy="13716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2" name="Text 20"/>
          <p:cNvSpPr/>
          <p:nvPr/>
        </p:nvSpPr>
        <p:spPr>
          <a:xfrm>
            <a:off x="5989320" y="2670048"/>
            <a:ext cx="1234440" cy="594360"/>
          </a:xfrm>
          <a:prstGeom prst="rect">
            <a:avLst/>
          </a:prstGeom>
          <a:noFill/>
          <a:ln/>
        </p:spPr>
        <p:txBody>
          <a:bodyPr wrap="square" lIns="0" tIns="0" rIns="0" bIns="0" rtlCol="0" anchor="ctr">
            <a:normAutofit/>
          </a:bodyPr>
          <a:lstStyle/>
          <a:p>
            <a:pPr marL="0" indent="0" algn="ctr">
              <a:buNone/>
            </a:pPr>
            <a:r>
              <a:rPr lang="en-US" sz="1800" b="1" dirty="0">
                <a:solidFill>
                  <a:srgbClr val="0B1F3A"/>
                </a:solidFill>
              </a:rPr>
              <a:t>Abilities and fit</a:t>
            </a:r>
            <a:endParaRPr lang="en-US" sz="1200" dirty="0"/>
          </a:p>
        </p:txBody>
      </p:sp>
      <p:sp>
        <p:nvSpPr>
          <p:cNvPr id="23" name="Shape 21"/>
          <p:cNvSpPr/>
          <p:nvPr/>
        </p:nvSpPr>
        <p:spPr>
          <a:xfrm>
            <a:off x="6995160" y="2121408"/>
            <a:ext cx="914400" cy="0"/>
          </a:xfrm>
          <a:prstGeom prst="line">
            <a:avLst/>
          </a:prstGeom>
          <a:noFill/>
          <a:ln w="25400">
            <a:solidFill>
              <a:srgbClr val="C8D2E0"/>
            </a:solidFill>
            <a:prstDash val="solid"/>
            <a:headEnd type="none"/>
            <a:tailEnd type="triangle"/>
          </a:ln>
        </p:spPr>
        <p:txBody>
          <a:bodyPr/>
          <a:lstStyle/>
          <a:p>
            <a:endParaRPr/>
          </a:p>
        </p:txBody>
      </p:sp>
      <p:sp>
        <p:nvSpPr>
          <p:cNvPr id="24" name="Shape 22"/>
          <p:cNvSpPr/>
          <p:nvPr/>
        </p:nvSpPr>
        <p:spPr>
          <a:xfrm>
            <a:off x="8183880" y="1828800"/>
            <a:ext cx="603504" cy="603504"/>
          </a:xfrm>
          <a:prstGeom prst="ellipse">
            <a:avLst/>
          </a:prstGeom>
          <a:solidFill>
            <a:srgbClr val="0B1F3A"/>
          </a:solidFill>
          <a:ln w="12700">
            <a:solidFill>
              <a:srgbClr val="0B1F3A"/>
            </a:solidFill>
            <a:prstDash val="solid"/>
          </a:ln>
        </p:spPr>
        <p:txBody>
          <a:bodyPr/>
          <a:lstStyle/>
          <a:p>
            <a:endParaRPr/>
          </a:p>
        </p:txBody>
      </p:sp>
      <p:sp>
        <p:nvSpPr>
          <p:cNvPr id="25" name="Text 23"/>
          <p:cNvSpPr/>
          <p:nvPr/>
        </p:nvSpPr>
        <p:spPr>
          <a:xfrm>
            <a:off x="8366760" y="1956816"/>
            <a:ext cx="228600" cy="13716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6" name="Text 24"/>
          <p:cNvSpPr/>
          <p:nvPr/>
        </p:nvSpPr>
        <p:spPr>
          <a:xfrm>
            <a:off x="7863840" y="2670048"/>
            <a:ext cx="1234440" cy="594360"/>
          </a:xfrm>
          <a:prstGeom prst="rect">
            <a:avLst/>
          </a:prstGeom>
          <a:noFill/>
          <a:ln/>
        </p:spPr>
        <p:txBody>
          <a:bodyPr wrap="square" lIns="0" tIns="0" rIns="0" bIns="0" rtlCol="0" anchor="ctr">
            <a:normAutofit fontScale="85000" lnSpcReduction="10000"/>
          </a:bodyPr>
          <a:lstStyle/>
          <a:p>
            <a:pPr marL="0" indent="0" algn="ctr">
              <a:buNone/>
            </a:pPr>
            <a:r>
              <a:rPr lang="en-US" sz="1800" b="1" dirty="0">
                <a:solidFill>
                  <a:srgbClr val="0B1F3A"/>
                </a:solidFill>
              </a:rPr>
              <a:t>Diversity management</a:t>
            </a:r>
            <a:endParaRPr lang="en-US" sz="1200" dirty="0"/>
          </a:p>
        </p:txBody>
      </p:sp>
      <p:sp>
        <p:nvSpPr>
          <p:cNvPr id="27" name="Shape 25"/>
          <p:cNvSpPr/>
          <p:nvPr/>
        </p:nvSpPr>
        <p:spPr>
          <a:xfrm>
            <a:off x="8869680" y="2121408"/>
            <a:ext cx="914400" cy="0"/>
          </a:xfrm>
          <a:prstGeom prst="line">
            <a:avLst/>
          </a:prstGeom>
          <a:noFill/>
          <a:ln w="25400">
            <a:solidFill>
              <a:srgbClr val="C8D2E0"/>
            </a:solidFill>
            <a:prstDash val="solid"/>
            <a:headEnd type="none"/>
            <a:tailEnd type="triangle"/>
          </a:ln>
        </p:spPr>
        <p:txBody>
          <a:bodyPr/>
          <a:lstStyle/>
          <a:p>
            <a:endParaRPr/>
          </a:p>
        </p:txBody>
      </p:sp>
      <p:sp>
        <p:nvSpPr>
          <p:cNvPr id="28" name="Shape 26"/>
          <p:cNvSpPr/>
          <p:nvPr/>
        </p:nvSpPr>
        <p:spPr>
          <a:xfrm>
            <a:off x="10058400" y="1828800"/>
            <a:ext cx="603504" cy="603504"/>
          </a:xfrm>
          <a:prstGeom prst="ellipse">
            <a:avLst/>
          </a:prstGeom>
          <a:solidFill>
            <a:srgbClr val="0B1F3A"/>
          </a:solidFill>
          <a:ln w="12700">
            <a:solidFill>
              <a:srgbClr val="0B1F3A"/>
            </a:solidFill>
            <a:prstDash val="solid"/>
          </a:ln>
        </p:spPr>
        <p:txBody>
          <a:bodyPr/>
          <a:lstStyle/>
          <a:p>
            <a:endParaRPr/>
          </a:p>
        </p:txBody>
      </p:sp>
      <p:sp>
        <p:nvSpPr>
          <p:cNvPr id="29" name="Text 27"/>
          <p:cNvSpPr/>
          <p:nvPr/>
        </p:nvSpPr>
        <p:spPr>
          <a:xfrm>
            <a:off x="10241280" y="1956816"/>
            <a:ext cx="228600" cy="137160"/>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0" name="Text 28"/>
          <p:cNvSpPr/>
          <p:nvPr/>
        </p:nvSpPr>
        <p:spPr>
          <a:xfrm>
            <a:off x="9738360" y="2670048"/>
            <a:ext cx="1234440" cy="594360"/>
          </a:xfrm>
          <a:prstGeom prst="rect">
            <a:avLst/>
          </a:prstGeom>
          <a:noFill/>
          <a:ln/>
        </p:spPr>
        <p:txBody>
          <a:bodyPr wrap="square" lIns="0" tIns="0" rIns="0" bIns="0" rtlCol="0" anchor="ctr">
            <a:normAutofit/>
          </a:bodyPr>
          <a:lstStyle/>
          <a:p>
            <a:pPr marL="0" indent="0" algn="ctr">
              <a:buNone/>
            </a:pPr>
            <a:r>
              <a:rPr lang="en-US" sz="1800" b="1" dirty="0">
                <a:solidFill>
                  <a:srgbClr val="0B1F3A"/>
                </a:solidFill>
              </a:rPr>
              <a:t>Quality application</a:t>
            </a:r>
            <a:endParaRPr lang="en-US" sz="1200" dirty="0"/>
          </a:p>
        </p:txBody>
      </p:sp>
      <p:sp>
        <p:nvSpPr>
          <p:cNvPr id="31" name="Shape 29"/>
          <p:cNvSpPr/>
          <p:nvPr/>
        </p:nvSpPr>
        <p:spPr>
          <a:xfrm>
            <a:off x="868680" y="4297680"/>
            <a:ext cx="10424160" cy="822960"/>
          </a:xfrm>
          <a:prstGeom prst="roundRect">
            <a:avLst>
              <a:gd name="adj" fmla="val 8889"/>
            </a:avLst>
          </a:prstGeom>
          <a:solidFill>
            <a:srgbClr val="E6F6F6"/>
          </a:solidFill>
          <a:ln w="12700">
            <a:solidFill>
              <a:srgbClr val="E6F6F6">
                <a:alpha val="0"/>
              </a:srgbClr>
            </a:solidFill>
            <a:prstDash val="solid"/>
          </a:ln>
        </p:spPr>
        <p:txBody>
          <a:bodyPr/>
          <a:lstStyle/>
          <a:p>
            <a:endParaRPr/>
          </a:p>
        </p:txBody>
      </p:sp>
      <p:sp>
        <p:nvSpPr>
          <p:cNvPr id="32" name="Text 30"/>
          <p:cNvSpPr/>
          <p:nvPr/>
        </p:nvSpPr>
        <p:spPr>
          <a:xfrm>
            <a:off x="1097280" y="4462272"/>
            <a:ext cx="9966960" cy="548640"/>
          </a:xfrm>
          <a:prstGeom prst="rect">
            <a:avLst/>
          </a:prstGeom>
          <a:noFill/>
          <a:ln/>
        </p:spPr>
        <p:txBody>
          <a:bodyPr wrap="square" lIns="254" tIns="254" rIns="254" bIns="254" rtlCol="0" anchor="ctr">
            <a:normAutofit fontScale="92500" lnSpcReduction="10000"/>
          </a:bodyPr>
          <a:lstStyle/>
          <a:p>
            <a:pPr marL="0" indent="0">
              <a:buNone/>
            </a:pPr>
            <a:r>
              <a:rPr lang="en-US" sz="2000" b="1" dirty="0">
                <a:solidFill>
                  <a:srgbClr val="0B1F3A"/>
                </a:solidFill>
              </a:rPr>
              <a:t>Core idea: Diversity improves quality only when institutions reduce bias, create fair processes and convert different perspectives into better decisions.</a:t>
            </a:r>
            <a:endParaRPr lang="en-US" sz="1400" dirty="0"/>
          </a:p>
        </p:txBody>
      </p:sp>
      <p:sp>
        <p:nvSpPr>
          <p:cNvPr id="34" name="Text 18">
            <a:extLst>
              <a:ext uri="{FF2B5EF4-FFF2-40B4-BE49-F238E27FC236}">
                <a16:creationId xmlns:a16="http://schemas.microsoft.com/office/drawing/2014/main" id="{6BB8C6A4-1CF0-C242-E17B-52ABEA90232F}"/>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Opening Case: Diverse Team, Unequal Voice</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A postgraduate discussion starter</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4</a:t>
            </a:r>
            <a:endParaRPr lang="en-US" sz="850" dirty="0"/>
          </a:p>
        </p:txBody>
      </p:sp>
      <p:sp>
        <p:nvSpPr>
          <p:cNvPr id="8" name="Text 6"/>
          <p:cNvSpPr/>
          <p:nvPr/>
        </p:nvSpPr>
        <p:spPr>
          <a:xfrm>
            <a:off x="777240" y="1325880"/>
            <a:ext cx="6537960" cy="1234440"/>
          </a:xfrm>
          <a:prstGeom prst="rect">
            <a:avLst/>
          </a:prstGeom>
          <a:noFill/>
          <a:ln/>
        </p:spPr>
        <p:txBody>
          <a:bodyPr wrap="square" lIns="635" tIns="635" rIns="635" bIns="635" rtlCol="0" anchor="ctr">
            <a:noAutofit/>
          </a:bodyPr>
          <a:lstStyle/>
          <a:p>
            <a:pPr marL="0" indent="0">
              <a:buNone/>
            </a:pPr>
            <a:r>
              <a:rPr lang="en-US" dirty="0">
                <a:solidFill>
                  <a:srgbClr val="1F2937"/>
                </a:solidFill>
              </a:rPr>
              <a:t>A university quality-improvement committee includes academic staff, administrative staff, IT staff, and student representatives. During meetings, senior members dominate discussion. Younger staff and students rarely speak. The team collects useful data, but decisions still reflect the assumptions of the loudest members. Complaints about student services remain high.</a:t>
            </a:r>
            <a:endParaRPr lang="en-US" sz="1400" dirty="0"/>
          </a:p>
        </p:txBody>
      </p:sp>
      <p:sp>
        <p:nvSpPr>
          <p:cNvPr id="9" name="Shape 7"/>
          <p:cNvSpPr/>
          <p:nvPr/>
        </p:nvSpPr>
        <p:spPr>
          <a:xfrm>
            <a:off x="7635240" y="1234440"/>
            <a:ext cx="3429000" cy="1783080"/>
          </a:xfrm>
          <a:prstGeom prst="roundRect">
            <a:avLst>
              <a:gd name="adj" fmla="val 4615"/>
            </a:avLst>
          </a:prstGeom>
          <a:solidFill>
            <a:srgbClr val="EAF1FB"/>
          </a:solidFill>
          <a:ln w="10160">
            <a:solidFill>
              <a:srgbClr val="DDE5EF"/>
            </a:solidFill>
            <a:prstDash val="solid"/>
          </a:ln>
        </p:spPr>
        <p:txBody>
          <a:bodyPr/>
          <a:lstStyle/>
          <a:p>
            <a:endParaRPr/>
          </a:p>
        </p:txBody>
      </p:sp>
      <p:sp>
        <p:nvSpPr>
          <p:cNvPr id="10" name="Shape 8"/>
          <p:cNvSpPr/>
          <p:nvPr/>
        </p:nvSpPr>
        <p:spPr>
          <a:xfrm>
            <a:off x="7635240" y="1234440"/>
            <a:ext cx="82296" cy="1783080"/>
          </a:xfrm>
          <a:prstGeom prst="rect">
            <a:avLst/>
          </a:prstGeom>
          <a:solidFill>
            <a:srgbClr val="00A6A6"/>
          </a:solidFill>
          <a:ln w="12700">
            <a:solidFill>
              <a:srgbClr val="00A6A6">
                <a:alpha val="0"/>
              </a:srgbClr>
            </a:solidFill>
            <a:prstDash val="solid"/>
          </a:ln>
        </p:spPr>
        <p:txBody>
          <a:bodyPr/>
          <a:lstStyle/>
          <a:p>
            <a:endParaRPr/>
          </a:p>
        </p:txBody>
      </p:sp>
      <p:sp>
        <p:nvSpPr>
          <p:cNvPr id="11" name="Text 9"/>
          <p:cNvSpPr/>
          <p:nvPr/>
        </p:nvSpPr>
        <p:spPr>
          <a:xfrm>
            <a:off x="7840980" y="1289305"/>
            <a:ext cx="3099816" cy="274320"/>
          </a:xfrm>
          <a:prstGeom prst="rect">
            <a:avLst/>
          </a:prstGeom>
          <a:noFill/>
          <a:ln/>
        </p:spPr>
        <p:txBody>
          <a:bodyPr wrap="square" lIns="0" tIns="0" rIns="0" bIns="0" rtlCol="0" anchor="ctr"/>
          <a:lstStyle/>
          <a:p>
            <a:pPr marL="0" indent="0">
              <a:buNone/>
            </a:pPr>
            <a:r>
              <a:rPr lang="en-US" sz="2000" b="1" dirty="0">
                <a:solidFill>
                  <a:srgbClr val="0B1F3A"/>
                </a:solidFill>
              </a:rPr>
              <a:t>Discuss</a:t>
            </a:r>
            <a:endParaRPr lang="en-US" sz="1400" dirty="0"/>
          </a:p>
        </p:txBody>
      </p:sp>
      <p:sp>
        <p:nvSpPr>
          <p:cNvPr id="12" name="Text 10"/>
          <p:cNvSpPr/>
          <p:nvPr/>
        </p:nvSpPr>
        <p:spPr>
          <a:xfrm>
            <a:off x="7854696" y="1801368"/>
            <a:ext cx="3099816" cy="1097280"/>
          </a:xfrm>
          <a:prstGeom prst="rect">
            <a:avLst/>
          </a:prstGeom>
          <a:noFill/>
          <a:ln/>
        </p:spPr>
        <p:txBody>
          <a:bodyPr wrap="square" lIns="254" tIns="254" rIns="254" bIns="254" rtlCol="0" anchor="ctr">
            <a:noAutofit/>
          </a:bodyPr>
          <a:lstStyle/>
          <a:p>
            <a:pPr marL="0" indent="0">
              <a:buNone/>
            </a:pPr>
            <a:r>
              <a:rPr lang="en-US" sz="1400" dirty="0">
                <a:solidFill>
                  <a:srgbClr val="1F2937"/>
                </a:solidFill>
              </a:rPr>
              <a:t>• What types of diversity are present?</a:t>
            </a:r>
            <a:endParaRPr lang="en-US" sz="1400" dirty="0"/>
          </a:p>
          <a:p>
            <a:pPr marL="0" indent="0">
              <a:buNone/>
            </a:pPr>
            <a:r>
              <a:rPr lang="en-US" sz="1400" dirty="0">
                <a:solidFill>
                  <a:srgbClr val="1F2937"/>
                </a:solidFill>
              </a:rPr>
              <a:t>• What hidden differences may matter?</a:t>
            </a:r>
            <a:endParaRPr lang="en-US" sz="1400" dirty="0"/>
          </a:p>
          <a:p>
            <a:pPr marL="0" indent="0">
              <a:buNone/>
            </a:pPr>
            <a:r>
              <a:rPr lang="en-US" sz="1400" dirty="0">
                <a:solidFill>
                  <a:srgbClr val="1F2937"/>
                </a:solidFill>
              </a:rPr>
              <a:t>• What bias or status effects may exist?</a:t>
            </a:r>
            <a:endParaRPr lang="en-US" sz="1400" dirty="0"/>
          </a:p>
          <a:p>
            <a:pPr marL="0" indent="0">
              <a:buNone/>
            </a:pPr>
            <a:r>
              <a:rPr lang="en-US" sz="1400" dirty="0">
                <a:solidFill>
                  <a:srgbClr val="1F2937"/>
                </a:solidFill>
              </a:rPr>
              <a:t>• How might this influence quality decisions?</a:t>
            </a:r>
            <a:endParaRPr lang="en-US" sz="1400" dirty="0"/>
          </a:p>
        </p:txBody>
      </p:sp>
      <p:sp>
        <p:nvSpPr>
          <p:cNvPr id="13" name="Shape 11"/>
          <p:cNvSpPr/>
          <p:nvPr/>
        </p:nvSpPr>
        <p:spPr>
          <a:xfrm>
            <a:off x="822960" y="3337560"/>
            <a:ext cx="5074920" cy="1188720"/>
          </a:xfrm>
          <a:prstGeom prst="roundRect">
            <a:avLst>
              <a:gd name="adj" fmla="val 6923"/>
            </a:avLst>
          </a:prstGeom>
          <a:solidFill>
            <a:srgbClr val="E6F6F6"/>
          </a:solidFill>
          <a:ln w="10160">
            <a:solidFill>
              <a:srgbClr val="DDE5EF"/>
            </a:solidFill>
            <a:prstDash val="solid"/>
          </a:ln>
        </p:spPr>
        <p:txBody>
          <a:bodyPr/>
          <a:lstStyle/>
          <a:p>
            <a:endParaRPr/>
          </a:p>
        </p:txBody>
      </p:sp>
      <p:sp>
        <p:nvSpPr>
          <p:cNvPr id="14" name="Shape 12"/>
          <p:cNvSpPr/>
          <p:nvPr/>
        </p:nvSpPr>
        <p:spPr>
          <a:xfrm>
            <a:off x="822960" y="3337560"/>
            <a:ext cx="82296" cy="1188720"/>
          </a:xfrm>
          <a:prstGeom prst="rect">
            <a:avLst/>
          </a:prstGeom>
          <a:solidFill>
            <a:srgbClr val="2E7D32"/>
          </a:solidFill>
          <a:ln w="12700">
            <a:solidFill>
              <a:srgbClr val="2E7D32">
                <a:alpha val="0"/>
              </a:srgbClr>
            </a:solidFill>
            <a:prstDash val="solid"/>
          </a:ln>
        </p:spPr>
        <p:txBody>
          <a:bodyPr/>
          <a:lstStyle/>
          <a:p>
            <a:endParaRPr/>
          </a:p>
        </p:txBody>
      </p:sp>
      <p:sp>
        <p:nvSpPr>
          <p:cNvPr id="15" name="Text 13"/>
          <p:cNvSpPr/>
          <p:nvPr/>
        </p:nvSpPr>
        <p:spPr>
          <a:xfrm>
            <a:off x="1042416" y="3502152"/>
            <a:ext cx="4745736" cy="274320"/>
          </a:xfrm>
          <a:prstGeom prst="rect">
            <a:avLst/>
          </a:prstGeom>
          <a:noFill/>
          <a:ln/>
        </p:spPr>
        <p:txBody>
          <a:bodyPr wrap="square" lIns="0" tIns="0" rIns="0" bIns="0" rtlCol="0" anchor="ctr"/>
          <a:lstStyle/>
          <a:p>
            <a:pPr marL="0" indent="0">
              <a:buNone/>
            </a:pPr>
            <a:r>
              <a:rPr lang="en-US" sz="2000" b="1" dirty="0">
                <a:solidFill>
                  <a:srgbClr val="0B1F3A"/>
                </a:solidFill>
              </a:rPr>
              <a:t>Key Insight</a:t>
            </a:r>
            <a:endParaRPr lang="en-US" sz="1400" dirty="0"/>
          </a:p>
        </p:txBody>
      </p:sp>
      <p:sp>
        <p:nvSpPr>
          <p:cNvPr id="16" name="Text 14"/>
          <p:cNvSpPr/>
          <p:nvPr/>
        </p:nvSpPr>
        <p:spPr>
          <a:xfrm>
            <a:off x="1042416" y="3904488"/>
            <a:ext cx="4745736" cy="502920"/>
          </a:xfrm>
          <a:prstGeom prst="rect">
            <a:avLst/>
          </a:prstGeom>
          <a:noFill/>
          <a:ln/>
        </p:spPr>
        <p:txBody>
          <a:bodyPr wrap="square" lIns="254" tIns="254" rIns="254" bIns="254" rtlCol="0" anchor="ctr">
            <a:normAutofit fontScale="77500" lnSpcReduction="20000"/>
          </a:bodyPr>
          <a:lstStyle/>
          <a:p>
            <a:pPr marL="0" indent="0">
              <a:buNone/>
            </a:pPr>
            <a:r>
              <a:rPr lang="en-US" sz="1650" dirty="0">
                <a:solidFill>
                  <a:srgbClr val="1F2937"/>
                </a:solidFill>
              </a:rPr>
              <a:t>Diversity without inclusion can become symbolic. Quality teams need both varied perspectives and fair participation mechanisms.</a:t>
            </a:r>
            <a:endParaRPr lang="en-US" sz="1050" dirty="0"/>
          </a:p>
        </p:txBody>
      </p:sp>
      <p:sp>
        <p:nvSpPr>
          <p:cNvPr id="17" name="Shape 15"/>
          <p:cNvSpPr/>
          <p:nvPr/>
        </p:nvSpPr>
        <p:spPr>
          <a:xfrm>
            <a:off x="6172200" y="3337560"/>
            <a:ext cx="4892040" cy="1188720"/>
          </a:xfrm>
          <a:prstGeom prst="roundRect">
            <a:avLst>
              <a:gd name="adj" fmla="val 6923"/>
            </a:avLst>
          </a:prstGeom>
          <a:solidFill>
            <a:srgbClr val="FFF7E0"/>
          </a:solidFill>
          <a:ln w="10160">
            <a:solidFill>
              <a:srgbClr val="DDE5EF"/>
            </a:solidFill>
            <a:prstDash val="solid"/>
          </a:ln>
        </p:spPr>
        <p:txBody>
          <a:bodyPr/>
          <a:lstStyle/>
          <a:p>
            <a:endParaRPr/>
          </a:p>
        </p:txBody>
      </p:sp>
      <p:sp>
        <p:nvSpPr>
          <p:cNvPr id="18" name="Shape 16"/>
          <p:cNvSpPr/>
          <p:nvPr/>
        </p:nvSpPr>
        <p:spPr>
          <a:xfrm>
            <a:off x="6172200" y="3337560"/>
            <a:ext cx="82296" cy="1188720"/>
          </a:xfrm>
          <a:prstGeom prst="rect">
            <a:avLst/>
          </a:prstGeom>
          <a:solidFill>
            <a:srgbClr val="F4B400"/>
          </a:solidFill>
          <a:ln w="12700">
            <a:solidFill>
              <a:srgbClr val="F4B400">
                <a:alpha val="0"/>
              </a:srgbClr>
            </a:solidFill>
            <a:prstDash val="solid"/>
          </a:ln>
        </p:spPr>
        <p:txBody>
          <a:bodyPr/>
          <a:lstStyle/>
          <a:p>
            <a:endParaRPr/>
          </a:p>
        </p:txBody>
      </p:sp>
      <p:sp>
        <p:nvSpPr>
          <p:cNvPr id="19" name="Text 17"/>
          <p:cNvSpPr/>
          <p:nvPr/>
        </p:nvSpPr>
        <p:spPr>
          <a:xfrm>
            <a:off x="6391656" y="3502152"/>
            <a:ext cx="4562856" cy="274320"/>
          </a:xfrm>
          <a:prstGeom prst="rect">
            <a:avLst/>
          </a:prstGeom>
          <a:noFill/>
          <a:ln/>
        </p:spPr>
        <p:txBody>
          <a:bodyPr wrap="square" lIns="0" tIns="0" rIns="0" bIns="0" rtlCol="0" anchor="ctr"/>
          <a:lstStyle/>
          <a:p>
            <a:pPr marL="0" indent="0">
              <a:buNone/>
            </a:pPr>
            <a:r>
              <a:rPr lang="en-US" sz="2000" b="1" dirty="0">
                <a:solidFill>
                  <a:srgbClr val="0B1F3A"/>
                </a:solidFill>
              </a:rPr>
              <a:t>Teaching Move</a:t>
            </a:r>
            <a:endParaRPr lang="en-US" sz="1400" dirty="0"/>
          </a:p>
        </p:txBody>
      </p:sp>
      <p:sp>
        <p:nvSpPr>
          <p:cNvPr id="20" name="Text 18"/>
          <p:cNvSpPr/>
          <p:nvPr/>
        </p:nvSpPr>
        <p:spPr>
          <a:xfrm>
            <a:off x="6391656" y="3904488"/>
            <a:ext cx="4562856" cy="502920"/>
          </a:xfrm>
          <a:prstGeom prst="rect">
            <a:avLst/>
          </a:prstGeom>
          <a:noFill/>
          <a:ln/>
        </p:spPr>
        <p:txBody>
          <a:bodyPr wrap="square" lIns="254" tIns="254" rIns="254" bIns="254" rtlCol="0" anchor="ctr">
            <a:normAutofit fontScale="92500"/>
          </a:bodyPr>
          <a:lstStyle/>
          <a:p>
            <a:pPr marL="0" indent="0">
              <a:buNone/>
            </a:pPr>
            <a:r>
              <a:rPr lang="en-US" sz="1650" dirty="0">
                <a:solidFill>
                  <a:srgbClr val="1F2937"/>
                </a:solidFill>
              </a:rPr>
              <a:t>Ask learners to separate visible diversity, deep-level diversity, power/status dynamics and quality outcomes.</a:t>
            </a:r>
            <a:endParaRPr lang="en-US" sz="1050" dirty="0"/>
          </a:p>
        </p:txBody>
      </p:sp>
      <p:sp>
        <p:nvSpPr>
          <p:cNvPr id="22" name="Text 18">
            <a:extLst>
              <a:ext uri="{FF2B5EF4-FFF2-40B4-BE49-F238E27FC236}">
                <a16:creationId xmlns:a16="http://schemas.microsoft.com/office/drawing/2014/main" id="{4B0CD953-6961-D1AB-8F16-A45E4D3D56F4}"/>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What Diversity Means in Organizations</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Diversity is broader than demographic categories.</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5</a:t>
            </a:r>
            <a:endParaRPr lang="en-US" sz="850" dirty="0"/>
          </a:p>
        </p:txBody>
      </p:sp>
      <p:sp>
        <p:nvSpPr>
          <p:cNvPr id="8" name="Shape 6"/>
          <p:cNvSpPr/>
          <p:nvPr/>
        </p:nvSpPr>
        <p:spPr>
          <a:xfrm>
            <a:off x="685800" y="1417320"/>
            <a:ext cx="3291840" cy="1463040"/>
          </a:xfrm>
          <a:prstGeom prst="roundRect">
            <a:avLst>
              <a:gd name="adj" fmla="val 5625"/>
            </a:avLst>
          </a:prstGeom>
          <a:solidFill>
            <a:srgbClr val="EAF1FB"/>
          </a:solidFill>
          <a:ln w="10160">
            <a:solidFill>
              <a:srgbClr val="DDE5EF"/>
            </a:solidFill>
            <a:prstDash val="solid"/>
          </a:ln>
        </p:spPr>
        <p:txBody>
          <a:bodyPr/>
          <a:lstStyle/>
          <a:p>
            <a:endParaRPr/>
          </a:p>
        </p:txBody>
      </p:sp>
      <p:sp>
        <p:nvSpPr>
          <p:cNvPr id="9" name="Shape 7"/>
          <p:cNvSpPr/>
          <p:nvPr/>
        </p:nvSpPr>
        <p:spPr>
          <a:xfrm>
            <a:off x="685800" y="1417320"/>
            <a:ext cx="82296" cy="1463040"/>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905256" y="1581912"/>
            <a:ext cx="2962656" cy="274320"/>
          </a:xfrm>
          <a:prstGeom prst="rect">
            <a:avLst/>
          </a:prstGeom>
          <a:noFill/>
          <a:ln/>
        </p:spPr>
        <p:txBody>
          <a:bodyPr wrap="square" lIns="0" tIns="0" rIns="0" bIns="0" rtlCol="0" anchor="ctr"/>
          <a:lstStyle/>
          <a:p>
            <a:pPr marL="0" indent="0">
              <a:buNone/>
            </a:pPr>
            <a:r>
              <a:rPr lang="en-US" sz="2000" b="1" dirty="0">
                <a:solidFill>
                  <a:srgbClr val="0B1F3A"/>
                </a:solidFill>
              </a:rPr>
              <a:t>Diversity</a:t>
            </a:r>
            <a:endParaRPr lang="en-US" sz="1400" dirty="0"/>
          </a:p>
        </p:txBody>
      </p:sp>
      <p:sp>
        <p:nvSpPr>
          <p:cNvPr id="11" name="Text 9"/>
          <p:cNvSpPr/>
          <p:nvPr/>
        </p:nvSpPr>
        <p:spPr>
          <a:xfrm>
            <a:off x="905256" y="1984248"/>
            <a:ext cx="2962656" cy="777240"/>
          </a:xfrm>
          <a:prstGeom prst="rect">
            <a:avLst/>
          </a:prstGeom>
          <a:noFill/>
          <a:ln/>
        </p:spPr>
        <p:txBody>
          <a:bodyPr wrap="square" lIns="254" tIns="254" rIns="254" bIns="254" rtlCol="0" anchor="ctr">
            <a:normAutofit fontScale="92500" lnSpcReduction="20000"/>
          </a:bodyPr>
          <a:lstStyle/>
          <a:p>
            <a:pPr marL="0" indent="0">
              <a:buNone/>
            </a:pPr>
            <a:r>
              <a:rPr lang="en-US" sz="1650" dirty="0">
                <a:solidFill>
                  <a:srgbClr val="1F2937"/>
                </a:solidFill>
              </a:rPr>
              <a:t>Differences among people that may influence their experiences, relationships and contributions at work.</a:t>
            </a:r>
            <a:endParaRPr lang="en-US" sz="1050" dirty="0"/>
          </a:p>
        </p:txBody>
      </p:sp>
      <p:sp>
        <p:nvSpPr>
          <p:cNvPr id="12" name="Shape 10"/>
          <p:cNvSpPr/>
          <p:nvPr/>
        </p:nvSpPr>
        <p:spPr>
          <a:xfrm>
            <a:off x="4434840" y="1417320"/>
            <a:ext cx="3291840" cy="1463040"/>
          </a:xfrm>
          <a:prstGeom prst="roundRect">
            <a:avLst>
              <a:gd name="adj" fmla="val 5625"/>
            </a:avLst>
          </a:prstGeom>
          <a:solidFill>
            <a:srgbClr val="E6F6F6"/>
          </a:solidFill>
          <a:ln w="10160">
            <a:solidFill>
              <a:srgbClr val="DDE5EF"/>
            </a:solidFill>
            <a:prstDash val="solid"/>
          </a:ln>
        </p:spPr>
        <p:txBody>
          <a:bodyPr/>
          <a:lstStyle/>
          <a:p>
            <a:endParaRPr/>
          </a:p>
        </p:txBody>
      </p:sp>
      <p:sp>
        <p:nvSpPr>
          <p:cNvPr id="13" name="Shape 11"/>
          <p:cNvSpPr/>
          <p:nvPr/>
        </p:nvSpPr>
        <p:spPr>
          <a:xfrm>
            <a:off x="4434840" y="1417320"/>
            <a:ext cx="82296" cy="146304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4654296" y="1581912"/>
            <a:ext cx="2962656" cy="274320"/>
          </a:xfrm>
          <a:prstGeom prst="rect">
            <a:avLst/>
          </a:prstGeom>
          <a:noFill/>
          <a:ln/>
        </p:spPr>
        <p:txBody>
          <a:bodyPr wrap="square" lIns="0" tIns="0" rIns="0" bIns="0" rtlCol="0" anchor="ctr"/>
          <a:lstStyle/>
          <a:p>
            <a:pPr marL="0" indent="0">
              <a:buNone/>
            </a:pPr>
            <a:r>
              <a:rPr lang="en-US" sz="2000" b="1" dirty="0">
                <a:solidFill>
                  <a:srgbClr val="0B1F3A"/>
                </a:solidFill>
              </a:rPr>
              <a:t>Quality lens</a:t>
            </a:r>
            <a:endParaRPr lang="en-US" sz="1400" dirty="0"/>
          </a:p>
        </p:txBody>
      </p:sp>
      <p:sp>
        <p:nvSpPr>
          <p:cNvPr id="15" name="Text 13"/>
          <p:cNvSpPr/>
          <p:nvPr/>
        </p:nvSpPr>
        <p:spPr>
          <a:xfrm>
            <a:off x="4654296" y="1984248"/>
            <a:ext cx="2962656" cy="777240"/>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Different people notice different risks, needs, errors and opportunities for improvement.</a:t>
            </a:r>
            <a:endParaRPr lang="en-US" sz="1050" dirty="0"/>
          </a:p>
        </p:txBody>
      </p:sp>
      <p:sp>
        <p:nvSpPr>
          <p:cNvPr id="16" name="Shape 14"/>
          <p:cNvSpPr/>
          <p:nvPr/>
        </p:nvSpPr>
        <p:spPr>
          <a:xfrm>
            <a:off x="8183880" y="1417320"/>
            <a:ext cx="3291840" cy="1463040"/>
          </a:xfrm>
          <a:prstGeom prst="roundRect">
            <a:avLst>
              <a:gd name="adj" fmla="val 5625"/>
            </a:avLst>
          </a:prstGeom>
          <a:solidFill>
            <a:srgbClr val="FFF7E0"/>
          </a:solidFill>
          <a:ln w="10160">
            <a:solidFill>
              <a:srgbClr val="DDE5EF"/>
            </a:solidFill>
            <a:prstDash val="solid"/>
          </a:ln>
        </p:spPr>
        <p:txBody>
          <a:bodyPr/>
          <a:lstStyle/>
          <a:p>
            <a:endParaRPr/>
          </a:p>
        </p:txBody>
      </p:sp>
      <p:sp>
        <p:nvSpPr>
          <p:cNvPr id="17" name="Shape 15"/>
          <p:cNvSpPr/>
          <p:nvPr/>
        </p:nvSpPr>
        <p:spPr>
          <a:xfrm>
            <a:off x="8183880" y="1417320"/>
            <a:ext cx="82296" cy="1463040"/>
          </a:xfrm>
          <a:prstGeom prst="rect">
            <a:avLst/>
          </a:prstGeom>
          <a:solidFill>
            <a:srgbClr val="F4B400"/>
          </a:solidFill>
          <a:ln w="12700">
            <a:solidFill>
              <a:srgbClr val="F4B400">
                <a:alpha val="0"/>
              </a:srgbClr>
            </a:solidFill>
            <a:prstDash val="solid"/>
          </a:ln>
        </p:spPr>
        <p:txBody>
          <a:bodyPr/>
          <a:lstStyle/>
          <a:p>
            <a:endParaRPr/>
          </a:p>
        </p:txBody>
      </p:sp>
      <p:sp>
        <p:nvSpPr>
          <p:cNvPr id="18" name="Text 16"/>
          <p:cNvSpPr/>
          <p:nvPr/>
        </p:nvSpPr>
        <p:spPr>
          <a:xfrm>
            <a:off x="8403336" y="1581912"/>
            <a:ext cx="2962656" cy="274320"/>
          </a:xfrm>
          <a:prstGeom prst="rect">
            <a:avLst/>
          </a:prstGeom>
          <a:noFill/>
          <a:ln/>
        </p:spPr>
        <p:txBody>
          <a:bodyPr wrap="square" lIns="0" tIns="0" rIns="0" bIns="0" rtlCol="0" anchor="ctr"/>
          <a:lstStyle/>
          <a:p>
            <a:pPr marL="0" indent="0">
              <a:buNone/>
            </a:pPr>
            <a:r>
              <a:rPr lang="en-US" sz="2000" b="1" dirty="0">
                <a:solidFill>
                  <a:srgbClr val="0B1F3A"/>
                </a:solidFill>
              </a:rPr>
              <a:t>Management challenge</a:t>
            </a:r>
            <a:endParaRPr lang="en-US" sz="1400" dirty="0"/>
          </a:p>
        </p:txBody>
      </p:sp>
      <p:sp>
        <p:nvSpPr>
          <p:cNvPr id="19" name="Text 17"/>
          <p:cNvSpPr/>
          <p:nvPr/>
        </p:nvSpPr>
        <p:spPr>
          <a:xfrm>
            <a:off x="8403336" y="1984248"/>
            <a:ext cx="2962656" cy="777240"/>
          </a:xfrm>
          <a:prstGeom prst="rect">
            <a:avLst/>
          </a:prstGeom>
          <a:noFill/>
          <a:ln/>
        </p:spPr>
        <p:txBody>
          <a:bodyPr wrap="square" lIns="254" tIns="254" rIns="254" bIns="254" rtlCol="0" anchor="ctr">
            <a:normAutofit fontScale="92500"/>
          </a:bodyPr>
          <a:lstStyle/>
          <a:p>
            <a:pPr marL="0" indent="0">
              <a:buNone/>
            </a:pPr>
            <a:r>
              <a:rPr lang="en-US" sz="1650" dirty="0">
                <a:solidFill>
                  <a:srgbClr val="1F2937"/>
                </a:solidFill>
              </a:rPr>
              <a:t>Prevent differences from becoming stereotypes, exclusion, conflict or unfair decisions.</a:t>
            </a:r>
            <a:endParaRPr lang="en-US" sz="1050" dirty="0"/>
          </a:p>
        </p:txBody>
      </p:sp>
      <p:sp>
        <p:nvSpPr>
          <p:cNvPr id="20" name="Text 18"/>
          <p:cNvSpPr/>
          <p:nvPr/>
        </p:nvSpPr>
        <p:spPr>
          <a:xfrm>
            <a:off x="1143000" y="3703320"/>
            <a:ext cx="9875520" cy="1097280"/>
          </a:xfrm>
          <a:prstGeom prst="rect">
            <a:avLst/>
          </a:prstGeom>
          <a:noFill/>
          <a:ln/>
        </p:spPr>
        <p:txBody>
          <a:bodyPr wrap="square" lIns="508" tIns="508" rIns="508" bIns="508" rtlCol="0" anchor="ctr">
            <a:normAutofit fontScale="92500"/>
          </a:bodyPr>
          <a:lstStyle/>
          <a:p>
            <a:r>
              <a:rPr lang="en-US" sz="2200" dirty="0">
                <a:solidFill>
                  <a:srgbClr val="0B1F3A"/>
                </a:solidFill>
              </a:rPr>
              <a:t>Diversity is not only “who is in the room.”</a:t>
            </a:r>
            <a:endParaRPr lang="en-US" sz="1700" dirty="0"/>
          </a:p>
          <a:p>
            <a:r>
              <a:rPr lang="en-US" sz="2200" dirty="0">
                <a:solidFill>
                  <a:srgbClr val="0B1F3A"/>
                </a:solidFill>
              </a:rPr>
              <a:t>Inclusion is about whose knowledge is heard and used.</a:t>
            </a:r>
            <a:endParaRPr lang="en-US" sz="1700" dirty="0"/>
          </a:p>
          <a:p>
            <a:r>
              <a:rPr lang="en-US" sz="2200" dirty="0">
                <a:solidFill>
                  <a:srgbClr val="0B1F3A"/>
                </a:solidFill>
              </a:rPr>
              <a:t>Quality improves when diverse perspectives are structured into decision processes.</a:t>
            </a:r>
            <a:endParaRPr lang="en-US" sz="1700" dirty="0"/>
          </a:p>
        </p:txBody>
      </p:sp>
      <p:sp>
        <p:nvSpPr>
          <p:cNvPr id="22" name="Text 18">
            <a:extLst>
              <a:ext uri="{FF2B5EF4-FFF2-40B4-BE49-F238E27FC236}">
                <a16:creationId xmlns:a16="http://schemas.microsoft.com/office/drawing/2014/main" id="{CC6EE747-79B4-3018-12DA-B0BE9D168F55}"/>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Two Major Forms of Workplace Diversity</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Surface-level and deep-level diversity influence groups differently over time.</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6</a:t>
            </a:r>
            <a:endParaRPr lang="en-US" sz="850" dirty="0"/>
          </a:p>
        </p:txBody>
      </p:sp>
      <p:sp>
        <p:nvSpPr>
          <p:cNvPr id="8" name="Shape 6"/>
          <p:cNvSpPr/>
          <p:nvPr/>
        </p:nvSpPr>
        <p:spPr>
          <a:xfrm>
            <a:off x="822960" y="1463040"/>
            <a:ext cx="4846320" cy="1645920"/>
          </a:xfrm>
          <a:prstGeom prst="roundRect">
            <a:avLst>
              <a:gd name="adj" fmla="val 5000"/>
            </a:avLst>
          </a:prstGeom>
          <a:solidFill>
            <a:srgbClr val="EAF1FB"/>
          </a:solidFill>
          <a:ln w="10160">
            <a:solidFill>
              <a:srgbClr val="DDE5EF"/>
            </a:solidFill>
            <a:prstDash val="solid"/>
          </a:ln>
        </p:spPr>
        <p:txBody>
          <a:bodyPr/>
          <a:lstStyle/>
          <a:p>
            <a:endParaRPr/>
          </a:p>
        </p:txBody>
      </p:sp>
      <p:sp>
        <p:nvSpPr>
          <p:cNvPr id="9" name="Shape 7"/>
          <p:cNvSpPr/>
          <p:nvPr/>
        </p:nvSpPr>
        <p:spPr>
          <a:xfrm>
            <a:off x="822960" y="1463040"/>
            <a:ext cx="82296" cy="1645920"/>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1042416" y="1627632"/>
            <a:ext cx="4517136" cy="274320"/>
          </a:xfrm>
          <a:prstGeom prst="rect">
            <a:avLst/>
          </a:prstGeom>
          <a:noFill/>
          <a:ln/>
        </p:spPr>
        <p:txBody>
          <a:bodyPr wrap="square" lIns="0" tIns="0" rIns="0" bIns="0" rtlCol="0" anchor="ctr"/>
          <a:lstStyle/>
          <a:p>
            <a:pPr marL="0" indent="0">
              <a:buNone/>
            </a:pPr>
            <a:r>
              <a:rPr lang="en-US" sz="2000" b="1" dirty="0">
                <a:solidFill>
                  <a:srgbClr val="0B1F3A"/>
                </a:solidFill>
              </a:rPr>
              <a:t>Surface-level diversity</a:t>
            </a:r>
            <a:endParaRPr lang="en-US" sz="1400" dirty="0"/>
          </a:p>
        </p:txBody>
      </p:sp>
      <p:sp>
        <p:nvSpPr>
          <p:cNvPr id="11" name="Text 9"/>
          <p:cNvSpPr/>
          <p:nvPr/>
        </p:nvSpPr>
        <p:spPr>
          <a:xfrm>
            <a:off x="1042416" y="2029968"/>
            <a:ext cx="4517136" cy="960120"/>
          </a:xfrm>
          <a:prstGeom prst="rect">
            <a:avLst/>
          </a:prstGeom>
          <a:noFill/>
          <a:ln/>
        </p:spPr>
        <p:txBody>
          <a:bodyPr wrap="square" lIns="254" tIns="254" rIns="254" bIns="254" rtlCol="0" anchor="ctr">
            <a:normAutofit lnSpcReduction="10000"/>
          </a:bodyPr>
          <a:lstStyle/>
          <a:p>
            <a:pPr marL="0" indent="0">
              <a:buNone/>
            </a:pPr>
            <a:r>
              <a:rPr lang="en-US" sz="1650" dirty="0">
                <a:solidFill>
                  <a:srgbClr val="1F2937"/>
                </a:solidFill>
              </a:rPr>
              <a:t>Easily perceived characteristics such as age, gender, race, ethnicity or visible disability. These traits may activate stereotypes, but do not necessarily reflect how people think or feel.</a:t>
            </a:r>
            <a:endParaRPr lang="en-US" sz="1050" dirty="0"/>
          </a:p>
        </p:txBody>
      </p:sp>
      <p:sp>
        <p:nvSpPr>
          <p:cNvPr id="12" name="Shape 10"/>
          <p:cNvSpPr/>
          <p:nvPr/>
        </p:nvSpPr>
        <p:spPr>
          <a:xfrm>
            <a:off x="6492240" y="1463040"/>
            <a:ext cx="4846320" cy="1645920"/>
          </a:xfrm>
          <a:prstGeom prst="roundRect">
            <a:avLst>
              <a:gd name="adj" fmla="val 5000"/>
            </a:avLst>
          </a:prstGeom>
          <a:solidFill>
            <a:srgbClr val="E6F6F6"/>
          </a:solidFill>
          <a:ln w="10160">
            <a:solidFill>
              <a:srgbClr val="DDE5EF"/>
            </a:solidFill>
            <a:prstDash val="solid"/>
          </a:ln>
        </p:spPr>
        <p:txBody>
          <a:bodyPr/>
          <a:lstStyle/>
          <a:p>
            <a:endParaRPr/>
          </a:p>
        </p:txBody>
      </p:sp>
      <p:sp>
        <p:nvSpPr>
          <p:cNvPr id="13" name="Shape 11"/>
          <p:cNvSpPr/>
          <p:nvPr/>
        </p:nvSpPr>
        <p:spPr>
          <a:xfrm>
            <a:off x="6492240" y="1463040"/>
            <a:ext cx="82296" cy="164592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6711696" y="1627632"/>
            <a:ext cx="4517136" cy="274320"/>
          </a:xfrm>
          <a:prstGeom prst="rect">
            <a:avLst/>
          </a:prstGeom>
          <a:noFill/>
          <a:ln/>
        </p:spPr>
        <p:txBody>
          <a:bodyPr wrap="square" lIns="0" tIns="0" rIns="0" bIns="0" rtlCol="0" anchor="ctr"/>
          <a:lstStyle/>
          <a:p>
            <a:pPr marL="0" indent="0">
              <a:buNone/>
            </a:pPr>
            <a:r>
              <a:rPr lang="en-US" sz="2000" b="1" dirty="0">
                <a:solidFill>
                  <a:srgbClr val="0B1F3A"/>
                </a:solidFill>
              </a:rPr>
              <a:t>Deep-level diversity</a:t>
            </a:r>
            <a:endParaRPr lang="en-US" sz="1400" dirty="0"/>
          </a:p>
        </p:txBody>
      </p:sp>
      <p:sp>
        <p:nvSpPr>
          <p:cNvPr id="15" name="Text 13"/>
          <p:cNvSpPr/>
          <p:nvPr/>
        </p:nvSpPr>
        <p:spPr>
          <a:xfrm>
            <a:off x="6711696" y="2029968"/>
            <a:ext cx="4517136" cy="960120"/>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Differences in values, personality and work preferences. These often become more important as people interact and learn about one another.</a:t>
            </a:r>
            <a:endParaRPr lang="en-US" sz="1050" dirty="0"/>
          </a:p>
        </p:txBody>
      </p:sp>
      <p:sp>
        <p:nvSpPr>
          <p:cNvPr id="16" name="Shape 14"/>
          <p:cNvSpPr/>
          <p:nvPr/>
        </p:nvSpPr>
        <p:spPr>
          <a:xfrm>
            <a:off x="6080760" y="1417320"/>
            <a:ext cx="0" cy="1920240"/>
          </a:xfrm>
          <a:prstGeom prst="line">
            <a:avLst/>
          </a:prstGeom>
          <a:noFill/>
          <a:ln w="19050">
            <a:solidFill>
              <a:srgbClr val="CDD6E3"/>
            </a:solidFill>
            <a:prstDash val="solid"/>
          </a:ln>
        </p:spPr>
        <p:txBody>
          <a:bodyPr/>
          <a:lstStyle/>
          <a:p>
            <a:endParaRPr/>
          </a:p>
        </p:txBody>
      </p:sp>
      <p:sp>
        <p:nvSpPr>
          <p:cNvPr id="17" name="Shape 15"/>
          <p:cNvSpPr/>
          <p:nvPr/>
        </p:nvSpPr>
        <p:spPr>
          <a:xfrm>
            <a:off x="1325880" y="4297680"/>
            <a:ext cx="9509760" cy="822960"/>
          </a:xfrm>
          <a:prstGeom prst="roundRect">
            <a:avLst>
              <a:gd name="adj" fmla="val 8889"/>
            </a:avLst>
          </a:prstGeom>
          <a:solidFill>
            <a:srgbClr val="F6F8FB"/>
          </a:solidFill>
          <a:ln w="12700">
            <a:solidFill>
              <a:srgbClr val="F6F8FB">
                <a:alpha val="0"/>
              </a:srgbClr>
            </a:solidFill>
            <a:prstDash val="solid"/>
          </a:ln>
        </p:spPr>
        <p:txBody>
          <a:bodyPr/>
          <a:lstStyle/>
          <a:p>
            <a:endParaRPr/>
          </a:p>
        </p:txBody>
      </p:sp>
      <p:sp>
        <p:nvSpPr>
          <p:cNvPr id="18" name="Text 16"/>
          <p:cNvSpPr/>
          <p:nvPr/>
        </p:nvSpPr>
        <p:spPr>
          <a:xfrm>
            <a:off x="1554480" y="4462272"/>
            <a:ext cx="9052560" cy="548640"/>
          </a:xfrm>
          <a:prstGeom prst="rect">
            <a:avLst/>
          </a:prstGeom>
          <a:noFill/>
          <a:ln/>
        </p:spPr>
        <p:txBody>
          <a:bodyPr wrap="square" lIns="254" tIns="254" rIns="254" bIns="254" rtlCol="0" anchor="ctr">
            <a:normAutofit fontScale="92500" lnSpcReduction="10000"/>
          </a:bodyPr>
          <a:lstStyle/>
          <a:p>
            <a:pPr marL="0" indent="0">
              <a:buNone/>
            </a:pPr>
            <a:r>
              <a:rPr lang="en-US" sz="2000" b="1" dirty="0">
                <a:solidFill>
                  <a:srgbClr val="0B1F3A"/>
                </a:solidFill>
              </a:rPr>
              <a:t>Instructional point: Do not assume that visible similarity means shared values—or that visible difference means incompatible work preferences.</a:t>
            </a:r>
            <a:endParaRPr lang="en-US" sz="1400" dirty="0"/>
          </a:p>
        </p:txBody>
      </p:sp>
      <p:sp>
        <p:nvSpPr>
          <p:cNvPr id="20" name="Text 18">
            <a:extLst>
              <a:ext uri="{FF2B5EF4-FFF2-40B4-BE49-F238E27FC236}">
                <a16:creationId xmlns:a16="http://schemas.microsoft.com/office/drawing/2014/main" id="{E1BAFD10-D501-AD79-85C2-5375B1860173}"/>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The Diversity Iceberg</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Visible traits are only the surface of workplace difference.</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7</a:t>
            </a:r>
            <a:endParaRPr lang="en-US" sz="850" dirty="0"/>
          </a:p>
        </p:txBody>
      </p:sp>
      <p:sp>
        <p:nvSpPr>
          <p:cNvPr id="8" name="Shape 6"/>
          <p:cNvSpPr/>
          <p:nvPr/>
        </p:nvSpPr>
        <p:spPr>
          <a:xfrm>
            <a:off x="3840480" y="1417320"/>
            <a:ext cx="4114800" cy="1051560"/>
          </a:xfrm>
          <a:prstGeom prst="trapezoid">
            <a:avLst/>
          </a:prstGeom>
          <a:solidFill>
            <a:srgbClr val="EAF1FB"/>
          </a:solidFill>
          <a:ln w="12700">
            <a:solidFill>
              <a:srgbClr val="BFD0E8"/>
            </a:solidFill>
            <a:prstDash val="solid"/>
          </a:ln>
        </p:spPr>
        <p:txBody>
          <a:bodyPr/>
          <a:lstStyle/>
          <a:p>
            <a:endParaRPr/>
          </a:p>
        </p:txBody>
      </p:sp>
      <p:sp>
        <p:nvSpPr>
          <p:cNvPr id="9" name="Text 7"/>
          <p:cNvSpPr/>
          <p:nvPr/>
        </p:nvSpPr>
        <p:spPr>
          <a:xfrm>
            <a:off x="4828032" y="1563624"/>
            <a:ext cx="2194560" cy="219456"/>
          </a:xfrm>
          <a:prstGeom prst="rect">
            <a:avLst/>
          </a:prstGeom>
          <a:noFill/>
          <a:ln/>
        </p:spPr>
        <p:txBody>
          <a:bodyPr wrap="square" lIns="0" tIns="0" rIns="0" bIns="0" rtlCol="0" anchor="ctr"/>
          <a:lstStyle/>
          <a:p>
            <a:pPr marL="0" indent="0" algn="ctr">
              <a:buNone/>
            </a:pPr>
            <a:r>
              <a:rPr lang="en-US" sz="2200" b="1" dirty="0">
                <a:solidFill>
                  <a:srgbClr val="0B1F3A"/>
                </a:solidFill>
              </a:rPr>
              <a:t>Visible / Surface</a:t>
            </a:r>
            <a:endParaRPr lang="en-US" sz="1600" dirty="0"/>
          </a:p>
        </p:txBody>
      </p:sp>
      <p:sp>
        <p:nvSpPr>
          <p:cNvPr id="10" name="Text 8"/>
          <p:cNvSpPr/>
          <p:nvPr/>
        </p:nvSpPr>
        <p:spPr>
          <a:xfrm>
            <a:off x="4160520" y="2084832"/>
            <a:ext cx="3429000" cy="182880"/>
          </a:xfrm>
          <a:prstGeom prst="rect">
            <a:avLst/>
          </a:prstGeom>
          <a:noFill/>
          <a:ln/>
        </p:spPr>
        <p:txBody>
          <a:bodyPr wrap="square" lIns="0" tIns="0" rIns="0" bIns="0" rtlCol="0" anchor="ctr"/>
          <a:lstStyle/>
          <a:p>
            <a:pPr marL="0" indent="0" algn="ctr">
              <a:buNone/>
            </a:pPr>
            <a:r>
              <a:rPr lang="en-US" sz="1650" dirty="0">
                <a:solidFill>
                  <a:srgbClr val="415A77"/>
                </a:solidFill>
              </a:rPr>
              <a:t>Age • Gender • Ethnicity • Visible disability</a:t>
            </a:r>
            <a:endParaRPr lang="en-US" sz="1050" dirty="0"/>
          </a:p>
        </p:txBody>
      </p:sp>
      <p:sp>
        <p:nvSpPr>
          <p:cNvPr id="11" name="Shape 9"/>
          <p:cNvSpPr/>
          <p:nvPr/>
        </p:nvSpPr>
        <p:spPr>
          <a:xfrm>
            <a:off x="1828800" y="2743200"/>
            <a:ext cx="8595360" cy="0"/>
          </a:xfrm>
          <a:prstGeom prst="line">
            <a:avLst/>
          </a:prstGeom>
          <a:noFill/>
          <a:ln w="25400">
            <a:solidFill>
              <a:srgbClr val="00A6A6"/>
            </a:solidFill>
            <a:prstDash val="solid"/>
          </a:ln>
        </p:spPr>
        <p:txBody>
          <a:bodyPr/>
          <a:lstStyle/>
          <a:p>
            <a:endParaRPr/>
          </a:p>
        </p:txBody>
      </p:sp>
      <p:sp>
        <p:nvSpPr>
          <p:cNvPr id="12" name="Text 10"/>
          <p:cNvSpPr/>
          <p:nvPr/>
        </p:nvSpPr>
        <p:spPr>
          <a:xfrm>
            <a:off x="3640778" y="2583954"/>
            <a:ext cx="4879963" cy="128016"/>
          </a:xfrm>
          <a:prstGeom prst="rect">
            <a:avLst/>
          </a:prstGeom>
          <a:noFill/>
          <a:ln/>
        </p:spPr>
        <p:txBody>
          <a:bodyPr wrap="square" lIns="0" tIns="0" rIns="0" bIns="0" rtlCol="0" anchor="ctr"/>
          <a:lstStyle/>
          <a:p>
            <a:pPr marL="0" indent="0" algn="ctr">
              <a:buNone/>
            </a:pPr>
            <a:r>
              <a:rPr lang="en-US" sz="1550" dirty="0">
                <a:solidFill>
                  <a:srgbClr val="6B7280"/>
                </a:solidFill>
              </a:rPr>
              <a:t>Most assumptions are made above this line.</a:t>
            </a:r>
            <a:endParaRPr lang="en-US" sz="950" dirty="0"/>
          </a:p>
        </p:txBody>
      </p:sp>
      <p:sp>
        <p:nvSpPr>
          <p:cNvPr id="13" name="Shape 11"/>
          <p:cNvSpPr/>
          <p:nvPr/>
        </p:nvSpPr>
        <p:spPr>
          <a:xfrm rot="10800000">
            <a:off x="3017520" y="2971800"/>
            <a:ext cx="5760720" cy="1920240"/>
          </a:xfrm>
          <a:prstGeom prst="trapezoid">
            <a:avLst/>
          </a:prstGeom>
          <a:solidFill>
            <a:srgbClr val="E6F6F6"/>
          </a:solidFill>
          <a:ln w="12700">
            <a:solidFill>
              <a:srgbClr val="B7E2E2"/>
            </a:solidFill>
            <a:prstDash val="solid"/>
          </a:ln>
        </p:spPr>
        <p:txBody>
          <a:bodyPr/>
          <a:lstStyle/>
          <a:p>
            <a:endParaRPr/>
          </a:p>
        </p:txBody>
      </p:sp>
      <p:sp>
        <p:nvSpPr>
          <p:cNvPr id="14" name="Text 12"/>
          <p:cNvSpPr/>
          <p:nvPr/>
        </p:nvSpPr>
        <p:spPr>
          <a:xfrm>
            <a:off x="4709160" y="3163824"/>
            <a:ext cx="2377440" cy="256032"/>
          </a:xfrm>
          <a:prstGeom prst="rect">
            <a:avLst/>
          </a:prstGeom>
          <a:noFill/>
          <a:ln/>
        </p:spPr>
        <p:txBody>
          <a:bodyPr wrap="square" lIns="0" tIns="0" rIns="0" bIns="0" rtlCol="0" anchor="ctr"/>
          <a:lstStyle/>
          <a:p>
            <a:pPr marL="0" indent="0" algn="ctr">
              <a:buNone/>
            </a:pPr>
            <a:r>
              <a:rPr lang="en-US" sz="2200" b="1" dirty="0">
                <a:solidFill>
                  <a:srgbClr val="00A6A6"/>
                </a:solidFill>
              </a:rPr>
              <a:t>Hidden / Deep</a:t>
            </a:r>
            <a:endParaRPr lang="en-US" sz="1700" dirty="0"/>
          </a:p>
        </p:txBody>
      </p:sp>
      <p:sp>
        <p:nvSpPr>
          <p:cNvPr id="15" name="Text 13"/>
          <p:cNvSpPr/>
          <p:nvPr/>
        </p:nvSpPr>
        <p:spPr>
          <a:xfrm>
            <a:off x="3703320" y="3977640"/>
            <a:ext cx="4389120" cy="402336"/>
          </a:xfrm>
          <a:prstGeom prst="rect">
            <a:avLst/>
          </a:prstGeom>
          <a:noFill/>
          <a:ln/>
        </p:spPr>
        <p:txBody>
          <a:bodyPr wrap="square" lIns="0" tIns="0" rIns="0" bIns="0" rtlCol="0" anchor="ctr">
            <a:normAutofit fontScale="92500" lnSpcReduction="20000"/>
          </a:bodyPr>
          <a:lstStyle/>
          <a:p>
            <a:pPr marL="0" indent="0" algn="ctr">
              <a:buNone/>
            </a:pPr>
            <a:r>
              <a:rPr lang="en-US" sz="1650" dirty="0">
                <a:solidFill>
                  <a:srgbClr val="1F2937"/>
                </a:solidFill>
              </a:rPr>
              <a:t>Values • Personality • Work preferences • Experience • Family background • Beliefs • Learning styles</a:t>
            </a:r>
            <a:endParaRPr lang="en-US" sz="1150" dirty="0"/>
          </a:p>
        </p:txBody>
      </p:sp>
      <p:sp>
        <p:nvSpPr>
          <p:cNvPr id="16" name="Shape 14"/>
          <p:cNvSpPr/>
          <p:nvPr/>
        </p:nvSpPr>
        <p:spPr>
          <a:xfrm>
            <a:off x="822960" y="5166360"/>
            <a:ext cx="10515600" cy="658368"/>
          </a:xfrm>
          <a:prstGeom prst="roundRect">
            <a:avLst>
              <a:gd name="adj" fmla="val 12500"/>
            </a:avLst>
          </a:prstGeom>
          <a:solidFill>
            <a:srgbClr val="F6F8FB"/>
          </a:solidFill>
          <a:ln w="10160">
            <a:solidFill>
              <a:srgbClr val="DDE5EF"/>
            </a:solidFill>
            <a:prstDash val="solid"/>
          </a:ln>
        </p:spPr>
        <p:txBody>
          <a:bodyPr/>
          <a:lstStyle/>
          <a:p>
            <a:endParaRPr/>
          </a:p>
        </p:txBody>
      </p:sp>
      <p:sp>
        <p:nvSpPr>
          <p:cNvPr id="17" name="Shape 15"/>
          <p:cNvSpPr/>
          <p:nvPr/>
        </p:nvSpPr>
        <p:spPr>
          <a:xfrm>
            <a:off x="822960" y="5166360"/>
            <a:ext cx="82296" cy="658368"/>
          </a:xfrm>
          <a:prstGeom prst="rect">
            <a:avLst/>
          </a:prstGeom>
          <a:solidFill>
            <a:srgbClr val="00A6A6"/>
          </a:solidFill>
          <a:ln w="12700">
            <a:solidFill>
              <a:srgbClr val="00A6A6">
                <a:alpha val="0"/>
              </a:srgbClr>
            </a:solidFill>
            <a:prstDash val="solid"/>
          </a:ln>
        </p:spPr>
        <p:txBody>
          <a:bodyPr/>
          <a:lstStyle/>
          <a:p>
            <a:endParaRPr/>
          </a:p>
        </p:txBody>
      </p:sp>
      <p:sp>
        <p:nvSpPr>
          <p:cNvPr id="18" name="Text 16"/>
          <p:cNvSpPr/>
          <p:nvPr/>
        </p:nvSpPr>
        <p:spPr>
          <a:xfrm>
            <a:off x="1042416" y="5330952"/>
            <a:ext cx="10186416" cy="274320"/>
          </a:xfrm>
          <a:prstGeom prst="rect">
            <a:avLst/>
          </a:prstGeom>
          <a:noFill/>
          <a:ln/>
        </p:spPr>
        <p:txBody>
          <a:bodyPr wrap="square" lIns="0" tIns="0" rIns="0" bIns="0" rtlCol="0" anchor="ctr"/>
          <a:lstStyle/>
          <a:p>
            <a:pPr marL="0" indent="0">
              <a:buNone/>
            </a:pPr>
            <a:r>
              <a:rPr lang="en-US" sz="2000" b="1" dirty="0">
                <a:solidFill>
                  <a:srgbClr val="0B1F3A"/>
                </a:solidFill>
              </a:rPr>
              <a:t>Quality implication</a:t>
            </a:r>
            <a:endParaRPr lang="en-US" sz="1400" dirty="0"/>
          </a:p>
        </p:txBody>
      </p:sp>
      <p:sp>
        <p:nvSpPr>
          <p:cNvPr id="19" name="Text 17"/>
          <p:cNvSpPr/>
          <p:nvPr/>
        </p:nvSpPr>
        <p:spPr>
          <a:xfrm>
            <a:off x="1042416" y="5641847"/>
            <a:ext cx="10186416" cy="201168"/>
          </a:xfrm>
          <a:prstGeom prst="rect">
            <a:avLst/>
          </a:prstGeom>
          <a:noFill/>
          <a:ln/>
        </p:spPr>
        <p:txBody>
          <a:bodyPr wrap="square" lIns="254" tIns="254" rIns="254" bIns="254" rtlCol="0" anchor="ctr">
            <a:normAutofit fontScale="92500" lnSpcReduction="20000"/>
          </a:bodyPr>
          <a:lstStyle/>
          <a:p>
            <a:pPr marL="0" indent="0">
              <a:buNone/>
            </a:pPr>
            <a:r>
              <a:rPr lang="en-US" sz="1650" dirty="0">
                <a:solidFill>
                  <a:srgbClr val="1F2937"/>
                </a:solidFill>
              </a:rPr>
              <a:t>A diverse quality team needs structured dialogue to reveal deep-level knowledge before making decisions.</a:t>
            </a:r>
            <a:endParaRPr lang="en-US" sz="1050" dirty="0"/>
          </a:p>
        </p:txBody>
      </p:sp>
      <p:sp>
        <p:nvSpPr>
          <p:cNvPr id="21" name="Text 18">
            <a:extLst>
              <a:ext uri="{FF2B5EF4-FFF2-40B4-BE49-F238E27FC236}">
                <a16:creationId xmlns:a16="http://schemas.microsoft.com/office/drawing/2014/main" id="{F854C4E8-CF76-C7A0-C4E3-64EB9753828C}"/>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19" y="292608"/>
            <a:ext cx="10150703"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Discrimination Undermines Organizational Effectiveness</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Bias can damage fairness, participation and quality performance.</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8</a:t>
            </a:r>
            <a:endParaRPr lang="en-US" sz="850" dirty="0"/>
          </a:p>
        </p:txBody>
      </p:sp>
      <p:sp>
        <p:nvSpPr>
          <p:cNvPr id="8" name="Shape 6"/>
          <p:cNvSpPr/>
          <p:nvPr/>
        </p:nvSpPr>
        <p:spPr>
          <a:xfrm>
            <a:off x="731520" y="1371600"/>
            <a:ext cx="3474720" cy="1554480"/>
          </a:xfrm>
          <a:prstGeom prst="roundRect">
            <a:avLst>
              <a:gd name="adj" fmla="val 5294"/>
            </a:avLst>
          </a:prstGeom>
          <a:solidFill>
            <a:srgbClr val="FFF7E0"/>
          </a:solidFill>
          <a:ln w="10160">
            <a:solidFill>
              <a:srgbClr val="DDE5EF"/>
            </a:solidFill>
            <a:prstDash val="solid"/>
          </a:ln>
        </p:spPr>
        <p:txBody>
          <a:bodyPr/>
          <a:lstStyle/>
          <a:p>
            <a:endParaRPr/>
          </a:p>
        </p:txBody>
      </p:sp>
      <p:sp>
        <p:nvSpPr>
          <p:cNvPr id="9" name="Shape 7"/>
          <p:cNvSpPr/>
          <p:nvPr/>
        </p:nvSpPr>
        <p:spPr>
          <a:xfrm>
            <a:off x="731520" y="1371600"/>
            <a:ext cx="82296" cy="1554480"/>
          </a:xfrm>
          <a:prstGeom prst="rect">
            <a:avLst/>
          </a:prstGeom>
          <a:solidFill>
            <a:srgbClr val="F4B400"/>
          </a:solidFill>
          <a:ln w="12700">
            <a:solidFill>
              <a:srgbClr val="F4B400">
                <a:alpha val="0"/>
              </a:srgbClr>
            </a:solidFill>
            <a:prstDash val="solid"/>
          </a:ln>
        </p:spPr>
        <p:txBody>
          <a:bodyPr/>
          <a:lstStyle/>
          <a:p>
            <a:endParaRPr/>
          </a:p>
        </p:txBody>
      </p:sp>
      <p:sp>
        <p:nvSpPr>
          <p:cNvPr id="10" name="Text 8"/>
          <p:cNvSpPr/>
          <p:nvPr/>
        </p:nvSpPr>
        <p:spPr>
          <a:xfrm>
            <a:off x="950976" y="1536192"/>
            <a:ext cx="3145536" cy="274320"/>
          </a:xfrm>
          <a:prstGeom prst="rect">
            <a:avLst/>
          </a:prstGeom>
          <a:noFill/>
          <a:ln/>
        </p:spPr>
        <p:txBody>
          <a:bodyPr wrap="square" lIns="0" tIns="0" rIns="0" bIns="0" rtlCol="0" anchor="ctr"/>
          <a:lstStyle/>
          <a:p>
            <a:pPr marL="0" indent="0">
              <a:buNone/>
            </a:pPr>
            <a:r>
              <a:rPr lang="en-US" sz="2000" b="1" dirty="0">
                <a:solidFill>
                  <a:srgbClr val="0B1F3A"/>
                </a:solidFill>
              </a:rPr>
              <a:t>Forms</a:t>
            </a:r>
            <a:endParaRPr lang="en-US" sz="1400" dirty="0"/>
          </a:p>
        </p:txBody>
      </p:sp>
      <p:sp>
        <p:nvSpPr>
          <p:cNvPr id="11" name="Text 9"/>
          <p:cNvSpPr/>
          <p:nvPr/>
        </p:nvSpPr>
        <p:spPr>
          <a:xfrm>
            <a:off x="950976" y="1938528"/>
            <a:ext cx="3145536" cy="868680"/>
          </a:xfrm>
          <a:prstGeom prst="rect">
            <a:avLst/>
          </a:prstGeom>
          <a:noFill/>
          <a:ln/>
        </p:spPr>
        <p:txBody>
          <a:bodyPr wrap="square" lIns="254" tIns="254" rIns="254" bIns="254" rtlCol="0" anchor="ctr">
            <a:normAutofit fontScale="92500" lnSpcReduction="10000"/>
          </a:bodyPr>
          <a:lstStyle/>
          <a:p>
            <a:pPr marL="0" indent="0">
              <a:buNone/>
            </a:pPr>
            <a:r>
              <a:rPr lang="en-US" sz="1650" dirty="0">
                <a:solidFill>
                  <a:srgbClr val="1F2937"/>
                </a:solidFill>
              </a:rPr>
              <a:t>Unfair exclusion, harassment, stereotyping, biased evaluation, unequal opportunities and inaccessible work design.</a:t>
            </a:r>
            <a:endParaRPr lang="en-US" sz="1050" dirty="0"/>
          </a:p>
        </p:txBody>
      </p:sp>
      <p:sp>
        <p:nvSpPr>
          <p:cNvPr id="12" name="Shape 10"/>
          <p:cNvSpPr/>
          <p:nvPr/>
        </p:nvSpPr>
        <p:spPr>
          <a:xfrm>
            <a:off x="4389120" y="1371600"/>
            <a:ext cx="3474720" cy="1554480"/>
          </a:xfrm>
          <a:prstGeom prst="roundRect">
            <a:avLst>
              <a:gd name="adj" fmla="val 5294"/>
            </a:avLst>
          </a:prstGeom>
          <a:solidFill>
            <a:srgbClr val="EAF1FB"/>
          </a:solidFill>
          <a:ln w="10160">
            <a:solidFill>
              <a:srgbClr val="DDE5EF"/>
            </a:solidFill>
            <a:prstDash val="solid"/>
          </a:ln>
        </p:spPr>
        <p:txBody>
          <a:bodyPr/>
          <a:lstStyle/>
          <a:p>
            <a:endParaRPr/>
          </a:p>
        </p:txBody>
      </p:sp>
      <p:sp>
        <p:nvSpPr>
          <p:cNvPr id="13" name="Shape 11"/>
          <p:cNvSpPr/>
          <p:nvPr/>
        </p:nvSpPr>
        <p:spPr>
          <a:xfrm>
            <a:off x="4389120" y="1371600"/>
            <a:ext cx="82296" cy="1554480"/>
          </a:xfrm>
          <a:prstGeom prst="rect">
            <a:avLst/>
          </a:prstGeom>
          <a:solidFill>
            <a:srgbClr val="0B1F3A"/>
          </a:solidFill>
          <a:ln w="12700">
            <a:solidFill>
              <a:srgbClr val="0B1F3A">
                <a:alpha val="0"/>
              </a:srgbClr>
            </a:solidFill>
            <a:prstDash val="solid"/>
          </a:ln>
        </p:spPr>
        <p:txBody>
          <a:bodyPr/>
          <a:lstStyle/>
          <a:p>
            <a:endParaRPr/>
          </a:p>
        </p:txBody>
      </p:sp>
      <p:sp>
        <p:nvSpPr>
          <p:cNvPr id="14" name="Text 12"/>
          <p:cNvSpPr/>
          <p:nvPr/>
        </p:nvSpPr>
        <p:spPr>
          <a:xfrm>
            <a:off x="4608576" y="1536192"/>
            <a:ext cx="3145536" cy="274320"/>
          </a:xfrm>
          <a:prstGeom prst="rect">
            <a:avLst/>
          </a:prstGeom>
          <a:noFill/>
          <a:ln/>
        </p:spPr>
        <p:txBody>
          <a:bodyPr wrap="square" lIns="0" tIns="0" rIns="0" bIns="0" rtlCol="0" anchor="ctr"/>
          <a:lstStyle/>
          <a:p>
            <a:pPr marL="0" indent="0">
              <a:buNone/>
            </a:pPr>
            <a:r>
              <a:rPr lang="en-US" sz="2000" b="1" dirty="0">
                <a:solidFill>
                  <a:srgbClr val="0B1F3A"/>
                </a:solidFill>
              </a:rPr>
              <a:t>Behavioral effects</a:t>
            </a:r>
            <a:endParaRPr lang="en-US" sz="1400" dirty="0"/>
          </a:p>
        </p:txBody>
      </p:sp>
      <p:sp>
        <p:nvSpPr>
          <p:cNvPr id="15" name="Text 13"/>
          <p:cNvSpPr/>
          <p:nvPr/>
        </p:nvSpPr>
        <p:spPr>
          <a:xfrm>
            <a:off x="4608576" y="1938528"/>
            <a:ext cx="3145536" cy="868680"/>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Lower trust, silence, withdrawal, stress, reduced commitment and defensive behavior.</a:t>
            </a:r>
            <a:endParaRPr lang="en-US" sz="1050" dirty="0"/>
          </a:p>
        </p:txBody>
      </p:sp>
      <p:sp>
        <p:nvSpPr>
          <p:cNvPr id="16" name="Shape 14"/>
          <p:cNvSpPr/>
          <p:nvPr/>
        </p:nvSpPr>
        <p:spPr>
          <a:xfrm>
            <a:off x="8046720" y="1371600"/>
            <a:ext cx="3474720" cy="1554480"/>
          </a:xfrm>
          <a:prstGeom prst="roundRect">
            <a:avLst>
              <a:gd name="adj" fmla="val 5294"/>
            </a:avLst>
          </a:prstGeom>
          <a:solidFill>
            <a:srgbClr val="E6F6F6"/>
          </a:solidFill>
          <a:ln w="10160">
            <a:solidFill>
              <a:srgbClr val="DDE5EF"/>
            </a:solidFill>
            <a:prstDash val="solid"/>
          </a:ln>
        </p:spPr>
        <p:txBody>
          <a:bodyPr/>
          <a:lstStyle/>
          <a:p>
            <a:endParaRPr/>
          </a:p>
        </p:txBody>
      </p:sp>
      <p:sp>
        <p:nvSpPr>
          <p:cNvPr id="17" name="Shape 15"/>
          <p:cNvSpPr/>
          <p:nvPr/>
        </p:nvSpPr>
        <p:spPr>
          <a:xfrm>
            <a:off x="8046720" y="1371600"/>
            <a:ext cx="82296" cy="1554480"/>
          </a:xfrm>
          <a:prstGeom prst="rect">
            <a:avLst/>
          </a:prstGeom>
          <a:solidFill>
            <a:srgbClr val="00A6A6"/>
          </a:solidFill>
          <a:ln w="12700">
            <a:solidFill>
              <a:srgbClr val="00A6A6">
                <a:alpha val="0"/>
              </a:srgbClr>
            </a:solidFill>
            <a:prstDash val="solid"/>
          </a:ln>
        </p:spPr>
        <p:txBody>
          <a:bodyPr/>
          <a:lstStyle/>
          <a:p>
            <a:endParaRPr/>
          </a:p>
        </p:txBody>
      </p:sp>
      <p:sp>
        <p:nvSpPr>
          <p:cNvPr id="18" name="Text 16"/>
          <p:cNvSpPr/>
          <p:nvPr/>
        </p:nvSpPr>
        <p:spPr>
          <a:xfrm>
            <a:off x="8266176" y="1536192"/>
            <a:ext cx="3145536" cy="274320"/>
          </a:xfrm>
          <a:prstGeom prst="rect">
            <a:avLst/>
          </a:prstGeom>
          <a:noFill/>
          <a:ln/>
        </p:spPr>
        <p:txBody>
          <a:bodyPr wrap="square" lIns="0" tIns="0" rIns="0" bIns="0" rtlCol="0" anchor="ctr"/>
          <a:lstStyle/>
          <a:p>
            <a:pPr marL="0" indent="0">
              <a:buNone/>
            </a:pPr>
            <a:r>
              <a:rPr lang="en-US" sz="2000" b="1" dirty="0">
                <a:solidFill>
                  <a:srgbClr val="0B1F3A"/>
                </a:solidFill>
              </a:rPr>
              <a:t>Quality effects</a:t>
            </a:r>
            <a:endParaRPr lang="en-US" sz="1400" dirty="0"/>
          </a:p>
        </p:txBody>
      </p:sp>
      <p:sp>
        <p:nvSpPr>
          <p:cNvPr id="19" name="Text 17"/>
          <p:cNvSpPr/>
          <p:nvPr/>
        </p:nvSpPr>
        <p:spPr>
          <a:xfrm>
            <a:off x="8266176" y="1938528"/>
            <a:ext cx="3145536" cy="868680"/>
          </a:xfrm>
          <a:prstGeom prst="rect">
            <a:avLst/>
          </a:prstGeom>
          <a:noFill/>
          <a:ln/>
        </p:spPr>
        <p:txBody>
          <a:bodyPr wrap="square" lIns="254" tIns="254" rIns="254" bIns="254" rtlCol="0" anchor="ctr">
            <a:normAutofit fontScale="92500" lnSpcReduction="10000"/>
          </a:bodyPr>
          <a:lstStyle/>
          <a:p>
            <a:pPr marL="0" indent="0">
              <a:buNone/>
            </a:pPr>
            <a:r>
              <a:rPr lang="en-US" sz="1650" dirty="0">
                <a:solidFill>
                  <a:srgbClr val="1F2937"/>
                </a:solidFill>
              </a:rPr>
              <a:t>Under-reporting problems, weak collaboration, poor service recovery, narrow decision-making and lost improvement ideas.</a:t>
            </a:r>
            <a:endParaRPr lang="en-US" sz="1050" dirty="0"/>
          </a:p>
        </p:txBody>
      </p:sp>
      <p:sp>
        <p:nvSpPr>
          <p:cNvPr id="20" name="Shape 18"/>
          <p:cNvSpPr/>
          <p:nvPr/>
        </p:nvSpPr>
        <p:spPr>
          <a:xfrm>
            <a:off x="1005840" y="4251960"/>
            <a:ext cx="10149840" cy="777240"/>
          </a:xfrm>
          <a:prstGeom prst="roundRect">
            <a:avLst>
              <a:gd name="adj" fmla="val 9412"/>
            </a:avLst>
          </a:prstGeom>
          <a:solidFill>
            <a:srgbClr val="F6F8FB"/>
          </a:solidFill>
          <a:ln w="12700">
            <a:solidFill>
              <a:srgbClr val="F6F8FB">
                <a:alpha val="0"/>
              </a:srgbClr>
            </a:solidFill>
            <a:prstDash val="solid"/>
          </a:ln>
        </p:spPr>
        <p:txBody>
          <a:bodyPr/>
          <a:lstStyle/>
          <a:p>
            <a:endParaRPr/>
          </a:p>
        </p:txBody>
      </p:sp>
      <p:sp>
        <p:nvSpPr>
          <p:cNvPr id="21" name="Text 19"/>
          <p:cNvSpPr/>
          <p:nvPr/>
        </p:nvSpPr>
        <p:spPr>
          <a:xfrm>
            <a:off x="1234440" y="4416552"/>
            <a:ext cx="9692640" cy="502920"/>
          </a:xfrm>
          <a:prstGeom prst="rect">
            <a:avLst/>
          </a:prstGeom>
          <a:noFill/>
          <a:ln/>
        </p:spPr>
        <p:txBody>
          <a:bodyPr wrap="square" lIns="254" tIns="254" rIns="254" bIns="254" rtlCol="0" anchor="ctr">
            <a:normAutofit fontScale="92500" lnSpcReduction="20000"/>
          </a:bodyPr>
          <a:lstStyle/>
          <a:p>
            <a:pPr marL="0" indent="0">
              <a:buNone/>
            </a:pPr>
            <a:r>
              <a:rPr lang="en-US" sz="2000" b="1" dirty="0">
                <a:solidFill>
                  <a:srgbClr val="0B1F3A"/>
                </a:solidFill>
              </a:rPr>
              <a:t>Quality principle: People who do not feel respected or safe are less likely to speak up about defects, risks or customer needs.</a:t>
            </a:r>
            <a:endParaRPr lang="en-US" sz="1400" dirty="0"/>
          </a:p>
        </p:txBody>
      </p:sp>
      <p:sp>
        <p:nvSpPr>
          <p:cNvPr id="24" name="Text 18">
            <a:extLst>
              <a:ext uri="{FF2B5EF4-FFF2-40B4-BE49-F238E27FC236}">
                <a16:creationId xmlns:a16="http://schemas.microsoft.com/office/drawing/2014/main" id="{EFF3D63E-6C77-E725-37FF-7A5C705DF8E5}"/>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
        <p:nvSpPr>
          <p:cNvPr id="22" name="Text 19">
            <a:extLst>
              <a:ext uri="{FF2B5EF4-FFF2-40B4-BE49-F238E27FC236}">
                <a16:creationId xmlns:a16="http://schemas.microsoft.com/office/drawing/2014/main" id="{ADFD5702-6769-DD57-12F1-366AEE927F2A}"/>
              </a:ext>
            </a:extLst>
          </p:cNvPr>
          <p:cNvSpPr/>
          <p:nvPr/>
        </p:nvSpPr>
        <p:spPr>
          <a:xfrm>
            <a:off x="1280160" y="5266944"/>
            <a:ext cx="9692640" cy="502920"/>
          </a:xfrm>
          <a:prstGeom prst="rect">
            <a:avLst/>
          </a:prstGeom>
          <a:solidFill>
            <a:schemeClr val="accent5">
              <a:lumMod val="20000"/>
              <a:lumOff val="80000"/>
            </a:schemeClr>
          </a:solidFill>
          <a:ln/>
        </p:spPr>
        <p:txBody>
          <a:bodyPr wrap="square" lIns="254" tIns="254" rIns="254" bIns="254" rtlCol="0" anchor="ctr">
            <a:normAutofit fontScale="92500" lnSpcReduction="20000"/>
          </a:bodyPr>
          <a:lstStyle/>
          <a:p>
            <a:r>
              <a:rPr lang="en-US" sz="2000" dirty="0"/>
              <a:t>Discrimination → Lower psychological safety → Employee silence → Problems remain hidden → Poor quality decisions → Lower organizational effectiveness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Stereotypes and Stereotype Threat</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Bias affects both perception and performance.</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9</a:t>
            </a:r>
            <a:endParaRPr lang="en-US" sz="850" dirty="0"/>
          </a:p>
        </p:txBody>
      </p:sp>
      <p:sp>
        <p:nvSpPr>
          <p:cNvPr id="8" name="Shape 6"/>
          <p:cNvSpPr/>
          <p:nvPr/>
        </p:nvSpPr>
        <p:spPr>
          <a:xfrm>
            <a:off x="822960" y="1417320"/>
            <a:ext cx="4846320" cy="1097280"/>
          </a:xfrm>
          <a:prstGeom prst="roundRect">
            <a:avLst>
              <a:gd name="adj" fmla="val 7500"/>
            </a:avLst>
          </a:prstGeom>
          <a:solidFill>
            <a:srgbClr val="EAF1FB"/>
          </a:solidFill>
          <a:ln w="10160">
            <a:solidFill>
              <a:srgbClr val="DDE5EF"/>
            </a:solidFill>
            <a:prstDash val="solid"/>
          </a:ln>
        </p:spPr>
        <p:txBody>
          <a:bodyPr/>
          <a:lstStyle/>
          <a:p>
            <a:endParaRPr/>
          </a:p>
        </p:txBody>
      </p:sp>
      <p:sp>
        <p:nvSpPr>
          <p:cNvPr id="9" name="Shape 7"/>
          <p:cNvSpPr/>
          <p:nvPr/>
        </p:nvSpPr>
        <p:spPr>
          <a:xfrm>
            <a:off x="822960" y="1417320"/>
            <a:ext cx="82296" cy="1097280"/>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1042416" y="1581912"/>
            <a:ext cx="4517136" cy="274320"/>
          </a:xfrm>
          <a:prstGeom prst="rect">
            <a:avLst/>
          </a:prstGeom>
          <a:noFill/>
          <a:ln/>
        </p:spPr>
        <p:txBody>
          <a:bodyPr wrap="square" lIns="0" tIns="0" rIns="0" bIns="0" rtlCol="0" anchor="ctr"/>
          <a:lstStyle/>
          <a:p>
            <a:pPr marL="0" indent="0">
              <a:buNone/>
            </a:pPr>
            <a:r>
              <a:rPr lang="en-US" sz="2000" b="1" dirty="0">
                <a:solidFill>
                  <a:srgbClr val="0B1F3A"/>
                </a:solidFill>
              </a:rPr>
              <a:t>Stereotype</a:t>
            </a:r>
            <a:endParaRPr lang="en-US" sz="1400" dirty="0"/>
          </a:p>
        </p:txBody>
      </p:sp>
      <p:sp>
        <p:nvSpPr>
          <p:cNvPr id="11" name="Text 9"/>
          <p:cNvSpPr/>
          <p:nvPr/>
        </p:nvSpPr>
        <p:spPr>
          <a:xfrm>
            <a:off x="1042416" y="1984248"/>
            <a:ext cx="4517136" cy="411480"/>
          </a:xfrm>
          <a:prstGeom prst="rect">
            <a:avLst/>
          </a:prstGeom>
          <a:noFill/>
          <a:ln/>
        </p:spPr>
        <p:txBody>
          <a:bodyPr wrap="square" lIns="254" tIns="254" rIns="254" bIns="254" rtlCol="0" anchor="ctr">
            <a:normAutofit fontScale="92500" lnSpcReduction="20000"/>
          </a:bodyPr>
          <a:lstStyle/>
          <a:p>
            <a:pPr marL="0" indent="0">
              <a:buNone/>
            </a:pPr>
            <a:r>
              <a:rPr lang="en-US" sz="1650" dirty="0">
                <a:solidFill>
                  <a:srgbClr val="1F2937"/>
                </a:solidFill>
              </a:rPr>
              <a:t>A generalized belief about a group that may distort how an individual is judged.</a:t>
            </a:r>
            <a:endParaRPr lang="en-US" sz="1050" dirty="0"/>
          </a:p>
        </p:txBody>
      </p:sp>
      <p:sp>
        <p:nvSpPr>
          <p:cNvPr id="12" name="Shape 10"/>
          <p:cNvSpPr/>
          <p:nvPr/>
        </p:nvSpPr>
        <p:spPr>
          <a:xfrm>
            <a:off x="6492240" y="1417320"/>
            <a:ext cx="4846320" cy="1097280"/>
          </a:xfrm>
          <a:prstGeom prst="roundRect">
            <a:avLst>
              <a:gd name="adj" fmla="val 7500"/>
            </a:avLst>
          </a:prstGeom>
          <a:solidFill>
            <a:srgbClr val="E6F6F6"/>
          </a:solidFill>
          <a:ln w="10160">
            <a:solidFill>
              <a:srgbClr val="DDE5EF"/>
            </a:solidFill>
            <a:prstDash val="solid"/>
          </a:ln>
        </p:spPr>
        <p:txBody>
          <a:bodyPr/>
          <a:lstStyle/>
          <a:p>
            <a:endParaRPr/>
          </a:p>
        </p:txBody>
      </p:sp>
      <p:sp>
        <p:nvSpPr>
          <p:cNvPr id="13" name="Shape 11"/>
          <p:cNvSpPr/>
          <p:nvPr/>
        </p:nvSpPr>
        <p:spPr>
          <a:xfrm>
            <a:off x="6492240" y="1417320"/>
            <a:ext cx="82296" cy="109728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6711696" y="1581912"/>
            <a:ext cx="4517136" cy="274320"/>
          </a:xfrm>
          <a:prstGeom prst="rect">
            <a:avLst/>
          </a:prstGeom>
          <a:noFill/>
          <a:ln/>
        </p:spPr>
        <p:txBody>
          <a:bodyPr wrap="square" lIns="0" tIns="0" rIns="0" bIns="0" rtlCol="0" anchor="ctr"/>
          <a:lstStyle/>
          <a:p>
            <a:pPr marL="0" indent="0">
              <a:buNone/>
            </a:pPr>
            <a:r>
              <a:rPr lang="en-US" sz="2000" b="1" dirty="0">
                <a:solidFill>
                  <a:srgbClr val="0B1F3A"/>
                </a:solidFill>
              </a:rPr>
              <a:t>Stereotype threat</a:t>
            </a:r>
            <a:endParaRPr lang="en-US" sz="1400" dirty="0"/>
          </a:p>
        </p:txBody>
      </p:sp>
      <p:sp>
        <p:nvSpPr>
          <p:cNvPr id="15" name="Text 13"/>
          <p:cNvSpPr/>
          <p:nvPr/>
        </p:nvSpPr>
        <p:spPr>
          <a:xfrm>
            <a:off x="6711696" y="1984248"/>
            <a:ext cx="4517136" cy="411480"/>
          </a:xfrm>
          <a:prstGeom prst="rect">
            <a:avLst/>
          </a:prstGeom>
          <a:noFill/>
          <a:ln/>
        </p:spPr>
        <p:txBody>
          <a:bodyPr wrap="square" lIns="254" tIns="254" rIns="254" bIns="254" rtlCol="0" anchor="ctr">
            <a:normAutofit fontScale="92500" lnSpcReduction="20000"/>
          </a:bodyPr>
          <a:lstStyle/>
          <a:p>
            <a:pPr marL="0" indent="0">
              <a:buNone/>
            </a:pPr>
            <a:r>
              <a:rPr lang="en-US" sz="1650" dirty="0">
                <a:solidFill>
                  <a:srgbClr val="1F2937"/>
                </a:solidFill>
              </a:rPr>
              <a:t>The risk that people underperform or withdraw because they fear confirming a negative stereotype.</a:t>
            </a:r>
            <a:endParaRPr lang="en-US" sz="1050" dirty="0"/>
          </a:p>
        </p:txBody>
      </p:sp>
      <p:sp>
        <p:nvSpPr>
          <p:cNvPr id="16" name="Text 14"/>
          <p:cNvSpPr/>
          <p:nvPr/>
        </p:nvSpPr>
        <p:spPr>
          <a:xfrm>
            <a:off x="1097280" y="3246120"/>
            <a:ext cx="9784080" cy="1234440"/>
          </a:xfrm>
          <a:prstGeom prst="rect">
            <a:avLst/>
          </a:prstGeom>
          <a:noFill/>
          <a:ln/>
        </p:spPr>
        <p:txBody>
          <a:bodyPr wrap="square" lIns="508" tIns="508" rIns="508" bIns="508" rtlCol="0" anchor="ctr">
            <a:normAutofit/>
          </a:bodyPr>
          <a:lstStyle/>
          <a:p>
            <a:r>
              <a:rPr lang="en-US" sz="2200" dirty="0">
                <a:solidFill>
                  <a:srgbClr val="1F2937"/>
                </a:solidFill>
              </a:rPr>
              <a:t>Managers may misread capability because they see the label before the person.</a:t>
            </a:r>
            <a:endParaRPr lang="en-US" sz="1600" dirty="0"/>
          </a:p>
          <a:p>
            <a:r>
              <a:rPr lang="en-US" sz="2200" dirty="0">
                <a:solidFill>
                  <a:srgbClr val="1F2937"/>
                </a:solidFill>
              </a:rPr>
              <a:t>Employees may avoid contribution if they expect bias or ridicule.</a:t>
            </a:r>
            <a:endParaRPr lang="en-US" sz="1600" dirty="0"/>
          </a:p>
          <a:p>
            <a:r>
              <a:rPr lang="en-US" sz="2200" dirty="0">
                <a:solidFill>
                  <a:srgbClr val="1F2937"/>
                </a:solidFill>
              </a:rPr>
              <a:t>Quality teams lose important data when members self-censor.</a:t>
            </a:r>
            <a:endParaRPr lang="en-US" sz="1600" dirty="0"/>
          </a:p>
        </p:txBody>
      </p:sp>
      <p:sp>
        <p:nvSpPr>
          <p:cNvPr id="17" name="Shape 15"/>
          <p:cNvSpPr/>
          <p:nvPr/>
        </p:nvSpPr>
        <p:spPr>
          <a:xfrm>
            <a:off x="3474720" y="5166360"/>
            <a:ext cx="5303520" cy="329184"/>
          </a:xfrm>
          <a:prstGeom prst="roundRect">
            <a:avLst>
              <a:gd name="adj" fmla="val 19444"/>
            </a:avLst>
          </a:prstGeom>
          <a:solidFill>
            <a:srgbClr val="0B1F3A"/>
          </a:solidFill>
          <a:ln w="12700">
            <a:solidFill>
              <a:srgbClr val="0B1F3A">
                <a:alpha val="0"/>
              </a:srgbClr>
            </a:solidFill>
            <a:prstDash val="solid"/>
          </a:ln>
        </p:spPr>
        <p:txBody>
          <a:bodyPr/>
          <a:lstStyle/>
          <a:p>
            <a:endParaRPr/>
          </a:p>
        </p:txBody>
      </p:sp>
      <p:sp>
        <p:nvSpPr>
          <p:cNvPr id="18" name="Text 16"/>
          <p:cNvSpPr/>
          <p:nvPr/>
        </p:nvSpPr>
        <p:spPr>
          <a:xfrm>
            <a:off x="3584448" y="5230368"/>
            <a:ext cx="5084064" cy="146304"/>
          </a:xfrm>
          <a:prstGeom prst="rect">
            <a:avLst/>
          </a:prstGeom>
          <a:noFill/>
          <a:ln/>
        </p:spPr>
        <p:txBody>
          <a:bodyPr wrap="square" lIns="0" tIns="0" rIns="0" bIns="0" rtlCol="0" anchor="ctr"/>
          <a:lstStyle/>
          <a:p>
            <a:pPr marL="0" indent="0" algn="ctr">
              <a:buNone/>
            </a:pPr>
            <a:r>
              <a:rPr lang="en-US" sz="1550" b="1" dirty="0">
                <a:solidFill>
                  <a:srgbClr val="FFFFFF"/>
                </a:solidFill>
              </a:rPr>
              <a:t>Move from labels to evidence-based evaluation.</a:t>
            </a:r>
            <a:endParaRPr lang="en-US" sz="950" dirty="0"/>
          </a:p>
        </p:txBody>
      </p:sp>
      <p:sp>
        <p:nvSpPr>
          <p:cNvPr id="20" name="Text 18">
            <a:extLst>
              <a:ext uri="{FF2B5EF4-FFF2-40B4-BE49-F238E27FC236}">
                <a16:creationId xmlns:a16="http://schemas.microsoft.com/office/drawing/2014/main" id="{1DF173F8-4357-D050-12DE-0716B4CC79EC}"/>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Biographical Characteristics: Use Carefully</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Observable characteristics can matter, but should not replace evidence.</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10</a:t>
            </a:r>
            <a:endParaRPr lang="en-US" sz="850" dirty="0"/>
          </a:p>
        </p:txBody>
      </p:sp>
      <p:sp>
        <p:nvSpPr>
          <p:cNvPr id="8" name="Shape 6"/>
          <p:cNvSpPr/>
          <p:nvPr/>
        </p:nvSpPr>
        <p:spPr>
          <a:xfrm>
            <a:off x="777240" y="1325880"/>
            <a:ext cx="3246120" cy="1033272"/>
          </a:xfrm>
          <a:prstGeom prst="roundRect">
            <a:avLst>
              <a:gd name="adj" fmla="val 7965"/>
            </a:avLst>
          </a:prstGeom>
          <a:solidFill>
            <a:srgbClr val="EAF1FB"/>
          </a:solidFill>
          <a:ln w="10160">
            <a:solidFill>
              <a:srgbClr val="DDE5EF"/>
            </a:solidFill>
            <a:prstDash val="solid"/>
          </a:ln>
        </p:spPr>
        <p:txBody>
          <a:bodyPr/>
          <a:lstStyle/>
          <a:p>
            <a:endParaRPr/>
          </a:p>
        </p:txBody>
      </p:sp>
      <p:sp>
        <p:nvSpPr>
          <p:cNvPr id="9" name="Shape 7"/>
          <p:cNvSpPr/>
          <p:nvPr/>
        </p:nvSpPr>
        <p:spPr>
          <a:xfrm>
            <a:off x="777240" y="1325880"/>
            <a:ext cx="82296" cy="1033272"/>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996696" y="1490472"/>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Age</a:t>
            </a:r>
            <a:endParaRPr lang="en-US" sz="1400" dirty="0"/>
          </a:p>
        </p:txBody>
      </p:sp>
      <p:sp>
        <p:nvSpPr>
          <p:cNvPr id="11" name="Text 9"/>
          <p:cNvSpPr/>
          <p:nvPr/>
        </p:nvSpPr>
        <p:spPr>
          <a:xfrm>
            <a:off x="996696" y="1892808"/>
            <a:ext cx="2916936" cy="347472"/>
          </a:xfrm>
          <a:prstGeom prst="rect">
            <a:avLst/>
          </a:prstGeom>
          <a:noFill/>
          <a:ln/>
        </p:spPr>
        <p:txBody>
          <a:bodyPr wrap="square" lIns="254" tIns="254" rIns="254" bIns="254" rtlCol="0" anchor="ctr">
            <a:normAutofit fontScale="77500" lnSpcReduction="20000"/>
          </a:bodyPr>
          <a:lstStyle/>
          <a:p>
            <a:pPr marL="0" indent="0">
              <a:buNone/>
            </a:pPr>
            <a:r>
              <a:rPr lang="en-US" sz="1650" dirty="0">
                <a:solidFill>
                  <a:srgbClr val="1F2937"/>
                </a:solidFill>
              </a:rPr>
              <a:t>Avoid assumptions about learning, adaptability or productivity.</a:t>
            </a:r>
            <a:endParaRPr lang="en-US" sz="1050" dirty="0"/>
          </a:p>
        </p:txBody>
      </p:sp>
      <p:sp>
        <p:nvSpPr>
          <p:cNvPr id="12" name="Shape 10"/>
          <p:cNvSpPr/>
          <p:nvPr/>
        </p:nvSpPr>
        <p:spPr>
          <a:xfrm>
            <a:off x="4480560" y="1325880"/>
            <a:ext cx="3246120" cy="1033272"/>
          </a:xfrm>
          <a:prstGeom prst="roundRect">
            <a:avLst>
              <a:gd name="adj" fmla="val 7965"/>
            </a:avLst>
          </a:prstGeom>
          <a:solidFill>
            <a:srgbClr val="E6F6F6"/>
          </a:solidFill>
          <a:ln w="10160">
            <a:solidFill>
              <a:srgbClr val="DDE5EF"/>
            </a:solidFill>
            <a:prstDash val="solid"/>
          </a:ln>
        </p:spPr>
        <p:txBody>
          <a:bodyPr/>
          <a:lstStyle/>
          <a:p>
            <a:endParaRPr/>
          </a:p>
        </p:txBody>
      </p:sp>
      <p:sp>
        <p:nvSpPr>
          <p:cNvPr id="13" name="Shape 11"/>
          <p:cNvSpPr/>
          <p:nvPr/>
        </p:nvSpPr>
        <p:spPr>
          <a:xfrm>
            <a:off x="4480560" y="1325880"/>
            <a:ext cx="82296" cy="1033272"/>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4700016" y="1490472"/>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Gender</a:t>
            </a:r>
            <a:endParaRPr lang="en-US" sz="1400" dirty="0"/>
          </a:p>
        </p:txBody>
      </p:sp>
      <p:sp>
        <p:nvSpPr>
          <p:cNvPr id="15" name="Text 13"/>
          <p:cNvSpPr/>
          <p:nvPr/>
        </p:nvSpPr>
        <p:spPr>
          <a:xfrm>
            <a:off x="4700016" y="1892808"/>
            <a:ext cx="2916936" cy="347472"/>
          </a:xfrm>
          <a:prstGeom prst="rect">
            <a:avLst/>
          </a:prstGeom>
          <a:noFill/>
          <a:ln/>
        </p:spPr>
        <p:txBody>
          <a:bodyPr wrap="square" lIns="254" tIns="254" rIns="254" bIns="254" rtlCol="0" anchor="ctr">
            <a:normAutofit fontScale="77500" lnSpcReduction="20000"/>
          </a:bodyPr>
          <a:lstStyle/>
          <a:p>
            <a:pPr marL="0" indent="0">
              <a:buNone/>
            </a:pPr>
            <a:r>
              <a:rPr lang="en-US" sz="1650" dirty="0">
                <a:solidFill>
                  <a:srgbClr val="1F2937"/>
                </a:solidFill>
              </a:rPr>
              <a:t>Evaluate work requirements and performance, not stereotypes.</a:t>
            </a:r>
            <a:endParaRPr lang="en-US" sz="1050" dirty="0"/>
          </a:p>
        </p:txBody>
      </p:sp>
      <p:sp>
        <p:nvSpPr>
          <p:cNvPr id="16" name="Shape 14"/>
          <p:cNvSpPr/>
          <p:nvPr/>
        </p:nvSpPr>
        <p:spPr>
          <a:xfrm>
            <a:off x="8183880" y="1325880"/>
            <a:ext cx="3246120" cy="1033272"/>
          </a:xfrm>
          <a:prstGeom prst="roundRect">
            <a:avLst>
              <a:gd name="adj" fmla="val 7965"/>
            </a:avLst>
          </a:prstGeom>
          <a:solidFill>
            <a:srgbClr val="EAF6ED"/>
          </a:solidFill>
          <a:ln w="10160">
            <a:solidFill>
              <a:srgbClr val="DDE5EF"/>
            </a:solidFill>
            <a:prstDash val="solid"/>
          </a:ln>
        </p:spPr>
        <p:txBody>
          <a:bodyPr/>
          <a:lstStyle/>
          <a:p>
            <a:endParaRPr/>
          </a:p>
        </p:txBody>
      </p:sp>
      <p:sp>
        <p:nvSpPr>
          <p:cNvPr id="17" name="Shape 15"/>
          <p:cNvSpPr/>
          <p:nvPr/>
        </p:nvSpPr>
        <p:spPr>
          <a:xfrm>
            <a:off x="8183880" y="1325880"/>
            <a:ext cx="82296" cy="1033272"/>
          </a:xfrm>
          <a:prstGeom prst="rect">
            <a:avLst/>
          </a:prstGeom>
          <a:solidFill>
            <a:srgbClr val="2E7D32"/>
          </a:solidFill>
          <a:ln w="12700">
            <a:solidFill>
              <a:srgbClr val="2E7D32">
                <a:alpha val="0"/>
              </a:srgbClr>
            </a:solidFill>
            <a:prstDash val="solid"/>
          </a:ln>
        </p:spPr>
        <p:txBody>
          <a:bodyPr/>
          <a:lstStyle/>
          <a:p>
            <a:endParaRPr/>
          </a:p>
        </p:txBody>
      </p:sp>
      <p:sp>
        <p:nvSpPr>
          <p:cNvPr id="18" name="Text 16"/>
          <p:cNvSpPr/>
          <p:nvPr/>
        </p:nvSpPr>
        <p:spPr>
          <a:xfrm>
            <a:off x="8403336" y="1490472"/>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Race &amp; ethnicity</a:t>
            </a:r>
            <a:endParaRPr lang="en-US" sz="1400" dirty="0"/>
          </a:p>
        </p:txBody>
      </p:sp>
      <p:sp>
        <p:nvSpPr>
          <p:cNvPr id="19" name="Text 17"/>
          <p:cNvSpPr/>
          <p:nvPr/>
        </p:nvSpPr>
        <p:spPr>
          <a:xfrm>
            <a:off x="8403336" y="1892808"/>
            <a:ext cx="2916936" cy="347472"/>
          </a:xfrm>
          <a:prstGeom prst="rect">
            <a:avLst/>
          </a:prstGeom>
          <a:noFill/>
          <a:ln/>
        </p:spPr>
        <p:txBody>
          <a:bodyPr wrap="square" lIns="254" tIns="254" rIns="254" bIns="254" rtlCol="0" anchor="ctr">
            <a:normAutofit fontScale="77500" lnSpcReduction="20000"/>
          </a:bodyPr>
          <a:lstStyle/>
          <a:p>
            <a:pPr marL="0" indent="0">
              <a:buNone/>
            </a:pPr>
            <a:r>
              <a:rPr lang="en-US" sz="1650" dirty="0">
                <a:solidFill>
                  <a:srgbClr val="1F2937"/>
                </a:solidFill>
              </a:rPr>
              <a:t>Build fair systems and prevent exclusion or biased judgment.</a:t>
            </a:r>
            <a:endParaRPr lang="en-US" sz="1050" dirty="0"/>
          </a:p>
        </p:txBody>
      </p:sp>
      <p:sp>
        <p:nvSpPr>
          <p:cNvPr id="20" name="Shape 18"/>
          <p:cNvSpPr/>
          <p:nvPr/>
        </p:nvSpPr>
        <p:spPr>
          <a:xfrm>
            <a:off x="777240" y="2834640"/>
            <a:ext cx="3246120" cy="1033272"/>
          </a:xfrm>
          <a:prstGeom prst="roundRect">
            <a:avLst>
              <a:gd name="adj" fmla="val 7965"/>
            </a:avLst>
          </a:prstGeom>
          <a:solidFill>
            <a:srgbClr val="FFF7E0"/>
          </a:solidFill>
          <a:ln w="10160">
            <a:solidFill>
              <a:srgbClr val="DDE5EF"/>
            </a:solidFill>
            <a:prstDash val="solid"/>
          </a:ln>
        </p:spPr>
        <p:txBody>
          <a:bodyPr/>
          <a:lstStyle/>
          <a:p>
            <a:endParaRPr/>
          </a:p>
        </p:txBody>
      </p:sp>
      <p:sp>
        <p:nvSpPr>
          <p:cNvPr id="21" name="Shape 19"/>
          <p:cNvSpPr/>
          <p:nvPr/>
        </p:nvSpPr>
        <p:spPr>
          <a:xfrm>
            <a:off x="777240" y="2834640"/>
            <a:ext cx="82296" cy="1033272"/>
          </a:xfrm>
          <a:prstGeom prst="rect">
            <a:avLst/>
          </a:prstGeom>
          <a:solidFill>
            <a:srgbClr val="F4B400"/>
          </a:solidFill>
          <a:ln w="12700">
            <a:solidFill>
              <a:srgbClr val="F4B400">
                <a:alpha val="0"/>
              </a:srgbClr>
            </a:solidFill>
            <a:prstDash val="solid"/>
          </a:ln>
        </p:spPr>
        <p:txBody>
          <a:bodyPr/>
          <a:lstStyle/>
          <a:p>
            <a:endParaRPr/>
          </a:p>
        </p:txBody>
      </p:sp>
      <p:sp>
        <p:nvSpPr>
          <p:cNvPr id="22" name="Text 20"/>
          <p:cNvSpPr/>
          <p:nvPr/>
        </p:nvSpPr>
        <p:spPr>
          <a:xfrm>
            <a:off x="996696" y="2999232"/>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Disability</a:t>
            </a:r>
            <a:endParaRPr lang="en-US" sz="1400" dirty="0"/>
          </a:p>
        </p:txBody>
      </p:sp>
      <p:sp>
        <p:nvSpPr>
          <p:cNvPr id="23" name="Text 21"/>
          <p:cNvSpPr/>
          <p:nvPr/>
        </p:nvSpPr>
        <p:spPr>
          <a:xfrm>
            <a:off x="996696" y="3401568"/>
            <a:ext cx="2916936" cy="347472"/>
          </a:xfrm>
          <a:prstGeom prst="rect">
            <a:avLst/>
          </a:prstGeom>
          <a:noFill/>
          <a:ln/>
        </p:spPr>
        <p:txBody>
          <a:bodyPr wrap="square" lIns="254" tIns="254" rIns="254" bIns="254" rtlCol="0" anchor="ctr">
            <a:normAutofit fontScale="77500" lnSpcReduction="20000"/>
          </a:bodyPr>
          <a:lstStyle/>
          <a:p>
            <a:pPr marL="0" indent="0">
              <a:buNone/>
            </a:pPr>
            <a:r>
              <a:rPr lang="en-US" sz="1650" dirty="0">
                <a:solidFill>
                  <a:srgbClr val="1F2937"/>
                </a:solidFill>
              </a:rPr>
              <a:t>Focus on capability, accommodation and job fit.</a:t>
            </a:r>
            <a:endParaRPr lang="en-US" sz="1050" dirty="0"/>
          </a:p>
        </p:txBody>
      </p:sp>
      <p:sp>
        <p:nvSpPr>
          <p:cNvPr id="24" name="Shape 22"/>
          <p:cNvSpPr/>
          <p:nvPr/>
        </p:nvSpPr>
        <p:spPr>
          <a:xfrm>
            <a:off x="4480560" y="2834640"/>
            <a:ext cx="3246120" cy="1033272"/>
          </a:xfrm>
          <a:prstGeom prst="roundRect">
            <a:avLst>
              <a:gd name="adj" fmla="val 7965"/>
            </a:avLst>
          </a:prstGeom>
          <a:solidFill>
            <a:srgbClr val="F6F8FB"/>
          </a:solidFill>
          <a:ln w="10160">
            <a:solidFill>
              <a:srgbClr val="DDE5EF"/>
            </a:solidFill>
            <a:prstDash val="solid"/>
          </a:ln>
        </p:spPr>
        <p:txBody>
          <a:bodyPr/>
          <a:lstStyle/>
          <a:p>
            <a:endParaRPr/>
          </a:p>
        </p:txBody>
      </p:sp>
      <p:sp>
        <p:nvSpPr>
          <p:cNvPr id="25" name="Shape 23"/>
          <p:cNvSpPr/>
          <p:nvPr/>
        </p:nvSpPr>
        <p:spPr>
          <a:xfrm>
            <a:off x="4480560" y="2834640"/>
            <a:ext cx="82296" cy="1033272"/>
          </a:xfrm>
          <a:prstGeom prst="rect">
            <a:avLst/>
          </a:prstGeom>
          <a:solidFill>
            <a:srgbClr val="415A77"/>
          </a:solidFill>
          <a:ln w="12700">
            <a:solidFill>
              <a:srgbClr val="415A77">
                <a:alpha val="0"/>
              </a:srgbClr>
            </a:solidFill>
            <a:prstDash val="solid"/>
          </a:ln>
        </p:spPr>
        <p:txBody>
          <a:bodyPr/>
          <a:lstStyle/>
          <a:p>
            <a:endParaRPr/>
          </a:p>
        </p:txBody>
      </p:sp>
      <p:sp>
        <p:nvSpPr>
          <p:cNvPr id="26" name="Text 24"/>
          <p:cNvSpPr/>
          <p:nvPr/>
        </p:nvSpPr>
        <p:spPr>
          <a:xfrm>
            <a:off x="4700016" y="2999232"/>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Tenure</a:t>
            </a:r>
            <a:endParaRPr lang="en-US" sz="1400" dirty="0"/>
          </a:p>
        </p:txBody>
      </p:sp>
      <p:sp>
        <p:nvSpPr>
          <p:cNvPr id="27" name="Text 25"/>
          <p:cNvSpPr/>
          <p:nvPr/>
        </p:nvSpPr>
        <p:spPr>
          <a:xfrm>
            <a:off x="4700016" y="3401568"/>
            <a:ext cx="2916936" cy="347472"/>
          </a:xfrm>
          <a:prstGeom prst="rect">
            <a:avLst/>
          </a:prstGeom>
          <a:noFill/>
          <a:ln/>
        </p:spPr>
        <p:txBody>
          <a:bodyPr wrap="square" lIns="254" tIns="254" rIns="254" bIns="254" rtlCol="0" anchor="ctr">
            <a:normAutofit fontScale="77500" lnSpcReduction="20000"/>
          </a:bodyPr>
          <a:lstStyle/>
          <a:p>
            <a:pPr marL="0" indent="0">
              <a:buNone/>
            </a:pPr>
            <a:r>
              <a:rPr lang="en-US" sz="1650" dirty="0">
                <a:solidFill>
                  <a:srgbClr val="1F2937"/>
                </a:solidFill>
              </a:rPr>
              <a:t>Experience may help, but it is not the same as effectiveness.</a:t>
            </a:r>
            <a:endParaRPr lang="en-US" sz="1050" dirty="0"/>
          </a:p>
        </p:txBody>
      </p:sp>
      <p:sp>
        <p:nvSpPr>
          <p:cNvPr id="28" name="Shape 26"/>
          <p:cNvSpPr/>
          <p:nvPr/>
        </p:nvSpPr>
        <p:spPr>
          <a:xfrm>
            <a:off x="1234440" y="4983480"/>
            <a:ext cx="9692640" cy="658368"/>
          </a:xfrm>
          <a:prstGeom prst="roundRect">
            <a:avLst>
              <a:gd name="adj" fmla="val 11111"/>
            </a:avLst>
          </a:prstGeom>
          <a:solidFill>
            <a:srgbClr val="F6F8FB"/>
          </a:solidFill>
          <a:ln w="12700">
            <a:solidFill>
              <a:srgbClr val="F6F8FB">
                <a:alpha val="0"/>
              </a:srgbClr>
            </a:solidFill>
            <a:prstDash val="solid"/>
          </a:ln>
        </p:spPr>
        <p:txBody>
          <a:bodyPr/>
          <a:lstStyle/>
          <a:p>
            <a:endParaRPr/>
          </a:p>
        </p:txBody>
      </p:sp>
      <p:sp>
        <p:nvSpPr>
          <p:cNvPr id="29" name="Text 27"/>
          <p:cNvSpPr/>
          <p:nvPr/>
        </p:nvSpPr>
        <p:spPr>
          <a:xfrm>
            <a:off x="1463040" y="5148072"/>
            <a:ext cx="9235440" cy="384048"/>
          </a:xfrm>
          <a:prstGeom prst="rect">
            <a:avLst/>
          </a:prstGeom>
          <a:noFill/>
          <a:ln/>
        </p:spPr>
        <p:txBody>
          <a:bodyPr wrap="square" lIns="254" tIns="254" rIns="254" bIns="254" rtlCol="0" anchor="ctr">
            <a:normAutofit fontScale="70000" lnSpcReduction="20000"/>
          </a:bodyPr>
          <a:lstStyle/>
          <a:p>
            <a:pPr marL="0" indent="0">
              <a:buNone/>
            </a:pPr>
            <a:r>
              <a:rPr lang="en-US" sz="2000" b="1" dirty="0">
                <a:solidFill>
                  <a:srgbClr val="0B1F3A"/>
                </a:solidFill>
              </a:rPr>
              <a:t>Managerial rule: Fair does not always mean identical. Fair means evidence-based, respectful and job-relevant.</a:t>
            </a:r>
            <a:endParaRPr lang="en-US" sz="1400" dirty="0"/>
          </a:p>
        </p:txBody>
      </p:sp>
      <p:sp>
        <p:nvSpPr>
          <p:cNvPr id="31" name="Text 18">
            <a:extLst>
              <a:ext uri="{FF2B5EF4-FFF2-40B4-BE49-F238E27FC236}">
                <a16:creationId xmlns:a16="http://schemas.microsoft.com/office/drawing/2014/main" id="{409EC2BF-A91E-F05A-9AB3-3F847CACCFED}"/>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Abilities and Job Fit</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Diversity management includes aligning abilities with work requirements.</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11</a:t>
            </a:r>
            <a:endParaRPr lang="en-US" sz="850" dirty="0"/>
          </a:p>
        </p:txBody>
      </p:sp>
      <p:sp>
        <p:nvSpPr>
          <p:cNvPr id="8" name="Shape 6"/>
          <p:cNvSpPr/>
          <p:nvPr/>
        </p:nvSpPr>
        <p:spPr>
          <a:xfrm>
            <a:off x="822960" y="1508760"/>
            <a:ext cx="4846320" cy="1325880"/>
          </a:xfrm>
          <a:prstGeom prst="roundRect">
            <a:avLst>
              <a:gd name="adj" fmla="val 6207"/>
            </a:avLst>
          </a:prstGeom>
          <a:solidFill>
            <a:srgbClr val="EAF1FB"/>
          </a:solidFill>
          <a:ln w="10160">
            <a:solidFill>
              <a:srgbClr val="DDE5EF"/>
            </a:solidFill>
            <a:prstDash val="solid"/>
          </a:ln>
        </p:spPr>
        <p:txBody>
          <a:bodyPr/>
          <a:lstStyle/>
          <a:p>
            <a:endParaRPr/>
          </a:p>
        </p:txBody>
      </p:sp>
      <p:sp>
        <p:nvSpPr>
          <p:cNvPr id="9" name="Shape 7"/>
          <p:cNvSpPr/>
          <p:nvPr/>
        </p:nvSpPr>
        <p:spPr>
          <a:xfrm>
            <a:off x="822960" y="1508760"/>
            <a:ext cx="82296" cy="1325880"/>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1042416" y="1673352"/>
            <a:ext cx="4517136" cy="274320"/>
          </a:xfrm>
          <a:prstGeom prst="rect">
            <a:avLst/>
          </a:prstGeom>
          <a:noFill/>
          <a:ln/>
        </p:spPr>
        <p:txBody>
          <a:bodyPr wrap="square" lIns="0" tIns="0" rIns="0" bIns="0" rtlCol="0" anchor="ctr"/>
          <a:lstStyle/>
          <a:p>
            <a:pPr marL="0" indent="0">
              <a:buNone/>
            </a:pPr>
            <a:r>
              <a:rPr lang="en-US" sz="2000" b="1" dirty="0">
                <a:solidFill>
                  <a:srgbClr val="0B1F3A"/>
                </a:solidFill>
              </a:rPr>
              <a:t>Intellectual abilities</a:t>
            </a:r>
            <a:endParaRPr lang="en-US" sz="1400" dirty="0"/>
          </a:p>
        </p:txBody>
      </p:sp>
      <p:sp>
        <p:nvSpPr>
          <p:cNvPr id="11" name="Text 9"/>
          <p:cNvSpPr/>
          <p:nvPr/>
        </p:nvSpPr>
        <p:spPr>
          <a:xfrm>
            <a:off x="1042416" y="2075688"/>
            <a:ext cx="4517136" cy="640080"/>
          </a:xfrm>
          <a:prstGeom prst="rect">
            <a:avLst/>
          </a:prstGeom>
          <a:noFill/>
          <a:ln/>
        </p:spPr>
        <p:txBody>
          <a:bodyPr wrap="square" lIns="254" tIns="254" rIns="254" bIns="254" rtlCol="0" anchor="ctr">
            <a:normAutofit fontScale="92500" lnSpcReduction="10000"/>
          </a:bodyPr>
          <a:lstStyle/>
          <a:p>
            <a:pPr marL="0" indent="0">
              <a:buNone/>
            </a:pPr>
            <a:r>
              <a:rPr lang="en-US" sz="1650" dirty="0">
                <a:solidFill>
                  <a:srgbClr val="1F2937"/>
                </a:solidFill>
              </a:rPr>
              <a:t>Mental capabilities needed to perform cognitive activities such as reasoning, problem solving and decision making.</a:t>
            </a:r>
            <a:endParaRPr lang="en-US" sz="1050" dirty="0"/>
          </a:p>
        </p:txBody>
      </p:sp>
      <p:sp>
        <p:nvSpPr>
          <p:cNvPr id="12" name="Shape 10"/>
          <p:cNvSpPr/>
          <p:nvPr/>
        </p:nvSpPr>
        <p:spPr>
          <a:xfrm>
            <a:off x="6492240" y="1508760"/>
            <a:ext cx="4846320" cy="1325880"/>
          </a:xfrm>
          <a:prstGeom prst="roundRect">
            <a:avLst>
              <a:gd name="adj" fmla="val 6207"/>
            </a:avLst>
          </a:prstGeom>
          <a:solidFill>
            <a:srgbClr val="E6F6F6"/>
          </a:solidFill>
          <a:ln w="10160">
            <a:solidFill>
              <a:srgbClr val="DDE5EF"/>
            </a:solidFill>
            <a:prstDash val="solid"/>
          </a:ln>
        </p:spPr>
        <p:txBody>
          <a:bodyPr/>
          <a:lstStyle/>
          <a:p>
            <a:endParaRPr/>
          </a:p>
        </p:txBody>
      </p:sp>
      <p:sp>
        <p:nvSpPr>
          <p:cNvPr id="13" name="Shape 11"/>
          <p:cNvSpPr/>
          <p:nvPr/>
        </p:nvSpPr>
        <p:spPr>
          <a:xfrm>
            <a:off x="6492240" y="1508760"/>
            <a:ext cx="82296" cy="132588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6711696" y="1673352"/>
            <a:ext cx="4517136" cy="274320"/>
          </a:xfrm>
          <a:prstGeom prst="rect">
            <a:avLst/>
          </a:prstGeom>
          <a:noFill/>
          <a:ln/>
        </p:spPr>
        <p:txBody>
          <a:bodyPr wrap="square" lIns="0" tIns="0" rIns="0" bIns="0" rtlCol="0" anchor="ctr"/>
          <a:lstStyle/>
          <a:p>
            <a:pPr marL="0" indent="0">
              <a:buNone/>
            </a:pPr>
            <a:r>
              <a:rPr lang="en-US" sz="2000" b="1" dirty="0">
                <a:solidFill>
                  <a:srgbClr val="0B1F3A"/>
                </a:solidFill>
              </a:rPr>
              <a:t>Physical abilities</a:t>
            </a:r>
            <a:endParaRPr lang="en-US" sz="1400" dirty="0"/>
          </a:p>
        </p:txBody>
      </p:sp>
      <p:sp>
        <p:nvSpPr>
          <p:cNvPr id="15" name="Text 13"/>
          <p:cNvSpPr/>
          <p:nvPr/>
        </p:nvSpPr>
        <p:spPr>
          <a:xfrm>
            <a:off x="6711696" y="2075688"/>
            <a:ext cx="4517136" cy="640080"/>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Capabilities needed for tasks involving strength, stamina, coordination or sensory requirements.</a:t>
            </a:r>
            <a:endParaRPr lang="en-US" sz="1050" dirty="0"/>
          </a:p>
        </p:txBody>
      </p:sp>
      <p:sp>
        <p:nvSpPr>
          <p:cNvPr id="16" name="Text 14"/>
          <p:cNvSpPr/>
          <p:nvPr/>
        </p:nvSpPr>
        <p:spPr>
          <a:xfrm>
            <a:off x="868680" y="3730752"/>
            <a:ext cx="2011680" cy="274320"/>
          </a:xfrm>
          <a:prstGeom prst="rect">
            <a:avLst/>
          </a:prstGeom>
          <a:noFill/>
          <a:ln/>
        </p:spPr>
        <p:txBody>
          <a:bodyPr wrap="square" lIns="0" tIns="0" rIns="0" bIns="0" rtlCol="0" anchor="ctr"/>
          <a:lstStyle/>
          <a:p>
            <a:pPr marL="0" indent="0">
              <a:buNone/>
            </a:pPr>
            <a:r>
              <a:rPr lang="en-US" sz="2200" b="1" dirty="0">
                <a:solidFill>
                  <a:srgbClr val="0B1F3A"/>
                </a:solidFill>
              </a:rPr>
              <a:t>Quality application</a:t>
            </a:r>
            <a:endParaRPr lang="en-US" sz="1700" dirty="0"/>
          </a:p>
        </p:txBody>
      </p:sp>
      <p:sp>
        <p:nvSpPr>
          <p:cNvPr id="17" name="Text 15"/>
          <p:cNvSpPr/>
          <p:nvPr/>
        </p:nvSpPr>
        <p:spPr>
          <a:xfrm>
            <a:off x="1051560" y="4160520"/>
            <a:ext cx="9692640" cy="960120"/>
          </a:xfrm>
          <a:prstGeom prst="rect">
            <a:avLst/>
          </a:prstGeom>
          <a:noFill/>
          <a:ln/>
        </p:spPr>
        <p:txBody>
          <a:bodyPr wrap="square" lIns="508" tIns="508" rIns="508" bIns="508" rtlCol="0" anchor="ctr">
            <a:normAutofit/>
          </a:bodyPr>
          <a:lstStyle/>
          <a:p>
            <a:r>
              <a:rPr lang="en-US" sz="2000" dirty="0">
                <a:solidFill>
                  <a:srgbClr val="1F2937"/>
                </a:solidFill>
              </a:rPr>
              <a:t>Define the quality-critical task before judging ability.</a:t>
            </a:r>
            <a:endParaRPr lang="en-US" sz="1500" dirty="0"/>
          </a:p>
          <a:p>
            <a:r>
              <a:rPr lang="en-US" sz="2000" dirty="0">
                <a:solidFill>
                  <a:srgbClr val="1F2937"/>
                </a:solidFill>
              </a:rPr>
              <a:t>Use valid selection, training and accommodation practices.</a:t>
            </a:r>
            <a:endParaRPr lang="en-US" sz="1500" dirty="0"/>
          </a:p>
          <a:p>
            <a:r>
              <a:rPr lang="en-US" sz="2000" dirty="0">
                <a:solidFill>
                  <a:srgbClr val="1F2937"/>
                </a:solidFill>
              </a:rPr>
              <a:t>Design work so that diverse capability becomes a resource, not a barrier.</a:t>
            </a:r>
            <a:endParaRPr lang="en-US" sz="1500" dirty="0"/>
          </a:p>
        </p:txBody>
      </p:sp>
      <p:sp>
        <p:nvSpPr>
          <p:cNvPr id="19" name="Text 18">
            <a:extLst>
              <a:ext uri="{FF2B5EF4-FFF2-40B4-BE49-F238E27FC236}">
                <a16:creationId xmlns:a16="http://schemas.microsoft.com/office/drawing/2014/main" id="{65B5D6FD-3D5A-68E5-A719-0D326FC7BC4C}"/>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Diversity in Quality Teams</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Differences can improve decisions—if the team process supports learning.</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12</a:t>
            </a:r>
            <a:endParaRPr lang="en-US" sz="850" dirty="0"/>
          </a:p>
        </p:txBody>
      </p:sp>
      <p:sp>
        <p:nvSpPr>
          <p:cNvPr id="8" name="Shape 6"/>
          <p:cNvSpPr/>
          <p:nvPr/>
        </p:nvSpPr>
        <p:spPr>
          <a:xfrm>
            <a:off x="777240" y="1417320"/>
            <a:ext cx="3429000" cy="1508760"/>
          </a:xfrm>
          <a:prstGeom prst="roundRect">
            <a:avLst>
              <a:gd name="adj" fmla="val 5455"/>
            </a:avLst>
          </a:prstGeom>
          <a:solidFill>
            <a:srgbClr val="EAF6ED"/>
          </a:solidFill>
          <a:ln w="10160">
            <a:solidFill>
              <a:srgbClr val="DDE5EF"/>
            </a:solidFill>
            <a:prstDash val="solid"/>
          </a:ln>
        </p:spPr>
        <p:txBody>
          <a:bodyPr/>
          <a:lstStyle/>
          <a:p>
            <a:endParaRPr/>
          </a:p>
        </p:txBody>
      </p:sp>
      <p:sp>
        <p:nvSpPr>
          <p:cNvPr id="9" name="Shape 7"/>
          <p:cNvSpPr/>
          <p:nvPr/>
        </p:nvSpPr>
        <p:spPr>
          <a:xfrm>
            <a:off x="777240" y="1417320"/>
            <a:ext cx="82296" cy="1508760"/>
          </a:xfrm>
          <a:prstGeom prst="rect">
            <a:avLst/>
          </a:prstGeom>
          <a:solidFill>
            <a:srgbClr val="2E7D32"/>
          </a:solidFill>
          <a:ln w="12700">
            <a:solidFill>
              <a:srgbClr val="2E7D32">
                <a:alpha val="0"/>
              </a:srgbClr>
            </a:solidFill>
            <a:prstDash val="solid"/>
          </a:ln>
        </p:spPr>
        <p:txBody>
          <a:bodyPr/>
          <a:lstStyle/>
          <a:p>
            <a:endParaRPr/>
          </a:p>
        </p:txBody>
      </p:sp>
      <p:sp>
        <p:nvSpPr>
          <p:cNvPr id="10" name="Text 8"/>
          <p:cNvSpPr/>
          <p:nvPr/>
        </p:nvSpPr>
        <p:spPr>
          <a:xfrm>
            <a:off x="996696" y="1581912"/>
            <a:ext cx="3099816" cy="274320"/>
          </a:xfrm>
          <a:prstGeom prst="rect">
            <a:avLst/>
          </a:prstGeom>
          <a:noFill/>
          <a:ln/>
        </p:spPr>
        <p:txBody>
          <a:bodyPr wrap="square" lIns="0" tIns="0" rIns="0" bIns="0" rtlCol="0" anchor="ctr"/>
          <a:lstStyle/>
          <a:p>
            <a:pPr marL="0" indent="0">
              <a:buNone/>
            </a:pPr>
            <a:r>
              <a:rPr lang="en-US" sz="2000" b="1" dirty="0">
                <a:solidFill>
                  <a:srgbClr val="0B1F3A"/>
                </a:solidFill>
              </a:rPr>
              <a:t>Potential benefits</a:t>
            </a:r>
            <a:endParaRPr lang="en-US" sz="1400" dirty="0"/>
          </a:p>
        </p:txBody>
      </p:sp>
      <p:sp>
        <p:nvSpPr>
          <p:cNvPr id="11" name="Text 9"/>
          <p:cNvSpPr/>
          <p:nvPr/>
        </p:nvSpPr>
        <p:spPr>
          <a:xfrm>
            <a:off x="996696" y="1984248"/>
            <a:ext cx="3099816" cy="822960"/>
          </a:xfrm>
          <a:prstGeom prst="rect">
            <a:avLst/>
          </a:prstGeom>
          <a:noFill/>
          <a:ln/>
        </p:spPr>
        <p:txBody>
          <a:bodyPr wrap="square" lIns="254" tIns="254" rIns="254" bIns="254" rtlCol="0" anchor="ctr">
            <a:normAutofit fontScale="92500" lnSpcReduction="20000"/>
          </a:bodyPr>
          <a:lstStyle/>
          <a:p>
            <a:pPr marL="0" indent="0">
              <a:buNone/>
            </a:pPr>
            <a:r>
              <a:rPr lang="en-US" sz="1650" dirty="0">
                <a:solidFill>
                  <a:srgbClr val="1F2937"/>
                </a:solidFill>
              </a:rPr>
              <a:t>More information, broader customer understanding, better risk detection, creative solutions and stronger innovation.</a:t>
            </a:r>
            <a:endParaRPr lang="en-US" sz="1050" dirty="0"/>
          </a:p>
        </p:txBody>
      </p:sp>
      <p:sp>
        <p:nvSpPr>
          <p:cNvPr id="12" name="Shape 10"/>
          <p:cNvSpPr/>
          <p:nvPr/>
        </p:nvSpPr>
        <p:spPr>
          <a:xfrm>
            <a:off x="4434840" y="1417320"/>
            <a:ext cx="3429000" cy="1508760"/>
          </a:xfrm>
          <a:prstGeom prst="roundRect">
            <a:avLst>
              <a:gd name="adj" fmla="val 5455"/>
            </a:avLst>
          </a:prstGeom>
          <a:solidFill>
            <a:srgbClr val="FFF7E0"/>
          </a:solidFill>
          <a:ln w="10160">
            <a:solidFill>
              <a:srgbClr val="DDE5EF"/>
            </a:solidFill>
            <a:prstDash val="solid"/>
          </a:ln>
        </p:spPr>
        <p:txBody>
          <a:bodyPr/>
          <a:lstStyle/>
          <a:p>
            <a:endParaRPr/>
          </a:p>
        </p:txBody>
      </p:sp>
      <p:sp>
        <p:nvSpPr>
          <p:cNvPr id="13" name="Shape 11"/>
          <p:cNvSpPr/>
          <p:nvPr/>
        </p:nvSpPr>
        <p:spPr>
          <a:xfrm>
            <a:off x="4434840" y="1417320"/>
            <a:ext cx="82296" cy="1508760"/>
          </a:xfrm>
          <a:prstGeom prst="rect">
            <a:avLst/>
          </a:prstGeom>
          <a:solidFill>
            <a:srgbClr val="F4B400"/>
          </a:solidFill>
          <a:ln w="12700">
            <a:solidFill>
              <a:srgbClr val="F4B400">
                <a:alpha val="0"/>
              </a:srgbClr>
            </a:solidFill>
            <a:prstDash val="solid"/>
          </a:ln>
        </p:spPr>
        <p:txBody>
          <a:bodyPr/>
          <a:lstStyle/>
          <a:p>
            <a:endParaRPr/>
          </a:p>
        </p:txBody>
      </p:sp>
      <p:sp>
        <p:nvSpPr>
          <p:cNvPr id="14" name="Text 12"/>
          <p:cNvSpPr/>
          <p:nvPr/>
        </p:nvSpPr>
        <p:spPr>
          <a:xfrm>
            <a:off x="4654296" y="1581912"/>
            <a:ext cx="3099816" cy="274320"/>
          </a:xfrm>
          <a:prstGeom prst="rect">
            <a:avLst/>
          </a:prstGeom>
          <a:noFill/>
          <a:ln/>
        </p:spPr>
        <p:txBody>
          <a:bodyPr wrap="square" lIns="0" tIns="0" rIns="0" bIns="0" rtlCol="0" anchor="ctr"/>
          <a:lstStyle/>
          <a:p>
            <a:pPr marL="0" indent="0">
              <a:buNone/>
            </a:pPr>
            <a:r>
              <a:rPr lang="en-US" sz="2000" b="1" dirty="0">
                <a:solidFill>
                  <a:srgbClr val="0B1F3A"/>
                </a:solidFill>
              </a:rPr>
              <a:t>Potential risks</a:t>
            </a:r>
            <a:endParaRPr lang="en-US" sz="1400" dirty="0"/>
          </a:p>
        </p:txBody>
      </p:sp>
      <p:sp>
        <p:nvSpPr>
          <p:cNvPr id="15" name="Text 13"/>
          <p:cNvSpPr/>
          <p:nvPr/>
        </p:nvSpPr>
        <p:spPr>
          <a:xfrm>
            <a:off x="4654296" y="1984248"/>
            <a:ext cx="3099816" cy="822960"/>
          </a:xfrm>
          <a:prstGeom prst="rect">
            <a:avLst/>
          </a:prstGeom>
          <a:noFill/>
          <a:ln/>
        </p:spPr>
        <p:txBody>
          <a:bodyPr wrap="square" lIns="254" tIns="254" rIns="254" bIns="254" rtlCol="0" anchor="ctr">
            <a:normAutofit fontScale="92500" lnSpcReduction="20000"/>
          </a:bodyPr>
          <a:lstStyle/>
          <a:p>
            <a:pPr marL="0" indent="0">
              <a:buNone/>
            </a:pPr>
            <a:r>
              <a:rPr lang="en-US" sz="1650" dirty="0">
                <a:solidFill>
                  <a:srgbClr val="1F2937"/>
                </a:solidFill>
              </a:rPr>
              <a:t>Communication gaps, subgroup formation, conflict, status inequality, stereotyping and slower early coordination.</a:t>
            </a:r>
            <a:endParaRPr lang="en-US" sz="1050" dirty="0"/>
          </a:p>
        </p:txBody>
      </p:sp>
      <p:sp>
        <p:nvSpPr>
          <p:cNvPr id="16" name="Shape 14"/>
          <p:cNvSpPr/>
          <p:nvPr/>
        </p:nvSpPr>
        <p:spPr>
          <a:xfrm>
            <a:off x="8092440" y="1417320"/>
            <a:ext cx="3429000" cy="1508760"/>
          </a:xfrm>
          <a:prstGeom prst="roundRect">
            <a:avLst>
              <a:gd name="adj" fmla="val 5455"/>
            </a:avLst>
          </a:prstGeom>
          <a:solidFill>
            <a:srgbClr val="EAF1FB"/>
          </a:solidFill>
          <a:ln w="10160">
            <a:solidFill>
              <a:srgbClr val="DDE5EF"/>
            </a:solidFill>
            <a:prstDash val="solid"/>
          </a:ln>
        </p:spPr>
        <p:txBody>
          <a:bodyPr/>
          <a:lstStyle/>
          <a:p>
            <a:endParaRPr/>
          </a:p>
        </p:txBody>
      </p:sp>
      <p:sp>
        <p:nvSpPr>
          <p:cNvPr id="17" name="Shape 15"/>
          <p:cNvSpPr/>
          <p:nvPr/>
        </p:nvSpPr>
        <p:spPr>
          <a:xfrm>
            <a:off x="8092440" y="1417320"/>
            <a:ext cx="82296" cy="1508760"/>
          </a:xfrm>
          <a:prstGeom prst="rect">
            <a:avLst/>
          </a:prstGeom>
          <a:solidFill>
            <a:srgbClr val="0B1F3A"/>
          </a:solidFill>
          <a:ln w="12700">
            <a:solidFill>
              <a:srgbClr val="0B1F3A">
                <a:alpha val="0"/>
              </a:srgbClr>
            </a:solidFill>
            <a:prstDash val="solid"/>
          </a:ln>
        </p:spPr>
        <p:txBody>
          <a:bodyPr/>
          <a:lstStyle/>
          <a:p>
            <a:endParaRPr/>
          </a:p>
        </p:txBody>
      </p:sp>
      <p:sp>
        <p:nvSpPr>
          <p:cNvPr id="18" name="Text 16"/>
          <p:cNvSpPr/>
          <p:nvPr/>
        </p:nvSpPr>
        <p:spPr>
          <a:xfrm>
            <a:off x="8311896" y="1581912"/>
            <a:ext cx="3099816" cy="274320"/>
          </a:xfrm>
          <a:prstGeom prst="rect">
            <a:avLst/>
          </a:prstGeom>
          <a:noFill/>
          <a:ln/>
        </p:spPr>
        <p:txBody>
          <a:bodyPr wrap="square" lIns="0" tIns="0" rIns="0" bIns="0" rtlCol="0" anchor="ctr"/>
          <a:lstStyle/>
          <a:p>
            <a:pPr marL="0" indent="0">
              <a:buNone/>
            </a:pPr>
            <a:r>
              <a:rPr lang="en-US" sz="2000" b="1" dirty="0">
                <a:solidFill>
                  <a:srgbClr val="0B1F3A"/>
                </a:solidFill>
              </a:rPr>
              <a:t>Process requirement</a:t>
            </a:r>
            <a:endParaRPr lang="en-US" sz="1400" dirty="0"/>
          </a:p>
        </p:txBody>
      </p:sp>
      <p:sp>
        <p:nvSpPr>
          <p:cNvPr id="19" name="Text 17"/>
          <p:cNvSpPr/>
          <p:nvPr/>
        </p:nvSpPr>
        <p:spPr>
          <a:xfrm>
            <a:off x="8311896" y="1984248"/>
            <a:ext cx="3099816" cy="822960"/>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Psychological safety, clear roles, facilitation, evidence use and structured participation.</a:t>
            </a:r>
            <a:endParaRPr lang="en-US" sz="1050" dirty="0"/>
          </a:p>
        </p:txBody>
      </p:sp>
      <p:sp>
        <p:nvSpPr>
          <p:cNvPr id="20" name="Shape 18"/>
          <p:cNvSpPr/>
          <p:nvPr/>
        </p:nvSpPr>
        <p:spPr>
          <a:xfrm>
            <a:off x="1143000" y="4343400"/>
            <a:ext cx="9966960" cy="777240"/>
          </a:xfrm>
          <a:prstGeom prst="roundRect">
            <a:avLst>
              <a:gd name="adj" fmla="val 9412"/>
            </a:avLst>
          </a:prstGeom>
          <a:solidFill>
            <a:srgbClr val="F6F8FB"/>
          </a:solidFill>
          <a:ln w="12700">
            <a:solidFill>
              <a:srgbClr val="F6F8FB">
                <a:alpha val="0"/>
              </a:srgbClr>
            </a:solidFill>
            <a:prstDash val="solid"/>
          </a:ln>
        </p:spPr>
        <p:txBody>
          <a:bodyPr/>
          <a:lstStyle/>
          <a:p>
            <a:endParaRPr/>
          </a:p>
        </p:txBody>
      </p:sp>
      <p:sp>
        <p:nvSpPr>
          <p:cNvPr id="21" name="Text 19"/>
          <p:cNvSpPr/>
          <p:nvPr/>
        </p:nvSpPr>
        <p:spPr>
          <a:xfrm>
            <a:off x="1371600" y="4507992"/>
            <a:ext cx="9509760" cy="502920"/>
          </a:xfrm>
          <a:prstGeom prst="rect">
            <a:avLst/>
          </a:prstGeom>
          <a:noFill/>
          <a:ln/>
        </p:spPr>
        <p:txBody>
          <a:bodyPr wrap="square" lIns="254" tIns="254" rIns="254" bIns="254" rtlCol="0" anchor="ctr">
            <a:normAutofit fontScale="92500" lnSpcReduction="20000"/>
          </a:bodyPr>
          <a:lstStyle/>
          <a:p>
            <a:pPr marL="0" indent="0">
              <a:buNone/>
            </a:pPr>
            <a:r>
              <a:rPr lang="en-US" sz="2000" b="1" dirty="0">
                <a:solidFill>
                  <a:srgbClr val="0B1F3A"/>
                </a:solidFill>
              </a:rPr>
              <a:t>Diversity is an input. Inclusion and team learning are the processes that convert it into quality outcomes.</a:t>
            </a:r>
            <a:endParaRPr lang="en-US" sz="1400" dirty="0"/>
          </a:p>
        </p:txBody>
      </p:sp>
      <p:sp>
        <p:nvSpPr>
          <p:cNvPr id="23" name="Text 18">
            <a:extLst>
              <a:ext uri="{FF2B5EF4-FFF2-40B4-BE49-F238E27FC236}">
                <a16:creationId xmlns:a16="http://schemas.microsoft.com/office/drawing/2014/main" id="{F48B32C1-8A12-819B-D68D-8C843F03B320}"/>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Managing Diversity Effectively</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Diversity management must cross systems, not only training sessions.</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13</a:t>
            </a:r>
            <a:endParaRPr lang="en-US" sz="850" dirty="0"/>
          </a:p>
        </p:txBody>
      </p:sp>
      <p:sp>
        <p:nvSpPr>
          <p:cNvPr id="8" name="Shape 6"/>
          <p:cNvSpPr/>
          <p:nvPr/>
        </p:nvSpPr>
        <p:spPr>
          <a:xfrm>
            <a:off x="658368" y="1554480"/>
            <a:ext cx="1874520" cy="1828800"/>
          </a:xfrm>
          <a:prstGeom prst="roundRect">
            <a:avLst>
              <a:gd name="adj" fmla="val 4000"/>
            </a:avLst>
          </a:prstGeom>
          <a:solidFill>
            <a:srgbClr val="EAF1FB"/>
          </a:solidFill>
          <a:ln w="10160">
            <a:solidFill>
              <a:srgbClr val="D4DDE9"/>
            </a:solidFill>
            <a:prstDash val="solid"/>
          </a:ln>
        </p:spPr>
        <p:txBody>
          <a:bodyPr/>
          <a:lstStyle/>
          <a:p>
            <a:endParaRPr/>
          </a:p>
        </p:txBody>
      </p:sp>
      <p:sp>
        <p:nvSpPr>
          <p:cNvPr id="9" name="Text 7"/>
          <p:cNvSpPr/>
          <p:nvPr/>
        </p:nvSpPr>
        <p:spPr>
          <a:xfrm>
            <a:off x="795528" y="1792224"/>
            <a:ext cx="1600200" cy="228600"/>
          </a:xfrm>
          <a:prstGeom prst="rect">
            <a:avLst/>
          </a:prstGeom>
          <a:noFill/>
          <a:ln/>
        </p:spPr>
        <p:txBody>
          <a:bodyPr wrap="square" lIns="0" tIns="0" rIns="0" bIns="0" rtlCol="0" anchor="ctr"/>
          <a:lstStyle/>
          <a:p>
            <a:pPr marL="0" indent="0" algn="ctr">
              <a:buNone/>
            </a:pPr>
            <a:r>
              <a:rPr lang="en-US" sz="2000" b="1" dirty="0">
                <a:solidFill>
                  <a:srgbClr val="0B1F3A"/>
                </a:solidFill>
              </a:rPr>
              <a:t>Attract</a:t>
            </a:r>
            <a:endParaRPr lang="en-US" sz="1500" dirty="0"/>
          </a:p>
        </p:txBody>
      </p:sp>
      <p:sp>
        <p:nvSpPr>
          <p:cNvPr id="10" name="Text 8"/>
          <p:cNvSpPr/>
          <p:nvPr/>
        </p:nvSpPr>
        <p:spPr>
          <a:xfrm>
            <a:off x="822960" y="2240280"/>
            <a:ext cx="1536192" cy="841248"/>
          </a:xfrm>
          <a:prstGeom prst="rect">
            <a:avLst/>
          </a:prstGeom>
          <a:noFill/>
          <a:ln/>
        </p:spPr>
        <p:txBody>
          <a:bodyPr wrap="square" lIns="254" tIns="254" rIns="254" bIns="254" rtlCol="0" anchor="ctr">
            <a:normAutofit fontScale="77500" lnSpcReduction="20000"/>
          </a:bodyPr>
          <a:lstStyle/>
          <a:p>
            <a:pPr marL="0" indent="0" algn="ctr">
              <a:buNone/>
            </a:pPr>
            <a:r>
              <a:rPr lang="en-US" sz="1650" dirty="0">
                <a:solidFill>
                  <a:srgbClr val="1F2937"/>
                </a:solidFill>
              </a:rPr>
              <a:t>Recruit from broader talent pools and remove unnecessary barriers.</a:t>
            </a:r>
            <a:endParaRPr lang="en-US" sz="1020" dirty="0"/>
          </a:p>
        </p:txBody>
      </p:sp>
      <p:sp>
        <p:nvSpPr>
          <p:cNvPr id="11" name="Shape 9"/>
          <p:cNvSpPr/>
          <p:nvPr/>
        </p:nvSpPr>
        <p:spPr>
          <a:xfrm>
            <a:off x="2944368" y="1554480"/>
            <a:ext cx="1874520" cy="1828800"/>
          </a:xfrm>
          <a:prstGeom prst="roundRect">
            <a:avLst>
              <a:gd name="adj" fmla="val 4000"/>
            </a:avLst>
          </a:prstGeom>
          <a:solidFill>
            <a:srgbClr val="E6F6F6"/>
          </a:solidFill>
          <a:ln w="10160">
            <a:solidFill>
              <a:srgbClr val="D4DDE9"/>
            </a:solidFill>
            <a:prstDash val="solid"/>
          </a:ln>
        </p:spPr>
        <p:txBody>
          <a:bodyPr/>
          <a:lstStyle/>
          <a:p>
            <a:endParaRPr/>
          </a:p>
        </p:txBody>
      </p:sp>
      <p:sp>
        <p:nvSpPr>
          <p:cNvPr id="12" name="Text 10"/>
          <p:cNvSpPr/>
          <p:nvPr/>
        </p:nvSpPr>
        <p:spPr>
          <a:xfrm>
            <a:off x="3081528" y="1792224"/>
            <a:ext cx="1600200" cy="228600"/>
          </a:xfrm>
          <a:prstGeom prst="rect">
            <a:avLst/>
          </a:prstGeom>
          <a:noFill/>
          <a:ln/>
        </p:spPr>
        <p:txBody>
          <a:bodyPr wrap="square" lIns="0" tIns="0" rIns="0" bIns="0" rtlCol="0" anchor="ctr"/>
          <a:lstStyle/>
          <a:p>
            <a:pPr marL="0" indent="0" algn="ctr">
              <a:buNone/>
            </a:pPr>
            <a:r>
              <a:rPr lang="en-US" sz="2000" b="1" dirty="0">
                <a:solidFill>
                  <a:srgbClr val="00A6A6"/>
                </a:solidFill>
              </a:rPr>
              <a:t>Select</a:t>
            </a:r>
            <a:endParaRPr lang="en-US" sz="1500" dirty="0"/>
          </a:p>
        </p:txBody>
      </p:sp>
      <p:sp>
        <p:nvSpPr>
          <p:cNvPr id="13" name="Text 11"/>
          <p:cNvSpPr/>
          <p:nvPr/>
        </p:nvSpPr>
        <p:spPr>
          <a:xfrm>
            <a:off x="3108960" y="2240280"/>
            <a:ext cx="1536192" cy="841248"/>
          </a:xfrm>
          <a:prstGeom prst="rect">
            <a:avLst/>
          </a:prstGeom>
          <a:noFill/>
          <a:ln/>
        </p:spPr>
        <p:txBody>
          <a:bodyPr wrap="square" lIns="254" tIns="254" rIns="254" bIns="254" rtlCol="0" anchor="ctr">
            <a:normAutofit fontScale="92500" lnSpcReduction="10000"/>
          </a:bodyPr>
          <a:lstStyle/>
          <a:p>
            <a:pPr marL="0" indent="0" algn="ctr">
              <a:buNone/>
            </a:pPr>
            <a:r>
              <a:rPr lang="en-US" sz="1650" dirty="0">
                <a:solidFill>
                  <a:srgbClr val="1F2937"/>
                </a:solidFill>
              </a:rPr>
              <a:t>Use job-relevant criteria, structured assessment and bias checks.</a:t>
            </a:r>
            <a:endParaRPr lang="en-US" sz="1020" dirty="0"/>
          </a:p>
        </p:txBody>
      </p:sp>
      <p:sp>
        <p:nvSpPr>
          <p:cNvPr id="14" name="Shape 12"/>
          <p:cNvSpPr/>
          <p:nvPr/>
        </p:nvSpPr>
        <p:spPr>
          <a:xfrm>
            <a:off x="5230368" y="1554480"/>
            <a:ext cx="1874520" cy="1828800"/>
          </a:xfrm>
          <a:prstGeom prst="roundRect">
            <a:avLst>
              <a:gd name="adj" fmla="val 4000"/>
            </a:avLst>
          </a:prstGeom>
          <a:solidFill>
            <a:srgbClr val="EAF1FB"/>
          </a:solidFill>
          <a:ln w="10160">
            <a:solidFill>
              <a:srgbClr val="D4DDE9"/>
            </a:solidFill>
            <a:prstDash val="solid"/>
          </a:ln>
        </p:spPr>
        <p:txBody>
          <a:bodyPr/>
          <a:lstStyle/>
          <a:p>
            <a:endParaRPr/>
          </a:p>
        </p:txBody>
      </p:sp>
      <p:sp>
        <p:nvSpPr>
          <p:cNvPr id="15" name="Text 13"/>
          <p:cNvSpPr/>
          <p:nvPr/>
        </p:nvSpPr>
        <p:spPr>
          <a:xfrm>
            <a:off x="5367528" y="1792224"/>
            <a:ext cx="1600200" cy="228600"/>
          </a:xfrm>
          <a:prstGeom prst="rect">
            <a:avLst/>
          </a:prstGeom>
          <a:noFill/>
          <a:ln/>
        </p:spPr>
        <p:txBody>
          <a:bodyPr wrap="square" lIns="0" tIns="0" rIns="0" bIns="0" rtlCol="0" anchor="ctr"/>
          <a:lstStyle/>
          <a:p>
            <a:pPr marL="0" indent="0" algn="ctr">
              <a:buNone/>
            </a:pPr>
            <a:r>
              <a:rPr lang="en-US" sz="2000" b="1" dirty="0">
                <a:solidFill>
                  <a:srgbClr val="0B1F3A"/>
                </a:solidFill>
              </a:rPr>
              <a:t>Develop</a:t>
            </a:r>
            <a:endParaRPr lang="en-US" sz="1500" dirty="0"/>
          </a:p>
        </p:txBody>
      </p:sp>
      <p:sp>
        <p:nvSpPr>
          <p:cNvPr id="16" name="Text 14"/>
          <p:cNvSpPr/>
          <p:nvPr/>
        </p:nvSpPr>
        <p:spPr>
          <a:xfrm>
            <a:off x="5394960" y="2240280"/>
            <a:ext cx="1536192" cy="841248"/>
          </a:xfrm>
          <a:prstGeom prst="rect">
            <a:avLst/>
          </a:prstGeom>
          <a:noFill/>
          <a:ln/>
        </p:spPr>
        <p:txBody>
          <a:bodyPr wrap="square" lIns="254" tIns="254" rIns="254" bIns="254" rtlCol="0" anchor="ctr">
            <a:normAutofit fontScale="77500" lnSpcReduction="20000"/>
          </a:bodyPr>
          <a:lstStyle/>
          <a:p>
            <a:pPr marL="0" indent="0" algn="ctr">
              <a:buNone/>
            </a:pPr>
            <a:r>
              <a:rPr lang="en-US" sz="1650" dirty="0">
                <a:solidFill>
                  <a:srgbClr val="1F2937"/>
                </a:solidFill>
              </a:rPr>
              <a:t>Provide equitable access to learning, coaching and career opportunities.</a:t>
            </a:r>
            <a:endParaRPr lang="en-US" sz="1020" dirty="0"/>
          </a:p>
        </p:txBody>
      </p:sp>
      <p:sp>
        <p:nvSpPr>
          <p:cNvPr id="17" name="Shape 15"/>
          <p:cNvSpPr/>
          <p:nvPr/>
        </p:nvSpPr>
        <p:spPr>
          <a:xfrm>
            <a:off x="7516368" y="1554480"/>
            <a:ext cx="1874520" cy="1828800"/>
          </a:xfrm>
          <a:prstGeom prst="roundRect">
            <a:avLst>
              <a:gd name="adj" fmla="val 4000"/>
            </a:avLst>
          </a:prstGeom>
          <a:solidFill>
            <a:srgbClr val="E6F6F6"/>
          </a:solidFill>
          <a:ln w="10160">
            <a:solidFill>
              <a:srgbClr val="D4DDE9"/>
            </a:solidFill>
            <a:prstDash val="solid"/>
          </a:ln>
        </p:spPr>
        <p:txBody>
          <a:bodyPr/>
          <a:lstStyle/>
          <a:p>
            <a:endParaRPr/>
          </a:p>
        </p:txBody>
      </p:sp>
      <p:sp>
        <p:nvSpPr>
          <p:cNvPr id="18" name="Text 16"/>
          <p:cNvSpPr/>
          <p:nvPr/>
        </p:nvSpPr>
        <p:spPr>
          <a:xfrm>
            <a:off x="7653528" y="1792224"/>
            <a:ext cx="1600200" cy="228600"/>
          </a:xfrm>
          <a:prstGeom prst="rect">
            <a:avLst/>
          </a:prstGeom>
          <a:noFill/>
          <a:ln/>
        </p:spPr>
        <p:txBody>
          <a:bodyPr wrap="square" lIns="0" tIns="0" rIns="0" bIns="0" rtlCol="0" anchor="ctr"/>
          <a:lstStyle/>
          <a:p>
            <a:pPr marL="0" indent="0" algn="ctr">
              <a:buNone/>
            </a:pPr>
            <a:r>
              <a:rPr lang="en-US" sz="2000" b="1" dirty="0">
                <a:solidFill>
                  <a:srgbClr val="00A6A6"/>
                </a:solidFill>
              </a:rPr>
              <a:t>Retain</a:t>
            </a:r>
            <a:endParaRPr lang="en-US" sz="1500" dirty="0"/>
          </a:p>
        </p:txBody>
      </p:sp>
      <p:sp>
        <p:nvSpPr>
          <p:cNvPr id="19" name="Text 17"/>
          <p:cNvSpPr/>
          <p:nvPr/>
        </p:nvSpPr>
        <p:spPr>
          <a:xfrm>
            <a:off x="7680960" y="2240280"/>
            <a:ext cx="1536192" cy="841248"/>
          </a:xfrm>
          <a:prstGeom prst="rect">
            <a:avLst/>
          </a:prstGeom>
          <a:noFill/>
          <a:ln/>
        </p:spPr>
        <p:txBody>
          <a:bodyPr wrap="square" lIns="254" tIns="254" rIns="254" bIns="254" rtlCol="0" anchor="ctr">
            <a:normAutofit fontScale="92500" lnSpcReduction="10000"/>
          </a:bodyPr>
          <a:lstStyle/>
          <a:p>
            <a:pPr marL="0" indent="0" algn="ctr">
              <a:buNone/>
            </a:pPr>
            <a:r>
              <a:rPr lang="en-US" sz="1650" dirty="0">
                <a:solidFill>
                  <a:srgbClr val="1F2937"/>
                </a:solidFill>
              </a:rPr>
              <a:t>Build respect, flexibility, safety and fair recognition.</a:t>
            </a:r>
            <a:endParaRPr lang="en-US" sz="1020" dirty="0"/>
          </a:p>
        </p:txBody>
      </p:sp>
      <p:sp>
        <p:nvSpPr>
          <p:cNvPr id="20" name="Shape 18"/>
          <p:cNvSpPr/>
          <p:nvPr/>
        </p:nvSpPr>
        <p:spPr>
          <a:xfrm>
            <a:off x="9802368" y="1554480"/>
            <a:ext cx="1874520" cy="1828800"/>
          </a:xfrm>
          <a:prstGeom prst="roundRect">
            <a:avLst>
              <a:gd name="adj" fmla="val 4000"/>
            </a:avLst>
          </a:prstGeom>
          <a:solidFill>
            <a:srgbClr val="EAF1FB"/>
          </a:solidFill>
          <a:ln w="10160">
            <a:solidFill>
              <a:srgbClr val="D4DDE9"/>
            </a:solidFill>
            <a:prstDash val="solid"/>
          </a:ln>
        </p:spPr>
        <p:txBody>
          <a:bodyPr/>
          <a:lstStyle/>
          <a:p>
            <a:endParaRPr/>
          </a:p>
        </p:txBody>
      </p:sp>
      <p:sp>
        <p:nvSpPr>
          <p:cNvPr id="21" name="Text 19"/>
          <p:cNvSpPr/>
          <p:nvPr/>
        </p:nvSpPr>
        <p:spPr>
          <a:xfrm>
            <a:off x="9939528" y="1792224"/>
            <a:ext cx="1600200" cy="228600"/>
          </a:xfrm>
          <a:prstGeom prst="rect">
            <a:avLst/>
          </a:prstGeom>
          <a:noFill/>
          <a:ln/>
        </p:spPr>
        <p:txBody>
          <a:bodyPr wrap="square" lIns="0" tIns="0" rIns="0" bIns="0" rtlCol="0" anchor="ctr"/>
          <a:lstStyle/>
          <a:p>
            <a:pPr marL="0" indent="0" algn="ctr">
              <a:buNone/>
            </a:pPr>
            <a:r>
              <a:rPr lang="en-US" sz="2000" b="1" dirty="0">
                <a:solidFill>
                  <a:srgbClr val="0B1F3A"/>
                </a:solidFill>
              </a:rPr>
              <a:t>Evaluate</a:t>
            </a:r>
            <a:endParaRPr lang="en-US" sz="1500" dirty="0"/>
          </a:p>
        </p:txBody>
      </p:sp>
      <p:sp>
        <p:nvSpPr>
          <p:cNvPr id="22" name="Text 20"/>
          <p:cNvSpPr/>
          <p:nvPr/>
        </p:nvSpPr>
        <p:spPr>
          <a:xfrm>
            <a:off x="9966960" y="2240280"/>
            <a:ext cx="1536192" cy="841248"/>
          </a:xfrm>
          <a:prstGeom prst="rect">
            <a:avLst/>
          </a:prstGeom>
          <a:noFill/>
          <a:ln/>
        </p:spPr>
        <p:txBody>
          <a:bodyPr wrap="square" lIns="254" tIns="254" rIns="254" bIns="254" rtlCol="0" anchor="ctr">
            <a:normAutofit fontScale="92500" lnSpcReduction="10000"/>
          </a:bodyPr>
          <a:lstStyle/>
          <a:p>
            <a:pPr marL="0" indent="0" algn="ctr">
              <a:buNone/>
            </a:pPr>
            <a:r>
              <a:rPr lang="en-US" sz="1650" dirty="0">
                <a:solidFill>
                  <a:srgbClr val="1F2937"/>
                </a:solidFill>
              </a:rPr>
              <a:t>Monitor outcomes by group, role and process—not only intentions.</a:t>
            </a:r>
            <a:endParaRPr lang="en-US" sz="1020" dirty="0"/>
          </a:p>
        </p:txBody>
      </p:sp>
      <p:sp>
        <p:nvSpPr>
          <p:cNvPr id="23" name="Shape 21"/>
          <p:cNvSpPr/>
          <p:nvPr/>
        </p:nvSpPr>
        <p:spPr>
          <a:xfrm>
            <a:off x="1234440" y="4800600"/>
            <a:ext cx="9601200" cy="685800"/>
          </a:xfrm>
          <a:prstGeom prst="roundRect">
            <a:avLst>
              <a:gd name="adj" fmla="val 10667"/>
            </a:avLst>
          </a:prstGeom>
          <a:solidFill>
            <a:srgbClr val="F6F8FB"/>
          </a:solidFill>
          <a:ln w="12700">
            <a:solidFill>
              <a:srgbClr val="F6F8FB">
                <a:alpha val="0"/>
              </a:srgbClr>
            </a:solidFill>
            <a:prstDash val="solid"/>
          </a:ln>
        </p:spPr>
        <p:txBody>
          <a:bodyPr/>
          <a:lstStyle/>
          <a:p>
            <a:endParaRPr/>
          </a:p>
        </p:txBody>
      </p:sp>
      <p:sp>
        <p:nvSpPr>
          <p:cNvPr id="24" name="Text 22"/>
          <p:cNvSpPr/>
          <p:nvPr/>
        </p:nvSpPr>
        <p:spPr>
          <a:xfrm>
            <a:off x="1463040" y="4965192"/>
            <a:ext cx="9144000" cy="411480"/>
          </a:xfrm>
          <a:prstGeom prst="rect">
            <a:avLst/>
          </a:prstGeom>
          <a:noFill/>
          <a:ln/>
        </p:spPr>
        <p:txBody>
          <a:bodyPr wrap="square" lIns="254" tIns="254" rIns="254" bIns="254" rtlCol="0" anchor="ctr">
            <a:normAutofit fontScale="77500" lnSpcReduction="20000"/>
          </a:bodyPr>
          <a:lstStyle/>
          <a:p>
            <a:pPr marL="0" indent="0">
              <a:buNone/>
            </a:pPr>
            <a:r>
              <a:rPr lang="en-US" sz="2000" b="1" dirty="0">
                <a:solidFill>
                  <a:srgbClr val="0B1F3A"/>
                </a:solidFill>
              </a:rPr>
              <a:t>Best practice: redesign processes so fairness is built into work—not dependent only on goodwill.</a:t>
            </a:r>
            <a:endParaRPr lang="en-US" sz="1400" dirty="0"/>
          </a:p>
        </p:txBody>
      </p:sp>
      <p:sp>
        <p:nvSpPr>
          <p:cNvPr id="26" name="Text 18">
            <a:extLst>
              <a:ext uri="{FF2B5EF4-FFF2-40B4-BE49-F238E27FC236}">
                <a16:creationId xmlns:a16="http://schemas.microsoft.com/office/drawing/2014/main" id="{E4C66268-1DFE-7B42-7800-12D1BB5ED37F}"/>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What Makes Diversity Programs Work?</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Effective programs combine awareness, skill and system redesign.</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14</a:t>
            </a:r>
            <a:endParaRPr lang="en-US" sz="850" dirty="0"/>
          </a:p>
        </p:txBody>
      </p:sp>
      <p:sp>
        <p:nvSpPr>
          <p:cNvPr id="8" name="Shape 6"/>
          <p:cNvSpPr/>
          <p:nvPr/>
        </p:nvSpPr>
        <p:spPr>
          <a:xfrm>
            <a:off x="777240" y="1353312"/>
            <a:ext cx="3246120" cy="1234440"/>
          </a:xfrm>
          <a:prstGeom prst="roundRect">
            <a:avLst>
              <a:gd name="adj" fmla="val 6667"/>
            </a:avLst>
          </a:prstGeom>
          <a:solidFill>
            <a:srgbClr val="EAF1FB"/>
          </a:solidFill>
          <a:ln w="10160">
            <a:solidFill>
              <a:srgbClr val="DDE5EF"/>
            </a:solidFill>
            <a:prstDash val="solid"/>
          </a:ln>
        </p:spPr>
        <p:txBody>
          <a:bodyPr/>
          <a:lstStyle/>
          <a:p>
            <a:endParaRPr/>
          </a:p>
        </p:txBody>
      </p:sp>
      <p:sp>
        <p:nvSpPr>
          <p:cNvPr id="9" name="Shape 7"/>
          <p:cNvSpPr/>
          <p:nvPr/>
        </p:nvSpPr>
        <p:spPr>
          <a:xfrm>
            <a:off x="777240" y="1353312"/>
            <a:ext cx="82296" cy="1234440"/>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996696" y="1517904"/>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Awareness</a:t>
            </a:r>
            <a:endParaRPr lang="en-US" sz="1400" dirty="0"/>
          </a:p>
        </p:txBody>
      </p:sp>
      <p:sp>
        <p:nvSpPr>
          <p:cNvPr id="11" name="Text 9"/>
          <p:cNvSpPr/>
          <p:nvPr/>
        </p:nvSpPr>
        <p:spPr>
          <a:xfrm>
            <a:off x="996696" y="1920240"/>
            <a:ext cx="2916936" cy="548640"/>
          </a:xfrm>
          <a:prstGeom prst="rect">
            <a:avLst/>
          </a:prstGeom>
          <a:noFill/>
          <a:ln/>
        </p:spPr>
        <p:txBody>
          <a:bodyPr wrap="square" lIns="254" tIns="254" rIns="254" bIns="254" rtlCol="0" anchor="ctr">
            <a:normAutofit fontScale="92500"/>
          </a:bodyPr>
          <a:lstStyle/>
          <a:p>
            <a:pPr marL="0" indent="0">
              <a:buNone/>
            </a:pPr>
            <a:r>
              <a:rPr lang="en-US" sz="1650" dirty="0">
                <a:solidFill>
                  <a:srgbClr val="1F2937"/>
                </a:solidFill>
              </a:rPr>
              <a:t>Help people notice assumptions, stereotypes and exclusion patterns.</a:t>
            </a:r>
            <a:endParaRPr lang="en-US" sz="1050" dirty="0"/>
          </a:p>
        </p:txBody>
      </p:sp>
      <p:sp>
        <p:nvSpPr>
          <p:cNvPr id="12" name="Shape 10"/>
          <p:cNvSpPr/>
          <p:nvPr/>
        </p:nvSpPr>
        <p:spPr>
          <a:xfrm>
            <a:off x="4462272" y="1353312"/>
            <a:ext cx="3246120" cy="1234440"/>
          </a:xfrm>
          <a:prstGeom prst="roundRect">
            <a:avLst>
              <a:gd name="adj" fmla="val 6667"/>
            </a:avLst>
          </a:prstGeom>
          <a:solidFill>
            <a:srgbClr val="E6F6F6"/>
          </a:solidFill>
          <a:ln w="10160">
            <a:solidFill>
              <a:srgbClr val="DDE5EF"/>
            </a:solidFill>
            <a:prstDash val="solid"/>
          </a:ln>
        </p:spPr>
        <p:txBody>
          <a:bodyPr/>
          <a:lstStyle/>
          <a:p>
            <a:endParaRPr/>
          </a:p>
        </p:txBody>
      </p:sp>
      <p:sp>
        <p:nvSpPr>
          <p:cNvPr id="13" name="Shape 11"/>
          <p:cNvSpPr/>
          <p:nvPr/>
        </p:nvSpPr>
        <p:spPr>
          <a:xfrm>
            <a:off x="4462272" y="1353312"/>
            <a:ext cx="82296" cy="123444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4681728" y="1517904"/>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Skill development</a:t>
            </a:r>
            <a:endParaRPr lang="en-US" sz="1400" dirty="0"/>
          </a:p>
        </p:txBody>
      </p:sp>
      <p:sp>
        <p:nvSpPr>
          <p:cNvPr id="15" name="Text 13"/>
          <p:cNvSpPr/>
          <p:nvPr/>
        </p:nvSpPr>
        <p:spPr>
          <a:xfrm>
            <a:off x="4681728" y="1920240"/>
            <a:ext cx="2916936" cy="548640"/>
          </a:xfrm>
          <a:prstGeom prst="rect">
            <a:avLst/>
          </a:prstGeom>
          <a:noFill/>
          <a:ln/>
        </p:spPr>
        <p:txBody>
          <a:bodyPr wrap="square" lIns="254" tIns="254" rIns="254" bIns="254" rtlCol="0" anchor="ctr">
            <a:normAutofit fontScale="85000" lnSpcReduction="20000"/>
          </a:bodyPr>
          <a:lstStyle/>
          <a:p>
            <a:pPr marL="0" indent="0">
              <a:buNone/>
            </a:pPr>
            <a:r>
              <a:rPr lang="en-US" sz="1650" dirty="0">
                <a:solidFill>
                  <a:srgbClr val="1F2937"/>
                </a:solidFill>
              </a:rPr>
              <a:t>Practice inclusive communication, feedback, conflict handling and decision participation.</a:t>
            </a:r>
            <a:endParaRPr lang="en-US" sz="1050" dirty="0"/>
          </a:p>
        </p:txBody>
      </p:sp>
      <p:sp>
        <p:nvSpPr>
          <p:cNvPr id="16" name="Shape 14"/>
          <p:cNvSpPr/>
          <p:nvPr/>
        </p:nvSpPr>
        <p:spPr>
          <a:xfrm>
            <a:off x="8138160" y="1353312"/>
            <a:ext cx="3246120" cy="1234440"/>
          </a:xfrm>
          <a:prstGeom prst="roundRect">
            <a:avLst>
              <a:gd name="adj" fmla="val 6667"/>
            </a:avLst>
          </a:prstGeom>
          <a:solidFill>
            <a:srgbClr val="EAF6ED"/>
          </a:solidFill>
          <a:ln w="10160">
            <a:solidFill>
              <a:srgbClr val="DDE5EF"/>
            </a:solidFill>
            <a:prstDash val="solid"/>
          </a:ln>
        </p:spPr>
        <p:txBody>
          <a:bodyPr/>
          <a:lstStyle/>
          <a:p>
            <a:endParaRPr/>
          </a:p>
        </p:txBody>
      </p:sp>
      <p:sp>
        <p:nvSpPr>
          <p:cNvPr id="17" name="Shape 15"/>
          <p:cNvSpPr/>
          <p:nvPr/>
        </p:nvSpPr>
        <p:spPr>
          <a:xfrm>
            <a:off x="8138160" y="1353312"/>
            <a:ext cx="82296" cy="1234440"/>
          </a:xfrm>
          <a:prstGeom prst="rect">
            <a:avLst/>
          </a:prstGeom>
          <a:solidFill>
            <a:srgbClr val="2E7D32"/>
          </a:solidFill>
          <a:ln w="12700">
            <a:solidFill>
              <a:srgbClr val="2E7D32">
                <a:alpha val="0"/>
              </a:srgbClr>
            </a:solidFill>
            <a:prstDash val="solid"/>
          </a:ln>
        </p:spPr>
        <p:txBody>
          <a:bodyPr/>
          <a:lstStyle/>
          <a:p>
            <a:endParaRPr/>
          </a:p>
        </p:txBody>
      </p:sp>
      <p:sp>
        <p:nvSpPr>
          <p:cNvPr id="18" name="Text 16"/>
          <p:cNvSpPr/>
          <p:nvPr/>
        </p:nvSpPr>
        <p:spPr>
          <a:xfrm>
            <a:off x="8357616" y="1517904"/>
            <a:ext cx="2916936" cy="274320"/>
          </a:xfrm>
          <a:prstGeom prst="rect">
            <a:avLst/>
          </a:prstGeom>
          <a:noFill/>
          <a:ln/>
        </p:spPr>
        <p:txBody>
          <a:bodyPr wrap="square" lIns="0" tIns="0" rIns="0" bIns="0" rtlCol="0" anchor="ctr"/>
          <a:lstStyle/>
          <a:p>
            <a:pPr marL="0" indent="0">
              <a:buNone/>
            </a:pPr>
            <a:r>
              <a:rPr lang="en-US" sz="2000" b="1" dirty="0">
                <a:solidFill>
                  <a:srgbClr val="0B1F3A"/>
                </a:solidFill>
              </a:rPr>
              <a:t>Accountability</a:t>
            </a:r>
            <a:endParaRPr lang="en-US" sz="1400" dirty="0"/>
          </a:p>
        </p:txBody>
      </p:sp>
      <p:sp>
        <p:nvSpPr>
          <p:cNvPr id="19" name="Text 17"/>
          <p:cNvSpPr/>
          <p:nvPr/>
        </p:nvSpPr>
        <p:spPr>
          <a:xfrm>
            <a:off x="8357616" y="1920240"/>
            <a:ext cx="2916936" cy="548640"/>
          </a:xfrm>
          <a:prstGeom prst="rect">
            <a:avLst/>
          </a:prstGeom>
          <a:noFill/>
          <a:ln/>
        </p:spPr>
        <p:txBody>
          <a:bodyPr wrap="square" lIns="254" tIns="254" rIns="254" bIns="254" rtlCol="0" anchor="ctr">
            <a:normAutofit fontScale="85000" lnSpcReduction="20000"/>
          </a:bodyPr>
          <a:lstStyle/>
          <a:p>
            <a:pPr marL="0" indent="0">
              <a:buNone/>
            </a:pPr>
            <a:r>
              <a:rPr lang="en-US" sz="1650" dirty="0">
                <a:solidFill>
                  <a:srgbClr val="1F2937"/>
                </a:solidFill>
              </a:rPr>
              <a:t>Link inclusion to leadership behavior, process indicators and improvement goals.</a:t>
            </a:r>
            <a:endParaRPr lang="en-US" sz="1050" dirty="0"/>
          </a:p>
        </p:txBody>
      </p:sp>
      <p:sp>
        <p:nvSpPr>
          <p:cNvPr id="20" name="Shape 18"/>
          <p:cNvSpPr/>
          <p:nvPr/>
        </p:nvSpPr>
        <p:spPr>
          <a:xfrm>
            <a:off x="1828800" y="3429000"/>
            <a:ext cx="3520440" cy="1170432"/>
          </a:xfrm>
          <a:prstGeom prst="roundRect">
            <a:avLst>
              <a:gd name="adj" fmla="val 7031"/>
            </a:avLst>
          </a:prstGeom>
          <a:solidFill>
            <a:srgbClr val="FFF7E0"/>
          </a:solidFill>
          <a:ln w="10160">
            <a:solidFill>
              <a:srgbClr val="DDE5EF"/>
            </a:solidFill>
            <a:prstDash val="solid"/>
          </a:ln>
        </p:spPr>
        <p:txBody>
          <a:bodyPr/>
          <a:lstStyle/>
          <a:p>
            <a:endParaRPr/>
          </a:p>
        </p:txBody>
      </p:sp>
      <p:sp>
        <p:nvSpPr>
          <p:cNvPr id="21" name="Shape 19"/>
          <p:cNvSpPr/>
          <p:nvPr/>
        </p:nvSpPr>
        <p:spPr>
          <a:xfrm>
            <a:off x="1828800" y="3429000"/>
            <a:ext cx="82296" cy="1170432"/>
          </a:xfrm>
          <a:prstGeom prst="rect">
            <a:avLst/>
          </a:prstGeom>
          <a:solidFill>
            <a:srgbClr val="F4B400"/>
          </a:solidFill>
          <a:ln w="12700">
            <a:solidFill>
              <a:srgbClr val="F4B400">
                <a:alpha val="0"/>
              </a:srgbClr>
            </a:solidFill>
            <a:prstDash val="solid"/>
          </a:ln>
        </p:spPr>
        <p:txBody>
          <a:bodyPr/>
          <a:lstStyle/>
          <a:p>
            <a:endParaRPr/>
          </a:p>
        </p:txBody>
      </p:sp>
      <p:sp>
        <p:nvSpPr>
          <p:cNvPr id="22" name="Text 20"/>
          <p:cNvSpPr/>
          <p:nvPr/>
        </p:nvSpPr>
        <p:spPr>
          <a:xfrm>
            <a:off x="2048256" y="3593592"/>
            <a:ext cx="3191256" cy="274320"/>
          </a:xfrm>
          <a:prstGeom prst="rect">
            <a:avLst/>
          </a:prstGeom>
          <a:noFill/>
          <a:ln/>
        </p:spPr>
        <p:txBody>
          <a:bodyPr wrap="square" lIns="0" tIns="0" rIns="0" bIns="0" rtlCol="0" anchor="ctr"/>
          <a:lstStyle/>
          <a:p>
            <a:pPr marL="0" indent="0">
              <a:buNone/>
            </a:pPr>
            <a:r>
              <a:rPr lang="en-US" sz="2000" b="1" dirty="0">
                <a:solidFill>
                  <a:srgbClr val="0B1F3A"/>
                </a:solidFill>
              </a:rPr>
              <a:t>Continuous effort</a:t>
            </a:r>
            <a:endParaRPr lang="en-US" sz="1400" dirty="0"/>
          </a:p>
        </p:txBody>
      </p:sp>
      <p:sp>
        <p:nvSpPr>
          <p:cNvPr id="23" name="Text 21"/>
          <p:cNvSpPr/>
          <p:nvPr/>
        </p:nvSpPr>
        <p:spPr>
          <a:xfrm>
            <a:off x="2048256" y="3995928"/>
            <a:ext cx="3191256" cy="484632"/>
          </a:xfrm>
          <a:prstGeom prst="rect">
            <a:avLst/>
          </a:prstGeom>
          <a:noFill/>
          <a:ln/>
        </p:spPr>
        <p:txBody>
          <a:bodyPr wrap="square" lIns="254" tIns="254" rIns="254" bIns="254" rtlCol="0" anchor="ctr">
            <a:normAutofit fontScale="77500" lnSpcReduction="20000"/>
          </a:bodyPr>
          <a:lstStyle/>
          <a:p>
            <a:pPr marL="0" indent="0">
              <a:buNone/>
            </a:pPr>
            <a:r>
              <a:rPr lang="en-US" sz="1650" dirty="0">
                <a:solidFill>
                  <a:srgbClr val="1F2937"/>
                </a:solidFill>
              </a:rPr>
              <a:t>Avoid one-off training. Use ongoing learning, data monitoring and reinforcement.</a:t>
            </a:r>
            <a:endParaRPr lang="en-US" sz="1050" dirty="0"/>
          </a:p>
        </p:txBody>
      </p:sp>
      <p:sp>
        <p:nvSpPr>
          <p:cNvPr id="24" name="Shape 22"/>
          <p:cNvSpPr/>
          <p:nvPr/>
        </p:nvSpPr>
        <p:spPr>
          <a:xfrm>
            <a:off x="6583680" y="3429000"/>
            <a:ext cx="3520440" cy="1170432"/>
          </a:xfrm>
          <a:prstGeom prst="roundRect">
            <a:avLst>
              <a:gd name="adj" fmla="val 7031"/>
            </a:avLst>
          </a:prstGeom>
          <a:solidFill>
            <a:srgbClr val="F6F8FB"/>
          </a:solidFill>
          <a:ln w="10160">
            <a:solidFill>
              <a:srgbClr val="DDE5EF"/>
            </a:solidFill>
            <a:prstDash val="solid"/>
          </a:ln>
        </p:spPr>
        <p:txBody>
          <a:bodyPr/>
          <a:lstStyle/>
          <a:p>
            <a:endParaRPr/>
          </a:p>
        </p:txBody>
      </p:sp>
      <p:sp>
        <p:nvSpPr>
          <p:cNvPr id="25" name="Shape 23"/>
          <p:cNvSpPr/>
          <p:nvPr/>
        </p:nvSpPr>
        <p:spPr>
          <a:xfrm>
            <a:off x="6583680" y="3429000"/>
            <a:ext cx="82296" cy="1170432"/>
          </a:xfrm>
          <a:prstGeom prst="rect">
            <a:avLst/>
          </a:prstGeom>
          <a:solidFill>
            <a:srgbClr val="415A77"/>
          </a:solidFill>
          <a:ln w="12700">
            <a:solidFill>
              <a:srgbClr val="415A77">
                <a:alpha val="0"/>
              </a:srgbClr>
            </a:solidFill>
            <a:prstDash val="solid"/>
          </a:ln>
        </p:spPr>
        <p:txBody>
          <a:bodyPr/>
          <a:lstStyle/>
          <a:p>
            <a:endParaRPr/>
          </a:p>
        </p:txBody>
      </p:sp>
      <p:sp>
        <p:nvSpPr>
          <p:cNvPr id="26" name="Text 24"/>
          <p:cNvSpPr/>
          <p:nvPr/>
        </p:nvSpPr>
        <p:spPr>
          <a:xfrm>
            <a:off x="6803136" y="3593592"/>
            <a:ext cx="3191256" cy="274320"/>
          </a:xfrm>
          <a:prstGeom prst="rect">
            <a:avLst/>
          </a:prstGeom>
          <a:noFill/>
          <a:ln/>
        </p:spPr>
        <p:txBody>
          <a:bodyPr wrap="square" lIns="0" tIns="0" rIns="0" bIns="0" rtlCol="0" anchor="ctr"/>
          <a:lstStyle/>
          <a:p>
            <a:pPr marL="0" indent="0">
              <a:buNone/>
            </a:pPr>
            <a:r>
              <a:rPr lang="en-US" sz="2000" b="1" dirty="0">
                <a:solidFill>
                  <a:srgbClr val="0B1F3A"/>
                </a:solidFill>
              </a:rPr>
              <a:t>Contact and collaboration</a:t>
            </a:r>
            <a:endParaRPr lang="en-US" sz="1400" dirty="0"/>
          </a:p>
        </p:txBody>
      </p:sp>
      <p:sp>
        <p:nvSpPr>
          <p:cNvPr id="27" name="Text 25"/>
          <p:cNvSpPr/>
          <p:nvPr/>
        </p:nvSpPr>
        <p:spPr>
          <a:xfrm>
            <a:off x="6803136" y="3995928"/>
            <a:ext cx="3191256" cy="484632"/>
          </a:xfrm>
          <a:prstGeom prst="rect">
            <a:avLst/>
          </a:prstGeom>
          <a:noFill/>
          <a:ln/>
        </p:spPr>
        <p:txBody>
          <a:bodyPr wrap="square" lIns="254" tIns="254" rIns="254" bIns="254" rtlCol="0" anchor="ctr">
            <a:normAutofit fontScale="77500" lnSpcReduction="20000"/>
          </a:bodyPr>
          <a:lstStyle/>
          <a:p>
            <a:pPr marL="0" indent="0">
              <a:buNone/>
            </a:pPr>
            <a:r>
              <a:rPr lang="en-US" sz="1650" dirty="0">
                <a:solidFill>
                  <a:srgbClr val="1F2937"/>
                </a:solidFill>
              </a:rPr>
              <a:t>Increase meaningful contact across groups through real work, not symbolic events.</a:t>
            </a:r>
            <a:endParaRPr lang="en-US" sz="1050" dirty="0"/>
          </a:p>
        </p:txBody>
      </p:sp>
      <p:sp>
        <p:nvSpPr>
          <p:cNvPr id="29" name="Text 18">
            <a:extLst>
              <a:ext uri="{FF2B5EF4-FFF2-40B4-BE49-F238E27FC236}">
                <a16:creationId xmlns:a16="http://schemas.microsoft.com/office/drawing/2014/main" id="{530156AA-DDA5-6E6B-D19F-FE3494246D81}"/>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9270808"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Linking Diversity to Total Quality Management</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TQM depends on people seeing, sharing and improving work differently.</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15</a:t>
            </a:r>
            <a:endParaRPr lang="en-US" sz="850" dirty="0"/>
          </a:p>
        </p:txBody>
      </p:sp>
      <p:sp>
        <p:nvSpPr>
          <p:cNvPr id="8" name="Shape 6"/>
          <p:cNvSpPr/>
          <p:nvPr/>
        </p:nvSpPr>
        <p:spPr>
          <a:xfrm>
            <a:off x="822960" y="1325880"/>
            <a:ext cx="3017520" cy="566928"/>
          </a:xfrm>
          <a:prstGeom prst="rect">
            <a:avLst/>
          </a:prstGeom>
          <a:solidFill>
            <a:srgbClr val="0B1F3A"/>
          </a:solidFill>
          <a:ln w="7620">
            <a:solidFill>
              <a:srgbClr val="D6DFEA"/>
            </a:solidFill>
            <a:prstDash val="solid"/>
          </a:ln>
        </p:spPr>
        <p:txBody>
          <a:bodyPr/>
          <a:lstStyle/>
          <a:p>
            <a:endParaRPr/>
          </a:p>
        </p:txBody>
      </p:sp>
      <p:sp>
        <p:nvSpPr>
          <p:cNvPr id="9" name="Text 7"/>
          <p:cNvSpPr/>
          <p:nvPr/>
        </p:nvSpPr>
        <p:spPr>
          <a:xfrm>
            <a:off x="896112" y="1472184"/>
            <a:ext cx="2871216" cy="164592"/>
          </a:xfrm>
          <a:prstGeom prst="rect">
            <a:avLst/>
          </a:prstGeom>
          <a:noFill/>
          <a:ln/>
        </p:spPr>
        <p:txBody>
          <a:bodyPr wrap="square" lIns="0" tIns="0" rIns="0" bIns="0" rtlCol="0" anchor="ctr">
            <a:normAutofit fontScale="70000" lnSpcReduction="20000"/>
          </a:bodyPr>
          <a:lstStyle/>
          <a:p>
            <a:pPr marL="0" indent="0">
              <a:buNone/>
            </a:pPr>
            <a:r>
              <a:rPr lang="en-US" sz="1650" b="1" dirty="0">
                <a:solidFill>
                  <a:srgbClr val="FFFFFF"/>
                </a:solidFill>
              </a:rPr>
              <a:t>TQM Principle</a:t>
            </a:r>
            <a:endParaRPr lang="en-US" sz="1050" dirty="0"/>
          </a:p>
        </p:txBody>
      </p:sp>
      <p:sp>
        <p:nvSpPr>
          <p:cNvPr id="10" name="Shape 8"/>
          <p:cNvSpPr/>
          <p:nvPr/>
        </p:nvSpPr>
        <p:spPr>
          <a:xfrm>
            <a:off x="3840480" y="1325880"/>
            <a:ext cx="3749040" cy="566928"/>
          </a:xfrm>
          <a:prstGeom prst="rect">
            <a:avLst/>
          </a:prstGeom>
          <a:solidFill>
            <a:srgbClr val="0B1F3A"/>
          </a:solidFill>
          <a:ln w="7620">
            <a:solidFill>
              <a:srgbClr val="D6DFEA"/>
            </a:solidFill>
            <a:prstDash val="solid"/>
          </a:ln>
        </p:spPr>
        <p:txBody>
          <a:bodyPr/>
          <a:lstStyle/>
          <a:p>
            <a:endParaRPr/>
          </a:p>
        </p:txBody>
      </p:sp>
      <p:sp>
        <p:nvSpPr>
          <p:cNvPr id="11" name="Text 9"/>
          <p:cNvSpPr/>
          <p:nvPr/>
        </p:nvSpPr>
        <p:spPr>
          <a:xfrm>
            <a:off x="3913632" y="1472184"/>
            <a:ext cx="3602736" cy="164592"/>
          </a:xfrm>
          <a:prstGeom prst="rect">
            <a:avLst/>
          </a:prstGeom>
          <a:noFill/>
          <a:ln/>
        </p:spPr>
        <p:txBody>
          <a:bodyPr wrap="square" lIns="0" tIns="0" rIns="0" bIns="0" rtlCol="0" anchor="ctr">
            <a:normAutofit fontScale="70000" lnSpcReduction="20000"/>
          </a:bodyPr>
          <a:lstStyle/>
          <a:p>
            <a:pPr marL="0" indent="0">
              <a:buNone/>
            </a:pPr>
            <a:r>
              <a:rPr lang="en-US" sz="1650" b="1" dirty="0">
                <a:solidFill>
                  <a:srgbClr val="FFFFFF"/>
                </a:solidFill>
              </a:rPr>
              <a:t>Diversity Link</a:t>
            </a:r>
            <a:endParaRPr lang="en-US" sz="1050" dirty="0"/>
          </a:p>
        </p:txBody>
      </p:sp>
      <p:sp>
        <p:nvSpPr>
          <p:cNvPr id="12" name="Shape 10"/>
          <p:cNvSpPr/>
          <p:nvPr/>
        </p:nvSpPr>
        <p:spPr>
          <a:xfrm>
            <a:off x="7589520" y="1325880"/>
            <a:ext cx="3794760" cy="566928"/>
          </a:xfrm>
          <a:prstGeom prst="rect">
            <a:avLst/>
          </a:prstGeom>
          <a:solidFill>
            <a:srgbClr val="0B1F3A"/>
          </a:solidFill>
          <a:ln w="7620">
            <a:solidFill>
              <a:srgbClr val="D6DFEA"/>
            </a:solidFill>
            <a:prstDash val="solid"/>
          </a:ln>
        </p:spPr>
        <p:txBody>
          <a:bodyPr/>
          <a:lstStyle/>
          <a:p>
            <a:endParaRPr/>
          </a:p>
        </p:txBody>
      </p:sp>
      <p:sp>
        <p:nvSpPr>
          <p:cNvPr id="13" name="Text 11"/>
          <p:cNvSpPr/>
          <p:nvPr/>
        </p:nvSpPr>
        <p:spPr>
          <a:xfrm>
            <a:off x="7662672" y="1472184"/>
            <a:ext cx="3648456" cy="164592"/>
          </a:xfrm>
          <a:prstGeom prst="rect">
            <a:avLst/>
          </a:prstGeom>
          <a:noFill/>
          <a:ln/>
        </p:spPr>
        <p:txBody>
          <a:bodyPr wrap="square" lIns="0" tIns="0" rIns="0" bIns="0" rtlCol="0" anchor="ctr">
            <a:normAutofit fontScale="70000" lnSpcReduction="20000"/>
          </a:bodyPr>
          <a:lstStyle/>
          <a:p>
            <a:pPr marL="0" indent="0">
              <a:buNone/>
            </a:pPr>
            <a:r>
              <a:rPr lang="en-US" sz="1650" b="1" dirty="0">
                <a:solidFill>
                  <a:srgbClr val="FFFFFF"/>
                </a:solidFill>
              </a:rPr>
              <a:t>Quality Result</a:t>
            </a:r>
            <a:endParaRPr lang="en-US" sz="1050" dirty="0"/>
          </a:p>
        </p:txBody>
      </p:sp>
      <p:sp>
        <p:nvSpPr>
          <p:cNvPr id="14" name="Shape 12"/>
          <p:cNvSpPr/>
          <p:nvPr/>
        </p:nvSpPr>
        <p:spPr>
          <a:xfrm>
            <a:off x="822960" y="1892808"/>
            <a:ext cx="3017520" cy="566928"/>
          </a:xfrm>
          <a:prstGeom prst="rect">
            <a:avLst/>
          </a:prstGeom>
          <a:solidFill>
            <a:srgbClr val="FFFFFF"/>
          </a:solidFill>
          <a:ln w="7620">
            <a:solidFill>
              <a:srgbClr val="D6DFEA"/>
            </a:solidFill>
            <a:prstDash val="solid"/>
          </a:ln>
        </p:spPr>
        <p:txBody>
          <a:bodyPr/>
          <a:lstStyle/>
          <a:p>
            <a:endParaRPr/>
          </a:p>
        </p:txBody>
      </p:sp>
      <p:sp>
        <p:nvSpPr>
          <p:cNvPr id="15" name="Text 13"/>
          <p:cNvSpPr/>
          <p:nvPr/>
        </p:nvSpPr>
        <p:spPr>
          <a:xfrm>
            <a:off x="896112" y="2039112"/>
            <a:ext cx="2871216" cy="164592"/>
          </a:xfrm>
          <a:prstGeom prst="rect">
            <a:avLst/>
          </a:prstGeom>
          <a:noFill/>
          <a:ln/>
        </p:spPr>
        <p:txBody>
          <a:bodyPr wrap="square" lIns="0" tIns="0" rIns="0" bIns="0" rtlCol="0" anchor="ctr">
            <a:normAutofit fontScale="85000" lnSpcReduction="20000"/>
          </a:bodyPr>
          <a:lstStyle/>
          <a:p>
            <a:pPr marL="0" indent="0">
              <a:buNone/>
            </a:pPr>
            <a:r>
              <a:rPr lang="en-US" sz="1400" dirty="0">
                <a:solidFill>
                  <a:srgbClr val="1F2937"/>
                </a:solidFill>
              </a:rPr>
              <a:t>Customer focus</a:t>
            </a:r>
            <a:endParaRPr lang="en-US" sz="800" dirty="0"/>
          </a:p>
        </p:txBody>
      </p:sp>
      <p:sp>
        <p:nvSpPr>
          <p:cNvPr id="16" name="Shape 14"/>
          <p:cNvSpPr/>
          <p:nvPr/>
        </p:nvSpPr>
        <p:spPr>
          <a:xfrm>
            <a:off x="3840480" y="1892808"/>
            <a:ext cx="3749040" cy="566928"/>
          </a:xfrm>
          <a:prstGeom prst="rect">
            <a:avLst/>
          </a:prstGeom>
          <a:solidFill>
            <a:srgbClr val="FFFFFF"/>
          </a:solidFill>
          <a:ln w="7620">
            <a:solidFill>
              <a:srgbClr val="D6DFEA"/>
            </a:solidFill>
            <a:prstDash val="solid"/>
          </a:ln>
        </p:spPr>
        <p:txBody>
          <a:bodyPr/>
          <a:lstStyle/>
          <a:p>
            <a:endParaRPr/>
          </a:p>
        </p:txBody>
      </p:sp>
      <p:sp>
        <p:nvSpPr>
          <p:cNvPr id="17" name="Text 15"/>
          <p:cNvSpPr/>
          <p:nvPr/>
        </p:nvSpPr>
        <p:spPr>
          <a:xfrm>
            <a:off x="3913632" y="2039112"/>
            <a:ext cx="360273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Understand varied user needs</a:t>
            </a:r>
            <a:endParaRPr lang="en-US" sz="1020" dirty="0"/>
          </a:p>
        </p:txBody>
      </p:sp>
      <p:sp>
        <p:nvSpPr>
          <p:cNvPr id="18" name="Shape 16"/>
          <p:cNvSpPr/>
          <p:nvPr/>
        </p:nvSpPr>
        <p:spPr>
          <a:xfrm>
            <a:off x="7589520" y="1892808"/>
            <a:ext cx="3794760" cy="566928"/>
          </a:xfrm>
          <a:prstGeom prst="rect">
            <a:avLst/>
          </a:prstGeom>
          <a:solidFill>
            <a:srgbClr val="FFFFFF"/>
          </a:solidFill>
          <a:ln w="7620">
            <a:solidFill>
              <a:srgbClr val="D6DFEA"/>
            </a:solidFill>
            <a:prstDash val="solid"/>
          </a:ln>
        </p:spPr>
        <p:txBody>
          <a:bodyPr/>
          <a:lstStyle/>
          <a:p>
            <a:endParaRPr/>
          </a:p>
        </p:txBody>
      </p:sp>
      <p:sp>
        <p:nvSpPr>
          <p:cNvPr id="19" name="Text 17"/>
          <p:cNvSpPr/>
          <p:nvPr/>
        </p:nvSpPr>
        <p:spPr>
          <a:xfrm>
            <a:off x="7662672" y="2039112"/>
            <a:ext cx="364845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Better service design</a:t>
            </a:r>
            <a:endParaRPr lang="en-US" sz="1020" dirty="0"/>
          </a:p>
        </p:txBody>
      </p:sp>
      <p:sp>
        <p:nvSpPr>
          <p:cNvPr id="20" name="Shape 18"/>
          <p:cNvSpPr/>
          <p:nvPr/>
        </p:nvSpPr>
        <p:spPr>
          <a:xfrm>
            <a:off x="822960" y="2459736"/>
            <a:ext cx="3017520" cy="566928"/>
          </a:xfrm>
          <a:prstGeom prst="rect">
            <a:avLst/>
          </a:prstGeom>
          <a:solidFill>
            <a:srgbClr val="F6F8FB"/>
          </a:solidFill>
          <a:ln w="7620">
            <a:solidFill>
              <a:srgbClr val="D6DFEA"/>
            </a:solidFill>
            <a:prstDash val="solid"/>
          </a:ln>
        </p:spPr>
        <p:txBody>
          <a:bodyPr/>
          <a:lstStyle/>
          <a:p>
            <a:endParaRPr/>
          </a:p>
        </p:txBody>
      </p:sp>
      <p:sp>
        <p:nvSpPr>
          <p:cNvPr id="21" name="Text 19"/>
          <p:cNvSpPr/>
          <p:nvPr/>
        </p:nvSpPr>
        <p:spPr>
          <a:xfrm>
            <a:off x="896112" y="2606040"/>
            <a:ext cx="287121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Employee involvement</a:t>
            </a:r>
            <a:endParaRPr lang="en-US" sz="1020" dirty="0"/>
          </a:p>
        </p:txBody>
      </p:sp>
      <p:sp>
        <p:nvSpPr>
          <p:cNvPr id="22" name="Shape 20"/>
          <p:cNvSpPr/>
          <p:nvPr/>
        </p:nvSpPr>
        <p:spPr>
          <a:xfrm>
            <a:off x="3840480" y="2459736"/>
            <a:ext cx="3749040" cy="566928"/>
          </a:xfrm>
          <a:prstGeom prst="rect">
            <a:avLst/>
          </a:prstGeom>
          <a:solidFill>
            <a:srgbClr val="F6F8FB"/>
          </a:solidFill>
          <a:ln w="7620">
            <a:solidFill>
              <a:srgbClr val="D6DFEA"/>
            </a:solidFill>
            <a:prstDash val="solid"/>
          </a:ln>
        </p:spPr>
        <p:txBody>
          <a:bodyPr/>
          <a:lstStyle/>
          <a:p>
            <a:endParaRPr/>
          </a:p>
        </p:txBody>
      </p:sp>
      <p:sp>
        <p:nvSpPr>
          <p:cNvPr id="23" name="Text 21"/>
          <p:cNvSpPr/>
          <p:nvPr/>
        </p:nvSpPr>
        <p:spPr>
          <a:xfrm>
            <a:off x="3913632" y="2606040"/>
            <a:ext cx="360273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Include frontline voices</a:t>
            </a:r>
            <a:endParaRPr lang="en-US" sz="1020" dirty="0"/>
          </a:p>
        </p:txBody>
      </p:sp>
      <p:sp>
        <p:nvSpPr>
          <p:cNvPr id="24" name="Shape 22"/>
          <p:cNvSpPr/>
          <p:nvPr/>
        </p:nvSpPr>
        <p:spPr>
          <a:xfrm>
            <a:off x="7589520" y="2459736"/>
            <a:ext cx="3794760" cy="566928"/>
          </a:xfrm>
          <a:prstGeom prst="rect">
            <a:avLst/>
          </a:prstGeom>
          <a:solidFill>
            <a:srgbClr val="F6F8FB"/>
          </a:solidFill>
          <a:ln w="7620">
            <a:solidFill>
              <a:srgbClr val="D6DFEA"/>
            </a:solidFill>
            <a:prstDash val="solid"/>
          </a:ln>
        </p:spPr>
        <p:txBody>
          <a:bodyPr/>
          <a:lstStyle/>
          <a:p>
            <a:endParaRPr/>
          </a:p>
        </p:txBody>
      </p:sp>
      <p:sp>
        <p:nvSpPr>
          <p:cNvPr id="25" name="Text 23"/>
          <p:cNvSpPr/>
          <p:nvPr/>
        </p:nvSpPr>
        <p:spPr>
          <a:xfrm>
            <a:off x="7662672" y="2606040"/>
            <a:ext cx="364845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More improvement ideas</a:t>
            </a:r>
            <a:endParaRPr lang="en-US" sz="1020" dirty="0"/>
          </a:p>
        </p:txBody>
      </p:sp>
      <p:sp>
        <p:nvSpPr>
          <p:cNvPr id="26" name="Shape 24"/>
          <p:cNvSpPr/>
          <p:nvPr/>
        </p:nvSpPr>
        <p:spPr>
          <a:xfrm>
            <a:off x="822960" y="3026664"/>
            <a:ext cx="3017520" cy="566928"/>
          </a:xfrm>
          <a:prstGeom prst="rect">
            <a:avLst/>
          </a:prstGeom>
          <a:solidFill>
            <a:srgbClr val="FFFFFF"/>
          </a:solidFill>
          <a:ln w="7620">
            <a:solidFill>
              <a:srgbClr val="D6DFEA"/>
            </a:solidFill>
            <a:prstDash val="solid"/>
          </a:ln>
        </p:spPr>
        <p:txBody>
          <a:bodyPr/>
          <a:lstStyle/>
          <a:p>
            <a:endParaRPr/>
          </a:p>
        </p:txBody>
      </p:sp>
      <p:sp>
        <p:nvSpPr>
          <p:cNvPr id="27" name="Text 25"/>
          <p:cNvSpPr/>
          <p:nvPr/>
        </p:nvSpPr>
        <p:spPr>
          <a:xfrm>
            <a:off x="896112" y="3172968"/>
            <a:ext cx="287121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Process approach</a:t>
            </a:r>
            <a:endParaRPr lang="en-US" sz="1020" dirty="0"/>
          </a:p>
        </p:txBody>
      </p:sp>
      <p:sp>
        <p:nvSpPr>
          <p:cNvPr id="28" name="Shape 26"/>
          <p:cNvSpPr/>
          <p:nvPr/>
        </p:nvSpPr>
        <p:spPr>
          <a:xfrm>
            <a:off x="3840480" y="3026664"/>
            <a:ext cx="3749040" cy="566928"/>
          </a:xfrm>
          <a:prstGeom prst="rect">
            <a:avLst/>
          </a:prstGeom>
          <a:solidFill>
            <a:srgbClr val="FFFFFF"/>
          </a:solidFill>
          <a:ln w="7620">
            <a:solidFill>
              <a:srgbClr val="D6DFEA"/>
            </a:solidFill>
            <a:prstDash val="solid"/>
          </a:ln>
        </p:spPr>
        <p:txBody>
          <a:bodyPr/>
          <a:lstStyle/>
          <a:p>
            <a:endParaRPr/>
          </a:p>
        </p:txBody>
      </p:sp>
      <p:sp>
        <p:nvSpPr>
          <p:cNvPr id="29" name="Text 27"/>
          <p:cNvSpPr/>
          <p:nvPr/>
        </p:nvSpPr>
        <p:spPr>
          <a:xfrm>
            <a:off x="3913632" y="3172968"/>
            <a:ext cx="360273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Reduce bias in handoffs</a:t>
            </a:r>
            <a:endParaRPr lang="en-US" sz="1020" dirty="0"/>
          </a:p>
        </p:txBody>
      </p:sp>
      <p:sp>
        <p:nvSpPr>
          <p:cNvPr id="30" name="Shape 28"/>
          <p:cNvSpPr/>
          <p:nvPr/>
        </p:nvSpPr>
        <p:spPr>
          <a:xfrm>
            <a:off x="7589520" y="3026664"/>
            <a:ext cx="3794760" cy="566928"/>
          </a:xfrm>
          <a:prstGeom prst="rect">
            <a:avLst/>
          </a:prstGeom>
          <a:solidFill>
            <a:srgbClr val="FFFFFF"/>
          </a:solidFill>
          <a:ln w="7620">
            <a:solidFill>
              <a:srgbClr val="D6DFEA"/>
            </a:solidFill>
            <a:prstDash val="solid"/>
          </a:ln>
        </p:spPr>
        <p:txBody>
          <a:bodyPr/>
          <a:lstStyle/>
          <a:p>
            <a:endParaRPr/>
          </a:p>
        </p:txBody>
      </p:sp>
      <p:sp>
        <p:nvSpPr>
          <p:cNvPr id="31" name="Text 29"/>
          <p:cNvSpPr/>
          <p:nvPr/>
        </p:nvSpPr>
        <p:spPr>
          <a:xfrm>
            <a:off x="7662672" y="3172968"/>
            <a:ext cx="364845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Fewer errors and delays</a:t>
            </a:r>
            <a:endParaRPr lang="en-US" sz="1020" dirty="0"/>
          </a:p>
        </p:txBody>
      </p:sp>
      <p:sp>
        <p:nvSpPr>
          <p:cNvPr id="32" name="Shape 30"/>
          <p:cNvSpPr/>
          <p:nvPr/>
        </p:nvSpPr>
        <p:spPr>
          <a:xfrm>
            <a:off x="822960" y="3593592"/>
            <a:ext cx="3017520" cy="566928"/>
          </a:xfrm>
          <a:prstGeom prst="rect">
            <a:avLst/>
          </a:prstGeom>
          <a:solidFill>
            <a:srgbClr val="F6F8FB"/>
          </a:solidFill>
          <a:ln w="7620">
            <a:solidFill>
              <a:srgbClr val="D6DFEA"/>
            </a:solidFill>
            <a:prstDash val="solid"/>
          </a:ln>
        </p:spPr>
        <p:txBody>
          <a:bodyPr/>
          <a:lstStyle/>
          <a:p>
            <a:endParaRPr/>
          </a:p>
        </p:txBody>
      </p:sp>
      <p:sp>
        <p:nvSpPr>
          <p:cNvPr id="33" name="Text 31"/>
          <p:cNvSpPr/>
          <p:nvPr/>
        </p:nvSpPr>
        <p:spPr>
          <a:xfrm>
            <a:off x="896112" y="3739896"/>
            <a:ext cx="287121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Evidence-based decisions</a:t>
            </a:r>
            <a:endParaRPr lang="en-US" sz="1020" dirty="0"/>
          </a:p>
        </p:txBody>
      </p:sp>
      <p:sp>
        <p:nvSpPr>
          <p:cNvPr id="34" name="Shape 32"/>
          <p:cNvSpPr/>
          <p:nvPr/>
        </p:nvSpPr>
        <p:spPr>
          <a:xfrm>
            <a:off x="3840480" y="3593592"/>
            <a:ext cx="3749040" cy="566928"/>
          </a:xfrm>
          <a:prstGeom prst="rect">
            <a:avLst/>
          </a:prstGeom>
          <a:solidFill>
            <a:srgbClr val="F6F8FB"/>
          </a:solidFill>
          <a:ln w="7620">
            <a:solidFill>
              <a:srgbClr val="D6DFEA"/>
            </a:solidFill>
            <a:prstDash val="solid"/>
          </a:ln>
        </p:spPr>
        <p:txBody>
          <a:bodyPr/>
          <a:lstStyle/>
          <a:p>
            <a:endParaRPr/>
          </a:p>
        </p:txBody>
      </p:sp>
      <p:sp>
        <p:nvSpPr>
          <p:cNvPr id="35" name="Text 33"/>
          <p:cNvSpPr/>
          <p:nvPr/>
        </p:nvSpPr>
        <p:spPr>
          <a:xfrm>
            <a:off x="3913632" y="3739896"/>
            <a:ext cx="360273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Use data, not stereotypes</a:t>
            </a:r>
            <a:endParaRPr lang="en-US" sz="1020" dirty="0"/>
          </a:p>
        </p:txBody>
      </p:sp>
      <p:sp>
        <p:nvSpPr>
          <p:cNvPr id="36" name="Shape 34"/>
          <p:cNvSpPr/>
          <p:nvPr/>
        </p:nvSpPr>
        <p:spPr>
          <a:xfrm>
            <a:off x="7589520" y="3593592"/>
            <a:ext cx="3794760" cy="566928"/>
          </a:xfrm>
          <a:prstGeom prst="rect">
            <a:avLst/>
          </a:prstGeom>
          <a:solidFill>
            <a:srgbClr val="F6F8FB"/>
          </a:solidFill>
          <a:ln w="7620">
            <a:solidFill>
              <a:srgbClr val="D6DFEA"/>
            </a:solidFill>
            <a:prstDash val="solid"/>
          </a:ln>
        </p:spPr>
        <p:txBody>
          <a:bodyPr/>
          <a:lstStyle/>
          <a:p>
            <a:endParaRPr/>
          </a:p>
        </p:txBody>
      </p:sp>
      <p:sp>
        <p:nvSpPr>
          <p:cNvPr id="37" name="Text 35"/>
          <p:cNvSpPr/>
          <p:nvPr/>
        </p:nvSpPr>
        <p:spPr>
          <a:xfrm>
            <a:off x="7662672" y="3739896"/>
            <a:ext cx="364845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Fairer and better choices</a:t>
            </a:r>
            <a:endParaRPr lang="en-US" sz="1020" dirty="0"/>
          </a:p>
        </p:txBody>
      </p:sp>
      <p:sp>
        <p:nvSpPr>
          <p:cNvPr id="38" name="Shape 36"/>
          <p:cNvSpPr/>
          <p:nvPr/>
        </p:nvSpPr>
        <p:spPr>
          <a:xfrm>
            <a:off x="822960" y="4160520"/>
            <a:ext cx="3017520" cy="566928"/>
          </a:xfrm>
          <a:prstGeom prst="rect">
            <a:avLst/>
          </a:prstGeom>
          <a:solidFill>
            <a:srgbClr val="FFFFFF"/>
          </a:solidFill>
          <a:ln w="7620">
            <a:solidFill>
              <a:srgbClr val="D6DFEA"/>
            </a:solidFill>
            <a:prstDash val="solid"/>
          </a:ln>
        </p:spPr>
        <p:txBody>
          <a:bodyPr/>
          <a:lstStyle/>
          <a:p>
            <a:endParaRPr/>
          </a:p>
        </p:txBody>
      </p:sp>
      <p:sp>
        <p:nvSpPr>
          <p:cNvPr id="39" name="Text 37"/>
          <p:cNvSpPr/>
          <p:nvPr/>
        </p:nvSpPr>
        <p:spPr>
          <a:xfrm>
            <a:off x="896112" y="4306824"/>
            <a:ext cx="287121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Continual improvement</a:t>
            </a:r>
            <a:endParaRPr lang="en-US" sz="1020" dirty="0"/>
          </a:p>
        </p:txBody>
      </p:sp>
      <p:sp>
        <p:nvSpPr>
          <p:cNvPr id="40" name="Shape 38"/>
          <p:cNvSpPr/>
          <p:nvPr/>
        </p:nvSpPr>
        <p:spPr>
          <a:xfrm>
            <a:off x="3840480" y="4160520"/>
            <a:ext cx="3749040" cy="566928"/>
          </a:xfrm>
          <a:prstGeom prst="rect">
            <a:avLst/>
          </a:prstGeom>
          <a:solidFill>
            <a:srgbClr val="FFFFFF"/>
          </a:solidFill>
          <a:ln w="7620">
            <a:solidFill>
              <a:srgbClr val="D6DFEA"/>
            </a:solidFill>
            <a:prstDash val="solid"/>
          </a:ln>
        </p:spPr>
        <p:txBody>
          <a:bodyPr/>
          <a:lstStyle/>
          <a:p>
            <a:endParaRPr/>
          </a:p>
        </p:txBody>
      </p:sp>
      <p:sp>
        <p:nvSpPr>
          <p:cNvPr id="41" name="Text 39"/>
          <p:cNvSpPr/>
          <p:nvPr/>
        </p:nvSpPr>
        <p:spPr>
          <a:xfrm>
            <a:off x="3913632" y="4306824"/>
            <a:ext cx="360273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Learn from difference</a:t>
            </a:r>
            <a:endParaRPr lang="en-US" sz="1020" dirty="0"/>
          </a:p>
        </p:txBody>
      </p:sp>
      <p:sp>
        <p:nvSpPr>
          <p:cNvPr id="42" name="Shape 40"/>
          <p:cNvSpPr/>
          <p:nvPr/>
        </p:nvSpPr>
        <p:spPr>
          <a:xfrm>
            <a:off x="7589520" y="4160520"/>
            <a:ext cx="3794760" cy="566928"/>
          </a:xfrm>
          <a:prstGeom prst="rect">
            <a:avLst/>
          </a:prstGeom>
          <a:solidFill>
            <a:srgbClr val="FFFFFF"/>
          </a:solidFill>
          <a:ln w="7620">
            <a:solidFill>
              <a:srgbClr val="D6DFEA"/>
            </a:solidFill>
            <a:prstDash val="solid"/>
          </a:ln>
        </p:spPr>
        <p:txBody>
          <a:bodyPr/>
          <a:lstStyle/>
          <a:p>
            <a:endParaRPr/>
          </a:p>
        </p:txBody>
      </p:sp>
      <p:sp>
        <p:nvSpPr>
          <p:cNvPr id="43" name="Text 41"/>
          <p:cNvSpPr/>
          <p:nvPr/>
        </p:nvSpPr>
        <p:spPr>
          <a:xfrm>
            <a:off x="7662672" y="4306824"/>
            <a:ext cx="3648456" cy="164592"/>
          </a:xfrm>
          <a:prstGeom prst="rect">
            <a:avLst/>
          </a:prstGeom>
          <a:noFill/>
          <a:ln/>
        </p:spPr>
        <p:txBody>
          <a:bodyPr wrap="square" lIns="0" tIns="0" rIns="0" bIns="0" rtlCol="0" anchor="ctr">
            <a:normAutofit fontScale="70000" lnSpcReduction="20000"/>
          </a:bodyPr>
          <a:lstStyle/>
          <a:p>
            <a:pPr marL="0" indent="0">
              <a:buNone/>
            </a:pPr>
            <a:r>
              <a:rPr lang="en-US" sz="1650" dirty="0">
                <a:solidFill>
                  <a:srgbClr val="1F2937"/>
                </a:solidFill>
              </a:rPr>
              <a:t>Innovation and adaptability</a:t>
            </a:r>
            <a:endParaRPr lang="en-US" sz="1020" dirty="0"/>
          </a:p>
        </p:txBody>
      </p:sp>
      <p:sp>
        <p:nvSpPr>
          <p:cNvPr id="45" name="Text 18">
            <a:extLst>
              <a:ext uri="{FF2B5EF4-FFF2-40B4-BE49-F238E27FC236}">
                <a16:creationId xmlns:a16="http://schemas.microsoft.com/office/drawing/2014/main" id="{302986D3-0D38-4CA8-EF0B-C240ED1A33DF}"/>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Mini Case: The Complaint Review Panel</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A short case for concept application.</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16</a:t>
            </a:r>
            <a:endParaRPr lang="en-US" sz="850" dirty="0"/>
          </a:p>
        </p:txBody>
      </p:sp>
      <p:sp>
        <p:nvSpPr>
          <p:cNvPr id="8" name="Text 6"/>
          <p:cNvSpPr/>
          <p:nvPr/>
        </p:nvSpPr>
        <p:spPr>
          <a:xfrm>
            <a:off x="822960" y="1298448"/>
            <a:ext cx="6492240" cy="1783080"/>
          </a:xfrm>
          <a:prstGeom prst="rect">
            <a:avLst/>
          </a:prstGeom>
          <a:noFill/>
          <a:ln/>
        </p:spPr>
        <p:txBody>
          <a:bodyPr wrap="square" lIns="635" tIns="635" rIns="635" bIns="635" rtlCol="0" anchor="ctr">
            <a:normAutofit fontScale="85000" lnSpcReduction="10000"/>
          </a:bodyPr>
          <a:lstStyle/>
          <a:p>
            <a:pPr marL="0" indent="0">
              <a:buNone/>
            </a:pPr>
            <a:r>
              <a:rPr lang="en-US" sz="2000" dirty="0">
                <a:solidFill>
                  <a:srgbClr val="1F2937"/>
                </a:solidFill>
              </a:rPr>
              <a:t>A service organization formed a complaint review panel. The panel includes managers from operations, quality, IT and customer service. However, all members have similar professional backgrounds and long tenure. They quickly agree on causes, usually blaming customers for incomplete requests. A new employee suggests that forms may be unclear for first-time users, but the idea is dismissed because “this is how we have always done it.” Complaints continue to rise.</a:t>
            </a:r>
            <a:endParaRPr lang="en-US" sz="1400" dirty="0"/>
          </a:p>
        </p:txBody>
      </p:sp>
      <p:sp>
        <p:nvSpPr>
          <p:cNvPr id="9" name="Shape 7"/>
          <p:cNvSpPr/>
          <p:nvPr/>
        </p:nvSpPr>
        <p:spPr>
          <a:xfrm>
            <a:off x="7726680" y="1325880"/>
            <a:ext cx="3337560" cy="2148840"/>
          </a:xfrm>
          <a:prstGeom prst="roundRect">
            <a:avLst>
              <a:gd name="adj" fmla="val 3830"/>
            </a:avLst>
          </a:prstGeom>
          <a:solidFill>
            <a:srgbClr val="E6F6F6"/>
          </a:solidFill>
          <a:ln w="10160">
            <a:solidFill>
              <a:srgbClr val="DDE5EF"/>
            </a:solidFill>
            <a:prstDash val="solid"/>
          </a:ln>
        </p:spPr>
        <p:txBody>
          <a:bodyPr/>
          <a:lstStyle/>
          <a:p>
            <a:endParaRPr/>
          </a:p>
        </p:txBody>
      </p:sp>
      <p:sp>
        <p:nvSpPr>
          <p:cNvPr id="10" name="Shape 8"/>
          <p:cNvSpPr/>
          <p:nvPr/>
        </p:nvSpPr>
        <p:spPr>
          <a:xfrm>
            <a:off x="7726680" y="1325880"/>
            <a:ext cx="82296" cy="2148840"/>
          </a:xfrm>
          <a:prstGeom prst="rect">
            <a:avLst/>
          </a:prstGeom>
          <a:solidFill>
            <a:srgbClr val="00A6A6"/>
          </a:solidFill>
          <a:ln w="12700">
            <a:solidFill>
              <a:srgbClr val="00A6A6">
                <a:alpha val="0"/>
              </a:srgbClr>
            </a:solidFill>
            <a:prstDash val="solid"/>
          </a:ln>
        </p:spPr>
        <p:txBody>
          <a:bodyPr/>
          <a:lstStyle/>
          <a:p>
            <a:endParaRPr/>
          </a:p>
        </p:txBody>
      </p:sp>
      <p:sp>
        <p:nvSpPr>
          <p:cNvPr id="11" name="Text 9"/>
          <p:cNvSpPr/>
          <p:nvPr/>
        </p:nvSpPr>
        <p:spPr>
          <a:xfrm>
            <a:off x="7946136" y="1490472"/>
            <a:ext cx="3008376" cy="274320"/>
          </a:xfrm>
          <a:prstGeom prst="rect">
            <a:avLst/>
          </a:prstGeom>
          <a:noFill/>
          <a:ln/>
        </p:spPr>
        <p:txBody>
          <a:bodyPr wrap="square" lIns="0" tIns="0" rIns="0" bIns="0" rtlCol="0" anchor="ctr"/>
          <a:lstStyle/>
          <a:p>
            <a:pPr marL="0" indent="0">
              <a:buNone/>
            </a:pPr>
            <a:r>
              <a:rPr lang="en-US" sz="2000" b="1" dirty="0">
                <a:solidFill>
                  <a:srgbClr val="0B1F3A"/>
                </a:solidFill>
              </a:rPr>
              <a:t>Questions</a:t>
            </a:r>
            <a:endParaRPr lang="en-US" sz="1400" dirty="0"/>
          </a:p>
        </p:txBody>
      </p:sp>
      <p:sp>
        <p:nvSpPr>
          <p:cNvPr id="12" name="Text 10"/>
          <p:cNvSpPr/>
          <p:nvPr/>
        </p:nvSpPr>
        <p:spPr>
          <a:xfrm>
            <a:off x="7946136" y="1892808"/>
            <a:ext cx="3008376" cy="1463040"/>
          </a:xfrm>
          <a:prstGeom prst="rect">
            <a:avLst/>
          </a:prstGeom>
          <a:noFill/>
          <a:ln/>
        </p:spPr>
        <p:txBody>
          <a:bodyPr wrap="square" lIns="254" tIns="254" rIns="254" bIns="254" rtlCol="0" anchor="ctr">
            <a:normAutofit fontScale="77500" lnSpcReduction="20000"/>
          </a:bodyPr>
          <a:lstStyle/>
          <a:p>
            <a:pPr marL="0" indent="0">
              <a:buNone/>
            </a:pPr>
            <a:r>
              <a:rPr lang="en-US" sz="1650" dirty="0">
                <a:solidFill>
                  <a:srgbClr val="1F2937"/>
                </a:solidFill>
              </a:rPr>
              <a:t>1. What types of diversity are missing?</a:t>
            </a:r>
            <a:endParaRPr lang="en-US" sz="1050" dirty="0"/>
          </a:p>
          <a:p>
            <a:pPr marL="0" indent="0">
              <a:buNone/>
            </a:pPr>
            <a:r>
              <a:rPr lang="en-US" sz="1650" dirty="0">
                <a:solidFill>
                  <a:srgbClr val="1F2937"/>
                </a:solidFill>
              </a:rPr>
              <a:t>2. What stereotypes or assumptions appear?</a:t>
            </a:r>
            <a:endParaRPr lang="en-US" sz="1050" dirty="0"/>
          </a:p>
          <a:p>
            <a:pPr marL="0" indent="0">
              <a:buNone/>
            </a:pPr>
            <a:r>
              <a:rPr lang="en-US" sz="1650" dirty="0">
                <a:solidFill>
                  <a:srgbClr val="1F2937"/>
                </a:solidFill>
              </a:rPr>
              <a:t>3. How does deep-level diversity matter here?</a:t>
            </a:r>
            <a:endParaRPr lang="en-US" sz="1050" dirty="0"/>
          </a:p>
          <a:p>
            <a:pPr marL="0" indent="0">
              <a:buNone/>
            </a:pPr>
            <a:r>
              <a:rPr lang="en-US" sz="1650" dirty="0">
                <a:solidFill>
                  <a:srgbClr val="1F2937"/>
                </a:solidFill>
              </a:rPr>
              <a:t>4. What process change would improve the panel?</a:t>
            </a:r>
            <a:endParaRPr lang="en-US" sz="1050" dirty="0"/>
          </a:p>
          <a:p>
            <a:pPr marL="0" indent="0">
              <a:buNone/>
            </a:pPr>
            <a:r>
              <a:rPr lang="en-US" sz="1650" dirty="0">
                <a:solidFill>
                  <a:srgbClr val="1F2937"/>
                </a:solidFill>
              </a:rPr>
              <a:t>5. What quality indicator should be monitored?</a:t>
            </a:r>
            <a:endParaRPr lang="en-US" sz="1050" dirty="0"/>
          </a:p>
        </p:txBody>
      </p:sp>
      <p:sp>
        <p:nvSpPr>
          <p:cNvPr id="13" name="Shape 11"/>
          <p:cNvSpPr/>
          <p:nvPr/>
        </p:nvSpPr>
        <p:spPr>
          <a:xfrm>
            <a:off x="1097280" y="4572000"/>
            <a:ext cx="9784080" cy="777240"/>
          </a:xfrm>
          <a:prstGeom prst="roundRect">
            <a:avLst>
              <a:gd name="adj" fmla="val 9412"/>
            </a:avLst>
          </a:prstGeom>
          <a:solidFill>
            <a:srgbClr val="F6F8FB"/>
          </a:solidFill>
          <a:ln w="12700">
            <a:solidFill>
              <a:srgbClr val="F6F8FB">
                <a:alpha val="0"/>
              </a:srgbClr>
            </a:solidFill>
            <a:prstDash val="solid"/>
          </a:ln>
        </p:spPr>
        <p:txBody>
          <a:bodyPr/>
          <a:lstStyle/>
          <a:p>
            <a:endParaRPr/>
          </a:p>
        </p:txBody>
      </p:sp>
      <p:sp>
        <p:nvSpPr>
          <p:cNvPr id="14" name="Text 12"/>
          <p:cNvSpPr/>
          <p:nvPr/>
        </p:nvSpPr>
        <p:spPr>
          <a:xfrm>
            <a:off x="1325880" y="4736592"/>
            <a:ext cx="9326880" cy="502920"/>
          </a:xfrm>
          <a:prstGeom prst="rect">
            <a:avLst/>
          </a:prstGeom>
          <a:noFill/>
          <a:ln/>
        </p:spPr>
        <p:txBody>
          <a:bodyPr wrap="square" lIns="254" tIns="254" rIns="254" bIns="254" rtlCol="0" anchor="ctr">
            <a:normAutofit fontScale="92500" lnSpcReduction="20000"/>
          </a:bodyPr>
          <a:lstStyle/>
          <a:p>
            <a:pPr marL="0" indent="0">
              <a:buNone/>
            </a:pPr>
            <a:r>
              <a:rPr lang="en-US" sz="2000" b="1" dirty="0">
                <a:solidFill>
                  <a:srgbClr val="0B1F3A"/>
                </a:solidFill>
              </a:rPr>
              <a:t>Core lesson: A team can look coordinated and still be blind to customer needs if it lacks cognitive diversity and inclusive process.</a:t>
            </a:r>
            <a:endParaRPr lang="en-US" sz="1400" dirty="0"/>
          </a:p>
        </p:txBody>
      </p:sp>
      <p:sp>
        <p:nvSpPr>
          <p:cNvPr id="16" name="Text 18">
            <a:extLst>
              <a:ext uri="{FF2B5EF4-FFF2-40B4-BE49-F238E27FC236}">
                <a16:creationId xmlns:a16="http://schemas.microsoft.com/office/drawing/2014/main" id="{DD2C8EE8-693C-5300-9104-6999CDE995BF}"/>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19" y="292608"/>
            <a:ext cx="9451963"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In-Class Activity: Diversity-to-Quality Diagnostic Map</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Small groups | 25 minutes</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17</a:t>
            </a:r>
            <a:endParaRPr lang="en-US" sz="850" dirty="0"/>
          </a:p>
        </p:txBody>
      </p:sp>
      <p:sp>
        <p:nvSpPr>
          <p:cNvPr id="8" name="Shape 6"/>
          <p:cNvSpPr/>
          <p:nvPr/>
        </p:nvSpPr>
        <p:spPr>
          <a:xfrm>
            <a:off x="685800" y="1371600"/>
            <a:ext cx="4800600" cy="1965960"/>
          </a:xfrm>
          <a:prstGeom prst="roundRect">
            <a:avLst>
              <a:gd name="adj" fmla="val 7031"/>
            </a:avLst>
          </a:prstGeom>
          <a:solidFill>
            <a:srgbClr val="EAF1FB"/>
          </a:solidFill>
          <a:ln w="10160">
            <a:solidFill>
              <a:srgbClr val="DDE5EF"/>
            </a:solidFill>
            <a:prstDash val="solid"/>
          </a:ln>
        </p:spPr>
        <p:txBody>
          <a:bodyPr/>
          <a:lstStyle/>
          <a:p>
            <a:endParaRPr/>
          </a:p>
        </p:txBody>
      </p:sp>
      <p:sp>
        <p:nvSpPr>
          <p:cNvPr id="9" name="Shape 7"/>
          <p:cNvSpPr/>
          <p:nvPr/>
        </p:nvSpPr>
        <p:spPr>
          <a:xfrm>
            <a:off x="685800" y="1371599"/>
            <a:ext cx="109728" cy="2057399"/>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905256" y="1536192"/>
            <a:ext cx="4471416" cy="274320"/>
          </a:xfrm>
          <a:prstGeom prst="rect">
            <a:avLst/>
          </a:prstGeom>
          <a:noFill/>
          <a:ln/>
        </p:spPr>
        <p:txBody>
          <a:bodyPr wrap="square" lIns="0" tIns="0" rIns="0" bIns="0" rtlCol="0" anchor="ctr"/>
          <a:lstStyle/>
          <a:p>
            <a:pPr marL="0" indent="0">
              <a:buNone/>
            </a:pPr>
            <a:r>
              <a:rPr lang="en-US" sz="2000" b="1" dirty="0">
                <a:solidFill>
                  <a:srgbClr val="0B1F3A"/>
                </a:solidFill>
              </a:rPr>
              <a:t>Scenario</a:t>
            </a:r>
            <a:endParaRPr lang="en-US" sz="1400" dirty="0"/>
          </a:p>
        </p:txBody>
      </p:sp>
      <p:sp>
        <p:nvSpPr>
          <p:cNvPr id="11" name="Text 9"/>
          <p:cNvSpPr/>
          <p:nvPr/>
        </p:nvSpPr>
        <p:spPr>
          <a:xfrm>
            <a:off x="905256" y="1810512"/>
            <a:ext cx="4471416" cy="1527048"/>
          </a:xfrm>
          <a:prstGeom prst="rect">
            <a:avLst/>
          </a:prstGeom>
          <a:noFill/>
          <a:ln/>
        </p:spPr>
        <p:txBody>
          <a:bodyPr wrap="square" lIns="254" tIns="254" rIns="254" bIns="254" rtlCol="0" anchor="ctr">
            <a:normAutofit/>
          </a:bodyPr>
          <a:lstStyle/>
          <a:p>
            <a:pPr marL="0" indent="0">
              <a:buNone/>
            </a:pPr>
            <a:r>
              <a:rPr lang="en-US" dirty="0">
                <a:solidFill>
                  <a:srgbClr val="1F2937"/>
                </a:solidFill>
              </a:rPr>
              <a:t>A hospital patient-experience team wants to reduce complaints about unclear instructions. The team has clinical, administrative and patient representatives, but participation is uneven.</a:t>
            </a:r>
            <a:endParaRPr lang="en-US" sz="1000" dirty="0"/>
          </a:p>
        </p:txBody>
      </p:sp>
      <p:sp>
        <p:nvSpPr>
          <p:cNvPr id="12" name="Shape 10"/>
          <p:cNvSpPr/>
          <p:nvPr/>
        </p:nvSpPr>
        <p:spPr>
          <a:xfrm>
            <a:off x="5989320" y="1371600"/>
            <a:ext cx="5440680" cy="1965960"/>
          </a:xfrm>
          <a:prstGeom prst="roundRect">
            <a:avLst>
              <a:gd name="adj" fmla="val 4186"/>
            </a:avLst>
          </a:prstGeom>
          <a:solidFill>
            <a:srgbClr val="E6F6F6"/>
          </a:solidFill>
          <a:ln w="10160">
            <a:solidFill>
              <a:srgbClr val="DDE5EF"/>
            </a:solidFill>
            <a:prstDash val="solid"/>
          </a:ln>
        </p:spPr>
        <p:txBody>
          <a:bodyPr/>
          <a:lstStyle/>
          <a:p>
            <a:endParaRPr/>
          </a:p>
        </p:txBody>
      </p:sp>
      <p:sp>
        <p:nvSpPr>
          <p:cNvPr id="13" name="Shape 11"/>
          <p:cNvSpPr/>
          <p:nvPr/>
        </p:nvSpPr>
        <p:spPr>
          <a:xfrm>
            <a:off x="5989320" y="1371600"/>
            <a:ext cx="82296" cy="196596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6208776" y="1495044"/>
            <a:ext cx="5111496" cy="274320"/>
          </a:xfrm>
          <a:prstGeom prst="rect">
            <a:avLst/>
          </a:prstGeom>
          <a:noFill/>
          <a:ln/>
        </p:spPr>
        <p:txBody>
          <a:bodyPr wrap="square" lIns="0" tIns="0" rIns="0" bIns="0" rtlCol="0" anchor="ctr"/>
          <a:lstStyle/>
          <a:p>
            <a:pPr marL="0" indent="0">
              <a:buNone/>
            </a:pPr>
            <a:r>
              <a:rPr lang="en-US" sz="2000" b="1" dirty="0">
                <a:solidFill>
                  <a:srgbClr val="0B1F3A"/>
                </a:solidFill>
              </a:rPr>
              <a:t>Task</a:t>
            </a:r>
            <a:endParaRPr lang="en-US" sz="1400" dirty="0"/>
          </a:p>
        </p:txBody>
      </p:sp>
      <p:sp>
        <p:nvSpPr>
          <p:cNvPr id="15" name="Text 13"/>
          <p:cNvSpPr/>
          <p:nvPr/>
        </p:nvSpPr>
        <p:spPr>
          <a:xfrm>
            <a:off x="6208776" y="1773936"/>
            <a:ext cx="5111496" cy="1444752"/>
          </a:xfrm>
          <a:prstGeom prst="rect">
            <a:avLst/>
          </a:prstGeom>
          <a:noFill/>
          <a:ln/>
        </p:spPr>
        <p:txBody>
          <a:bodyPr wrap="square" lIns="254" tIns="254" rIns="254" bIns="254" rtlCol="0" anchor="ctr">
            <a:normAutofit lnSpcReduction="10000"/>
          </a:bodyPr>
          <a:lstStyle/>
          <a:p>
            <a:pPr marL="0" indent="0">
              <a:buNone/>
            </a:pPr>
            <a:r>
              <a:rPr lang="en-US" sz="1650" dirty="0">
                <a:solidFill>
                  <a:srgbClr val="1F2937"/>
                </a:solidFill>
              </a:rPr>
              <a:t>1. Identify visible and hidden diversity.</a:t>
            </a:r>
            <a:endParaRPr lang="en-US" sz="1050" dirty="0"/>
          </a:p>
          <a:p>
            <a:pPr marL="0" indent="0">
              <a:buNone/>
            </a:pPr>
            <a:r>
              <a:rPr lang="en-US" sz="1650" dirty="0">
                <a:solidFill>
                  <a:srgbClr val="1F2937"/>
                </a:solidFill>
              </a:rPr>
              <a:t>2. Identify one bias or exclusion risk.</a:t>
            </a:r>
            <a:endParaRPr lang="en-US" sz="1050" dirty="0"/>
          </a:p>
          <a:p>
            <a:pPr marL="0" indent="0">
              <a:buNone/>
            </a:pPr>
            <a:r>
              <a:rPr lang="en-US" sz="1650" dirty="0">
                <a:solidFill>
                  <a:srgbClr val="1F2937"/>
                </a:solidFill>
              </a:rPr>
              <a:t>3. Map how this affects communication and service quality.</a:t>
            </a:r>
            <a:endParaRPr lang="en-US" sz="1050" dirty="0"/>
          </a:p>
          <a:p>
            <a:pPr marL="0" indent="0">
              <a:buNone/>
            </a:pPr>
            <a:r>
              <a:rPr lang="en-US" sz="1650" dirty="0">
                <a:solidFill>
                  <a:srgbClr val="1F2937"/>
                </a:solidFill>
              </a:rPr>
              <a:t>4. Recommend two inclusive team practices.</a:t>
            </a:r>
            <a:endParaRPr lang="en-US" sz="1050" dirty="0"/>
          </a:p>
          <a:p>
            <a:pPr marL="0" indent="0">
              <a:buNone/>
            </a:pPr>
            <a:r>
              <a:rPr lang="en-US" sz="1650" dirty="0">
                <a:solidFill>
                  <a:srgbClr val="1F2937"/>
                </a:solidFill>
              </a:rPr>
              <a:t>5. Select two indicators to monitor improvement.</a:t>
            </a:r>
            <a:endParaRPr lang="en-US" sz="1050" dirty="0"/>
          </a:p>
        </p:txBody>
      </p:sp>
      <p:sp>
        <p:nvSpPr>
          <p:cNvPr id="16" name="Shape 14"/>
          <p:cNvSpPr/>
          <p:nvPr/>
        </p:nvSpPr>
        <p:spPr>
          <a:xfrm>
            <a:off x="1188720" y="4434840"/>
            <a:ext cx="9784080" cy="822960"/>
          </a:xfrm>
          <a:prstGeom prst="roundRect">
            <a:avLst>
              <a:gd name="adj" fmla="val 10000"/>
            </a:avLst>
          </a:prstGeom>
          <a:solidFill>
            <a:srgbClr val="F6F8FB"/>
          </a:solidFill>
          <a:ln w="10160">
            <a:solidFill>
              <a:srgbClr val="DDE5EF"/>
            </a:solidFill>
            <a:prstDash val="solid"/>
          </a:ln>
        </p:spPr>
        <p:txBody>
          <a:bodyPr/>
          <a:lstStyle/>
          <a:p>
            <a:endParaRPr/>
          </a:p>
        </p:txBody>
      </p:sp>
      <p:sp>
        <p:nvSpPr>
          <p:cNvPr id="17" name="Shape 15"/>
          <p:cNvSpPr/>
          <p:nvPr/>
        </p:nvSpPr>
        <p:spPr>
          <a:xfrm>
            <a:off x="1188720" y="4434840"/>
            <a:ext cx="82296" cy="822960"/>
          </a:xfrm>
          <a:prstGeom prst="rect">
            <a:avLst/>
          </a:prstGeom>
          <a:solidFill>
            <a:srgbClr val="2E7D32"/>
          </a:solidFill>
          <a:ln w="12700">
            <a:solidFill>
              <a:srgbClr val="2E7D32">
                <a:alpha val="0"/>
              </a:srgbClr>
            </a:solidFill>
            <a:prstDash val="solid"/>
          </a:ln>
        </p:spPr>
        <p:txBody>
          <a:bodyPr/>
          <a:lstStyle/>
          <a:p>
            <a:endParaRPr/>
          </a:p>
        </p:txBody>
      </p:sp>
      <p:sp>
        <p:nvSpPr>
          <p:cNvPr id="18" name="Text 16"/>
          <p:cNvSpPr/>
          <p:nvPr/>
        </p:nvSpPr>
        <p:spPr>
          <a:xfrm>
            <a:off x="1408176" y="4599432"/>
            <a:ext cx="9454896" cy="274320"/>
          </a:xfrm>
          <a:prstGeom prst="rect">
            <a:avLst/>
          </a:prstGeom>
          <a:noFill/>
          <a:ln/>
        </p:spPr>
        <p:txBody>
          <a:bodyPr wrap="square" lIns="0" tIns="0" rIns="0" bIns="0" rtlCol="0" anchor="ctr"/>
          <a:lstStyle/>
          <a:p>
            <a:pPr marL="0" indent="0">
              <a:buNone/>
            </a:pPr>
            <a:r>
              <a:rPr lang="en-US" sz="2000" b="1" dirty="0">
                <a:solidFill>
                  <a:srgbClr val="0B1F3A"/>
                </a:solidFill>
              </a:rPr>
              <a:t>Deliverable</a:t>
            </a:r>
            <a:endParaRPr lang="en-US" sz="1400" dirty="0"/>
          </a:p>
        </p:txBody>
      </p:sp>
      <p:sp>
        <p:nvSpPr>
          <p:cNvPr id="19" name="Text 17"/>
          <p:cNvSpPr/>
          <p:nvPr/>
        </p:nvSpPr>
        <p:spPr>
          <a:xfrm>
            <a:off x="1408176" y="4873752"/>
            <a:ext cx="9454896" cy="356616"/>
          </a:xfrm>
          <a:prstGeom prst="rect">
            <a:avLst/>
          </a:prstGeom>
          <a:noFill/>
          <a:ln/>
        </p:spPr>
        <p:txBody>
          <a:bodyPr wrap="square" lIns="254" tIns="254" rIns="254" bIns="254" rtlCol="0" anchor="ctr">
            <a:normAutofit/>
          </a:bodyPr>
          <a:lstStyle/>
          <a:p>
            <a:pPr marL="0" indent="0">
              <a:buNone/>
            </a:pPr>
            <a:r>
              <a:rPr lang="en-US" sz="1600" dirty="0">
                <a:solidFill>
                  <a:srgbClr val="1F2937"/>
                </a:solidFill>
              </a:rPr>
              <a:t>One-page map: Diversity input → Team process → Quality outcome. Prepare a 2-minute explanation.</a:t>
            </a:r>
            <a:endParaRPr lang="en-US" sz="1050" dirty="0"/>
          </a:p>
        </p:txBody>
      </p:sp>
      <p:sp>
        <p:nvSpPr>
          <p:cNvPr id="21" name="Text 18">
            <a:extLst>
              <a:ext uri="{FF2B5EF4-FFF2-40B4-BE49-F238E27FC236}">
                <a16:creationId xmlns:a16="http://schemas.microsoft.com/office/drawing/2014/main" id="{FE9E2C5A-2B06-A9FF-2B58-FEBE024D3F69}"/>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Debrief Questions</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Use these prompts after the group activity.</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18</a:t>
            </a:r>
            <a:endParaRPr lang="en-US" sz="850" dirty="0"/>
          </a:p>
        </p:txBody>
      </p:sp>
      <p:sp>
        <p:nvSpPr>
          <p:cNvPr id="8" name="Text 6"/>
          <p:cNvSpPr/>
          <p:nvPr/>
        </p:nvSpPr>
        <p:spPr>
          <a:xfrm>
            <a:off x="914400" y="1417320"/>
            <a:ext cx="9966960" cy="3108960"/>
          </a:xfrm>
          <a:prstGeom prst="rect">
            <a:avLst/>
          </a:prstGeom>
          <a:noFill/>
          <a:ln/>
        </p:spPr>
        <p:txBody>
          <a:bodyPr wrap="square" lIns="508" tIns="508" rIns="508" bIns="508" rtlCol="0" anchor="ctr">
            <a:normAutofit/>
          </a:bodyPr>
          <a:lstStyle/>
          <a:p>
            <a:r>
              <a:rPr lang="en-US" sz="2400" dirty="0">
                <a:solidFill>
                  <a:srgbClr val="0B1F3A"/>
                </a:solidFill>
              </a:rPr>
              <a:t>Which visible differences were easiest to notice?</a:t>
            </a:r>
            <a:endParaRPr lang="en-US" sz="1800" dirty="0"/>
          </a:p>
          <a:p>
            <a:r>
              <a:rPr lang="en-US" sz="2400" dirty="0">
                <a:solidFill>
                  <a:srgbClr val="0B1F3A"/>
                </a:solidFill>
              </a:rPr>
              <a:t>Which deep-level differences became important after discussion?</a:t>
            </a:r>
            <a:endParaRPr lang="en-US" sz="1800" dirty="0"/>
          </a:p>
          <a:p>
            <a:r>
              <a:rPr lang="en-US" sz="2400" dirty="0">
                <a:solidFill>
                  <a:srgbClr val="0B1F3A"/>
                </a:solidFill>
              </a:rPr>
              <a:t>What bias or assumption could distort the team’s diagnosis?</a:t>
            </a:r>
            <a:endParaRPr lang="en-US" sz="1800" dirty="0"/>
          </a:p>
          <a:p>
            <a:r>
              <a:rPr lang="en-US" sz="2400" dirty="0">
                <a:solidFill>
                  <a:srgbClr val="0B1F3A"/>
                </a:solidFill>
              </a:rPr>
              <a:t>How can participation be structured so quiet voices are heard?</a:t>
            </a:r>
            <a:endParaRPr lang="en-US" sz="1800" dirty="0"/>
          </a:p>
          <a:p>
            <a:r>
              <a:rPr lang="en-US" sz="2400" dirty="0">
                <a:solidFill>
                  <a:srgbClr val="0B1F3A"/>
                </a:solidFill>
              </a:rPr>
              <a:t>What evidence would show that inclusion improved service quality?</a:t>
            </a:r>
            <a:endParaRPr lang="en-US" sz="1800" dirty="0"/>
          </a:p>
          <a:p>
            <a:r>
              <a:rPr lang="en-US" sz="2400" dirty="0">
                <a:solidFill>
                  <a:srgbClr val="0B1F3A"/>
                </a:solidFill>
              </a:rPr>
              <a:t>What practice should be adopted in every quality-improvement meeting?</a:t>
            </a:r>
            <a:endParaRPr lang="en-US" sz="1800" dirty="0"/>
          </a:p>
        </p:txBody>
      </p:sp>
      <p:sp>
        <p:nvSpPr>
          <p:cNvPr id="9" name="Shape 7"/>
          <p:cNvSpPr/>
          <p:nvPr/>
        </p:nvSpPr>
        <p:spPr>
          <a:xfrm>
            <a:off x="1097280" y="5074920"/>
            <a:ext cx="9875520" cy="685800"/>
          </a:xfrm>
          <a:prstGeom prst="roundRect">
            <a:avLst>
              <a:gd name="adj" fmla="val 10667"/>
            </a:avLst>
          </a:prstGeom>
          <a:solidFill>
            <a:srgbClr val="E6F6F6"/>
          </a:solidFill>
          <a:ln w="12700">
            <a:solidFill>
              <a:srgbClr val="E6F6F6">
                <a:alpha val="0"/>
              </a:srgbClr>
            </a:solidFill>
            <a:prstDash val="solid"/>
          </a:ln>
        </p:spPr>
        <p:txBody>
          <a:bodyPr/>
          <a:lstStyle/>
          <a:p>
            <a:endParaRPr/>
          </a:p>
        </p:txBody>
      </p:sp>
      <p:sp>
        <p:nvSpPr>
          <p:cNvPr id="10" name="Text 8"/>
          <p:cNvSpPr/>
          <p:nvPr/>
        </p:nvSpPr>
        <p:spPr>
          <a:xfrm>
            <a:off x="1325880" y="5239512"/>
            <a:ext cx="9418320" cy="411480"/>
          </a:xfrm>
          <a:prstGeom prst="rect">
            <a:avLst/>
          </a:prstGeom>
          <a:noFill/>
          <a:ln/>
        </p:spPr>
        <p:txBody>
          <a:bodyPr wrap="square" lIns="254" tIns="254" rIns="254" bIns="254" rtlCol="0" anchor="ctr">
            <a:normAutofit fontScale="77500" lnSpcReduction="20000"/>
          </a:bodyPr>
          <a:lstStyle/>
          <a:p>
            <a:pPr marL="0" indent="0">
              <a:buNone/>
            </a:pPr>
            <a:r>
              <a:rPr lang="en-US" sz="2000" b="1" dirty="0">
                <a:solidFill>
                  <a:srgbClr val="0B1F3A"/>
                </a:solidFill>
              </a:rPr>
              <a:t>Facilitator note: Push learners to distinguish diversity as a characteristic, inclusion as a process, and quality improvement as an outcome.</a:t>
            </a:r>
            <a:endParaRPr lang="en-US" sz="1400" dirty="0"/>
          </a:p>
        </p:txBody>
      </p:sp>
      <p:sp>
        <p:nvSpPr>
          <p:cNvPr id="12" name="Text 18">
            <a:extLst>
              <a:ext uri="{FF2B5EF4-FFF2-40B4-BE49-F238E27FC236}">
                <a16:creationId xmlns:a16="http://schemas.microsoft.com/office/drawing/2014/main" id="{E9B2AB29-66FE-7DBF-D28F-E097DA239703}"/>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Knowledge Check</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Answer individually, then compare with a partner.</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19</a:t>
            </a:r>
            <a:endParaRPr lang="en-US" sz="850" dirty="0"/>
          </a:p>
        </p:txBody>
      </p:sp>
      <p:sp>
        <p:nvSpPr>
          <p:cNvPr id="8" name="Shape 6"/>
          <p:cNvSpPr/>
          <p:nvPr/>
        </p:nvSpPr>
        <p:spPr>
          <a:xfrm>
            <a:off x="868680" y="1234440"/>
            <a:ext cx="4800600" cy="822960"/>
          </a:xfrm>
          <a:prstGeom prst="roundRect">
            <a:avLst>
              <a:gd name="adj" fmla="val 10000"/>
            </a:avLst>
          </a:prstGeom>
          <a:solidFill>
            <a:srgbClr val="EAF1FB"/>
          </a:solidFill>
          <a:ln w="10160">
            <a:solidFill>
              <a:srgbClr val="DDE5EF"/>
            </a:solidFill>
            <a:prstDash val="solid"/>
          </a:ln>
        </p:spPr>
        <p:txBody>
          <a:bodyPr/>
          <a:lstStyle/>
          <a:p>
            <a:endParaRPr/>
          </a:p>
        </p:txBody>
      </p:sp>
      <p:sp>
        <p:nvSpPr>
          <p:cNvPr id="9" name="Shape 7"/>
          <p:cNvSpPr/>
          <p:nvPr/>
        </p:nvSpPr>
        <p:spPr>
          <a:xfrm>
            <a:off x="868680" y="1234440"/>
            <a:ext cx="82296" cy="822960"/>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1088136" y="1399032"/>
            <a:ext cx="4471416" cy="274320"/>
          </a:xfrm>
          <a:prstGeom prst="rect">
            <a:avLst/>
          </a:prstGeom>
          <a:noFill/>
          <a:ln/>
        </p:spPr>
        <p:txBody>
          <a:bodyPr wrap="square" lIns="0" tIns="0" rIns="0" bIns="0" rtlCol="0" anchor="ctr"/>
          <a:lstStyle/>
          <a:p>
            <a:pPr marL="0" indent="0">
              <a:buNone/>
            </a:pPr>
            <a:r>
              <a:rPr lang="en-US" sz="1400" b="1" dirty="0">
                <a:solidFill>
                  <a:srgbClr val="0B1F3A"/>
                </a:solidFill>
              </a:rPr>
              <a:t>1</a:t>
            </a:r>
            <a:endParaRPr lang="en-US" sz="1400" dirty="0"/>
          </a:p>
        </p:txBody>
      </p:sp>
      <p:sp>
        <p:nvSpPr>
          <p:cNvPr id="11" name="Text 9"/>
          <p:cNvSpPr/>
          <p:nvPr/>
        </p:nvSpPr>
        <p:spPr>
          <a:xfrm>
            <a:off x="1219200" y="1325880"/>
            <a:ext cx="4340352" cy="612649"/>
          </a:xfrm>
          <a:prstGeom prst="rect">
            <a:avLst/>
          </a:prstGeom>
          <a:noFill/>
          <a:ln/>
        </p:spPr>
        <p:txBody>
          <a:bodyPr wrap="square" lIns="254" tIns="254" rIns="254" bIns="254" rtlCol="0" anchor="ctr">
            <a:normAutofit/>
          </a:bodyPr>
          <a:lstStyle/>
          <a:p>
            <a:pPr marL="0" indent="0">
              <a:buNone/>
            </a:pPr>
            <a:r>
              <a:rPr lang="en-US" sz="1600" dirty="0">
                <a:solidFill>
                  <a:srgbClr val="1F2937"/>
                </a:solidFill>
              </a:rPr>
              <a:t>Surface-level diversity includes easily perceived characteristics: True or False?</a:t>
            </a:r>
            <a:endParaRPr lang="en-US" sz="1050" dirty="0"/>
          </a:p>
        </p:txBody>
      </p:sp>
      <p:sp>
        <p:nvSpPr>
          <p:cNvPr id="12" name="Shape 10"/>
          <p:cNvSpPr/>
          <p:nvPr/>
        </p:nvSpPr>
        <p:spPr>
          <a:xfrm>
            <a:off x="6172200" y="1234440"/>
            <a:ext cx="4800600" cy="822960"/>
          </a:xfrm>
          <a:prstGeom prst="roundRect">
            <a:avLst>
              <a:gd name="adj" fmla="val 10000"/>
            </a:avLst>
          </a:prstGeom>
          <a:solidFill>
            <a:srgbClr val="E6F6F6"/>
          </a:solidFill>
          <a:ln w="10160">
            <a:solidFill>
              <a:srgbClr val="DDE5EF"/>
            </a:solidFill>
            <a:prstDash val="solid"/>
          </a:ln>
        </p:spPr>
        <p:txBody>
          <a:bodyPr/>
          <a:lstStyle/>
          <a:p>
            <a:endParaRPr/>
          </a:p>
        </p:txBody>
      </p:sp>
      <p:sp>
        <p:nvSpPr>
          <p:cNvPr id="13" name="Shape 11"/>
          <p:cNvSpPr/>
          <p:nvPr/>
        </p:nvSpPr>
        <p:spPr>
          <a:xfrm>
            <a:off x="6172200" y="1234440"/>
            <a:ext cx="82296" cy="82296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6391656" y="1399032"/>
            <a:ext cx="4471416" cy="274320"/>
          </a:xfrm>
          <a:prstGeom prst="rect">
            <a:avLst/>
          </a:prstGeom>
          <a:noFill/>
          <a:ln/>
        </p:spPr>
        <p:txBody>
          <a:bodyPr wrap="square" lIns="0" tIns="0" rIns="0" bIns="0" rtlCol="0" anchor="ctr"/>
          <a:lstStyle/>
          <a:p>
            <a:pPr marL="0" indent="0">
              <a:buNone/>
            </a:pPr>
            <a:r>
              <a:rPr lang="en-US" sz="1400" b="1" dirty="0">
                <a:solidFill>
                  <a:srgbClr val="0B1F3A"/>
                </a:solidFill>
              </a:rPr>
              <a:t>2</a:t>
            </a:r>
            <a:endParaRPr lang="en-US" sz="1400" dirty="0"/>
          </a:p>
        </p:txBody>
      </p:sp>
      <p:sp>
        <p:nvSpPr>
          <p:cNvPr id="15" name="Text 13"/>
          <p:cNvSpPr/>
          <p:nvPr/>
        </p:nvSpPr>
        <p:spPr>
          <a:xfrm>
            <a:off x="6590580" y="1325881"/>
            <a:ext cx="4272491" cy="612647"/>
          </a:xfrm>
          <a:prstGeom prst="rect">
            <a:avLst/>
          </a:prstGeom>
          <a:noFill/>
          <a:ln/>
        </p:spPr>
        <p:txBody>
          <a:bodyPr wrap="square" lIns="254" tIns="254" rIns="254" bIns="254" rtlCol="0" anchor="ctr">
            <a:normAutofit fontScale="92500"/>
          </a:bodyPr>
          <a:lstStyle/>
          <a:p>
            <a:pPr marL="0" indent="0">
              <a:buNone/>
            </a:pPr>
            <a:r>
              <a:rPr lang="en-US" sz="1600" dirty="0">
                <a:solidFill>
                  <a:srgbClr val="1F2937"/>
                </a:solidFill>
              </a:rPr>
              <a:t>Deep-level diversity refers to differences in values, personality and work preferences: True or False?</a:t>
            </a:r>
            <a:endParaRPr lang="en-US" sz="1100" dirty="0"/>
          </a:p>
        </p:txBody>
      </p:sp>
      <p:sp>
        <p:nvSpPr>
          <p:cNvPr id="16" name="Shape 14"/>
          <p:cNvSpPr/>
          <p:nvPr/>
        </p:nvSpPr>
        <p:spPr>
          <a:xfrm>
            <a:off x="868680" y="2560320"/>
            <a:ext cx="4800600" cy="822960"/>
          </a:xfrm>
          <a:prstGeom prst="roundRect">
            <a:avLst>
              <a:gd name="adj" fmla="val 10000"/>
            </a:avLst>
          </a:prstGeom>
          <a:solidFill>
            <a:srgbClr val="EAF1FB"/>
          </a:solidFill>
          <a:ln w="10160">
            <a:solidFill>
              <a:srgbClr val="DDE5EF"/>
            </a:solidFill>
            <a:prstDash val="solid"/>
          </a:ln>
        </p:spPr>
        <p:txBody>
          <a:bodyPr/>
          <a:lstStyle/>
          <a:p>
            <a:endParaRPr/>
          </a:p>
        </p:txBody>
      </p:sp>
      <p:sp>
        <p:nvSpPr>
          <p:cNvPr id="17" name="Shape 15"/>
          <p:cNvSpPr/>
          <p:nvPr/>
        </p:nvSpPr>
        <p:spPr>
          <a:xfrm>
            <a:off x="868680" y="2560320"/>
            <a:ext cx="82296" cy="822960"/>
          </a:xfrm>
          <a:prstGeom prst="rect">
            <a:avLst/>
          </a:prstGeom>
          <a:solidFill>
            <a:srgbClr val="0B1F3A"/>
          </a:solidFill>
          <a:ln w="12700">
            <a:solidFill>
              <a:srgbClr val="0B1F3A">
                <a:alpha val="0"/>
              </a:srgbClr>
            </a:solidFill>
            <a:prstDash val="solid"/>
          </a:ln>
        </p:spPr>
        <p:txBody>
          <a:bodyPr/>
          <a:lstStyle/>
          <a:p>
            <a:endParaRPr/>
          </a:p>
        </p:txBody>
      </p:sp>
      <p:sp>
        <p:nvSpPr>
          <p:cNvPr id="18" name="Text 16"/>
          <p:cNvSpPr/>
          <p:nvPr/>
        </p:nvSpPr>
        <p:spPr>
          <a:xfrm>
            <a:off x="1088136" y="2724912"/>
            <a:ext cx="4471416" cy="274320"/>
          </a:xfrm>
          <a:prstGeom prst="rect">
            <a:avLst/>
          </a:prstGeom>
          <a:noFill/>
          <a:ln/>
        </p:spPr>
        <p:txBody>
          <a:bodyPr wrap="square" lIns="0" tIns="0" rIns="0" bIns="0" rtlCol="0" anchor="ctr"/>
          <a:lstStyle/>
          <a:p>
            <a:pPr marL="0" indent="0">
              <a:buNone/>
            </a:pPr>
            <a:r>
              <a:rPr lang="en-US" sz="1400" b="1" dirty="0">
                <a:solidFill>
                  <a:srgbClr val="0B1F3A"/>
                </a:solidFill>
              </a:rPr>
              <a:t>3</a:t>
            </a:r>
            <a:endParaRPr lang="en-US" sz="1400" dirty="0"/>
          </a:p>
        </p:txBody>
      </p:sp>
      <p:sp>
        <p:nvSpPr>
          <p:cNvPr id="19" name="Text 17"/>
          <p:cNvSpPr/>
          <p:nvPr/>
        </p:nvSpPr>
        <p:spPr>
          <a:xfrm>
            <a:off x="1219200" y="2631057"/>
            <a:ext cx="4340352" cy="633351"/>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Name one way discrimination can reduce quality performance.</a:t>
            </a:r>
            <a:endParaRPr lang="en-US" sz="1050" dirty="0"/>
          </a:p>
        </p:txBody>
      </p:sp>
      <p:sp>
        <p:nvSpPr>
          <p:cNvPr id="20" name="Shape 18"/>
          <p:cNvSpPr/>
          <p:nvPr/>
        </p:nvSpPr>
        <p:spPr>
          <a:xfrm>
            <a:off x="6172200" y="2560320"/>
            <a:ext cx="4800600" cy="822960"/>
          </a:xfrm>
          <a:prstGeom prst="roundRect">
            <a:avLst>
              <a:gd name="adj" fmla="val 10000"/>
            </a:avLst>
          </a:prstGeom>
          <a:solidFill>
            <a:srgbClr val="E6F6F6"/>
          </a:solidFill>
          <a:ln w="10160">
            <a:solidFill>
              <a:srgbClr val="DDE5EF"/>
            </a:solidFill>
            <a:prstDash val="solid"/>
          </a:ln>
        </p:spPr>
        <p:txBody>
          <a:bodyPr/>
          <a:lstStyle/>
          <a:p>
            <a:endParaRPr/>
          </a:p>
        </p:txBody>
      </p:sp>
      <p:sp>
        <p:nvSpPr>
          <p:cNvPr id="21" name="Shape 19"/>
          <p:cNvSpPr/>
          <p:nvPr/>
        </p:nvSpPr>
        <p:spPr>
          <a:xfrm>
            <a:off x="6172200" y="2560320"/>
            <a:ext cx="82296" cy="822960"/>
          </a:xfrm>
          <a:prstGeom prst="rect">
            <a:avLst/>
          </a:prstGeom>
          <a:solidFill>
            <a:srgbClr val="00A6A6"/>
          </a:solidFill>
          <a:ln w="12700">
            <a:solidFill>
              <a:srgbClr val="00A6A6">
                <a:alpha val="0"/>
              </a:srgbClr>
            </a:solidFill>
            <a:prstDash val="solid"/>
          </a:ln>
        </p:spPr>
        <p:txBody>
          <a:bodyPr/>
          <a:lstStyle/>
          <a:p>
            <a:endParaRPr/>
          </a:p>
        </p:txBody>
      </p:sp>
      <p:sp>
        <p:nvSpPr>
          <p:cNvPr id="22" name="Text 20"/>
          <p:cNvSpPr/>
          <p:nvPr/>
        </p:nvSpPr>
        <p:spPr>
          <a:xfrm>
            <a:off x="6391656" y="2724912"/>
            <a:ext cx="4471416" cy="274320"/>
          </a:xfrm>
          <a:prstGeom prst="rect">
            <a:avLst/>
          </a:prstGeom>
          <a:noFill/>
          <a:ln/>
        </p:spPr>
        <p:txBody>
          <a:bodyPr wrap="square" lIns="0" tIns="0" rIns="0" bIns="0" rtlCol="0" anchor="ctr"/>
          <a:lstStyle/>
          <a:p>
            <a:pPr marL="0" indent="0">
              <a:buNone/>
            </a:pPr>
            <a:r>
              <a:rPr lang="en-US" sz="1400" b="1" dirty="0">
                <a:solidFill>
                  <a:srgbClr val="0B1F3A"/>
                </a:solidFill>
              </a:rPr>
              <a:t>4</a:t>
            </a:r>
            <a:endParaRPr lang="en-US" sz="1400" dirty="0"/>
          </a:p>
        </p:txBody>
      </p:sp>
      <p:sp>
        <p:nvSpPr>
          <p:cNvPr id="23" name="Text 21"/>
          <p:cNvSpPr/>
          <p:nvPr/>
        </p:nvSpPr>
        <p:spPr>
          <a:xfrm>
            <a:off x="6590580" y="2724912"/>
            <a:ext cx="4272492" cy="539496"/>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Why should managers avoid relying on demographic assumptions?</a:t>
            </a:r>
            <a:endParaRPr lang="en-US" sz="1050" dirty="0"/>
          </a:p>
        </p:txBody>
      </p:sp>
      <p:sp>
        <p:nvSpPr>
          <p:cNvPr id="24" name="Shape 22"/>
          <p:cNvSpPr/>
          <p:nvPr/>
        </p:nvSpPr>
        <p:spPr>
          <a:xfrm>
            <a:off x="868680" y="3886200"/>
            <a:ext cx="4800600" cy="822960"/>
          </a:xfrm>
          <a:prstGeom prst="roundRect">
            <a:avLst>
              <a:gd name="adj" fmla="val 10000"/>
            </a:avLst>
          </a:prstGeom>
          <a:solidFill>
            <a:srgbClr val="EAF1FB"/>
          </a:solidFill>
          <a:ln w="10160">
            <a:solidFill>
              <a:srgbClr val="DDE5EF"/>
            </a:solidFill>
            <a:prstDash val="solid"/>
          </a:ln>
        </p:spPr>
        <p:txBody>
          <a:bodyPr/>
          <a:lstStyle/>
          <a:p>
            <a:endParaRPr/>
          </a:p>
        </p:txBody>
      </p:sp>
      <p:sp>
        <p:nvSpPr>
          <p:cNvPr id="25" name="Shape 23"/>
          <p:cNvSpPr/>
          <p:nvPr/>
        </p:nvSpPr>
        <p:spPr>
          <a:xfrm>
            <a:off x="868680" y="3886200"/>
            <a:ext cx="82296" cy="822960"/>
          </a:xfrm>
          <a:prstGeom prst="rect">
            <a:avLst/>
          </a:prstGeom>
          <a:solidFill>
            <a:srgbClr val="0B1F3A"/>
          </a:solidFill>
          <a:ln w="12700">
            <a:solidFill>
              <a:srgbClr val="0B1F3A">
                <a:alpha val="0"/>
              </a:srgbClr>
            </a:solidFill>
            <a:prstDash val="solid"/>
          </a:ln>
        </p:spPr>
        <p:txBody>
          <a:bodyPr/>
          <a:lstStyle/>
          <a:p>
            <a:endParaRPr/>
          </a:p>
        </p:txBody>
      </p:sp>
      <p:sp>
        <p:nvSpPr>
          <p:cNvPr id="26" name="Text 24"/>
          <p:cNvSpPr/>
          <p:nvPr/>
        </p:nvSpPr>
        <p:spPr>
          <a:xfrm>
            <a:off x="1088136" y="4050792"/>
            <a:ext cx="4471416" cy="274320"/>
          </a:xfrm>
          <a:prstGeom prst="rect">
            <a:avLst/>
          </a:prstGeom>
          <a:noFill/>
          <a:ln/>
        </p:spPr>
        <p:txBody>
          <a:bodyPr wrap="square" lIns="0" tIns="0" rIns="0" bIns="0" rtlCol="0" anchor="ctr"/>
          <a:lstStyle/>
          <a:p>
            <a:pPr marL="0" indent="0">
              <a:buNone/>
            </a:pPr>
            <a:r>
              <a:rPr lang="en-US" sz="1400" b="1" dirty="0">
                <a:solidFill>
                  <a:srgbClr val="0B1F3A"/>
                </a:solidFill>
              </a:rPr>
              <a:t>5</a:t>
            </a:r>
            <a:endParaRPr lang="en-US" sz="1400" dirty="0"/>
          </a:p>
        </p:txBody>
      </p:sp>
      <p:sp>
        <p:nvSpPr>
          <p:cNvPr id="27" name="Text 25"/>
          <p:cNvSpPr/>
          <p:nvPr/>
        </p:nvSpPr>
        <p:spPr>
          <a:xfrm>
            <a:off x="1219200" y="4050792"/>
            <a:ext cx="4340352" cy="539496"/>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Give one diversity-management action that supports fair quality decisions.</a:t>
            </a:r>
            <a:endParaRPr lang="en-US" sz="1050" dirty="0"/>
          </a:p>
        </p:txBody>
      </p:sp>
      <p:sp>
        <p:nvSpPr>
          <p:cNvPr id="29" name="Text 18">
            <a:extLst>
              <a:ext uri="{FF2B5EF4-FFF2-40B4-BE49-F238E27FC236}">
                <a16:creationId xmlns:a16="http://schemas.microsoft.com/office/drawing/2014/main" id="{38685E95-5F14-E38F-86C2-AAE3038C841F}"/>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19" y="292608"/>
            <a:ext cx="10116197"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Week 2 Assignment: Inclusion and Quality Diagnostic Brief</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Individual work | 700–900 words</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20</a:t>
            </a:r>
            <a:endParaRPr lang="en-US" sz="850" dirty="0"/>
          </a:p>
        </p:txBody>
      </p:sp>
      <p:sp>
        <p:nvSpPr>
          <p:cNvPr id="8" name="Shape 6"/>
          <p:cNvSpPr/>
          <p:nvPr/>
        </p:nvSpPr>
        <p:spPr>
          <a:xfrm>
            <a:off x="731520" y="1325880"/>
            <a:ext cx="5212080" cy="1280160"/>
          </a:xfrm>
          <a:prstGeom prst="roundRect">
            <a:avLst>
              <a:gd name="adj" fmla="val 6429"/>
            </a:avLst>
          </a:prstGeom>
          <a:solidFill>
            <a:srgbClr val="EAF1FB"/>
          </a:solidFill>
          <a:ln w="10160">
            <a:solidFill>
              <a:srgbClr val="DDE5EF"/>
            </a:solidFill>
            <a:prstDash val="solid"/>
          </a:ln>
        </p:spPr>
        <p:txBody>
          <a:bodyPr/>
          <a:lstStyle/>
          <a:p>
            <a:endParaRPr/>
          </a:p>
        </p:txBody>
      </p:sp>
      <p:sp>
        <p:nvSpPr>
          <p:cNvPr id="9" name="Shape 7"/>
          <p:cNvSpPr/>
          <p:nvPr/>
        </p:nvSpPr>
        <p:spPr>
          <a:xfrm>
            <a:off x="731520" y="1325880"/>
            <a:ext cx="82296" cy="1280160"/>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950976" y="1490472"/>
            <a:ext cx="4882896" cy="274320"/>
          </a:xfrm>
          <a:prstGeom prst="rect">
            <a:avLst/>
          </a:prstGeom>
          <a:noFill/>
          <a:ln/>
        </p:spPr>
        <p:txBody>
          <a:bodyPr wrap="square" lIns="0" tIns="0" rIns="0" bIns="0" rtlCol="0" anchor="ctr"/>
          <a:lstStyle/>
          <a:p>
            <a:pPr marL="0" indent="0">
              <a:buNone/>
            </a:pPr>
            <a:r>
              <a:rPr lang="en-US" sz="2000" b="1" dirty="0">
                <a:solidFill>
                  <a:srgbClr val="0B1F3A"/>
                </a:solidFill>
              </a:rPr>
              <a:t>Task</a:t>
            </a:r>
            <a:endParaRPr lang="en-US" sz="1400" dirty="0"/>
          </a:p>
        </p:txBody>
      </p:sp>
      <p:sp>
        <p:nvSpPr>
          <p:cNvPr id="11" name="Text 9"/>
          <p:cNvSpPr/>
          <p:nvPr/>
        </p:nvSpPr>
        <p:spPr>
          <a:xfrm>
            <a:off x="950976" y="1892808"/>
            <a:ext cx="4882896" cy="594360"/>
          </a:xfrm>
          <a:prstGeom prst="rect">
            <a:avLst/>
          </a:prstGeom>
          <a:noFill/>
          <a:ln/>
        </p:spPr>
        <p:txBody>
          <a:bodyPr wrap="square" lIns="254" tIns="254" rIns="254" bIns="254" rtlCol="0" anchor="ctr">
            <a:normAutofit fontScale="92500" lnSpcReduction="20000"/>
          </a:bodyPr>
          <a:lstStyle/>
          <a:p>
            <a:pPr marL="0" indent="0">
              <a:buNone/>
            </a:pPr>
            <a:r>
              <a:rPr lang="en-US" sz="1650" dirty="0">
                <a:solidFill>
                  <a:srgbClr val="1F2937"/>
                </a:solidFill>
              </a:rPr>
              <a:t>Select a real or familiar quality-related team or service process. Analyze how diversity, bias, inclusion or participation may influence quality outcomes.</a:t>
            </a:r>
            <a:endParaRPr lang="en-US" sz="1050" dirty="0"/>
          </a:p>
        </p:txBody>
      </p:sp>
      <p:sp>
        <p:nvSpPr>
          <p:cNvPr id="12" name="Shape 10"/>
          <p:cNvSpPr/>
          <p:nvPr/>
        </p:nvSpPr>
        <p:spPr>
          <a:xfrm>
            <a:off x="6309360" y="1325880"/>
            <a:ext cx="5074920" cy="2057400"/>
          </a:xfrm>
          <a:prstGeom prst="roundRect">
            <a:avLst>
              <a:gd name="adj" fmla="val 4000"/>
            </a:avLst>
          </a:prstGeom>
          <a:solidFill>
            <a:srgbClr val="E6F6F6"/>
          </a:solidFill>
          <a:ln w="10160">
            <a:solidFill>
              <a:srgbClr val="DDE5EF"/>
            </a:solidFill>
            <a:prstDash val="solid"/>
          </a:ln>
        </p:spPr>
        <p:txBody>
          <a:bodyPr/>
          <a:lstStyle/>
          <a:p>
            <a:endParaRPr/>
          </a:p>
        </p:txBody>
      </p:sp>
      <p:sp>
        <p:nvSpPr>
          <p:cNvPr id="13" name="Shape 11"/>
          <p:cNvSpPr/>
          <p:nvPr/>
        </p:nvSpPr>
        <p:spPr>
          <a:xfrm>
            <a:off x="6309360" y="1325880"/>
            <a:ext cx="82296" cy="205740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6528816" y="1490472"/>
            <a:ext cx="4745736" cy="274320"/>
          </a:xfrm>
          <a:prstGeom prst="rect">
            <a:avLst/>
          </a:prstGeom>
          <a:noFill/>
          <a:ln/>
        </p:spPr>
        <p:txBody>
          <a:bodyPr wrap="square" lIns="0" tIns="0" rIns="0" bIns="0" rtlCol="0" anchor="ctr"/>
          <a:lstStyle/>
          <a:p>
            <a:pPr marL="0" indent="0">
              <a:buNone/>
            </a:pPr>
            <a:r>
              <a:rPr lang="en-US" sz="2000" b="1" dirty="0">
                <a:solidFill>
                  <a:srgbClr val="0B1F3A"/>
                </a:solidFill>
              </a:rPr>
              <a:t>Required sections</a:t>
            </a:r>
            <a:endParaRPr lang="en-US" sz="1400" dirty="0"/>
          </a:p>
        </p:txBody>
      </p:sp>
      <p:sp>
        <p:nvSpPr>
          <p:cNvPr id="15" name="Text 13"/>
          <p:cNvSpPr/>
          <p:nvPr/>
        </p:nvSpPr>
        <p:spPr>
          <a:xfrm>
            <a:off x="6528816" y="1892808"/>
            <a:ext cx="4745736" cy="1371600"/>
          </a:xfrm>
          <a:prstGeom prst="rect">
            <a:avLst/>
          </a:prstGeom>
          <a:noFill/>
          <a:ln/>
        </p:spPr>
        <p:txBody>
          <a:bodyPr wrap="square" lIns="254" tIns="254" rIns="254" bIns="254" rtlCol="0" anchor="ctr">
            <a:normAutofit lnSpcReduction="10000"/>
          </a:bodyPr>
          <a:lstStyle/>
          <a:p>
            <a:pPr marL="0" indent="0">
              <a:buNone/>
            </a:pPr>
            <a:r>
              <a:rPr lang="en-US" sz="1650" dirty="0">
                <a:solidFill>
                  <a:srgbClr val="1F2937"/>
                </a:solidFill>
              </a:rPr>
              <a:t>• Problem context and stakeholders</a:t>
            </a:r>
            <a:endParaRPr lang="en-US" sz="1050" dirty="0"/>
          </a:p>
          <a:p>
            <a:pPr marL="0" indent="0">
              <a:buNone/>
            </a:pPr>
            <a:r>
              <a:rPr lang="en-US" sz="1650" dirty="0">
                <a:solidFill>
                  <a:srgbClr val="1F2937"/>
                </a:solidFill>
              </a:rPr>
              <a:t>• Surface-level and deep-level diversity factors</a:t>
            </a:r>
            <a:endParaRPr lang="en-US" sz="1050" dirty="0"/>
          </a:p>
          <a:p>
            <a:pPr marL="0" indent="0">
              <a:buNone/>
            </a:pPr>
            <a:r>
              <a:rPr lang="en-US" sz="1650" dirty="0">
                <a:solidFill>
                  <a:srgbClr val="1F2937"/>
                </a:solidFill>
              </a:rPr>
              <a:t>• Bias, stereotype or exclusion risk</a:t>
            </a:r>
            <a:endParaRPr lang="en-US" sz="1050" dirty="0"/>
          </a:p>
          <a:p>
            <a:pPr marL="0" indent="0">
              <a:buNone/>
            </a:pPr>
            <a:r>
              <a:rPr lang="en-US" sz="1650" dirty="0">
                <a:solidFill>
                  <a:srgbClr val="1F2937"/>
                </a:solidFill>
              </a:rPr>
              <a:t>• Quality consequences</a:t>
            </a:r>
            <a:endParaRPr lang="en-US" sz="1050" dirty="0"/>
          </a:p>
          <a:p>
            <a:pPr marL="0" indent="0">
              <a:buNone/>
            </a:pPr>
            <a:r>
              <a:rPr lang="en-US" sz="1650" dirty="0">
                <a:solidFill>
                  <a:srgbClr val="1F2937"/>
                </a:solidFill>
              </a:rPr>
              <a:t>• Two practical interventions</a:t>
            </a:r>
            <a:endParaRPr lang="en-US" sz="1050" dirty="0"/>
          </a:p>
          <a:p>
            <a:pPr marL="0" indent="0">
              <a:buNone/>
            </a:pPr>
            <a:r>
              <a:rPr lang="en-US" sz="1650" dirty="0">
                <a:solidFill>
                  <a:srgbClr val="1F2937"/>
                </a:solidFill>
              </a:rPr>
              <a:t>• Two monitoring indicators</a:t>
            </a:r>
            <a:endParaRPr lang="en-US" sz="1050" dirty="0"/>
          </a:p>
        </p:txBody>
      </p:sp>
      <p:sp>
        <p:nvSpPr>
          <p:cNvPr id="16" name="Shape 14"/>
          <p:cNvSpPr/>
          <p:nvPr/>
        </p:nvSpPr>
        <p:spPr>
          <a:xfrm>
            <a:off x="1097280" y="4617720"/>
            <a:ext cx="9784080" cy="685800"/>
          </a:xfrm>
          <a:prstGeom prst="roundRect">
            <a:avLst>
              <a:gd name="adj" fmla="val 12000"/>
            </a:avLst>
          </a:prstGeom>
          <a:solidFill>
            <a:srgbClr val="F6F8FB"/>
          </a:solidFill>
          <a:ln w="10160">
            <a:solidFill>
              <a:srgbClr val="DDE5EF"/>
            </a:solidFill>
            <a:prstDash val="solid"/>
          </a:ln>
        </p:spPr>
        <p:txBody>
          <a:bodyPr/>
          <a:lstStyle/>
          <a:p>
            <a:endParaRPr/>
          </a:p>
        </p:txBody>
      </p:sp>
      <p:sp>
        <p:nvSpPr>
          <p:cNvPr id="17" name="Shape 15"/>
          <p:cNvSpPr/>
          <p:nvPr/>
        </p:nvSpPr>
        <p:spPr>
          <a:xfrm>
            <a:off x="1097280" y="4617720"/>
            <a:ext cx="82296" cy="685800"/>
          </a:xfrm>
          <a:prstGeom prst="rect">
            <a:avLst/>
          </a:prstGeom>
          <a:solidFill>
            <a:srgbClr val="2E7D32"/>
          </a:solidFill>
          <a:ln w="12700">
            <a:solidFill>
              <a:srgbClr val="2E7D32">
                <a:alpha val="0"/>
              </a:srgbClr>
            </a:solidFill>
            <a:prstDash val="solid"/>
          </a:ln>
        </p:spPr>
        <p:txBody>
          <a:bodyPr/>
          <a:lstStyle/>
          <a:p>
            <a:endParaRPr/>
          </a:p>
        </p:txBody>
      </p:sp>
      <p:sp>
        <p:nvSpPr>
          <p:cNvPr id="18" name="Text 16"/>
          <p:cNvSpPr/>
          <p:nvPr/>
        </p:nvSpPr>
        <p:spPr>
          <a:xfrm>
            <a:off x="1316736" y="4782312"/>
            <a:ext cx="9454896" cy="274320"/>
          </a:xfrm>
          <a:prstGeom prst="rect">
            <a:avLst/>
          </a:prstGeom>
          <a:noFill/>
          <a:ln/>
        </p:spPr>
        <p:txBody>
          <a:bodyPr wrap="square" lIns="0" tIns="0" rIns="0" bIns="0" rtlCol="0" anchor="ctr"/>
          <a:lstStyle/>
          <a:p>
            <a:pPr marL="0" indent="0">
              <a:buNone/>
            </a:pPr>
            <a:r>
              <a:rPr lang="en-US" sz="2000" b="1" dirty="0">
                <a:solidFill>
                  <a:srgbClr val="0B1F3A"/>
                </a:solidFill>
              </a:rPr>
              <a:t>Assessment criteria</a:t>
            </a:r>
            <a:endParaRPr lang="en-US" sz="1400" dirty="0"/>
          </a:p>
        </p:txBody>
      </p:sp>
      <p:sp>
        <p:nvSpPr>
          <p:cNvPr id="19" name="Text 17"/>
          <p:cNvSpPr/>
          <p:nvPr/>
        </p:nvSpPr>
        <p:spPr>
          <a:xfrm>
            <a:off x="1353312" y="5071038"/>
            <a:ext cx="9454896" cy="201168"/>
          </a:xfrm>
          <a:prstGeom prst="rect">
            <a:avLst/>
          </a:prstGeom>
          <a:noFill/>
          <a:ln/>
        </p:spPr>
        <p:txBody>
          <a:bodyPr wrap="square" lIns="254" tIns="254" rIns="254" bIns="254" rtlCol="0" anchor="ctr">
            <a:normAutofit fontScale="77500" lnSpcReduction="20000"/>
          </a:bodyPr>
          <a:lstStyle/>
          <a:p>
            <a:pPr marL="0" indent="0">
              <a:buNone/>
            </a:pPr>
            <a:r>
              <a:rPr lang="en-US" sz="1650" dirty="0">
                <a:solidFill>
                  <a:srgbClr val="1F2937"/>
                </a:solidFill>
              </a:rPr>
              <a:t>Conceptual accuracy 25% • Diagnostic depth 25% • Quality connection 20% • Feasibility 15% • Clarity and professionalism 15%</a:t>
            </a:r>
            <a:endParaRPr lang="en-US" sz="1050" dirty="0"/>
          </a:p>
        </p:txBody>
      </p:sp>
      <p:sp>
        <p:nvSpPr>
          <p:cNvPr id="21" name="Text 18">
            <a:extLst>
              <a:ext uri="{FF2B5EF4-FFF2-40B4-BE49-F238E27FC236}">
                <a16:creationId xmlns:a16="http://schemas.microsoft.com/office/drawing/2014/main" id="{066A021D-05B5-3ECE-CF3C-E51DA8E91D86}"/>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Rubric Snapshot</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Full rubric is included in the assessment pack.</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21</a:t>
            </a:r>
            <a:endParaRPr lang="en-US" sz="850" dirty="0"/>
          </a:p>
        </p:txBody>
      </p:sp>
      <p:sp>
        <p:nvSpPr>
          <p:cNvPr id="8" name="Shape 6"/>
          <p:cNvSpPr/>
          <p:nvPr/>
        </p:nvSpPr>
        <p:spPr>
          <a:xfrm>
            <a:off x="731520" y="1325880"/>
            <a:ext cx="2834640" cy="566928"/>
          </a:xfrm>
          <a:prstGeom prst="rect">
            <a:avLst/>
          </a:prstGeom>
          <a:solidFill>
            <a:srgbClr val="0B1F3A"/>
          </a:solidFill>
          <a:ln w="7620">
            <a:solidFill>
              <a:srgbClr val="D6DFEA"/>
            </a:solidFill>
            <a:prstDash val="solid"/>
          </a:ln>
        </p:spPr>
        <p:txBody>
          <a:bodyPr/>
          <a:lstStyle/>
          <a:p>
            <a:endParaRPr/>
          </a:p>
        </p:txBody>
      </p:sp>
      <p:sp>
        <p:nvSpPr>
          <p:cNvPr id="9" name="Text 7"/>
          <p:cNvSpPr/>
          <p:nvPr/>
        </p:nvSpPr>
        <p:spPr>
          <a:xfrm>
            <a:off x="804672" y="1472184"/>
            <a:ext cx="2688336" cy="164592"/>
          </a:xfrm>
          <a:prstGeom prst="rect">
            <a:avLst/>
          </a:prstGeom>
          <a:noFill/>
          <a:ln/>
        </p:spPr>
        <p:txBody>
          <a:bodyPr wrap="square" lIns="0" tIns="0" rIns="0" bIns="0" rtlCol="0" anchor="ctr">
            <a:normAutofit fontScale="70000" lnSpcReduction="20000"/>
          </a:bodyPr>
          <a:lstStyle/>
          <a:p>
            <a:pPr marL="0" indent="0">
              <a:buNone/>
            </a:pPr>
            <a:r>
              <a:rPr lang="en-US" sz="1650" b="1" dirty="0">
                <a:solidFill>
                  <a:srgbClr val="FFFFFF"/>
                </a:solidFill>
              </a:rPr>
              <a:t>Criterion</a:t>
            </a:r>
            <a:endParaRPr lang="en-US" sz="1050" dirty="0"/>
          </a:p>
        </p:txBody>
      </p:sp>
      <p:sp>
        <p:nvSpPr>
          <p:cNvPr id="10" name="Shape 8"/>
          <p:cNvSpPr/>
          <p:nvPr/>
        </p:nvSpPr>
        <p:spPr>
          <a:xfrm>
            <a:off x="3566160" y="1325880"/>
            <a:ext cx="1188720" cy="566928"/>
          </a:xfrm>
          <a:prstGeom prst="rect">
            <a:avLst/>
          </a:prstGeom>
          <a:solidFill>
            <a:srgbClr val="0B1F3A"/>
          </a:solidFill>
          <a:ln w="7620">
            <a:solidFill>
              <a:srgbClr val="D6DFEA"/>
            </a:solidFill>
            <a:prstDash val="solid"/>
          </a:ln>
        </p:spPr>
        <p:txBody>
          <a:bodyPr/>
          <a:lstStyle/>
          <a:p>
            <a:endParaRPr/>
          </a:p>
        </p:txBody>
      </p:sp>
      <p:sp>
        <p:nvSpPr>
          <p:cNvPr id="11" name="Text 9"/>
          <p:cNvSpPr/>
          <p:nvPr/>
        </p:nvSpPr>
        <p:spPr>
          <a:xfrm>
            <a:off x="3639312" y="1472184"/>
            <a:ext cx="1042416" cy="164592"/>
          </a:xfrm>
          <a:prstGeom prst="rect">
            <a:avLst/>
          </a:prstGeom>
          <a:noFill/>
          <a:ln/>
        </p:spPr>
        <p:txBody>
          <a:bodyPr wrap="square" lIns="0" tIns="0" rIns="0" bIns="0" rtlCol="0" anchor="ctr">
            <a:normAutofit fontScale="70000" lnSpcReduction="20000"/>
          </a:bodyPr>
          <a:lstStyle/>
          <a:p>
            <a:pPr marL="0" indent="0">
              <a:buNone/>
            </a:pPr>
            <a:r>
              <a:rPr lang="en-US" sz="1650" b="1" dirty="0">
                <a:solidFill>
                  <a:srgbClr val="FFFFFF"/>
                </a:solidFill>
              </a:rPr>
              <a:t>Weight</a:t>
            </a:r>
            <a:endParaRPr lang="en-US" sz="1050" dirty="0"/>
          </a:p>
        </p:txBody>
      </p:sp>
      <p:sp>
        <p:nvSpPr>
          <p:cNvPr id="12" name="Shape 10"/>
          <p:cNvSpPr/>
          <p:nvPr/>
        </p:nvSpPr>
        <p:spPr>
          <a:xfrm>
            <a:off x="4754880" y="1325880"/>
            <a:ext cx="6812280" cy="566928"/>
          </a:xfrm>
          <a:prstGeom prst="rect">
            <a:avLst/>
          </a:prstGeom>
          <a:solidFill>
            <a:srgbClr val="0B1F3A"/>
          </a:solidFill>
          <a:ln w="7620">
            <a:solidFill>
              <a:srgbClr val="D6DFEA"/>
            </a:solidFill>
            <a:prstDash val="solid"/>
          </a:ln>
        </p:spPr>
        <p:txBody>
          <a:bodyPr/>
          <a:lstStyle/>
          <a:p>
            <a:endParaRPr/>
          </a:p>
        </p:txBody>
      </p:sp>
      <p:sp>
        <p:nvSpPr>
          <p:cNvPr id="13" name="Text 11"/>
          <p:cNvSpPr/>
          <p:nvPr/>
        </p:nvSpPr>
        <p:spPr>
          <a:xfrm>
            <a:off x="4828032" y="1472184"/>
            <a:ext cx="6665976" cy="164592"/>
          </a:xfrm>
          <a:prstGeom prst="rect">
            <a:avLst/>
          </a:prstGeom>
          <a:noFill/>
          <a:ln/>
        </p:spPr>
        <p:txBody>
          <a:bodyPr wrap="square" lIns="0" tIns="0" rIns="0" bIns="0" rtlCol="0" anchor="ctr">
            <a:normAutofit fontScale="70000" lnSpcReduction="20000"/>
          </a:bodyPr>
          <a:lstStyle/>
          <a:p>
            <a:pPr marL="0" indent="0">
              <a:buNone/>
            </a:pPr>
            <a:r>
              <a:rPr lang="en-US" sz="1650" b="1" dirty="0">
                <a:solidFill>
                  <a:srgbClr val="FFFFFF"/>
                </a:solidFill>
              </a:rPr>
              <a:t>Excellent evidence</a:t>
            </a:r>
            <a:endParaRPr lang="en-US" sz="1050" dirty="0"/>
          </a:p>
        </p:txBody>
      </p:sp>
      <p:sp>
        <p:nvSpPr>
          <p:cNvPr id="14" name="Shape 12"/>
          <p:cNvSpPr/>
          <p:nvPr/>
        </p:nvSpPr>
        <p:spPr>
          <a:xfrm>
            <a:off x="731520" y="1892808"/>
            <a:ext cx="2834640" cy="566928"/>
          </a:xfrm>
          <a:prstGeom prst="rect">
            <a:avLst/>
          </a:prstGeom>
          <a:solidFill>
            <a:srgbClr val="FFFFFF"/>
          </a:solidFill>
          <a:ln w="7620">
            <a:solidFill>
              <a:srgbClr val="D6DFEA"/>
            </a:solidFill>
            <a:prstDash val="solid"/>
          </a:ln>
        </p:spPr>
        <p:txBody>
          <a:bodyPr/>
          <a:lstStyle/>
          <a:p>
            <a:endParaRPr/>
          </a:p>
        </p:txBody>
      </p:sp>
      <p:sp>
        <p:nvSpPr>
          <p:cNvPr id="15" name="Text 13"/>
          <p:cNvSpPr/>
          <p:nvPr/>
        </p:nvSpPr>
        <p:spPr>
          <a:xfrm>
            <a:off x="804672" y="2039112"/>
            <a:ext cx="268833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Conceptual accuracy</a:t>
            </a:r>
            <a:endParaRPr lang="en-US" sz="960" dirty="0"/>
          </a:p>
        </p:txBody>
      </p:sp>
      <p:sp>
        <p:nvSpPr>
          <p:cNvPr id="16" name="Shape 14"/>
          <p:cNvSpPr/>
          <p:nvPr/>
        </p:nvSpPr>
        <p:spPr>
          <a:xfrm>
            <a:off x="3566160" y="1892808"/>
            <a:ext cx="1188720" cy="566928"/>
          </a:xfrm>
          <a:prstGeom prst="rect">
            <a:avLst/>
          </a:prstGeom>
          <a:solidFill>
            <a:srgbClr val="FFFFFF"/>
          </a:solidFill>
          <a:ln w="7620">
            <a:solidFill>
              <a:srgbClr val="D6DFEA"/>
            </a:solidFill>
            <a:prstDash val="solid"/>
          </a:ln>
        </p:spPr>
        <p:txBody>
          <a:bodyPr/>
          <a:lstStyle/>
          <a:p>
            <a:endParaRPr/>
          </a:p>
        </p:txBody>
      </p:sp>
      <p:sp>
        <p:nvSpPr>
          <p:cNvPr id="17" name="Text 15"/>
          <p:cNvSpPr/>
          <p:nvPr/>
        </p:nvSpPr>
        <p:spPr>
          <a:xfrm>
            <a:off x="3639312" y="2039112"/>
            <a:ext cx="104241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25%</a:t>
            </a:r>
            <a:endParaRPr lang="en-US" sz="960" dirty="0"/>
          </a:p>
        </p:txBody>
      </p:sp>
      <p:sp>
        <p:nvSpPr>
          <p:cNvPr id="18" name="Shape 16"/>
          <p:cNvSpPr/>
          <p:nvPr/>
        </p:nvSpPr>
        <p:spPr>
          <a:xfrm>
            <a:off x="4754880" y="1892808"/>
            <a:ext cx="6812280" cy="566928"/>
          </a:xfrm>
          <a:prstGeom prst="rect">
            <a:avLst/>
          </a:prstGeom>
          <a:solidFill>
            <a:srgbClr val="FFFFFF"/>
          </a:solidFill>
          <a:ln w="7620">
            <a:solidFill>
              <a:srgbClr val="D6DFEA"/>
            </a:solidFill>
            <a:prstDash val="solid"/>
          </a:ln>
        </p:spPr>
        <p:txBody>
          <a:bodyPr/>
          <a:lstStyle/>
          <a:p>
            <a:endParaRPr/>
          </a:p>
        </p:txBody>
      </p:sp>
      <p:sp>
        <p:nvSpPr>
          <p:cNvPr id="19" name="Text 17"/>
          <p:cNvSpPr/>
          <p:nvPr/>
        </p:nvSpPr>
        <p:spPr>
          <a:xfrm>
            <a:off x="4828032" y="2039112"/>
            <a:ext cx="666597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Correctly uses surface/deep diversity, discrimination and diversity management concepts.</a:t>
            </a:r>
            <a:endParaRPr lang="en-US" sz="960" dirty="0"/>
          </a:p>
        </p:txBody>
      </p:sp>
      <p:sp>
        <p:nvSpPr>
          <p:cNvPr id="20" name="Shape 18"/>
          <p:cNvSpPr/>
          <p:nvPr/>
        </p:nvSpPr>
        <p:spPr>
          <a:xfrm>
            <a:off x="731520" y="2459736"/>
            <a:ext cx="2834640" cy="566928"/>
          </a:xfrm>
          <a:prstGeom prst="rect">
            <a:avLst/>
          </a:prstGeom>
          <a:solidFill>
            <a:srgbClr val="F6F8FB"/>
          </a:solidFill>
          <a:ln w="7620">
            <a:solidFill>
              <a:srgbClr val="D6DFEA"/>
            </a:solidFill>
            <a:prstDash val="solid"/>
          </a:ln>
        </p:spPr>
        <p:txBody>
          <a:bodyPr/>
          <a:lstStyle/>
          <a:p>
            <a:endParaRPr/>
          </a:p>
        </p:txBody>
      </p:sp>
      <p:sp>
        <p:nvSpPr>
          <p:cNvPr id="21" name="Text 19"/>
          <p:cNvSpPr/>
          <p:nvPr/>
        </p:nvSpPr>
        <p:spPr>
          <a:xfrm>
            <a:off x="804672" y="2606040"/>
            <a:ext cx="268833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Diagnostic depth</a:t>
            </a:r>
            <a:endParaRPr lang="en-US" sz="960" dirty="0"/>
          </a:p>
        </p:txBody>
      </p:sp>
      <p:sp>
        <p:nvSpPr>
          <p:cNvPr id="22" name="Shape 20"/>
          <p:cNvSpPr/>
          <p:nvPr/>
        </p:nvSpPr>
        <p:spPr>
          <a:xfrm>
            <a:off x="3566160" y="2459736"/>
            <a:ext cx="1188720" cy="566928"/>
          </a:xfrm>
          <a:prstGeom prst="rect">
            <a:avLst/>
          </a:prstGeom>
          <a:solidFill>
            <a:srgbClr val="F6F8FB"/>
          </a:solidFill>
          <a:ln w="7620">
            <a:solidFill>
              <a:srgbClr val="D6DFEA"/>
            </a:solidFill>
            <a:prstDash val="solid"/>
          </a:ln>
        </p:spPr>
        <p:txBody>
          <a:bodyPr/>
          <a:lstStyle/>
          <a:p>
            <a:endParaRPr/>
          </a:p>
        </p:txBody>
      </p:sp>
      <p:sp>
        <p:nvSpPr>
          <p:cNvPr id="23" name="Text 21"/>
          <p:cNvSpPr/>
          <p:nvPr/>
        </p:nvSpPr>
        <p:spPr>
          <a:xfrm>
            <a:off x="3639312" y="2606040"/>
            <a:ext cx="104241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25%</a:t>
            </a:r>
            <a:endParaRPr lang="en-US" sz="960" dirty="0"/>
          </a:p>
        </p:txBody>
      </p:sp>
      <p:sp>
        <p:nvSpPr>
          <p:cNvPr id="24" name="Shape 22"/>
          <p:cNvSpPr/>
          <p:nvPr/>
        </p:nvSpPr>
        <p:spPr>
          <a:xfrm>
            <a:off x="4754880" y="2459736"/>
            <a:ext cx="6812280" cy="566928"/>
          </a:xfrm>
          <a:prstGeom prst="rect">
            <a:avLst/>
          </a:prstGeom>
          <a:solidFill>
            <a:srgbClr val="F6F8FB"/>
          </a:solidFill>
          <a:ln w="7620">
            <a:solidFill>
              <a:srgbClr val="D6DFEA"/>
            </a:solidFill>
            <a:prstDash val="solid"/>
          </a:ln>
        </p:spPr>
        <p:txBody>
          <a:bodyPr/>
          <a:lstStyle/>
          <a:p>
            <a:endParaRPr/>
          </a:p>
        </p:txBody>
      </p:sp>
      <p:sp>
        <p:nvSpPr>
          <p:cNvPr id="25" name="Text 23"/>
          <p:cNvSpPr/>
          <p:nvPr/>
        </p:nvSpPr>
        <p:spPr>
          <a:xfrm>
            <a:off x="4828032" y="2606040"/>
            <a:ext cx="666597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Moves beyond description to explain mechanisms and evidence.</a:t>
            </a:r>
            <a:endParaRPr lang="en-US" sz="960" dirty="0"/>
          </a:p>
        </p:txBody>
      </p:sp>
      <p:sp>
        <p:nvSpPr>
          <p:cNvPr id="26" name="Shape 24"/>
          <p:cNvSpPr/>
          <p:nvPr/>
        </p:nvSpPr>
        <p:spPr>
          <a:xfrm>
            <a:off x="731520" y="3026664"/>
            <a:ext cx="2834640" cy="566928"/>
          </a:xfrm>
          <a:prstGeom prst="rect">
            <a:avLst/>
          </a:prstGeom>
          <a:solidFill>
            <a:srgbClr val="FFFFFF"/>
          </a:solidFill>
          <a:ln w="7620">
            <a:solidFill>
              <a:srgbClr val="D6DFEA"/>
            </a:solidFill>
            <a:prstDash val="solid"/>
          </a:ln>
        </p:spPr>
        <p:txBody>
          <a:bodyPr/>
          <a:lstStyle/>
          <a:p>
            <a:endParaRPr/>
          </a:p>
        </p:txBody>
      </p:sp>
      <p:sp>
        <p:nvSpPr>
          <p:cNvPr id="27" name="Text 25"/>
          <p:cNvSpPr/>
          <p:nvPr/>
        </p:nvSpPr>
        <p:spPr>
          <a:xfrm>
            <a:off x="804672" y="3172968"/>
            <a:ext cx="268833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Quality connection</a:t>
            </a:r>
            <a:endParaRPr lang="en-US" sz="960" dirty="0"/>
          </a:p>
        </p:txBody>
      </p:sp>
      <p:sp>
        <p:nvSpPr>
          <p:cNvPr id="28" name="Shape 26"/>
          <p:cNvSpPr/>
          <p:nvPr/>
        </p:nvSpPr>
        <p:spPr>
          <a:xfrm>
            <a:off x="3566160" y="3026664"/>
            <a:ext cx="1188720" cy="566928"/>
          </a:xfrm>
          <a:prstGeom prst="rect">
            <a:avLst/>
          </a:prstGeom>
          <a:solidFill>
            <a:srgbClr val="FFFFFF"/>
          </a:solidFill>
          <a:ln w="7620">
            <a:solidFill>
              <a:srgbClr val="D6DFEA"/>
            </a:solidFill>
            <a:prstDash val="solid"/>
          </a:ln>
        </p:spPr>
        <p:txBody>
          <a:bodyPr/>
          <a:lstStyle/>
          <a:p>
            <a:endParaRPr/>
          </a:p>
        </p:txBody>
      </p:sp>
      <p:sp>
        <p:nvSpPr>
          <p:cNvPr id="29" name="Text 27"/>
          <p:cNvSpPr/>
          <p:nvPr/>
        </p:nvSpPr>
        <p:spPr>
          <a:xfrm>
            <a:off x="3639312" y="3172968"/>
            <a:ext cx="104241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20%</a:t>
            </a:r>
            <a:endParaRPr lang="en-US" sz="960" dirty="0"/>
          </a:p>
        </p:txBody>
      </p:sp>
      <p:sp>
        <p:nvSpPr>
          <p:cNvPr id="30" name="Shape 28"/>
          <p:cNvSpPr/>
          <p:nvPr/>
        </p:nvSpPr>
        <p:spPr>
          <a:xfrm>
            <a:off x="4754880" y="3026664"/>
            <a:ext cx="6812280" cy="566928"/>
          </a:xfrm>
          <a:prstGeom prst="rect">
            <a:avLst/>
          </a:prstGeom>
          <a:solidFill>
            <a:srgbClr val="FFFFFF"/>
          </a:solidFill>
          <a:ln w="7620">
            <a:solidFill>
              <a:srgbClr val="D6DFEA"/>
            </a:solidFill>
            <a:prstDash val="solid"/>
          </a:ln>
        </p:spPr>
        <p:txBody>
          <a:bodyPr/>
          <a:lstStyle/>
          <a:p>
            <a:endParaRPr/>
          </a:p>
        </p:txBody>
      </p:sp>
      <p:sp>
        <p:nvSpPr>
          <p:cNvPr id="31" name="Text 29"/>
          <p:cNvSpPr/>
          <p:nvPr/>
        </p:nvSpPr>
        <p:spPr>
          <a:xfrm>
            <a:off x="4828032" y="3172968"/>
            <a:ext cx="666597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Shows how behavior affects service, defects, safety, reliability or satisfaction.</a:t>
            </a:r>
            <a:endParaRPr lang="en-US" sz="960" dirty="0"/>
          </a:p>
        </p:txBody>
      </p:sp>
      <p:sp>
        <p:nvSpPr>
          <p:cNvPr id="32" name="Shape 30"/>
          <p:cNvSpPr/>
          <p:nvPr/>
        </p:nvSpPr>
        <p:spPr>
          <a:xfrm>
            <a:off x="731520" y="3593592"/>
            <a:ext cx="2834640" cy="566928"/>
          </a:xfrm>
          <a:prstGeom prst="rect">
            <a:avLst/>
          </a:prstGeom>
          <a:solidFill>
            <a:srgbClr val="F6F8FB"/>
          </a:solidFill>
          <a:ln w="7620">
            <a:solidFill>
              <a:srgbClr val="D6DFEA"/>
            </a:solidFill>
            <a:prstDash val="solid"/>
          </a:ln>
        </p:spPr>
        <p:txBody>
          <a:bodyPr/>
          <a:lstStyle/>
          <a:p>
            <a:endParaRPr/>
          </a:p>
        </p:txBody>
      </p:sp>
      <p:sp>
        <p:nvSpPr>
          <p:cNvPr id="33" name="Text 31"/>
          <p:cNvSpPr/>
          <p:nvPr/>
        </p:nvSpPr>
        <p:spPr>
          <a:xfrm>
            <a:off x="804672" y="3739896"/>
            <a:ext cx="268833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Feasibility</a:t>
            </a:r>
            <a:endParaRPr lang="en-US" sz="960" dirty="0"/>
          </a:p>
        </p:txBody>
      </p:sp>
      <p:sp>
        <p:nvSpPr>
          <p:cNvPr id="34" name="Shape 32"/>
          <p:cNvSpPr/>
          <p:nvPr/>
        </p:nvSpPr>
        <p:spPr>
          <a:xfrm>
            <a:off x="3566160" y="3593592"/>
            <a:ext cx="1188720" cy="566928"/>
          </a:xfrm>
          <a:prstGeom prst="rect">
            <a:avLst/>
          </a:prstGeom>
          <a:solidFill>
            <a:srgbClr val="F6F8FB"/>
          </a:solidFill>
          <a:ln w="7620">
            <a:solidFill>
              <a:srgbClr val="D6DFEA"/>
            </a:solidFill>
            <a:prstDash val="solid"/>
          </a:ln>
        </p:spPr>
        <p:txBody>
          <a:bodyPr/>
          <a:lstStyle/>
          <a:p>
            <a:endParaRPr/>
          </a:p>
        </p:txBody>
      </p:sp>
      <p:sp>
        <p:nvSpPr>
          <p:cNvPr id="35" name="Text 33"/>
          <p:cNvSpPr/>
          <p:nvPr/>
        </p:nvSpPr>
        <p:spPr>
          <a:xfrm>
            <a:off x="3639312" y="3739896"/>
            <a:ext cx="104241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15%</a:t>
            </a:r>
            <a:endParaRPr lang="en-US" sz="960" dirty="0"/>
          </a:p>
        </p:txBody>
      </p:sp>
      <p:sp>
        <p:nvSpPr>
          <p:cNvPr id="36" name="Shape 34"/>
          <p:cNvSpPr/>
          <p:nvPr/>
        </p:nvSpPr>
        <p:spPr>
          <a:xfrm>
            <a:off x="4754880" y="3593592"/>
            <a:ext cx="6812280" cy="566928"/>
          </a:xfrm>
          <a:prstGeom prst="rect">
            <a:avLst/>
          </a:prstGeom>
          <a:solidFill>
            <a:srgbClr val="F6F8FB"/>
          </a:solidFill>
          <a:ln w="7620">
            <a:solidFill>
              <a:srgbClr val="D6DFEA"/>
            </a:solidFill>
            <a:prstDash val="solid"/>
          </a:ln>
        </p:spPr>
        <p:txBody>
          <a:bodyPr/>
          <a:lstStyle/>
          <a:p>
            <a:endParaRPr/>
          </a:p>
        </p:txBody>
      </p:sp>
      <p:sp>
        <p:nvSpPr>
          <p:cNvPr id="37" name="Text 35"/>
          <p:cNvSpPr/>
          <p:nvPr/>
        </p:nvSpPr>
        <p:spPr>
          <a:xfrm>
            <a:off x="4828032" y="3739896"/>
            <a:ext cx="666597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Recommendations are practical, ethical and measurable.</a:t>
            </a:r>
            <a:endParaRPr lang="en-US" sz="960" dirty="0"/>
          </a:p>
        </p:txBody>
      </p:sp>
      <p:sp>
        <p:nvSpPr>
          <p:cNvPr id="38" name="Shape 36"/>
          <p:cNvSpPr/>
          <p:nvPr/>
        </p:nvSpPr>
        <p:spPr>
          <a:xfrm>
            <a:off x="731520" y="4160520"/>
            <a:ext cx="2834640" cy="566928"/>
          </a:xfrm>
          <a:prstGeom prst="rect">
            <a:avLst/>
          </a:prstGeom>
          <a:solidFill>
            <a:srgbClr val="FFFFFF"/>
          </a:solidFill>
          <a:ln w="7620">
            <a:solidFill>
              <a:srgbClr val="D6DFEA"/>
            </a:solidFill>
            <a:prstDash val="solid"/>
          </a:ln>
        </p:spPr>
        <p:txBody>
          <a:bodyPr/>
          <a:lstStyle/>
          <a:p>
            <a:endParaRPr/>
          </a:p>
        </p:txBody>
      </p:sp>
      <p:sp>
        <p:nvSpPr>
          <p:cNvPr id="39" name="Text 37"/>
          <p:cNvSpPr/>
          <p:nvPr/>
        </p:nvSpPr>
        <p:spPr>
          <a:xfrm>
            <a:off x="804672" y="4306824"/>
            <a:ext cx="268833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Professional writing</a:t>
            </a:r>
            <a:endParaRPr lang="en-US" sz="960" dirty="0"/>
          </a:p>
        </p:txBody>
      </p:sp>
      <p:sp>
        <p:nvSpPr>
          <p:cNvPr id="40" name="Shape 38"/>
          <p:cNvSpPr/>
          <p:nvPr/>
        </p:nvSpPr>
        <p:spPr>
          <a:xfrm>
            <a:off x="3566160" y="4160520"/>
            <a:ext cx="1188720" cy="566928"/>
          </a:xfrm>
          <a:prstGeom prst="rect">
            <a:avLst/>
          </a:prstGeom>
          <a:solidFill>
            <a:srgbClr val="FFFFFF"/>
          </a:solidFill>
          <a:ln w="7620">
            <a:solidFill>
              <a:srgbClr val="D6DFEA"/>
            </a:solidFill>
            <a:prstDash val="solid"/>
          </a:ln>
        </p:spPr>
        <p:txBody>
          <a:bodyPr/>
          <a:lstStyle/>
          <a:p>
            <a:endParaRPr/>
          </a:p>
        </p:txBody>
      </p:sp>
      <p:sp>
        <p:nvSpPr>
          <p:cNvPr id="41" name="Text 39"/>
          <p:cNvSpPr/>
          <p:nvPr/>
        </p:nvSpPr>
        <p:spPr>
          <a:xfrm>
            <a:off x="3639312" y="4306824"/>
            <a:ext cx="104241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15%</a:t>
            </a:r>
            <a:endParaRPr lang="en-US" sz="960" dirty="0"/>
          </a:p>
        </p:txBody>
      </p:sp>
      <p:sp>
        <p:nvSpPr>
          <p:cNvPr id="42" name="Shape 40"/>
          <p:cNvSpPr/>
          <p:nvPr/>
        </p:nvSpPr>
        <p:spPr>
          <a:xfrm>
            <a:off x="4754880" y="4160520"/>
            <a:ext cx="6812280" cy="566928"/>
          </a:xfrm>
          <a:prstGeom prst="rect">
            <a:avLst/>
          </a:prstGeom>
          <a:solidFill>
            <a:srgbClr val="FFFFFF"/>
          </a:solidFill>
          <a:ln w="7620">
            <a:solidFill>
              <a:srgbClr val="D6DFEA"/>
            </a:solidFill>
            <a:prstDash val="solid"/>
          </a:ln>
        </p:spPr>
        <p:txBody>
          <a:bodyPr/>
          <a:lstStyle/>
          <a:p>
            <a:endParaRPr/>
          </a:p>
        </p:txBody>
      </p:sp>
      <p:sp>
        <p:nvSpPr>
          <p:cNvPr id="43" name="Text 41"/>
          <p:cNvSpPr/>
          <p:nvPr/>
        </p:nvSpPr>
        <p:spPr>
          <a:xfrm>
            <a:off x="4828032" y="4306824"/>
            <a:ext cx="6665976" cy="164592"/>
          </a:xfrm>
          <a:prstGeom prst="rect">
            <a:avLst/>
          </a:prstGeom>
          <a:noFill/>
          <a:ln/>
        </p:spPr>
        <p:txBody>
          <a:bodyPr wrap="square" lIns="0" tIns="0" rIns="0" bIns="0" rtlCol="0" anchor="ctr">
            <a:normAutofit fontScale="77500" lnSpcReduction="20000"/>
          </a:bodyPr>
          <a:lstStyle/>
          <a:p>
            <a:pPr marL="0" indent="0">
              <a:buNone/>
            </a:pPr>
            <a:r>
              <a:rPr lang="en-US" sz="1550" dirty="0">
                <a:solidFill>
                  <a:srgbClr val="1F2937"/>
                </a:solidFill>
              </a:rPr>
              <a:t>Clear structure, concise language and no confidential data.</a:t>
            </a:r>
            <a:endParaRPr lang="en-US" sz="960" dirty="0"/>
          </a:p>
        </p:txBody>
      </p:sp>
      <p:sp>
        <p:nvSpPr>
          <p:cNvPr id="45" name="Text 18">
            <a:extLst>
              <a:ext uri="{FF2B5EF4-FFF2-40B4-BE49-F238E27FC236}">
                <a16:creationId xmlns:a16="http://schemas.microsoft.com/office/drawing/2014/main" id="{E9A8B2EF-F783-4515-9BC4-24384718237B}"/>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Key Takeaways</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What students should retain after Week 2.</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22</a:t>
            </a:r>
            <a:endParaRPr lang="en-US" sz="850" dirty="0"/>
          </a:p>
        </p:txBody>
      </p:sp>
      <p:sp>
        <p:nvSpPr>
          <p:cNvPr id="8" name="Shape 6"/>
          <p:cNvSpPr/>
          <p:nvPr/>
        </p:nvSpPr>
        <p:spPr>
          <a:xfrm>
            <a:off x="777240" y="1234440"/>
            <a:ext cx="4800600" cy="822960"/>
          </a:xfrm>
          <a:prstGeom prst="roundRect">
            <a:avLst>
              <a:gd name="adj" fmla="val 10000"/>
            </a:avLst>
          </a:prstGeom>
          <a:solidFill>
            <a:srgbClr val="EAF1FB"/>
          </a:solidFill>
          <a:ln w="10160">
            <a:solidFill>
              <a:srgbClr val="DDE5EF"/>
            </a:solidFill>
            <a:prstDash val="solid"/>
          </a:ln>
        </p:spPr>
        <p:txBody>
          <a:bodyPr/>
          <a:lstStyle/>
          <a:p>
            <a:endParaRPr/>
          </a:p>
        </p:txBody>
      </p:sp>
      <p:sp>
        <p:nvSpPr>
          <p:cNvPr id="9" name="Shape 7"/>
          <p:cNvSpPr/>
          <p:nvPr/>
        </p:nvSpPr>
        <p:spPr>
          <a:xfrm>
            <a:off x="777240" y="1234440"/>
            <a:ext cx="82296" cy="822960"/>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996696" y="1399032"/>
            <a:ext cx="4471416" cy="274320"/>
          </a:xfrm>
          <a:prstGeom prst="rect">
            <a:avLst/>
          </a:prstGeom>
          <a:noFill/>
          <a:ln/>
        </p:spPr>
        <p:txBody>
          <a:bodyPr wrap="square" lIns="0" tIns="0" rIns="0" bIns="0" rtlCol="0" anchor="ctr"/>
          <a:lstStyle/>
          <a:p>
            <a:pPr marL="0" indent="0">
              <a:buNone/>
            </a:pPr>
            <a:r>
              <a:rPr lang="en-US" sz="1400" b="1" dirty="0">
                <a:solidFill>
                  <a:srgbClr val="0B1F3A"/>
                </a:solidFill>
              </a:rPr>
              <a:t>1</a:t>
            </a:r>
            <a:endParaRPr lang="en-US" sz="1400" dirty="0"/>
          </a:p>
        </p:txBody>
      </p:sp>
      <p:sp>
        <p:nvSpPr>
          <p:cNvPr id="11" name="Text 9"/>
          <p:cNvSpPr/>
          <p:nvPr/>
        </p:nvSpPr>
        <p:spPr>
          <a:xfrm>
            <a:off x="1233576" y="1325880"/>
            <a:ext cx="4234535" cy="612648"/>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Diversity has surface-level and deep-level forms.</a:t>
            </a:r>
            <a:endParaRPr lang="en-US" sz="1050" dirty="0"/>
          </a:p>
        </p:txBody>
      </p:sp>
      <p:sp>
        <p:nvSpPr>
          <p:cNvPr id="12" name="Shape 10"/>
          <p:cNvSpPr/>
          <p:nvPr/>
        </p:nvSpPr>
        <p:spPr>
          <a:xfrm>
            <a:off x="6080760" y="1234440"/>
            <a:ext cx="4800600" cy="822960"/>
          </a:xfrm>
          <a:prstGeom prst="roundRect">
            <a:avLst>
              <a:gd name="adj" fmla="val 10000"/>
            </a:avLst>
          </a:prstGeom>
          <a:solidFill>
            <a:srgbClr val="E6F6F6"/>
          </a:solidFill>
          <a:ln w="10160">
            <a:solidFill>
              <a:srgbClr val="DDE5EF"/>
            </a:solidFill>
            <a:prstDash val="solid"/>
          </a:ln>
        </p:spPr>
        <p:txBody>
          <a:bodyPr/>
          <a:lstStyle/>
          <a:p>
            <a:endParaRPr/>
          </a:p>
        </p:txBody>
      </p:sp>
      <p:sp>
        <p:nvSpPr>
          <p:cNvPr id="13" name="Shape 11"/>
          <p:cNvSpPr/>
          <p:nvPr/>
        </p:nvSpPr>
        <p:spPr>
          <a:xfrm>
            <a:off x="6080760" y="1234440"/>
            <a:ext cx="82296" cy="82296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6300216" y="1399032"/>
            <a:ext cx="4471416" cy="274320"/>
          </a:xfrm>
          <a:prstGeom prst="rect">
            <a:avLst/>
          </a:prstGeom>
          <a:noFill/>
          <a:ln/>
        </p:spPr>
        <p:txBody>
          <a:bodyPr wrap="square" lIns="0" tIns="0" rIns="0" bIns="0" rtlCol="0" anchor="ctr"/>
          <a:lstStyle/>
          <a:p>
            <a:pPr marL="0" indent="0">
              <a:buNone/>
            </a:pPr>
            <a:r>
              <a:rPr lang="en-US" sz="1400" b="1" dirty="0">
                <a:solidFill>
                  <a:srgbClr val="0B1F3A"/>
                </a:solidFill>
              </a:rPr>
              <a:t>2</a:t>
            </a:r>
            <a:endParaRPr lang="en-US" sz="1400" dirty="0"/>
          </a:p>
        </p:txBody>
      </p:sp>
      <p:sp>
        <p:nvSpPr>
          <p:cNvPr id="15" name="Text 13"/>
          <p:cNvSpPr/>
          <p:nvPr/>
        </p:nvSpPr>
        <p:spPr>
          <a:xfrm>
            <a:off x="6538822" y="1325880"/>
            <a:ext cx="4232809" cy="612648"/>
          </a:xfrm>
          <a:prstGeom prst="rect">
            <a:avLst/>
          </a:prstGeom>
          <a:noFill/>
          <a:ln/>
        </p:spPr>
        <p:txBody>
          <a:bodyPr wrap="square" lIns="254" tIns="254" rIns="254" bIns="254" rtlCol="0" anchor="ctr">
            <a:normAutofit fontScale="92500" lnSpcReduction="20000"/>
          </a:bodyPr>
          <a:lstStyle/>
          <a:p>
            <a:pPr marL="0" indent="0">
              <a:buNone/>
            </a:pPr>
            <a:r>
              <a:rPr lang="en-US" sz="1650" dirty="0">
                <a:solidFill>
                  <a:srgbClr val="1F2937"/>
                </a:solidFill>
              </a:rPr>
              <a:t>Visible differences can trigger stereotypes, but deeper values and preferences shape teamwork over time.</a:t>
            </a:r>
            <a:endParaRPr lang="en-US" sz="1050" dirty="0"/>
          </a:p>
        </p:txBody>
      </p:sp>
      <p:sp>
        <p:nvSpPr>
          <p:cNvPr id="16" name="Shape 14"/>
          <p:cNvSpPr/>
          <p:nvPr/>
        </p:nvSpPr>
        <p:spPr>
          <a:xfrm>
            <a:off x="777240" y="2560320"/>
            <a:ext cx="4800600" cy="822960"/>
          </a:xfrm>
          <a:prstGeom prst="roundRect">
            <a:avLst>
              <a:gd name="adj" fmla="val 10000"/>
            </a:avLst>
          </a:prstGeom>
          <a:solidFill>
            <a:srgbClr val="EAF1FB"/>
          </a:solidFill>
          <a:ln w="10160">
            <a:solidFill>
              <a:srgbClr val="DDE5EF"/>
            </a:solidFill>
            <a:prstDash val="solid"/>
          </a:ln>
        </p:spPr>
        <p:txBody>
          <a:bodyPr/>
          <a:lstStyle/>
          <a:p>
            <a:endParaRPr/>
          </a:p>
        </p:txBody>
      </p:sp>
      <p:sp>
        <p:nvSpPr>
          <p:cNvPr id="17" name="Shape 15"/>
          <p:cNvSpPr/>
          <p:nvPr/>
        </p:nvSpPr>
        <p:spPr>
          <a:xfrm>
            <a:off x="777240" y="2560320"/>
            <a:ext cx="82296" cy="822960"/>
          </a:xfrm>
          <a:prstGeom prst="rect">
            <a:avLst/>
          </a:prstGeom>
          <a:solidFill>
            <a:srgbClr val="0B1F3A"/>
          </a:solidFill>
          <a:ln w="12700">
            <a:solidFill>
              <a:srgbClr val="0B1F3A">
                <a:alpha val="0"/>
              </a:srgbClr>
            </a:solidFill>
            <a:prstDash val="solid"/>
          </a:ln>
        </p:spPr>
        <p:txBody>
          <a:bodyPr/>
          <a:lstStyle/>
          <a:p>
            <a:endParaRPr/>
          </a:p>
        </p:txBody>
      </p:sp>
      <p:sp>
        <p:nvSpPr>
          <p:cNvPr id="18" name="Text 16"/>
          <p:cNvSpPr/>
          <p:nvPr/>
        </p:nvSpPr>
        <p:spPr>
          <a:xfrm>
            <a:off x="996696" y="2724912"/>
            <a:ext cx="4471416" cy="274320"/>
          </a:xfrm>
          <a:prstGeom prst="rect">
            <a:avLst/>
          </a:prstGeom>
          <a:noFill/>
          <a:ln/>
        </p:spPr>
        <p:txBody>
          <a:bodyPr wrap="square" lIns="0" tIns="0" rIns="0" bIns="0" rtlCol="0" anchor="ctr"/>
          <a:lstStyle/>
          <a:p>
            <a:pPr marL="0" indent="0">
              <a:buNone/>
            </a:pPr>
            <a:r>
              <a:rPr lang="en-US" sz="1400" b="1" dirty="0">
                <a:solidFill>
                  <a:srgbClr val="0B1F3A"/>
                </a:solidFill>
              </a:rPr>
              <a:t>3</a:t>
            </a:r>
            <a:endParaRPr lang="en-US" sz="1400" dirty="0"/>
          </a:p>
        </p:txBody>
      </p:sp>
      <p:sp>
        <p:nvSpPr>
          <p:cNvPr id="19" name="Text 17"/>
          <p:cNvSpPr/>
          <p:nvPr/>
        </p:nvSpPr>
        <p:spPr>
          <a:xfrm>
            <a:off x="1233576" y="2724912"/>
            <a:ext cx="4234536" cy="539496"/>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Discrimination and stereotype threat reduce trust, participation and effectiveness.</a:t>
            </a:r>
            <a:endParaRPr lang="en-US" sz="1050" dirty="0"/>
          </a:p>
        </p:txBody>
      </p:sp>
      <p:sp>
        <p:nvSpPr>
          <p:cNvPr id="20" name="Shape 18"/>
          <p:cNvSpPr/>
          <p:nvPr/>
        </p:nvSpPr>
        <p:spPr>
          <a:xfrm>
            <a:off x="6080760" y="2560320"/>
            <a:ext cx="4800600" cy="822960"/>
          </a:xfrm>
          <a:prstGeom prst="roundRect">
            <a:avLst>
              <a:gd name="adj" fmla="val 10000"/>
            </a:avLst>
          </a:prstGeom>
          <a:solidFill>
            <a:srgbClr val="E6F6F6"/>
          </a:solidFill>
          <a:ln w="10160">
            <a:solidFill>
              <a:srgbClr val="DDE5EF"/>
            </a:solidFill>
            <a:prstDash val="solid"/>
          </a:ln>
        </p:spPr>
        <p:txBody>
          <a:bodyPr/>
          <a:lstStyle/>
          <a:p>
            <a:endParaRPr/>
          </a:p>
        </p:txBody>
      </p:sp>
      <p:sp>
        <p:nvSpPr>
          <p:cNvPr id="21" name="Shape 19"/>
          <p:cNvSpPr/>
          <p:nvPr/>
        </p:nvSpPr>
        <p:spPr>
          <a:xfrm>
            <a:off x="6080760" y="2560320"/>
            <a:ext cx="82296" cy="822960"/>
          </a:xfrm>
          <a:prstGeom prst="rect">
            <a:avLst/>
          </a:prstGeom>
          <a:solidFill>
            <a:srgbClr val="00A6A6"/>
          </a:solidFill>
          <a:ln w="12700">
            <a:solidFill>
              <a:srgbClr val="00A6A6">
                <a:alpha val="0"/>
              </a:srgbClr>
            </a:solidFill>
            <a:prstDash val="solid"/>
          </a:ln>
        </p:spPr>
        <p:txBody>
          <a:bodyPr/>
          <a:lstStyle/>
          <a:p>
            <a:endParaRPr/>
          </a:p>
        </p:txBody>
      </p:sp>
      <p:sp>
        <p:nvSpPr>
          <p:cNvPr id="22" name="Text 20"/>
          <p:cNvSpPr/>
          <p:nvPr/>
        </p:nvSpPr>
        <p:spPr>
          <a:xfrm>
            <a:off x="6300216" y="2724912"/>
            <a:ext cx="4471416" cy="274320"/>
          </a:xfrm>
          <a:prstGeom prst="rect">
            <a:avLst/>
          </a:prstGeom>
          <a:noFill/>
          <a:ln/>
        </p:spPr>
        <p:txBody>
          <a:bodyPr wrap="square" lIns="0" tIns="0" rIns="0" bIns="0" rtlCol="0" anchor="ctr"/>
          <a:lstStyle/>
          <a:p>
            <a:pPr marL="0" indent="0">
              <a:buNone/>
            </a:pPr>
            <a:r>
              <a:rPr lang="en-US" sz="1400" b="1" dirty="0">
                <a:solidFill>
                  <a:srgbClr val="0B1F3A"/>
                </a:solidFill>
              </a:rPr>
              <a:t>4</a:t>
            </a:r>
            <a:endParaRPr lang="en-US" sz="1400" dirty="0"/>
          </a:p>
        </p:txBody>
      </p:sp>
      <p:sp>
        <p:nvSpPr>
          <p:cNvPr id="23" name="Text 21"/>
          <p:cNvSpPr/>
          <p:nvPr/>
        </p:nvSpPr>
        <p:spPr>
          <a:xfrm>
            <a:off x="6538822" y="2724912"/>
            <a:ext cx="4177946" cy="539496"/>
          </a:xfrm>
          <a:prstGeom prst="rect">
            <a:avLst/>
          </a:prstGeom>
          <a:noFill/>
          <a:ln/>
        </p:spPr>
        <p:txBody>
          <a:bodyPr wrap="square" lIns="254" tIns="254" rIns="254" bIns="254" rtlCol="0" anchor="ctr">
            <a:normAutofit fontScale="92500"/>
          </a:bodyPr>
          <a:lstStyle/>
          <a:p>
            <a:pPr marL="0" indent="0">
              <a:buNone/>
            </a:pPr>
            <a:r>
              <a:rPr lang="en-US" sz="1650" dirty="0">
                <a:solidFill>
                  <a:srgbClr val="1F2937"/>
                </a:solidFill>
              </a:rPr>
              <a:t>Ability should be evaluated in relation to job requirements and reasonable accommodations.</a:t>
            </a:r>
            <a:endParaRPr lang="en-US" sz="1050" dirty="0"/>
          </a:p>
        </p:txBody>
      </p:sp>
      <p:sp>
        <p:nvSpPr>
          <p:cNvPr id="24" name="Shape 22"/>
          <p:cNvSpPr/>
          <p:nvPr/>
        </p:nvSpPr>
        <p:spPr>
          <a:xfrm>
            <a:off x="777240" y="3886200"/>
            <a:ext cx="4800600" cy="822960"/>
          </a:xfrm>
          <a:prstGeom prst="roundRect">
            <a:avLst>
              <a:gd name="adj" fmla="val 10000"/>
            </a:avLst>
          </a:prstGeom>
          <a:solidFill>
            <a:srgbClr val="EAF1FB"/>
          </a:solidFill>
          <a:ln w="10160">
            <a:solidFill>
              <a:srgbClr val="DDE5EF"/>
            </a:solidFill>
            <a:prstDash val="solid"/>
          </a:ln>
        </p:spPr>
        <p:txBody>
          <a:bodyPr/>
          <a:lstStyle/>
          <a:p>
            <a:endParaRPr/>
          </a:p>
        </p:txBody>
      </p:sp>
      <p:sp>
        <p:nvSpPr>
          <p:cNvPr id="25" name="Shape 23"/>
          <p:cNvSpPr/>
          <p:nvPr/>
        </p:nvSpPr>
        <p:spPr>
          <a:xfrm>
            <a:off x="777240" y="3886200"/>
            <a:ext cx="82296" cy="822960"/>
          </a:xfrm>
          <a:prstGeom prst="rect">
            <a:avLst/>
          </a:prstGeom>
          <a:solidFill>
            <a:srgbClr val="0B1F3A"/>
          </a:solidFill>
          <a:ln w="12700">
            <a:solidFill>
              <a:srgbClr val="0B1F3A">
                <a:alpha val="0"/>
              </a:srgbClr>
            </a:solidFill>
            <a:prstDash val="solid"/>
          </a:ln>
        </p:spPr>
        <p:txBody>
          <a:bodyPr/>
          <a:lstStyle/>
          <a:p>
            <a:endParaRPr/>
          </a:p>
        </p:txBody>
      </p:sp>
      <p:sp>
        <p:nvSpPr>
          <p:cNvPr id="26" name="Text 24"/>
          <p:cNvSpPr/>
          <p:nvPr/>
        </p:nvSpPr>
        <p:spPr>
          <a:xfrm>
            <a:off x="996696" y="4050792"/>
            <a:ext cx="4471416" cy="274320"/>
          </a:xfrm>
          <a:prstGeom prst="rect">
            <a:avLst/>
          </a:prstGeom>
          <a:noFill/>
          <a:ln/>
        </p:spPr>
        <p:txBody>
          <a:bodyPr wrap="square" lIns="0" tIns="0" rIns="0" bIns="0" rtlCol="0" anchor="ctr"/>
          <a:lstStyle/>
          <a:p>
            <a:pPr marL="0" indent="0">
              <a:buNone/>
            </a:pPr>
            <a:r>
              <a:rPr lang="en-US" sz="1400" b="1" dirty="0">
                <a:solidFill>
                  <a:srgbClr val="0B1F3A"/>
                </a:solidFill>
              </a:rPr>
              <a:t>5</a:t>
            </a:r>
            <a:endParaRPr lang="en-US" sz="1400" dirty="0"/>
          </a:p>
        </p:txBody>
      </p:sp>
      <p:sp>
        <p:nvSpPr>
          <p:cNvPr id="27" name="Text 25"/>
          <p:cNvSpPr/>
          <p:nvPr/>
        </p:nvSpPr>
        <p:spPr>
          <a:xfrm>
            <a:off x="1233576" y="4050792"/>
            <a:ext cx="4234536" cy="539496"/>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Diversity management must be systematic and ongoing.</a:t>
            </a:r>
            <a:endParaRPr lang="en-US" sz="1050" dirty="0"/>
          </a:p>
        </p:txBody>
      </p:sp>
      <p:sp>
        <p:nvSpPr>
          <p:cNvPr id="28" name="Shape 26"/>
          <p:cNvSpPr/>
          <p:nvPr/>
        </p:nvSpPr>
        <p:spPr>
          <a:xfrm>
            <a:off x="6080760" y="3886200"/>
            <a:ext cx="4800600" cy="822960"/>
          </a:xfrm>
          <a:prstGeom prst="roundRect">
            <a:avLst>
              <a:gd name="adj" fmla="val 10000"/>
            </a:avLst>
          </a:prstGeom>
          <a:solidFill>
            <a:srgbClr val="E6F6F6"/>
          </a:solidFill>
          <a:ln w="10160">
            <a:solidFill>
              <a:srgbClr val="DDE5EF"/>
            </a:solidFill>
            <a:prstDash val="solid"/>
          </a:ln>
        </p:spPr>
        <p:txBody>
          <a:bodyPr/>
          <a:lstStyle/>
          <a:p>
            <a:endParaRPr/>
          </a:p>
        </p:txBody>
      </p:sp>
      <p:sp>
        <p:nvSpPr>
          <p:cNvPr id="29" name="Shape 27"/>
          <p:cNvSpPr/>
          <p:nvPr/>
        </p:nvSpPr>
        <p:spPr>
          <a:xfrm>
            <a:off x="6080760" y="3886200"/>
            <a:ext cx="82296" cy="822960"/>
          </a:xfrm>
          <a:prstGeom prst="rect">
            <a:avLst/>
          </a:prstGeom>
          <a:solidFill>
            <a:srgbClr val="00A6A6"/>
          </a:solidFill>
          <a:ln w="12700">
            <a:solidFill>
              <a:srgbClr val="00A6A6">
                <a:alpha val="0"/>
              </a:srgbClr>
            </a:solidFill>
            <a:prstDash val="solid"/>
          </a:ln>
        </p:spPr>
        <p:txBody>
          <a:bodyPr/>
          <a:lstStyle/>
          <a:p>
            <a:endParaRPr/>
          </a:p>
        </p:txBody>
      </p:sp>
      <p:sp>
        <p:nvSpPr>
          <p:cNvPr id="30" name="Text 28"/>
          <p:cNvSpPr/>
          <p:nvPr/>
        </p:nvSpPr>
        <p:spPr>
          <a:xfrm>
            <a:off x="6300216" y="4050792"/>
            <a:ext cx="4471416" cy="274320"/>
          </a:xfrm>
          <a:prstGeom prst="rect">
            <a:avLst/>
          </a:prstGeom>
          <a:noFill/>
          <a:ln/>
        </p:spPr>
        <p:txBody>
          <a:bodyPr wrap="square" lIns="0" tIns="0" rIns="0" bIns="0" rtlCol="0" anchor="ctr"/>
          <a:lstStyle/>
          <a:p>
            <a:pPr marL="0" indent="0">
              <a:buNone/>
            </a:pPr>
            <a:r>
              <a:rPr lang="en-US" sz="1400" b="1" dirty="0">
                <a:solidFill>
                  <a:srgbClr val="0B1F3A"/>
                </a:solidFill>
              </a:rPr>
              <a:t>6</a:t>
            </a:r>
            <a:endParaRPr lang="en-US" sz="1400" dirty="0"/>
          </a:p>
        </p:txBody>
      </p:sp>
      <p:sp>
        <p:nvSpPr>
          <p:cNvPr id="31" name="Text 29"/>
          <p:cNvSpPr/>
          <p:nvPr/>
        </p:nvSpPr>
        <p:spPr>
          <a:xfrm>
            <a:off x="6538822" y="4050792"/>
            <a:ext cx="4232810" cy="539496"/>
          </a:xfrm>
          <a:prstGeom prst="rect">
            <a:avLst/>
          </a:prstGeom>
          <a:noFill/>
          <a:ln/>
        </p:spPr>
        <p:txBody>
          <a:bodyPr wrap="square" lIns="254" tIns="254" rIns="254" bIns="254" rtlCol="0" anchor="ctr">
            <a:normAutofit/>
          </a:bodyPr>
          <a:lstStyle/>
          <a:p>
            <a:pPr marL="0" indent="0">
              <a:buNone/>
            </a:pPr>
            <a:r>
              <a:rPr lang="en-US" sz="1650" dirty="0">
                <a:solidFill>
                  <a:srgbClr val="1F2937"/>
                </a:solidFill>
              </a:rPr>
              <a:t>Quality improves when different perspectives are included in evidence-based decisions.</a:t>
            </a:r>
            <a:endParaRPr lang="en-US" sz="1050" dirty="0"/>
          </a:p>
        </p:txBody>
      </p:sp>
      <p:sp>
        <p:nvSpPr>
          <p:cNvPr id="33" name="Text 18">
            <a:extLst>
              <a:ext uri="{FF2B5EF4-FFF2-40B4-BE49-F238E27FC236}">
                <a16:creationId xmlns:a16="http://schemas.microsoft.com/office/drawing/2014/main" id="{6F7615BB-C185-4856-BA71-18E5545A844E}"/>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92608"/>
            <a:ext cx="7772400" cy="384048"/>
          </a:xfrm>
          <a:prstGeom prst="rect">
            <a:avLst/>
          </a:prstGeom>
          <a:noFill/>
          <a:ln/>
        </p:spPr>
        <p:txBody>
          <a:bodyPr wrap="square" lIns="0" tIns="0" rIns="0" bIns="0" rtlCol="0" anchor="ct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Reference and Preparation for Next Session</a:t>
            </a:r>
            <a:endParaRPr lang="en-US" sz="2400" dirty="0"/>
          </a:p>
        </p:txBody>
      </p:sp>
      <p:sp>
        <p:nvSpPr>
          <p:cNvPr id="3" name="Text 1"/>
          <p:cNvSpPr/>
          <p:nvPr/>
        </p:nvSpPr>
        <p:spPr>
          <a:xfrm>
            <a:off x="530352" y="731520"/>
            <a:ext cx="10789920" cy="274320"/>
          </a:xfrm>
          <a:prstGeom prst="rect">
            <a:avLst/>
          </a:prstGeom>
          <a:noFill/>
          <a:ln/>
        </p:spPr>
        <p:txBody>
          <a:bodyPr wrap="square" lIns="0" tIns="0" rIns="0" bIns="0" rtlCol="0" anchor="ctr"/>
          <a:lstStyle/>
          <a:p>
            <a:pPr marL="0" indent="0">
              <a:buNone/>
            </a:pPr>
            <a:r>
              <a:rPr lang="en-US" sz="1650" dirty="0">
                <a:solidFill>
                  <a:srgbClr val="00A6A6"/>
                </a:solidFill>
              </a:rPr>
              <a:t>Complete the Week 2 assignment and prepare for Week 3.</a:t>
            </a:r>
            <a:endParaRPr lang="en-US" sz="1050" dirty="0"/>
          </a:p>
        </p:txBody>
      </p:sp>
      <p:sp>
        <p:nvSpPr>
          <p:cNvPr id="4" name="Shape 2"/>
          <p:cNvSpPr/>
          <p:nvPr/>
        </p:nvSpPr>
        <p:spPr>
          <a:xfrm>
            <a:off x="502920" y="1051560"/>
            <a:ext cx="11155680" cy="0"/>
          </a:xfrm>
          <a:prstGeom prst="line">
            <a:avLst/>
          </a:prstGeom>
          <a:noFill/>
          <a:ln w="12700">
            <a:solidFill>
              <a:srgbClr val="DCE3ED"/>
            </a:solidFill>
            <a:prstDash val="solid"/>
          </a:ln>
        </p:spPr>
        <p:txBody>
          <a:bodyPr/>
          <a:lstStyle/>
          <a:p>
            <a:endParaRPr/>
          </a:p>
        </p:txBody>
      </p:sp>
      <p:sp>
        <p:nvSpPr>
          <p:cNvPr id="5" name="Text 3"/>
          <p:cNvSpPr/>
          <p:nvPr/>
        </p:nvSpPr>
        <p:spPr>
          <a:xfrm>
            <a:off x="438912" y="6510528"/>
            <a:ext cx="4983480" cy="201168"/>
          </a:xfrm>
          <a:prstGeom prst="rect">
            <a:avLst/>
          </a:prstGeom>
          <a:noFill/>
          <a:ln/>
        </p:spPr>
        <p:txBody>
          <a:bodyPr wrap="square" lIns="0" tIns="0" rIns="0" bIns="0" rtlCol="0" anchor="ctr"/>
          <a:lstStyle/>
          <a:p>
            <a:pPr marL="0" indent="0">
              <a:buNone/>
            </a:pPr>
            <a:r>
              <a:rPr lang="en-US" sz="1050" dirty="0">
                <a:solidFill>
                  <a:srgbClr val="6B7280"/>
                </a:solidFill>
                <a:latin typeface="Aptos" pitchFamily="34" charset="0"/>
                <a:ea typeface="Aptos" pitchFamily="34" charset="-122"/>
                <a:cs typeface="Aptos" pitchFamily="34" charset="-120"/>
              </a:rPr>
              <a:t>G TQM 511 | Organizational Behavior and Quality</a:t>
            </a:r>
            <a:endParaRPr lang="en-US" sz="850" dirty="0"/>
          </a:p>
        </p:txBody>
      </p:sp>
      <p:sp>
        <p:nvSpPr>
          <p:cNvPr id="7" name="Text 5"/>
          <p:cNvSpPr/>
          <p:nvPr/>
        </p:nvSpPr>
        <p:spPr>
          <a:xfrm>
            <a:off x="11658600" y="6473952"/>
            <a:ext cx="320040" cy="228600"/>
          </a:xfrm>
          <a:prstGeom prst="rect">
            <a:avLst/>
          </a:prstGeom>
          <a:noFill/>
          <a:ln/>
        </p:spPr>
        <p:txBody>
          <a:bodyPr wrap="square" lIns="0" tIns="0" rIns="0" bIns="0" rtlCol="0" anchor="ctr"/>
          <a:lstStyle/>
          <a:p>
            <a:pPr marL="0" indent="0" algn="r">
              <a:buNone/>
            </a:pPr>
            <a:r>
              <a:rPr lang="en-US" sz="1050" dirty="0">
                <a:solidFill>
                  <a:srgbClr val="6B7280"/>
                </a:solidFill>
              </a:rPr>
              <a:t>23</a:t>
            </a:r>
            <a:endParaRPr lang="en-US" sz="850" dirty="0"/>
          </a:p>
        </p:txBody>
      </p:sp>
      <p:sp>
        <p:nvSpPr>
          <p:cNvPr id="8" name="Shape 6"/>
          <p:cNvSpPr/>
          <p:nvPr/>
        </p:nvSpPr>
        <p:spPr>
          <a:xfrm>
            <a:off x="822960" y="1325880"/>
            <a:ext cx="5212080" cy="1234440"/>
          </a:xfrm>
          <a:prstGeom prst="roundRect">
            <a:avLst>
              <a:gd name="adj" fmla="val 6667"/>
            </a:avLst>
          </a:prstGeom>
          <a:solidFill>
            <a:srgbClr val="EAF1FB"/>
          </a:solidFill>
          <a:ln w="10160">
            <a:solidFill>
              <a:srgbClr val="DDE5EF"/>
            </a:solidFill>
            <a:prstDash val="solid"/>
          </a:ln>
        </p:spPr>
        <p:txBody>
          <a:bodyPr/>
          <a:lstStyle/>
          <a:p>
            <a:endParaRPr/>
          </a:p>
        </p:txBody>
      </p:sp>
      <p:sp>
        <p:nvSpPr>
          <p:cNvPr id="9" name="Shape 7"/>
          <p:cNvSpPr/>
          <p:nvPr/>
        </p:nvSpPr>
        <p:spPr>
          <a:xfrm>
            <a:off x="822960" y="1325880"/>
            <a:ext cx="82296" cy="1234440"/>
          </a:xfrm>
          <a:prstGeom prst="rect">
            <a:avLst/>
          </a:prstGeom>
          <a:solidFill>
            <a:srgbClr val="0B1F3A"/>
          </a:solidFill>
          <a:ln w="12700">
            <a:solidFill>
              <a:srgbClr val="0B1F3A">
                <a:alpha val="0"/>
              </a:srgbClr>
            </a:solidFill>
            <a:prstDash val="solid"/>
          </a:ln>
        </p:spPr>
        <p:txBody>
          <a:bodyPr/>
          <a:lstStyle/>
          <a:p>
            <a:endParaRPr/>
          </a:p>
        </p:txBody>
      </p:sp>
      <p:sp>
        <p:nvSpPr>
          <p:cNvPr id="10" name="Text 8"/>
          <p:cNvSpPr/>
          <p:nvPr/>
        </p:nvSpPr>
        <p:spPr>
          <a:xfrm>
            <a:off x="1042416" y="1490472"/>
            <a:ext cx="4882896" cy="274320"/>
          </a:xfrm>
          <a:prstGeom prst="rect">
            <a:avLst/>
          </a:prstGeom>
          <a:noFill/>
          <a:ln/>
        </p:spPr>
        <p:txBody>
          <a:bodyPr wrap="square" lIns="0" tIns="0" rIns="0" bIns="0" rtlCol="0" anchor="ctr"/>
          <a:lstStyle/>
          <a:p>
            <a:pPr marL="0" indent="0">
              <a:buNone/>
            </a:pPr>
            <a:r>
              <a:rPr lang="en-US" sz="2000" b="1" dirty="0">
                <a:solidFill>
                  <a:srgbClr val="0B1F3A"/>
                </a:solidFill>
              </a:rPr>
              <a:t>Primary reference</a:t>
            </a:r>
            <a:endParaRPr lang="en-US" sz="1400" dirty="0"/>
          </a:p>
        </p:txBody>
      </p:sp>
      <p:sp>
        <p:nvSpPr>
          <p:cNvPr id="11" name="Text 9"/>
          <p:cNvSpPr/>
          <p:nvPr/>
        </p:nvSpPr>
        <p:spPr>
          <a:xfrm>
            <a:off x="1042416" y="1892808"/>
            <a:ext cx="4882896" cy="548640"/>
          </a:xfrm>
          <a:prstGeom prst="rect">
            <a:avLst/>
          </a:prstGeom>
          <a:noFill/>
          <a:ln/>
        </p:spPr>
        <p:txBody>
          <a:bodyPr wrap="square" lIns="254" tIns="254" rIns="254" bIns="254" rtlCol="0" anchor="ctr">
            <a:normAutofit fontScale="92500"/>
          </a:bodyPr>
          <a:lstStyle/>
          <a:p>
            <a:pPr marL="0" indent="0">
              <a:buNone/>
            </a:pPr>
            <a:r>
              <a:rPr lang="en-US" sz="1650" dirty="0">
                <a:solidFill>
                  <a:srgbClr val="1F2937"/>
                </a:solidFill>
              </a:rPr>
              <a:t>Robbins, S. P., &amp; Judge, T. A. (2019). Organizational Behavior (18th ed.). Pearson. Chapter 2: Diversity in Organizations.</a:t>
            </a:r>
            <a:endParaRPr lang="en-US" sz="1050" dirty="0"/>
          </a:p>
        </p:txBody>
      </p:sp>
      <p:sp>
        <p:nvSpPr>
          <p:cNvPr id="12" name="Shape 10"/>
          <p:cNvSpPr/>
          <p:nvPr/>
        </p:nvSpPr>
        <p:spPr>
          <a:xfrm>
            <a:off x="6355080" y="1325880"/>
            <a:ext cx="5074920" cy="1234440"/>
          </a:xfrm>
          <a:prstGeom prst="roundRect">
            <a:avLst>
              <a:gd name="adj" fmla="val 6667"/>
            </a:avLst>
          </a:prstGeom>
          <a:solidFill>
            <a:srgbClr val="E6F6F6"/>
          </a:solidFill>
          <a:ln w="10160">
            <a:solidFill>
              <a:srgbClr val="DDE5EF"/>
            </a:solidFill>
            <a:prstDash val="solid"/>
          </a:ln>
        </p:spPr>
        <p:txBody>
          <a:bodyPr/>
          <a:lstStyle/>
          <a:p>
            <a:endParaRPr/>
          </a:p>
        </p:txBody>
      </p:sp>
      <p:sp>
        <p:nvSpPr>
          <p:cNvPr id="13" name="Shape 11"/>
          <p:cNvSpPr/>
          <p:nvPr/>
        </p:nvSpPr>
        <p:spPr>
          <a:xfrm>
            <a:off x="6355080" y="1325880"/>
            <a:ext cx="82296" cy="1234440"/>
          </a:xfrm>
          <a:prstGeom prst="rect">
            <a:avLst/>
          </a:prstGeom>
          <a:solidFill>
            <a:srgbClr val="00A6A6"/>
          </a:solidFill>
          <a:ln w="12700">
            <a:solidFill>
              <a:srgbClr val="00A6A6">
                <a:alpha val="0"/>
              </a:srgbClr>
            </a:solidFill>
            <a:prstDash val="solid"/>
          </a:ln>
        </p:spPr>
        <p:txBody>
          <a:bodyPr/>
          <a:lstStyle/>
          <a:p>
            <a:endParaRPr/>
          </a:p>
        </p:txBody>
      </p:sp>
      <p:sp>
        <p:nvSpPr>
          <p:cNvPr id="14" name="Text 12"/>
          <p:cNvSpPr/>
          <p:nvPr/>
        </p:nvSpPr>
        <p:spPr>
          <a:xfrm>
            <a:off x="6574536" y="1490472"/>
            <a:ext cx="4745736" cy="274320"/>
          </a:xfrm>
          <a:prstGeom prst="rect">
            <a:avLst/>
          </a:prstGeom>
          <a:noFill/>
          <a:ln/>
        </p:spPr>
        <p:txBody>
          <a:bodyPr wrap="square" lIns="0" tIns="0" rIns="0" bIns="0" rtlCol="0" anchor="ctr"/>
          <a:lstStyle/>
          <a:p>
            <a:pPr marL="0" indent="0">
              <a:buNone/>
            </a:pPr>
            <a:r>
              <a:rPr lang="en-US" sz="2000" b="1" dirty="0">
                <a:solidFill>
                  <a:srgbClr val="0B1F3A"/>
                </a:solidFill>
              </a:rPr>
              <a:t>Prepare for Week 3</a:t>
            </a:r>
            <a:endParaRPr lang="en-US" sz="1400" dirty="0"/>
          </a:p>
        </p:txBody>
      </p:sp>
      <p:sp>
        <p:nvSpPr>
          <p:cNvPr id="15" name="Text 13"/>
          <p:cNvSpPr/>
          <p:nvPr/>
        </p:nvSpPr>
        <p:spPr>
          <a:xfrm>
            <a:off x="6574536" y="1892808"/>
            <a:ext cx="4745736" cy="548640"/>
          </a:xfrm>
          <a:prstGeom prst="rect">
            <a:avLst/>
          </a:prstGeom>
          <a:noFill/>
          <a:ln/>
        </p:spPr>
        <p:txBody>
          <a:bodyPr wrap="square" lIns="254" tIns="254" rIns="254" bIns="254" rtlCol="0" anchor="ctr">
            <a:normAutofit fontScale="85000" lnSpcReduction="20000"/>
          </a:bodyPr>
          <a:lstStyle/>
          <a:p>
            <a:pPr marL="0" indent="0">
              <a:buNone/>
            </a:pPr>
            <a:r>
              <a:rPr lang="en-US" sz="1650" dirty="0">
                <a:solidFill>
                  <a:srgbClr val="1F2937"/>
                </a:solidFill>
              </a:rPr>
              <a:t>Read Chapter 3: Attitudes and Job Satisfaction. Identify one workplace factor that increases job satisfaction and one factor that reduces it.</a:t>
            </a:r>
            <a:endParaRPr lang="en-US" sz="1050" dirty="0"/>
          </a:p>
        </p:txBody>
      </p:sp>
      <p:sp>
        <p:nvSpPr>
          <p:cNvPr id="16" name="Shape 14"/>
          <p:cNvSpPr/>
          <p:nvPr/>
        </p:nvSpPr>
        <p:spPr>
          <a:xfrm>
            <a:off x="1188720" y="4114800"/>
            <a:ext cx="9692640" cy="777240"/>
          </a:xfrm>
          <a:prstGeom prst="roundRect">
            <a:avLst>
              <a:gd name="adj" fmla="val 9412"/>
            </a:avLst>
          </a:prstGeom>
          <a:solidFill>
            <a:srgbClr val="F6F8FB"/>
          </a:solidFill>
          <a:ln w="12700">
            <a:solidFill>
              <a:srgbClr val="F6F8FB">
                <a:alpha val="0"/>
              </a:srgbClr>
            </a:solidFill>
            <a:prstDash val="solid"/>
          </a:ln>
        </p:spPr>
        <p:txBody>
          <a:bodyPr/>
          <a:lstStyle/>
          <a:p>
            <a:endParaRPr/>
          </a:p>
        </p:txBody>
      </p:sp>
      <p:sp>
        <p:nvSpPr>
          <p:cNvPr id="17" name="Text 15"/>
          <p:cNvSpPr/>
          <p:nvPr/>
        </p:nvSpPr>
        <p:spPr>
          <a:xfrm>
            <a:off x="1417320" y="4279392"/>
            <a:ext cx="9235440" cy="502920"/>
          </a:xfrm>
          <a:prstGeom prst="rect">
            <a:avLst/>
          </a:prstGeom>
          <a:noFill/>
          <a:ln/>
        </p:spPr>
        <p:txBody>
          <a:bodyPr wrap="square" lIns="254" tIns="254" rIns="254" bIns="254" rtlCol="0" anchor="ctr">
            <a:normAutofit fontScale="92500" lnSpcReduction="20000"/>
          </a:bodyPr>
          <a:lstStyle/>
          <a:p>
            <a:pPr marL="0" indent="0">
              <a:buNone/>
            </a:pPr>
            <a:r>
              <a:rPr lang="en-US" sz="2000" b="1" dirty="0">
                <a:solidFill>
                  <a:srgbClr val="0B1F3A"/>
                </a:solidFill>
              </a:rPr>
              <a:t>Next week: Attitudes, Job Satisfaction and Employee Engagement — linking employee experience to service quality and performance.</a:t>
            </a:r>
            <a:endParaRPr lang="en-US" sz="1400" dirty="0"/>
          </a:p>
        </p:txBody>
      </p:sp>
      <p:sp>
        <p:nvSpPr>
          <p:cNvPr id="18" name="Text 16"/>
          <p:cNvSpPr/>
          <p:nvPr/>
        </p:nvSpPr>
        <p:spPr>
          <a:xfrm>
            <a:off x="4572000" y="5349240"/>
            <a:ext cx="3200400" cy="502920"/>
          </a:xfrm>
          <a:prstGeom prst="rect">
            <a:avLst/>
          </a:prstGeom>
          <a:noFill/>
          <a:ln/>
        </p:spPr>
        <p:txBody>
          <a:bodyPr wrap="square" lIns="0" tIns="0" rIns="0" bIns="0" rtlCol="0" anchor="ctr"/>
          <a:lstStyle/>
          <a:p>
            <a:pPr marL="0" indent="0" algn="ctr">
              <a:buNone/>
            </a:pPr>
            <a:r>
              <a:rPr lang="en-US" sz="3200" b="1" dirty="0">
                <a:solidFill>
                  <a:srgbClr val="0B1F3A"/>
                </a:solidFill>
              </a:rPr>
              <a:t>Thank you</a:t>
            </a:r>
            <a:endParaRPr lang="en-US" sz="2400" dirty="0"/>
          </a:p>
        </p:txBody>
      </p:sp>
      <p:sp>
        <p:nvSpPr>
          <p:cNvPr id="20" name="Text 18">
            <a:extLst>
              <a:ext uri="{FF2B5EF4-FFF2-40B4-BE49-F238E27FC236}">
                <a16:creationId xmlns:a16="http://schemas.microsoft.com/office/drawing/2014/main" id="{0BC3FBED-65ED-A3CC-23F4-E177C5F37FCA}"/>
              </a:ext>
            </a:extLst>
          </p:cNvPr>
          <p:cNvSpPr/>
          <p:nvPr/>
        </p:nvSpPr>
        <p:spPr>
          <a:xfrm>
            <a:off x="6903720" y="6510528"/>
            <a:ext cx="4526280" cy="201168"/>
          </a:xfrm>
          <a:prstGeom prst="rect">
            <a:avLst/>
          </a:prstGeom>
          <a:noFill/>
          <a:ln/>
        </p:spPr>
        <p:txBody>
          <a:bodyPr wrap="square" lIns="0" tIns="0" rIns="0" bIns="0" rtlCol="0" anchor="ctr"/>
          <a:lstStyle/>
          <a:p>
            <a:pPr marL="0" indent="0" algn="r">
              <a:buNone/>
            </a:pPr>
            <a:r>
              <a:rPr lang="en-US" sz="1000" dirty="0">
                <a:solidFill>
                  <a:srgbClr val="6B7280"/>
                </a:solidFill>
                <a:latin typeface="Aptos" pitchFamily="34" charset="0"/>
                <a:ea typeface="Aptos" pitchFamily="34" charset="-122"/>
                <a:cs typeface="Aptos" pitchFamily="34" charset="-120"/>
              </a:rPr>
              <a:t>Week 2 • Based on Robbins &amp; Judge, Organizational Behavior, 18th ed., Chapter 2</a:t>
            </a:r>
            <a:endParaRPr lang="en-US" sz="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2743</Words>
  <Application>Microsoft Office PowerPoint</Application>
  <PresentationFormat>Widescreen</PresentationFormat>
  <Paragraphs>365</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Sudan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Diversity, Inclusion and Quality Decisions</dc:title>
  <dc:subject>G TQM 511 Week 2 Diversity in Organizations</dc:subject>
  <dc:creator>Dr. Abdelmutalab Adam</dc:creator>
  <cp:lastModifiedBy>Abdelmutalab Talabose</cp:lastModifiedBy>
  <cp:revision>8</cp:revision>
  <dcterms:created xsi:type="dcterms:W3CDTF">2026-08-08T10:37:42Z</dcterms:created>
  <dcterms:modified xsi:type="dcterms:W3CDTF">2026-08-08T15:26:55Z</dcterms:modified>
</cp:coreProperties>
</file>