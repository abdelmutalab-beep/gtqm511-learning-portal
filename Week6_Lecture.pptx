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34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explaining that this session is about how people interpret events and how those interpretations affect the quality of decisions. Emphasize evidence and structured decision 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chapter is broad. This 21-slide version prioritizes textbook concepts that are directly useful for quality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opening to make perception tangible before moving into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definition and ask students to distinguish what happened from what people believed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examples from audits and customer complaints.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quality management benefits from data collection before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attribution test with a late quality report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groups answer quickly, then ask one group to defend internal and one group to defend external.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attribution error to unfair corrective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give examples of each shortcut in their work or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a quick class check before decision 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from perception to decision 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practical. Ask students what criteria matter in a quality complaint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expertise with unsupported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one example for anchoring and one for confirmation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name availability, anchoring, or confirmation bias and justify.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reward systems that prioritize speed over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contrast the criteria rather than search for a single easy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connect creativity to improvement ideas and service redesign.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application slide for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students to apply Chapter 6 to fair and evidence-based quality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217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Perception and Individual Decision Making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| Organizational Behavior and Quality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148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chapter focus: perception, attribution, decision biases, ethics, creativity, and decision quality.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880360"/>
            <a:ext cx="7223760" cy="50292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953512"/>
            <a:ext cx="7004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lens: Better perception and evidence-based decisions → more reliable quality behavior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566160"/>
            <a:ext cx="7223760" cy="50292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3639312"/>
            <a:ext cx="7004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idea: perception frames the problem; judgment shapes the decision; evidence protects quality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69680" y="1325880"/>
            <a:ext cx="128016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24544" y="1426464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87000" y="1325880"/>
            <a:ext cx="1234440" cy="50292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41864" y="1426464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281160" y="2148840"/>
            <a:ext cx="1874520" cy="50292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36024" y="2249424"/>
            <a:ext cx="1764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quality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62636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Robbins &amp; Judge, Updated 18th Global Edition, Chapter 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9768" y="5715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Postgraduate Diploma Program in Total Quality Management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6928" y="52303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Abdelmutalab Adam</a:t>
            </a:r>
            <a:endParaRPr lang="en-US" sz="1650" dirty="0"/>
          </a:p>
        </p:txBody>
      </p:sp>
      <p:pic>
        <p:nvPicPr>
          <p:cNvPr id="20" name="Image 0" descr="/mnt/data/week5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182880"/>
            <a:ext cx="7772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session focused on concepts with direct OB and quality-management value.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this session, students can: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76072" y="1508760"/>
            <a:ext cx="5349240" cy="3520440"/>
          </a:xfrm>
          <a:prstGeom prst="rect">
            <a:avLst/>
          </a:prstGeom>
          <a:solidFill>
            <a:srgbClr val="F2F7FC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81912"/>
            <a:ext cx="5129784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Define perception and explain what shapes it.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Use attribution theory to judge behavior.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Identify common perceptual shortcuts and errors.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Explain the link between perception and decision making.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Contrast rational decision making, bounded rationality, and intuition.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Apply ethics and creativity to quality decisions.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8776" y="1417320"/>
            <a:ext cx="768096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1517904"/>
            <a:ext cx="713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68312" y="1417320"/>
            <a:ext cx="713232" cy="50292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23176" y="1517904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72984" y="1417320"/>
            <a:ext cx="713232" cy="50292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7848" y="1517904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Shortcuts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77656" y="1417320"/>
            <a:ext cx="713232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77656" y="1517904"/>
            <a:ext cx="658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82328" y="1417320"/>
            <a:ext cx="713232" cy="502920"/>
          </a:xfrm>
          <a:prstGeom prst="rect">
            <a:avLst/>
          </a:prstGeom>
          <a:solidFill>
            <a:srgbClr val="FCECE8"/>
          </a:solidFill>
          <a:ln w="12700">
            <a:solidFill>
              <a:srgbClr val="FCE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37192" y="1517904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287000" y="1417320"/>
            <a:ext cx="713232" cy="50292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41864" y="1517904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Ethics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1091672" y="1417320"/>
            <a:ext cx="713232" cy="50292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46536" y="1517904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logic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309360" y="2743200"/>
            <a:ext cx="5120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2816352"/>
            <a:ext cx="49011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people notice?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they explain behavior?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shortcuts and biases distort judgment?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quality decisions be improved?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4617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focus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309360" y="5056632"/>
            <a:ext cx="5029200" cy="475488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5129784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handling, audit evidence, employee evaluation, root-cause analysis, and corrective action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Opening Case: The Same Event, Different Interpretations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6 begins from the idea that behavior follows perceived reality.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idea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1536192"/>
            <a:ext cx="5212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09344"/>
            <a:ext cx="499262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submits an assignment late. The instructor thinks the student is careless. The student says the internet was disconnected. Other students think the instructor is unfair.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536192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609344"/>
            <a:ext cx="50840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did each person perceive?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information is missing?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bias may affect judgment?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a fair evidence-based decision require?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message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80360" y="4498848"/>
            <a:ext cx="6766560" cy="566928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0088" y="4572000"/>
            <a:ext cx="6547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act on how they interpret events, not only on the event itself.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connection: fair quality decisions require evidence before judgment.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Perception?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official definition and connect it to workplace judgment.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1536192"/>
            <a:ext cx="5120640" cy="109728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09344"/>
            <a:ext cx="49011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 by which individuals organize and interpret sensory impressions to give meaning to their environment.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caution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536192"/>
            <a:ext cx="5303520" cy="109728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609344"/>
            <a:ext cx="50840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Perceived reality can differ from objective reality; therefore, judgment should be checked against evidence.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219456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822192"/>
            <a:ext cx="19751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event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858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069080" y="3749040"/>
            <a:ext cx="2103120" cy="50292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78808" y="3822192"/>
            <a:ext cx="1883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3858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32320" y="3749040"/>
            <a:ext cx="1828800" cy="50292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3822192"/>
            <a:ext cx="16093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point: observation is not the same as interpretation.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Factors That Influence Perception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is shaped by the perceiver, target, and situation.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3383280" cy="201168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61872"/>
            <a:ext cx="316382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Perceiver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Attitudes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Interests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188720"/>
            <a:ext cx="3383280" cy="201168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261872"/>
            <a:ext cx="316382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Novelty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Sounds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Proximity / similarity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1188720"/>
            <a:ext cx="3383280" cy="201168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261872"/>
            <a:ext cx="316382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setting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setting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3977640"/>
            <a:ext cx="96926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9888" y="4050792"/>
            <a:ext cx="9473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= what the observer brings + what the target displays + where the event occurs.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use: before judging an incident, check the observer’s expectations, the visible target features, and the situational context.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Perception Matters in Quality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quality incident can produce different judgments.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incident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1536192"/>
            <a:ext cx="5212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09344"/>
            <a:ext cx="499262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customer reports long waiting time. The service team, supervisor, auditor, and manager may each interpret the complaint differently.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perceptions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536192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609344"/>
            <a:ext cx="50840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Customer: slow service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Supervisor: staff issue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Auditor: process weakness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Manager: resource constraint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message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80360" y="4498848"/>
            <a:ext cx="6766560" cy="566928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0088" y="4572000"/>
            <a:ext cx="6547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moves the discussion from opinion to analysis.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connection: wrong interpretation can lead to wrong corrective action.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 Perception and Attribution Theory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Attribution theory asks whether behavior is internally or externally caused.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attribution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1536192"/>
            <a:ext cx="5212080" cy="109728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09344"/>
            <a:ext cx="49926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 is assumed to come from the person: ability, effort, attitude, or intention.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attribution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536192"/>
            <a:ext cx="5303520" cy="109728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609344"/>
            <a:ext cx="50840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 is assumed to come from the situation: process, workload, tools, system, or context.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337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questions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85800" y="3749040"/>
            <a:ext cx="3200400" cy="7315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822192"/>
            <a:ext cx="2980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Distinctiveness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person behave differently in other situations?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3749040"/>
            <a:ext cx="3200400" cy="7315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3822192"/>
            <a:ext cx="2980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Consensus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others behave the same way in this situation?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75320" y="3749040"/>
            <a:ext cx="3200400" cy="7315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3822192"/>
            <a:ext cx="2980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behavior repeat over time?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point: ask all three questions before judging the cause.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In-Class Activity: Internal or External?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groups | 20 minutes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594360" y="1005840"/>
            <a:ext cx="11018520" cy="50292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078992"/>
            <a:ext cx="10799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An employee submitted the monthly quality report three days late.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task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2423160"/>
            <a:ext cx="4846320" cy="21031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496312"/>
            <a:ext cx="462686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Check distinctiveness.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Check consensus.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Check consistency.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Decide whether the likely cause is internal, external, or mixed.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State what evidence is still needed before action.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2423160"/>
            <a:ext cx="4846320" cy="210312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496312"/>
            <a:ext cx="462686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Attribution logic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needed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Preliminary quality response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connection: do not blame the person before checking the system.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Attribution Errors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common errors can distort fairness and accuracy.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Fundamental Attribution Error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1536192"/>
            <a:ext cx="5212080" cy="1417320"/>
          </a:xfrm>
          <a:prstGeom prst="rect">
            <a:avLst/>
          </a:prstGeom>
          <a:solidFill>
            <a:srgbClr val="FCECE8"/>
          </a:solidFill>
          <a:ln w="12700">
            <a:solidFill>
              <a:srgbClr val="FCE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09344"/>
            <a:ext cx="499262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tendency to underestimate external causes and overestimate internal causes when judging others.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Self-Serving Bias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536192"/>
            <a:ext cx="5303520" cy="141732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609344"/>
            <a:ext cx="50840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tendency to attribute personal success to internal factors and personal failure to external factors.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caution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80360" y="4498848"/>
            <a:ext cx="6766560" cy="566928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0088" y="4572000"/>
            <a:ext cx="6547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“Operator error” should not be the first and final explanation.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root-cause thinking: people, process, equipment, method, environment, and measurement.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Shortcuts in Judging Others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Shortcuts reduce mental effort but can reduce decision quality.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685800" y="1170432"/>
            <a:ext cx="4846320" cy="9144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243584"/>
            <a:ext cx="4626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Selective perception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see what fits expectations.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0" y="1170432"/>
            <a:ext cx="4846320" cy="91440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1243584"/>
            <a:ext cx="4626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Halo effect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strong trait shapes the whole judgment.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51760"/>
            <a:ext cx="4846320" cy="91440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24912"/>
            <a:ext cx="4626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 effects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changes because of comparison with others.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2651760"/>
            <a:ext cx="4846320" cy="914400"/>
          </a:xfrm>
          <a:prstGeom prst="rect">
            <a:avLst/>
          </a:prstGeom>
          <a:solidFill>
            <a:srgbClr val="FCECE8"/>
          </a:solidFill>
          <a:ln w="12700">
            <a:solidFill>
              <a:srgbClr val="FCE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724912"/>
            <a:ext cx="4626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Stereotyping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Judgment is based on assumptions about a group.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point: shortcuts may help speed, but they can distort evaluation, audit judgments, and improvement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In-Class Activity: Perception Trap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the shortcut or error.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685800" y="1005840"/>
            <a:ext cx="10972800" cy="333756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078992"/>
            <a:ext cx="1075334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“He is always late; therefore, he does not care about quality.”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“She communicates very well; therefore, she must be an excellent manager.”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“The previous audit team was excellent, so this team looks weak.”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“Employees from this department always resist change.”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663440"/>
            <a:ext cx="10698480" cy="41148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4736592"/>
            <a:ext cx="10479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Task: identify the likely shortcut/error and state what evidence should be checked before action.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connection: judgment quality improves when assumptions are tested.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Perception and Decision Making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making occurs in reaction to a perceived problem.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97280" y="1920240"/>
            <a:ext cx="2103120" cy="5943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1993392"/>
            <a:ext cx="18836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Perceived situation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56432" y="20574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51960" y="1920240"/>
            <a:ext cx="2194560" cy="59436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1993392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recognition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02552" y="20574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98080" y="1920240"/>
            <a:ext cx="1828800" cy="59436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1993392"/>
            <a:ext cx="16093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0" y="3977640"/>
            <a:ext cx="8412480" cy="77724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4050792"/>
            <a:ext cx="81930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problem is wrongly perceived, the decision is likely to focus on the wrong cause, wrong criteria, or wrong solution.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use: a complaint can be framed as a people problem, process problem, or resource problem.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Rational Decision-Making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route to better decisions.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steps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3154680" cy="6858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73352"/>
            <a:ext cx="29352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Define problem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34840" y="1600200"/>
            <a:ext cx="3154680" cy="68580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673352"/>
            <a:ext cx="29352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Identify criteria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3154680" cy="68580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673352"/>
            <a:ext cx="29352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Weight criteria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2834640"/>
            <a:ext cx="3154680" cy="6858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907792"/>
            <a:ext cx="29352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Develop alternatives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34840" y="2834640"/>
            <a:ext cx="3154680" cy="68580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2907792"/>
            <a:ext cx="29352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Evaluate alternatives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75320" y="2834640"/>
            <a:ext cx="3154680" cy="68580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2907792"/>
            <a:ext cx="29352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Select best alternative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4526280"/>
            <a:ext cx="10561320" cy="50292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599432"/>
            <a:ext cx="10341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use: a structured model reduces impulsive blame and improves corrective-action decisions.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customer complaints increased by 25% → define the problem before selecting the solution.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Bounded Rationality and Intuition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managers rarely have perfect information.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685800" y="1097280"/>
            <a:ext cx="3474720" cy="9144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170432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information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70832" y="1097280"/>
            <a:ext cx="3474720" cy="91440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70432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time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1097280"/>
            <a:ext cx="3474720" cy="91440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1170432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cognitive capacity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rationality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85800" y="3429000"/>
            <a:ext cx="5029200" cy="109728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502152"/>
            <a:ext cx="48097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often choose a satisfactory option rather than the mathematically optimal option.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Intuition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5029200" cy="109728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3502152"/>
            <a:ext cx="48097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unconscious process based on accumulated experience. Useful, but still needs evidence checks.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caution: experienced intuition should guide investigation, not replace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Biases and Errors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Biases affect search, interpretation, and choice.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310896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399032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Overconfidence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26280" y="1325880"/>
            <a:ext cx="3108960" cy="658368"/>
          </a:xfrm>
          <a:prstGeom prst="rect">
            <a:avLst/>
          </a:prstGeom>
          <a:solidFill>
            <a:srgbClr val="FBF1D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399032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75320" y="1325880"/>
            <a:ext cx="3108960" cy="658368"/>
          </a:xfrm>
          <a:prstGeom prst="rect">
            <a:avLst/>
          </a:prstGeom>
          <a:solidFill>
            <a:srgbClr val="EAF5EA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5048" y="1399032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2532888"/>
            <a:ext cx="3108960" cy="658368"/>
          </a:xfrm>
          <a:prstGeom prst="rect">
            <a:avLst/>
          </a:prstGeom>
          <a:solidFill>
            <a:srgbClr val="FCECE8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606040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26280" y="2532888"/>
            <a:ext cx="310896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2606040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of commitment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75320" y="2532888"/>
            <a:ext cx="3108960" cy="658368"/>
          </a:xfrm>
          <a:prstGeom prst="rect">
            <a:avLst/>
          </a:prstGeom>
          <a:solidFill>
            <a:srgbClr val="FBF1D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5048" y="2606040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aversion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implication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834640" y="4343400"/>
            <a:ext cx="7680960" cy="59436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4368" y="4416552"/>
            <a:ext cx="74615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Anchoring, confirmation, and availability are common when managers jump too quickly to familiar explanations.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point: ask what evidence would change your mind.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Bias Detective Example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quality-related judgment under uncertainty.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10652760" cy="114300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307592"/>
            <a:ext cx="104333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“We had the same problem last year, and it was caused by staff shortage. So this must be the same reason.”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questions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969264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bias may be influencing the manager?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information is still missing?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alternative explanations should be considered?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should be collected first?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5239512"/>
            <a:ext cx="10113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point: similarity with the past is not enough; evidence is still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Influences on Decision Making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differences and organizational constraints both matter.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differences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1536192"/>
            <a:ext cx="5212080" cy="15087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09344"/>
            <a:ext cx="499262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Tolerance for ambiguity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Organizational constraints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536192"/>
            <a:ext cx="5303520" cy="150876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609344"/>
            <a:ext cx="508406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evaluation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systems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rules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pressure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precedents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160520"/>
            <a:ext cx="9784080" cy="7315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4233672"/>
            <a:ext cx="9564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person may know the better decision, but the system around them shapes what they actually do.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Ethical Decision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Robbins and Judge present three ethical lenses.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685800" y="1280160"/>
            <a:ext cx="3337560" cy="123444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31181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Utilitarianism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Greatest good for the greatest number.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34840" y="1280160"/>
            <a:ext cx="3337560" cy="123444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353312"/>
            <a:ext cx="31181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fundamental rights and liberties.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83880" y="1280160"/>
            <a:ext cx="3337560" cy="123444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353312"/>
            <a:ext cx="31181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Justice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rules fairly and impartially.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dilemma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34640" y="4069080"/>
            <a:ext cx="8138160" cy="59436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4142232"/>
            <a:ext cx="79187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limited product defect is discovered before delivery. Which criterion would justify shipment, stoppage, or equal treatment of all batches?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point: ethical criteria clarify trade-offs, but they do not remove the need for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Creativity and Innovation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decisions need better alternatives.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2743200" cy="7315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901952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Causes of creative behavior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0299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51960" y="1828800"/>
            <a:ext cx="2194560" cy="73152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1901952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behavior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0299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223760" y="1828800"/>
            <a:ext cx="2743200" cy="73152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3488" y="1901952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outcomes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use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43200" y="4114800"/>
            <a:ext cx="7772400" cy="64008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52928" y="4187952"/>
            <a:ext cx="7552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routine responses are weak, creativity expands the alternatives available for improvement and problem solving.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connection: creativity is not decoration; it improves the alternative set for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Case: The Quality Complaint That Was Misjudged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case to connect perception, attribution, bias, and decision making.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1536192"/>
            <a:ext cx="5212080" cy="2148840"/>
          </a:xfrm>
          <a:prstGeom prst="rect">
            <a:avLst/>
          </a:prstGeom>
          <a:solidFill>
            <a:srgbClr val="FCECE8"/>
          </a:solidFill>
          <a:ln w="12700">
            <a:solidFill>
              <a:srgbClr val="FCE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09344"/>
            <a:ext cx="499262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hospital receives a customer complaint about long waiting time. The supervisor immediately blames the receptionist. Later review shows system downtime, staff shortage, and unclear appointment procedures.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536192"/>
            <a:ext cx="5303520" cy="2148840"/>
          </a:xfrm>
          <a:prstGeom prst="rect">
            <a:avLst/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609344"/>
            <a:ext cx="508406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attribution error is visible?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external factors were ignored?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bias may reinforce the first judgment?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evidence should be collected?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better decision process should be used?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55046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connection: observation → evidence → cause analysis → decision → corrective action.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 and Reflection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137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TQM 511 | Week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A6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the textbook’s core implications for managers.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Robbins &amp; Judge, Organizational Behavior, Updated 18th Global Edition, Chapter 6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9326880" y="65288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D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and Individual Decision Making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1536192"/>
            <a:ext cx="5212080" cy="2971800"/>
          </a:xfrm>
          <a:prstGeom prst="rect">
            <a:avLst/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609344"/>
            <a:ext cx="499262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Perception shapes judgment and behavior.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Attribution theory helps managers separate internal and external causes.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Shortcuts and biases make decisions fast but risky.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Structured decision making improves quality responses.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Ethics and creativity widen the quality of choices.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Post-class reflection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536192"/>
            <a:ext cx="5303520" cy="18745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609344"/>
            <a:ext cx="508406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one workplace or quality decision where perception or bias could lead to a wrong conclusion. Explain one evidence-based action you would use to improve the decision.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4160520"/>
            <a:ext cx="5303520" cy="640080"/>
          </a:xfrm>
          <a:prstGeom prst="rect">
            <a:avLst/>
          </a:prstGeom>
          <a:solidFill>
            <a:srgbClr val="FBF1DB"/>
          </a:solidFill>
          <a:ln w="12700">
            <a:solidFill>
              <a:srgbClr val="FBF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4233672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Tuesday, 22 September 2026 • 11:59 PM (Makkah time)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0" y="5806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2593</Words>
  <Application>Microsoft Office PowerPoint</Application>
  <PresentationFormat>Widescreen</PresentationFormat>
  <Paragraphs>367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Sudan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Perception and Individual Decision Making</dc:title>
  <dc:subject>G TQM 511 Week 6</dc:subject>
  <dc:creator>OpenAI</dc:creator>
  <cp:lastModifiedBy>Abdelmutalab Talabose</cp:lastModifiedBy>
  <cp:revision>2</cp:revision>
  <dcterms:created xsi:type="dcterms:W3CDTF">2026-09-19T09:25:51Z</dcterms:created>
  <dcterms:modified xsi:type="dcterms:W3CDTF">2026-09-19T09:34:30Z</dcterms:modified>
</cp:coreProperties>
</file>