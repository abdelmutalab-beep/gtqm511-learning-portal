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5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93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vector_infographic_style_illustratio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0233F">
              <a:alpha val="93000"/>
            </a:srgbClr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8580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7512" y="758952"/>
            <a:ext cx="1133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0233F"/>
                </a:solidFill>
              </a:rPr>
              <a:t>G TQM 511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E7F5"/>
                </a:solidFill>
              </a:rPr>
              <a:t>Week 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17830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Emotions and Moods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21792" y="30358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DE7F5"/>
                </a:solidFill>
              </a:rPr>
              <a:t>How affect shapes service quality, decision quality and continuous improvement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1792" y="60807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</a:rPr>
              <a:t>Prepare → Learn → Apply → Discuss → Assess → Reflect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Emotions and Moods → Quality Behavior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1/15</a:t>
            </a:r>
            <a:endParaRPr lang="en-US" sz="750" dirty="0"/>
          </a:p>
        </p:txBody>
      </p:sp>
      <p:pic>
        <p:nvPicPr>
          <p:cNvPr id="13" name="Picture 12" descr="images">
            <a:extLst>
              <a:ext uri="{FF2B5EF4-FFF2-40B4-BE49-F238E27FC236}">
                <a16:creationId xmlns:a16="http://schemas.microsoft.com/office/drawing/2014/main" id="{D0DBFBDC-6591-2BDB-6B16-1500AF6A8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640" y="53721"/>
            <a:ext cx="8477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93BA82-DF16-FEEC-95A7-36AB7E40875B}"/>
              </a:ext>
            </a:extLst>
          </p:cNvPr>
          <p:cNvSpPr txBox="1"/>
          <p:nvPr/>
        </p:nvSpPr>
        <p:spPr>
          <a:xfrm>
            <a:off x="5853018" y="6234125"/>
            <a:ext cx="3230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Dr. Abdelmutalab Ibrahim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4A2AA8F-43D2-7636-A85F-E3D808F4FF95}"/>
              </a:ext>
            </a:extLst>
          </p:cNvPr>
          <p:cNvSpPr/>
          <p:nvPr/>
        </p:nvSpPr>
        <p:spPr>
          <a:xfrm>
            <a:off x="594360" y="5677163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Postgraduate Diploma in Total Quality Management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2B3A4-6558-9D6F-6F8F-5636BD8B202A}"/>
              </a:ext>
            </a:extLst>
          </p:cNvPr>
          <p:cNvSpPr txBox="1"/>
          <p:nvPr/>
        </p:nvSpPr>
        <p:spPr>
          <a:xfrm>
            <a:off x="5549462" y="263810"/>
            <a:ext cx="4220656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CS Taybah H_I normal."/>
              </a:rPr>
              <a:t>Sudan University for science and technology  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DB48C6-EB4A-045A-5F6E-F441317A4306}"/>
              </a:ext>
            </a:extLst>
          </p:cNvPr>
          <p:cNvSpPr txBox="1"/>
          <p:nvPr/>
        </p:nvSpPr>
        <p:spPr>
          <a:xfrm>
            <a:off x="6094300" y="566628"/>
            <a:ext cx="3130979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CS Taybah H_I normal."/>
              </a:rPr>
              <a:t>Deanship of Development</a:t>
            </a:r>
            <a:r>
              <a:rPr lang="en-US" sz="1600" b="1" kern="100" dirty="0">
                <a:effectLst/>
                <a:latin typeface="MCS Taybah H_I normal.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CS Taybah H_I normal."/>
              </a:rPr>
              <a:t>and Quality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E7F5"/>
                </a:solidFill>
              </a:rPr>
              <a:t>Week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Learning outcomes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344168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42646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Differentiate emotions from moods and explain workplace relevance.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075688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15798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Explain emotional labor, affective events and mood contagion.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807208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288950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Analyze how affect influences service, safety and decision quality.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3538728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62102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Apply emotional intelligence and regulation strategies.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435254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Connect emotions and moods to quality performance indicators.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001000" y="118872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EAF2FF"/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1188720"/>
            <a:ext cx="73152" cy="42062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1325880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Core question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65592" y="1682496"/>
            <a:ext cx="2916936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When emotions and moods change at work, what happens to quality behavior?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54406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805E"/>
                </a:solidFill>
              </a:rPr>
              <a:t>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77240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tracked activities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72600" y="54406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7C5"/>
                </a:solidFill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32688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quality links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835640" y="54406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7791F"/>
                </a:solidFill>
              </a:rPr>
              <a:t>1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78992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mini case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Emotions and Moods → Quality Behavior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2/15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E7F5"/>
                </a:solidFill>
              </a:rPr>
              <a:t>Week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Emotions vs. moods: what is the difference?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FF6F0"/>
          </a:solidFill>
          <a:ln w="12700">
            <a:solidFill>
              <a:srgbClr val="FFD7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73152" cy="3840480"/>
          </a:xfrm>
          <a:prstGeom prst="rect">
            <a:avLst/>
          </a:prstGeom>
          <a:solidFill>
            <a:srgbClr val="EA7A3C"/>
          </a:solidFill>
          <a:ln w="12700">
            <a:solidFill>
              <a:srgbClr val="EA7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7160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Emotions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952" y="1728216"/>
            <a:ext cx="4882896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More intense, shorter-lived, and usually linked to a specific event. They focus attention and trigger immediate responses.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82512" y="12344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AF2FF"/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234440"/>
            <a:ext cx="73152" cy="38404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37160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Moods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47104" y="1728216"/>
            <a:ext cx="4882896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Less intense, more diffuse, and longer-lasting. They shape interpretation, energy and tone across the day.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85232" y="3108960"/>
            <a:ext cx="1143000" cy="0"/>
          </a:xfrm>
          <a:prstGeom prst="line">
            <a:avLst/>
          </a:prstGeom>
          <a:noFill/>
          <a:ln w="215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43000" y="5532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805E"/>
                </a:solidFill>
              </a:rPr>
              <a:t>Both influence behavior before people fully rationalize what happened.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Emotions and Moods → Quality Behavior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3/15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Why affect matters for quality performance</a:t>
            </a:r>
            <a:endParaRPr lang="en-US" sz="2400" dirty="0"/>
          </a:p>
        </p:txBody>
      </p:sp>
      <p:pic>
        <p:nvPicPr>
          <p:cNvPr id="6" name="Image 0" descr="/mnt/data/a_wide_clean_vector_infographic_style_illustratio_batch_3.png"/>
          <p:cNvPicPr>
            <a:picLocks noChangeAspect="1"/>
          </p:cNvPicPr>
          <p:nvPr/>
        </p:nvPicPr>
        <p:blipFill>
          <a:blip r:embed="rId3"/>
          <a:srcRect l="13025" r="13025"/>
          <a:stretch/>
        </p:blipFill>
        <p:spPr>
          <a:xfrm>
            <a:off x="502920" y="1216152"/>
            <a:ext cx="51663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143000"/>
            <a:ext cx="4937760" cy="841248"/>
          </a:xfrm>
          <a:prstGeom prst="roundRect">
            <a:avLst>
              <a:gd name="adj" fmla="val 13043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0" y="1143000"/>
            <a:ext cx="73152" cy="841248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8016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Attention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36792" y="1636776"/>
            <a:ext cx="4608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People notice or miss details depending on stress, fatigue and mood.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286000"/>
            <a:ext cx="4937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286000"/>
            <a:ext cx="73152" cy="841248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36792" y="242316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Communication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36792" y="2779776"/>
            <a:ext cx="4608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Tone shapes employee voice, escalation and customer recovery.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3429000"/>
            <a:ext cx="4937760" cy="841248"/>
          </a:xfrm>
          <a:prstGeom prst="roundRect">
            <a:avLst>
              <a:gd name="adj" fmla="val 13043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3429000"/>
            <a:ext cx="73152" cy="8412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356616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Judgment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336792" y="3922776"/>
            <a:ext cx="4608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Affect changes risk perception and decision speed.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4572000"/>
            <a:ext cx="4937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72200" y="4572000"/>
            <a:ext cx="73152" cy="841248"/>
          </a:xfrm>
          <a:prstGeom prst="rect">
            <a:avLst/>
          </a:prstGeom>
          <a:solidFill>
            <a:srgbClr val="EA7A3C"/>
          </a:solidFill>
          <a:ln w="12700">
            <a:solidFill>
              <a:srgbClr val="EA7A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470916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Consistency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36792" y="5065776"/>
            <a:ext cx="46085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Stable emotional climate supports reliable service routines.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Common sources of workplace emotions and moods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457C5"/>
                </a:solidFill>
              </a:rPr>
              <a:t>Events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0392" y="2679192"/>
            <a:ext cx="1554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customer complaint, audit finding, system delay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44368" y="228600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457C5"/>
                </a:solidFill>
              </a:rPr>
              <a:t>People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08960" y="2999232"/>
            <a:ext cx="1554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supervisor behavior, coworker tone, team norms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02936" y="196596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457C5"/>
                </a:solidFill>
              </a:rPr>
              <a:t>Work design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67528" y="2679192"/>
            <a:ext cx="1554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workload, autonomy, clarity, queue pressure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61504" y="228600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457C5"/>
                </a:solidFill>
              </a:rPr>
              <a:t>Context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6096" y="2999232"/>
            <a:ext cx="1554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culture, climate, safety, uncertainty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20072" y="196596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84664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457C5"/>
                </a:solidFill>
              </a:rPr>
              <a:t>Personal state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84664" y="2679192"/>
            <a:ext cx="1554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sleep, health, values, prior experience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805E"/>
                </a:solidFill>
              </a:rPr>
              <a:t>Quality implication: treat recurring emotional triggers as process signals, not only personal issues.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Affective Events Theory: from event to quality behavior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783080" cy="1920240"/>
          </a:xfrm>
          <a:prstGeom prst="roundRect">
            <a:avLst>
              <a:gd name="adj" fmla="val 8205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7C5"/>
                </a:solidFill>
              </a:rPr>
              <a:t>Work event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033"/>
                </a:solidFill>
              </a:rPr>
              <a:t>delay, error, complaint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2852928"/>
            <a:ext cx="274320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874520"/>
            <a:ext cx="1783080" cy="192024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2194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7C5"/>
                </a:solidFill>
              </a:rPr>
              <a:t>Emotional reaction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80944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033"/>
                </a:solidFill>
              </a:rPr>
              <a:t>frustration, pride, anxiety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64024" y="2852928"/>
            <a:ext cx="274320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874520"/>
            <a:ext cx="1783080" cy="1920240"/>
          </a:xfrm>
          <a:prstGeom prst="roundRect">
            <a:avLst>
              <a:gd name="adj" fmla="val 8205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194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7C5"/>
                </a:solidFill>
              </a:rPr>
              <a:t>Job attitude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48656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033"/>
                </a:solidFill>
              </a:rPr>
              <a:t>satisfaction, commitment,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31736" y="2852928"/>
            <a:ext cx="274320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874520"/>
            <a:ext cx="1783080" cy="192024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2194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7C5"/>
                </a:solidFill>
              </a:rPr>
              <a:t>Behavior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16368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033"/>
                </a:solidFill>
              </a:rPr>
              <a:t>voice, care, neglect, recovery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99448" y="2852928"/>
            <a:ext cx="274320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19488" y="1874520"/>
            <a:ext cx="1783080" cy="1920240"/>
          </a:xfrm>
          <a:prstGeom prst="roundRect">
            <a:avLst>
              <a:gd name="adj" fmla="val 8205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6648" y="2194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805E"/>
                </a:solidFill>
              </a:rPr>
              <a:t>Quality outcome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2033"/>
                </a:solidFill>
              </a:rPr>
              <a:t>defect, loyalty, rework, trust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" y="4892040"/>
            <a:ext cx="10241280" cy="676656"/>
          </a:xfrm>
          <a:prstGeom prst="roundRect">
            <a:avLst>
              <a:gd name="adj" fmla="val 16216"/>
            </a:avLst>
          </a:prstGeom>
          <a:solidFill>
            <a:srgbClr val="E8F8F1"/>
          </a:solidFill>
          <a:ln w="12700">
            <a:solidFill>
              <a:srgbClr val="C6EB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5138928"/>
            <a:ext cx="9738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805E"/>
                </a:solidFill>
              </a:rPr>
              <a:t>Managerial takeaway: improve the event stream and the emotional response system.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Emotional labor in service and quality roles</a:t>
            </a:r>
            <a:endParaRPr lang="en-US" sz="2400" dirty="0"/>
          </a:p>
        </p:txBody>
      </p:sp>
      <p:pic>
        <p:nvPicPr>
          <p:cNvPr id="6" name="Image 0" descr="/mnt/data/a_wide_clean_vector_illustration_scene_of_a_moder_batch_2.png"/>
          <p:cNvPicPr>
            <a:picLocks noChangeAspect="1"/>
          </p:cNvPicPr>
          <p:nvPr/>
        </p:nvPicPr>
        <p:blipFill>
          <a:blip r:embed="rId3"/>
          <a:srcRect l="18733" r="18733"/>
          <a:stretch/>
        </p:blipFill>
        <p:spPr>
          <a:xfrm>
            <a:off x="502920" y="1051560"/>
            <a:ext cx="502920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2344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6E6"/>
          </a:solidFill>
          <a:ln w="12700">
            <a:solidFill>
              <a:srgbClr val="F8D7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234440"/>
            <a:ext cx="73152" cy="18288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62472" y="137160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Surface acting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62472" y="1728216"/>
            <a:ext cx="21396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Changing the visible display while the inner feeling remains different.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41080" y="12344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E8F8F1"/>
          </a:solidFill>
          <a:ln w="12700">
            <a:solidFill>
              <a:srgbClr val="C6EB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41080" y="1234440"/>
            <a:ext cx="73152" cy="1828800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5672" y="137160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Deep acting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805672" y="1728216"/>
            <a:ext cx="21396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Trying to genuinely reframe the situation and change the felt emotion.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0" y="370332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3703320"/>
            <a:ext cx="73152" cy="13716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2472" y="384048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Quality risk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62472" y="4197096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If emotional labor is unsupported, employees may rush, avoid voice, detach from customers or skip verification.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Mood contagion: emotions spread through teams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74520" y="2011680"/>
            <a:ext cx="1051560" cy="105156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73352" y="321868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Leader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V="1">
            <a:off x="2926080" y="2075684"/>
            <a:ext cx="1051560" cy="329186"/>
          </a:xfrm>
          <a:prstGeom prst="line">
            <a:avLst/>
          </a:prstGeom>
          <a:noFill/>
          <a:ln w="21590">
            <a:solidFill>
              <a:srgbClr val="EA7A3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77640" y="1417320"/>
            <a:ext cx="1051560" cy="1051560"/>
          </a:xfrm>
          <a:prstGeom prst="ellipse">
            <a:avLst/>
          </a:prstGeom>
          <a:solidFill>
            <a:srgbClr val="EA7A3C"/>
          </a:solidFill>
          <a:ln w="12700">
            <a:solidFill>
              <a:srgbClr val="EA7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62432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Agent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2302328"/>
            <a:ext cx="0" cy="702129"/>
          </a:xfrm>
          <a:prstGeom prst="line">
            <a:avLst/>
          </a:prstGeom>
          <a:noFill/>
          <a:ln w="21590">
            <a:solidFill>
              <a:srgbClr val="14805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2834640"/>
            <a:ext cx="1051560" cy="1051560"/>
          </a:xfrm>
          <a:prstGeom prst="ellipse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40416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Agent 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5029199" y="2816352"/>
            <a:ext cx="1508759" cy="429768"/>
          </a:xfrm>
          <a:prstGeom prst="line">
            <a:avLst/>
          </a:prstGeom>
          <a:noFill/>
          <a:ln w="2159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2011680"/>
            <a:ext cx="1051560" cy="10515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321868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Customer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2423160"/>
            <a:ext cx="1463040" cy="0"/>
          </a:xfrm>
          <a:prstGeom prst="line">
            <a:avLst/>
          </a:prstGeom>
          <a:noFill/>
          <a:ln w="21590">
            <a:solidFill>
              <a:srgbClr val="163A6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15400" y="2011680"/>
            <a:ext cx="1051560" cy="1051560"/>
          </a:xfrm>
          <a:prstGeom prst="ellipse">
            <a:avLst/>
          </a:prstGeom>
          <a:solidFill>
            <a:srgbClr val="163A6B"/>
          </a:solidFill>
          <a:ln w="12700">
            <a:solidFill>
              <a:srgbClr val="16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321868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Team climate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4892040"/>
            <a:ext cx="9921240" cy="822960"/>
          </a:xfrm>
          <a:prstGeom prst="roundRect">
            <a:avLst>
              <a:gd name="adj" fmla="val 13333"/>
            </a:avLst>
          </a:prstGeom>
          <a:solidFill>
            <a:srgbClr val="E8F8F1"/>
          </a:solidFill>
          <a:ln w="12700">
            <a:solidFill>
              <a:srgbClr val="C6EB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892040"/>
            <a:ext cx="73152" cy="822960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5029200"/>
            <a:ext cx="959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Control point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07592" y="5385816"/>
            <a:ext cx="95920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Supervisors can interrupt contagion through calm tone, structured huddles, recovery scripts and visible support.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Emotional intelligence for quality leaders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2240280" cy="3154680"/>
          </a:xfrm>
          <a:prstGeom prst="roundRect">
            <a:avLst>
              <a:gd name="adj" fmla="val 4898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719072"/>
            <a:ext cx="749808" cy="74980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9656" y="188366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Self-awareness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24712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notice emotional triggers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2240280" cy="3154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19072"/>
            <a:ext cx="749808" cy="749808"/>
          </a:xfrm>
          <a:prstGeom prst="ellipse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88366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58768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Self-regulation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13632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pause, reframe, choose response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1417320"/>
            <a:ext cx="2240280" cy="3154680"/>
          </a:xfrm>
          <a:prstGeom prst="roundRect">
            <a:avLst>
              <a:gd name="adj" fmla="val 4898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719072"/>
            <a:ext cx="749808" cy="7498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7496" y="188366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7688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Empathy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02552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understand customer and employee cues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35440" y="1417320"/>
            <a:ext cx="2240280" cy="31546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1719072"/>
            <a:ext cx="749808" cy="749808"/>
          </a:xfrm>
          <a:prstGeom prst="ellipse">
            <a:avLst/>
          </a:prstGeom>
          <a:solidFill>
            <a:srgbClr val="EA7A3C"/>
          </a:solidFill>
          <a:ln w="12700">
            <a:solidFill>
              <a:srgbClr val="EA7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86416" y="188366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36608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Social skill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491472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communicate, de-escalate, recover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30352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805E"/>
                </a:solidFill>
              </a:rPr>
              <a:t>Quality leadership starts before the technical decision: it starts with emotional clarity.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Regulation toolbox: individual + system controls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154680" cy="1298448"/>
          </a:xfrm>
          <a:prstGeom prst="roundRect">
            <a:avLst>
              <a:gd name="adj" fmla="val 8451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73152" cy="1298448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6304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Reappraisal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0392" y="1819656"/>
            <a:ext cx="28254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reinterpret the event before reacting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1546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25880"/>
            <a:ext cx="73152" cy="1298448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46304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Pause protocol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99432" y="1819656"/>
            <a:ext cx="28254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slow down high-risk responses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154680" cy="1298448"/>
          </a:xfrm>
          <a:prstGeom prst="roundRect">
            <a:avLst>
              <a:gd name="adj" fmla="val 8451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325880"/>
            <a:ext cx="73152" cy="12984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46304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Checklists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48472" y="1819656"/>
            <a:ext cx="28254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protect accuracy under stress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31546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00400"/>
            <a:ext cx="73152" cy="1298448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3375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Service recovery scripts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50392" y="3694176"/>
            <a:ext cx="28254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give employees words for difficult moments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3200400"/>
            <a:ext cx="3154680" cy="1298448"/>
          </a:xfrm>
          <a:prstGeom prst="roundRect">
            <a:avLst>
              <a:gd name="adj" fmla="val 8451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200400"/>
            <a:ext cx="73152" cy="1298448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33375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Huddles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99432" y="3694176"/>
            <a:ext cx="28254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reset team mood and workload expectations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3200400"/>
            <a:ext cx="31546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200400"/>
            <a:ext cx="73152" cy="12984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33375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Escalation paths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348472" y="3694176"/>
            <a:ext cx="28254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make support easy before conflict grows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How to measure the affect–quality connection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4892040" cy="1353312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73152" cy="1353312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6304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Customer indicators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6112" y="1819656"/>
            <a:ext cx="45628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complaints, recovery time, satisfaction comments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48920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325880"/>
            <a:ext cx="73152" cy="1353312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46304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Process indicators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8232" y="1819656"/>
            <a:ext cx="45628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rework, defects, verification errors, queue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4892040" cy="1353312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200400"/>
            <a:ext cx="73152" cy="135331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33756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People indicators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6112" y="3694176"/>
            <a:ext cx="45628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absence, turnover intention, voice, engagement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48920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200400"/>
            <a:ext cx="73152" cy="1353312"/>
          </a:xfrm>
          <a:prstGeom prst="rect">
            <a:avLst/>
          </a:prstGeom>
          <a:solidFill>
            <a:srgbClr val="EA7A3C"/>
          </a:solidFill>
          <a:ln w="12700">
            <a:solidFill>
              <a:srgbClr val="EA7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Safety indicators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28232" y="3694176"/>
            <a:ext cx="45628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near misses, escalation delay, skipped controls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25880" y="5486400"/>
            <a:ext cx="9418320" cy="502920"/>
          </a:xfrm>
          <a:prstGeom prst="roundRect">
            <a:avLst>
              <a:gd name="adj" fmla="val 18182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564184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Use emotional data ethically: look for patterns, not blame.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Mini case: The Frustrated Service Desk</a:t>
            </a:r>
            <a:endParaRPr lang="en-US" sz="2400" dirty="0"/>
          </a:p>
        </p:txBody>
      </p:sp>
      <p:pic>
        <p:nvPicPr>
          <p:cNvPr id="6" name="Image 0" descr="/mnt/data/a_wide_clean_vector_illustration_scene_of_a_moder_batch_2.png"/>
          <p:cNvPicPr>
            <a:picLocks noChangeAspect="1"/>
          </p:cNvPicPr>
          <p:nvPr/>
        </p:nvPicPr>
        <p:blipFill>
          <a:blip r:embed="rId3"/>
          <a:srcRect l="15970" r="15970"/>
          <a:stretch/>
        </p:blipFill>
        <p:spPr>
          <a:xfrm>
            <a:off x="502920" y="1097280"/>
            <a:ext cx="475488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14300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EAF2FF"/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23560" y="1143000"/>
            <a:ext cx="73152" cy="14173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88152" y="1280160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Situation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88152" y="1636776"/>
            <a:ext cx="55229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Repeated system delays frustrate employees. Team tone becomes sharper, complaints rise and verification steps are skipped.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2880360"/>
            <a:ext cx="320040" cy="320040"/>
          </a:xfrm>
          <a:prstGeom prst="ellipse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95351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99632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Which emotions and moods are visible?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5000" y="3447288"/>
            <a:ext cx="320040" cy="320040"/>
          </a:xfrm>
          <a:prstGeom prst="ellipse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352044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99632" y="3401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How is mood contagion affecting the team?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15000" y="4014216"/>
            <a:ext cx="320040" cy="320040"/>
          </a:xfrm>
          <a:prstGeom prst="ellipse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40873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99632" y="3968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What quality risks arise from emotional spillover?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15000" y="4581144"/>
            <a:ext cx="320040" cy="320040"/>
          </a:xfrm>
          <a:prstGeom prst="ellipse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465429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99632" y="4535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What should the supervisor do immediately?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In-class activity: Emotion-to-Quality Mapping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1792" y="20574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249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7C5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6152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Work event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23744" y="2926080"/>
            <a:ext cx="310896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7792" y="20574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249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7C5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Emotion / mood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9744" y="2926080"/>
            <a:ext cx="310896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93792" y="20574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2249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7C5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88152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Likely behavior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95744" y="2926080"/>
            <a:ext cx="310896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79792" y="20574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2249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7C5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74152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Quality risk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81744" y="2926080"/>
            <a:ext cx="310896" cy="0"/>
          </a:xfrm>
          <a:prstGeom prst="line">
            <a:avLst/>
          </a:prstGeom>
          <a:noFill/>
          <a:ln w="2159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65792" y="20574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93808" y="2249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7C5"/>
                </a:solidFill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360152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Control response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4800600"/>
            <a:ext cx="10287000" cy="822960"/>
          </a:xfrm>
          <a:prstGeom prst="roundRect">
            <a:avLst>
              <a:gd name="adj" fmla="val 13333"/>
            </a:avLst>
          </a:prstGeom>
          <a:solidFill>
            <a:srgbClr val="E8F8F1"/>
          </a:solidFill>
          <a:ln w="12700">
            <a:solidFill>
              <a:srgbClr val="C6EB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00600"/>
            <a:ext cx="73152" cy="822960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937760"/>
            <a:ext cx="9957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Deliverable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78992" y="5294376"/>
            <a:ext cx="9957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Complete one map for a real work event and propose one practical control that protects quality.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Knowledge check and assignment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EAF2FF"/>
          </a:solidFill>
          <a:ln w="12700">
            <a:solidFill>
              <a:srgbClr val="C9D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34440"/>
            <a:ext cx="73152" cy="4160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7160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Knowledge check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0392" y="1728216"/>
            <a:ext cx="488289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5 multiple-choice questions covering: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emotions vs. moods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emotional labor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affective events theory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emotional intelligence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mood contagion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E8F8F1"/>
          </a:solidFill>
          <a:ln w="12700">
            <a:solidFill>
              <a:srgbClr val="C6EB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234440"/>
            <a:ext cx="73152" cy="4160520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371600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Assignment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11112" y="1728216"/>
            <a:ext cx="474573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Write 500–700 words analyzing one work situation where emotions or moods affected service quality, safety, teamwork or decision quality. Recommend individual and managerial controls.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14/15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5"/>
                </a:solidFill>
              </a:rPr>
              <a:t>G TQM 511 • Organizational Behavior and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25328" y="1097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5"/>
                </a:solidFill>
              </a:rPr>
              <a:t>Week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Week 4 key takeaways</a:t>
            </a:r>
            <a:endParaRPr lang="en-US" sz="2400" dirty="0"/>
          </a:p>
        </p:txBody>
      </p:sp>
      <p:pic>
        <p:nvPicPr>
          <p:cNvPr id="6" name="Image 0" descr="/mnt/data/wide_bright_corporate_office_illustration_conce_batch_1.png"/>
          <p:cNvPicPr>
            <a:picLocks noChangeAspect="1"/>
          </p:cNvPicPr>
          <p:nvPr/>
        </p:nvPicPr>
        <p:blipFill>
          <a:blip r:embed="rId3"/>
          <a:srcRect l="19941" r="19941"/>
          <a:stretch/>
        </p:blipFill>
        <p:spPr>
          <a:xfrm>
            <a:off x="594360" y="1051560"/>
            <a:ext cx="429768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00584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49240" y="1005840"/>
            <a:ext cx="73152" cy="82296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13832" y="1143000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Affect is data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13832" y="1499616"/>
            <a:ext cx="55229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Emotions and moods provide early warning signals about work design and climate.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49240" y="2139696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2139696"/>
            <a:ext cx="73152" cy="822960"/>
          </a:xfrm>
          <a:prstGeom prst="rect">
            <a:avLst/>
          </a:prstGeom>
          <a:solidFill>
            <a:srgbClr val="14805E"/>
          </a:solidFill>
          <a:ln w="12700">
            <a:solidFill>
              <a:srgbClr val="1480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3832" y="2276856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Quality is behavioral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13832" y="2633472"/>
            <a:ext cx="55229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Service quality, safety and reliability depend on attention, tone and judgment.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49240" y="3273552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49240" y="3273552"/>
            <a:ext cx="73152" cy="8229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13832" y="3410712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Leaders regulate systems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513832" y="3767328"/>
            <a:ext cx="55229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 strongest response combines emotional intelligence with process controls.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349240" y="4407408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49240" y="4407408"/>
            <a:ext cx="73152" cy="822960"/>
          </a:xfrm>
          <a:prstGeom prst="rect">
            <a:avLst/>
          </a:prstGeom>
          <a:solidFill>
            <a:srgbClr val="EA7A3C"/>
          </a:solidFill>
          <a:ln w="12700">
            <a:solidFill>
              <a:srgbClr val="EA7A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13832" y="4544568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</a:rPr>
              <a:t>Measure patterns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513832" y="4901184"/>
            <a:ext cx="55229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Use indicators ethically to improve conditions, not to blame individuals.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5806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33F"/>
                </a:solidFill>
              </a:rPr>
              <a:t>Next week: Personality and Values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292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Emotions and Moods → Quality Behavior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01400" y="6528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1103</Words>
  <Application>Microsoft Office PowerPoint</Application>
  <PresentationFormat>Widescreen</PresentationFormat>
  <Paragraphs>236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MCS Taybah H_I normal.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PGD TQM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 TQM 511 Week 4 Lecture</dc:title>
  <dc:subject>Week 4: Emotions and Moods</dc:subject>
  <dc:creator>G TQM 511</dc:creator>
  <cp:lastModifiedBy>Abdelmutalab Talabose</cp:lastModifiedBy>
  <cp:revision>6</cp:revision>
  <dcterms:created xsi:type="dcterms:W3CDTF">2026-08-20T11:56:53Z</dcterms:created>
  <dcterms:modified xsi:type="dcterms:W3CDTF">2026-08-20T12:15:54Z</dcterms:modified>
</cp:coreProperties>
</file>